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style8.xml" ContentType="application/vnd.ms-office.chartstyle+xml"/>
  <Override PartName="/ppt/charts/colors8.xml" ContentType="application/vnd.ms-office.chartcolorstyl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5" r:id="rId1"/>
  </p:sldMasterIdLst>
  <p:notesMasterIdLst>
    <p:notesMasterId r:id="rId90"/>
  </p:notesMasterIdLst>
  <p:handoutMasterIdLst>
    <p:handoutMasterId r:id="rId91"/>
  </p:handoutMasterIdLst>
  <p:sldIdLst>
    <p:sldId id="373" r:id="rId2"/>
    <p:sldId id="530" r:id="rId3"/>
    <p:sldId id="263" r:id="rId4"/>
    <p:sldId id="264" r:id="rId5"/>
    <p:sldId id="265" r:id="rId6"/>
    <p:sldId id="266" r:id="rId7"/>
    <p:sldId id="267" r:id="rId8"/>
    <p:sldId id="268" r:id="rId9"/>
    <p:sldId id="531" r:id="rId10"/>
    <p:sldId id="271" r:id="rId11"/>
    <p:sldId id="321" r:id="rId12"/>
    <p:sldId id="324" r:id="rId13"/>
    <p:sldId id="306" r:id="rId14"/>
    <p:sldId id="333" r:id="rId15"/>
    <p:sldId id="322" r:id="rId16"/>
    <p:sldId id="272" r:id="rId17"/>
    <p:sldId id="547" r:id="rId18"/>
    <p:sldId id="326" r:id="rId19"/>
    <p:sldId id="332" r:id="rId20"/>
    <p:sldId id="545" r:id="rId21"/>
    <p:sldId id="552" r:id="rId22"/>
    <p:sldId id="532" r:id="rId23"/>
    <p:sldId id="276" r:id="rId24"/>
    <p:sldId id="275" r:id="rId25"/>
    <p:sldId id="274" r:id="rId26"/>
    <p:sldId id="277" r:id="rId27"/>
    <p:sldId id="279" r:id="rId28"/>
    <p:sldId id="548" r:id="rId29"/>
    <p:sldId id="297" r:id="rId30"/>
    <p:sldId id="549" r:id="rId31"/>
    <p:sldId id="278" r:id="rId32"/>
    <p:sldId id="300" r:id="rId33"/>
    <p:sldId id="316" r:id="rId34"/>
    <p:sldId id="334" r:id="rId35"/>
    <p:sldId id="335" r:id="rId36"/>
    <p:sldId id="544" r:id="rId37"/>
    <p:sldId id="533" r:id="rId38"/>
    <p:sldId id="280" r:id="rId39"/>
    <p:sldId id="281" r:id="rId40"/>
    <p:sldId id="320" r:id="rId41"/>
    <p:sldId id="304" r:id="rId42"/>
    <p:sldId id="305" r:id="rId43"/>
    <p:sldId id="282" r:id="rId44"/>
    <p:sldId id="283" r:id="rId45"/>
    <p:sldId id="302" r:id="rId46"/>
    <p:sldId id="284" r:id="rId47"/>
    <p:sldId id="303" r:id="rId48"/>
    <p:sldId id="285" r:id="rId49"/>
    <p:sldId id="286" r:id="rId50"/>
    <p:sldId id="287" r:id="rId51"/>
    <p:sldId id="288" r:id="rId52"/>
    <p:sldId id="301" r:id="rId53"/>
    <p:sldId id="330" r:id="rId54"/>
    <p:sldId id="289" r:id="rId55"/>
    <p:sldId id="290" r:id="rId56"/>
    <p:sldId id="291" r:id="rId57"/>
    <p:sldId id="292" r:id="rId58"/>
    <p:sldId id="293" r:id="rId59"/>
    <p:sldId id="296" r:id="rId60"/>
    <p:sldId id="298" r:id="rId61"/>
    <p:sldId id="299" r:id="rId62"/>
    <p:sldId id="307" r:id="rId63"/>
    <p:sldId id="309" r:id="rId64"/>
    <p:sldId id="310" r:id="rId65"/>
    <p:sldId id="312" r:id="rId66"/>
    <p:sldId id="313" r:id="rId67"/>
    <p:sldId id="314" r:id="rId68"/>
    <p:sldId id="315" r:id="rId69"/>
    <p:sldId id="550" r:id="rId70"/>
    <p:sldId id="551" r:id="rId71"/>
    <p:sldId id="327" r:id="rId72"/>
    <p:sldId id="328" r:id="rId73"/>
    <p:sldId id="329" r:id="rId74"/>
    <p:sldId id="331" r:id="rId75"/>
    <p:sldId id="336" r:id="rId76"/>
    <p:sldId id="337" r:id="rId77"/>
    <p:sldId id="338" r:id="rId78"/>
    <p:sldId id="534" r:id="rId79"/>
    <p:sldId id="535" r:id="rId80"/>
    <p:sldId id="536" r:id="rId81"/>
    <p:sldId id="537" r:id="rId82"/>
    <p:sldId id="538" r:id="rId83"/>
    <p:sldId id="539" r:id="rId84"/>
    <p:sldId id="540" r:id="rId85"/>
    <p:sldId id="541" r:id="rId86"/>
    <p:sldId id="542" r:id="rId87"/>
    <p:sldId id="543" r:id="rId88"/>
    <p:sldId id="317"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6107842-6964-42DE-9929-5A0FD1D2D982}">
          <p14:sldIdLst>
            <p14:sldId id="373"/>
            <p14:sldId id="530"/>
            <p14:sldId id="263"/>
            <p14:sldId id="264"/>
            <p14:sldId id="265"/>
            <p14:sldId id="266"/>
            <p14:sldId id="267"/>
            <p14:sldId id="268"/>
            <p14:sldId id="531"/>
            <p14:sldId id="271"/>
            <p14:sldId id="321"/>
            <p14:sldId id="324"/>
            <p14:sldId id="306"/>
            <p14:sldId id="333"/>
            <p14:sldId id="322"/>
            <p14:sldId id="272"/>
            <p14:sldId id="547"/>
            <p14:sldId id="326"/>
            <p14:sldId id="332"/>
            <p14:sldId id="545"/>
            <p14:sldId id="552"/>
            <p14:sldId id="532"/>
            <p14:sldId id="276"/>
            <p14:sldId id="275"/>
            <p14:sldId id="274"/>
            <p14:sldId id="277"/>
            <p14:sldId id="279"/>
            <p14:sldId id="548"/>
            <p14:sldId id="297"/>
            <p14:sldId id="549"/>
            <p14:sldId id="278"/>
            <p14:sldId id="300"/>
            <p14:sldId id="316"/>
            <p14:sldId id="334"/>
            <p14:sldId id="335"/>
            <p14:sldId id="544"/>
            <p14:sldId id="533"/>
            <p14:sldId id="280"/>
            <p14:sldId id="281"/>
            <p14:sldId id="320"/>
            <p14:sldId id="304"/>
            <p14:sldId id="305"/>
            <p14:sldId id="282"/>
            <p14:sldId id="283"/>
            <p14:sldId id="302"/>
            <p14:sldId id="284"/>
            <p14:sldId id="303"/>
            <p14:sldId id="285"/>
            <p14:sldId id="286"/>
            <p14:sldId id="287"/>
            <p14:sldId id="288"/>
            <p14:sldId id="301"/>
            <p14:sldId id="330"/>
            <p14:sldId id="289"/>
            <p14:sldId id="290"/>
            <p14:sldId id="291"/>
            <p14:sldId id="292"/>
            <p14:sldId id="293"/>
            <p14:sldId id="296"/>
            <p14:sldId id="298"/>
            <p14:sldId id="299"/>
            <p14:sldId id="307"/>
            <p14:sldId id="309"/>
            <p14:sldId id="310"/>
            <p14:sldId id="312"/>
            <p14:sldId id="313"/>
            <p14:sldId id="314"/>
            <p14:sldId id="315"/>
            <p14:sldId id="550"/>
            <p14:sldId id="551"/>
            <p14:sldId id="327"/>
            <p14:sldId id="328"/>
            <p14:sldId id="329"/>
            <p14:sldId id="331"/>
            <p14:sldId id="336"/>
            <p14:sldId id="337"/>
            <p14:sldId id="338"/>
            <p14:sldId id="534"/>
            <p14:sldId id="535"/>
            <p14:sldId id="536"/>
            <p14:sldId id="537"/>
            <p14:sldId id="538"/>
            <p14:sldId id="539"/>
            <p14:sldId id="540"/>
            <p14:sldId id="541"/>
            <p14:sldId id="542"/>
            <p14:sldId id="543"/>
            <p14:sldId id="317"/>
          </p14:sldIdLst>
        </p14:section>
      </p14:sectionLst>
    </p:ext>
    <p:ext uri="{EFAFB233-063F-42B5-8137-9DF3F51BA10A}">
      <p15:sldGuideLst xmlns:p15="http://schemas.microsoft.com/office/powerpoint/2012/main">
        <p15:guide id="4" pos="1752" userDrawn="1">
          <p15:clr>
            <a:srgbClr val="A4A3A4"/>
          </p15:clr>
        </p15:guide>
        <p15:guide id="5" orient="horz" pos="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3C47"/>
    <a:srgbClr val="6BE6DE"/>
    <a:srgbClr val="CEF7F4"/>
    <a:srgbClr val="9CEEE9"/>
    <a:srgbClr val="188E86"/>
    <a:srgbClr val="FEB861"/>
    <a:srgbClr val="CF7600"/>
    <a:srgbClr val="FFC692"/>
    <a:srgbClr val="37AEA6"/>
    <a:srgbClr val="ECF3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5" autoAdjust="0"/>
    <p:restoredTop sz="75970" autoAdjust="0"/>
  </p:normalViewPr>
  <p:slideViewPr>
    <p:cSldViewPr snapToGrid="0" snapToObjects="1" showGuides="1">
      <p:cViewPr varScale="1">
        <p:scale>
          <a:sx n="149" d="100"/>
          <a:sy n="149" d="100"/>
        </p:scale>
        <p:origin x="132" y="342"/>
      </p:cViewPr>
      <p:guideLst>
        <p:guide pos="1752"/>
        <p:guide orient="horz" pos="96"/>
      </p:guideLst>
    </p:cSldViewPr>
  </p:slideViewPr>
  <p:outlineViewPr>
    <p:cViewPr>
      <p:scale>
        <a:sx n="33" d="100"/>
        <a:sy n="33" d="100"/>
      </p:scale>
      <p:origin x="0" y="0"/>
    </p:cViewPr>
  </p:outlineViewPr>
  <p:notesTextViewPr>
    <p:cViewPr>
      <p:scale>
        <a:sx n="75" d="100"/>
        <a:sy n="75" d="100"/>
      </p:scale>
      <p:origin x="0" y="0"/>
    </p:cViewPr>
  </p:notesTextViewPr>
  <p:sorterViewPr>
    <p:cViewPr>
      <p:scale>
        <a:sx n="90" d="100"/>
        <a:sy n="90" d="100"/>
      </p:scale>
      <p:origin x="0" y="-3648"/>
    </p:cViewPr>
  </p:sorterViewPr>
  <p:notesViewPr>
    <p:cSldViewPr snapToGrid="0" snapToObjects="1">
      <p:cViewPr varScale="1">
        <p:scale>
          <a:sx n="63" d="100"/>
          <a:sy n="63" d="100"/>
        </p:scale>
        <p:origin x="2280" y="5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4.xml"/><Relationship Id="rId1" Type="http://schemas.microsoft.com/office/2011/relationships/chartStyle" Target="style4.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6.xml"/><Relationship Id="rId1" Type="http://schemas.microsoft.com/office/2011/relationships/chartStyle" Target="style6.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7.xml"/><Relationship Id="rId1" Type="http://schemas.microsoft.com/office/2011/relationships/chartStyle" Target="style7.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8.xml"/><Relationship Id="rId1" Type="http://schemas.microsoft.com/office/2011/relationships/chartStyle" Target="style8.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0.14550645875148502"/>
          <c:y val="3.2133153882922212E-2"/>
          <c:w val="0.62073855053834182"/>
          <c:h val="0.91066434061011869"/>
        </c:manualLayout>
      </c:layout>
      <c:pieChart>
        <c:varyColors val="1"/>
        <c:ser>
          <c:idx val="0"/>
          <c:order val="0"/>
          <c:tx>
            <c:strRef>
              <c:f>Sheet1!$B$1:$B$2</c:f>
              <c:strCache>
                <c:ptCount val="1"/>
                <c:pt idx="0">
                  <c:v>LOCs 300</c:v>
                </c:pt>
              </c:strCache>
            </c:strRef>
          </c:tx>
          <c:dPt>
            <c:idx val="0"/>
            <c:bubble3D val="0"/>
            <c:spPr>
              <a:gradFill rotWithShape="1">
                <a:gsLst>
                  <a:gs pos="0">
                    <a:schemeClr val="accent2">
                      <a:shade val="53000"/>
                      <a:satMod val="103000"/>
                      <a:lumMod val="102000"/>
                      <a:tint val="94000"/>
                    </a:schemeClr>
                  </a:gs>
                  <a:gs pos="50000">
                    <a:schemeClr val="accent2">
                      <a:shade val="53000"/>
                      <a:satMod val="110000"/>
                      <a:lumMod val="100000"/>
                      <a:shade val="100000"/>
                    </a:schemeClr>
                  </a:gs>
                  <a:gs pos="100000">
                    <a:schemeClr val="accent2">
                      <a:shade val="53000"/>
                      <a:lumMod val="99000"/>
                      <a:satMod val="120000"/>
                      <a:shade val="78000"/>
                    </a:schemeClr>
                  </a:gs>
                </a:gsLst>
                <a:lin ang="5400000" scaled="0"/>
              </a:gradFill>
              <a:ln>
                <a:noFill/>
              </a:ln>
              <a:effectLst/>
            </c:spPr>
            <c:extLst>
              <c:ext xmlns:c16="http://schemas.microsoft.com/office/drawing/2014/chart" uri="{C3380CC4-5D6E-409C-BE32-E72D297353CC}">
                <c16:uniqueId val="{00000001-CA60-4A9F-A169-F0484C02D590}"/>
              </c:ext>
            </c:extLst>
          </c:dPt>
          <c:dPt>
            <c:idx val="1"/>
            <c:bubble3D val="0"/>
            <c:spPr>
              <a:gradFill rotWithShape="1">
                <a:gsLst>
                  <a:gs pos="0">
                    <a:schemeClr val="accent2">
                      <a:shade val="76000"/>
                      <a:satMod val="103000"/>
                      <a:lumMod val="102000"/>
                      <a:tint val="94000"/>
                    </a:schemeClr>
                  </a:gs>
                  <a:gs pos="50000">
                    <a:schemeClr val="accent2">
                      <a:shade val="76000"/>
                      <a:satMod val="110000"/>
                      <a:lumMod val="100000"/>
                      <a:shade val="100000"/>
                    </a:schemeClr>
                  </a:gs>
                  <a:gs pos="100000">
                    <a:schemeClr val="accent2">
                      <a:shade val="76000"/>
                      <a:lumMod val="99000"/>
                      <a:satMod val="120000"/>
                      <a:shade val="78000"/>
                    </a:schemeClr>
                  </a:gs>
                </a:gsLst>
                <a:lin ang="5400000" scaled="0"/>
              </a:gradFill>
              <a:ln>
                <a:noFill/>
              </a:ln>
              <a:effectLst/>
            </c:spPr>
            <c:extLst>
              <c:ext xmlns:c16="http://schemas.microsoft.com/office/drawing/2014/chart" uri="{C3380CC4-5D6E-409C-BE32-E72D297353CC}">
                <c16:uniqueId val="{00000003-CA60-4A9F-A169-F0484C02D590}"/>
              </c:ext>
            </c:extLst>
          </c:dPt>
          <c:dPt>
            <c:idx val="2"/>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5-CA60-4A9F-A169-F0484C02D590}"/>
              </c:ext>
            </c:extLst>
          </c:dPt>
          <c:dPt>
            <c:idx val="3"/>
            <c:bubble3D val="0"/>
            <c:spPr>
              <a:gradFill rotWithShape="1">
                <a:gsLst>
                  <a:gs pos="0">
                    <a:schemeClr val="accent2">
                      <a:tint val="77000"/>
                      <a:satMod val="103000"/>
                      <a:lumMod val="102000"/>
                      <a:tint val="94000"/>
                    </a:schemeClr>
                  </a:gs>
                  <a:gs pos="50000">
                    <a:schemeClr val="accent2">
                      <a:tint val="77000"/>
                      <a:satMod val="110000"/>
                      <a:lumMod val="100000"/>
                      <a:shade val="100000"/>
                    </a:schemeClr>
                  </a:gs>
                  <a:gs pos="100000">
                    <a:schemeClr val="accent2">
                      <a:tint val="77000"/>
                      <a:lumMod val="99000"/>
                      <a:satMod val="120000"/>
                      <a:shade val="78000"/>
                    </a:schemeClr>
                  </a:gs>
                </a:gsLst>
                <a:lin ang="5400000" scaled="0"/>
              </a:gradFill>
              <a:ln>
                <a:noFill/>
              </a:ln>
              <a:effectLst/>
            </c:spPr>
            <c:extLst>
              <c:ext xmlns:c16="http://schemas.microsoft.com/office/drawing/2014/chart" uri="{C3380CC4-5D6E-409C-BE32-E72D297353CC}">
                <c16:uniqueId val="{00000000-B9AB-4473-B0F3-8171F88922FC}"/>
              </c:ext>
            </c:extLst>
          </c:dPt>
          <c:dPt>
            <c:idx val="4"/>
            <c:bubble3D val="0"/>
            <c:spPr>
              <a:gradFill rotWithShape="1">
                <a:gsLst>
                  <a:gs pos="0">
                    <a:schemeClr val="accent2">
                      <a:tint val="54000"/>
                      <a:satMod val="103000"/>
                      <a:lumMod val="102000"/>
                      <a:tint val="94000"/>
                    </a:schemeClr>
                  </a:gs>
                  <a:gs pos="50000">
                    <a:schemeClr val="accent2">
                      <a:tint val="54000"/>
                      <a:satMod val="110000"/>
                      <a:lumMod val="100000"/>
                      <a:shade val="100000"/>
                    </a:schemeClr>
                  </a:gs>
                  <a:gs pos="100000">
                    <a:schemeClr val="accent2">
                      <a:tint val="54000"/>
                      <a:lumMod val="99000"/>
                      <a:satMod val="120000"/>
                      <a:shade val="78000"/>
                    </a:schemeClr>
                  </a:gs>
                </a:gsLst>
                <a:lin ang="5400000" scaled="0"/>
              </a:gradFill>
              <a:ln>
                <a:noFill/>
              </a:ln>
              <a:effectLst/>
            </c:spPr>
            <c:extLst>
              <c:ext xmlns:c16="http://schemas.microsoft.com/office/drawing/2014/chart" uri="{C3380CC4-5D6E-409C-BE32-E72D297353CC}">
                <c16:uniqueId val="{00000001-B9AB-4473-B0F3-8171F88922FC}"/>
              </c:ext>
            </c:extLst>
          </c:dPt>
          <c:dLbls>
            <c:dLbl>
              <c:idx val="3"/>
              <c:layout>
                <c:manualLayout>
                  <c:x val="-0.20676843965933503"/>
                  <c:y val="2.3952095808383235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B9AB-4473-B0F3-8171F88922FC}"/>
                </c:ext>
              </c:extLst>
            </c:dLbl>
            <c:dLbl>
              <c:idx val="4"/>
              <c:layout>
                <c:manualLayout>
                  <c:x val="0.40546210295141688"/>
                  <c:y val="4.1916167664670663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B9AB-4473-B0F3-8171F88922FC}"/>
                </c:ext>
              </c:extLst>
            </c:dLbl>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eparator>
</c:separator>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Sheet1!$A$2:$A$6</c:f>
              <c:strCache>
                <c:ptCount val="5"/>
                <c:pt idx="0">
                  <c:v>Techno1</c:v>
                </c:pt>
                <c:pt idx="1">
                  <c:v>Techno2</c:v>
                </c:pt>
                <c:pt idx="2">
                  <c:v>Techno3</c:v>
                </c:pt>
                <c:pt idx="3">
                  <c:v>Techno4</c:v>
                </c:pt>
                <c:pt idx="4">
                  <c:v>Techno5</c:v>
                </c:pt>
              </c:strCache>
            </c:strRef>
          </c:cat>
          <c:val>
            <c:numRef>
              <c:f>Sheet1!$B$2:$B$6</c:f>
              <c:numCache>
                <c:formatCode>#,##0</c:formatCode>
                <c:ptCount val="5"/>
                <c:pt idx="0">
                  <c:v>300</c:v>
                </c:pt>
                <c:pt idx="1">
                  <c:v>200</c:v>
                </c:pt>
                <c:pt idx="2">
                  <c:v>150</c:v>
                </c:pt>
                <c:pt idx="3">
                  <c:v>100</c:v>
                </c:pt>
                <c:pt idx="4">
                  <c:v>50</c:v>
                </c:pt>
              </c:numCache>
            </c:numRef>
          </c:val>
          <c:extLst>
            <c:ext xmlns:c16="http://schemas.microsoft.com/office/drawing/2014/chart" uri="{C3380CC4-5D6E-409C-BE32-E72D297353CC}">
              <c16:uniqueId val="{00000002-B9AB-4473-B0F3-8171F88922FC}"/>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zero"/>
    <c:showDLblsOverMax val="0"/>
  </c:chart>
  <c:spPr>
    <a:noFill/>
    <a:ln w="6350" cap="flat" cmpd="sng" algn="ctr">
      <a:noFill/>
      <a:prstDash val="solid"/>
      <a:miter lim="800000"/>
    </a:ln>
    <a:effectLst/>
  </c:spPr>
  <c:txPr>
    <a:bodyPr/>
    <a:lstStyle/>
    <a:p>
      <a:pPr>
        <a:defRPr sz="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0.15704302179619908"/>
          <c:y val="0.12779902512185976"/>
          <c:w val="0.44563988115612629"/>
          <c:h val="0.73184818687984154"/>
        </c:manualLayout>
      </c:layout>
      <c:radarChart>
        <c:radarStyle val="filled"/>
        <c:varyColors val="0"/>
        <c:ser>
          <c:idx val="0"/>
          <c:order val="0"/>
          <c:tx>
            <c:strRef>
              <c:f>Sheet1!$B$1</c:f>
              <c:strCache>
                <c:ptCount val="1"/>
                <c:pt idx="0">
                  <c:v>V2</c:v>
                </c:pt>
              </c:strCache>
            </c:strRef>
          </c:tx>
          <c:spPr>
            <a:gradFill rotWithShape="1">
              <a:gsLst>
                <a:gs pos="0">
                  <a:schemeClr val="accent2">
                    <a:shade val="76000"/>
                    <a:satMod val="103000"/>
                    <a:lumMod val="102000"/>
                    <a:tint val="94000"/>
                  </a:schemeClr>
                </a:gs>
                <a:gs pos="50000">
                  <a:schemeClr val="accent2">
                    <a:shade val="76000"/>
                    <a:satMod val="110000"/>
                    <a:lumMod val="100000"/>
                    <a:shade val="100000"/>
                  </a:schemeClr>
                </a:gs>
                <a:gs pos="100000">
                  <a:schemeClr val="accent2">
                    <a:shade val="76000"/>
                    <a:lumMod val="99000"/>
                    <a:satMod val="120000"/>
                    <a:shade val="78000"/>
                  </a:schemeClr>
                </a:gs>
              </a:gsLst>
              <a:lin ang="5400000" scaled="0"/>
            </a:gradFill>
            <a:ln>
              <a:noFill/>
            </a:ln>
            <a:effectLst/>
          </c:spPr>
          <c:cat>
            <c:strRef>
              <c:f>Sheet1!$A$2:$A$6</c:f>
              <c:strCache>
                <c:ptCount val="5"/>
                <c:pt idx="0">
                  <c:v>Trsf</c:v>
                </c:pt>
                <c:pt idx="1">
                  <c:v>Chng</c:v>
                </c:pt>
                <c:pt idx="2">
                  <c:v>Rbst</c:v>
                </c:pt>
                <c:pt idx="3">
                  <c:v>Efcy</c:v>
                </c:pt>
                <c:pt idx="4">
                  <c:v>Secu</c:v>
                </c:pt>
              </c:strCache>
            </c:strRef>
          </c:cat>
          <c:val>
            <c:numRef>
              <c:f>Sheet1!$B$2:$B$6</c:f>
              <c:numCache>
                <c:formatCode>General</c:formatCode>
                <c:ptCount val="5"/>
                <c:pt idx="0">
                  <c:v>2.5</c:v>
                </c:pt>
                <c:pt idx="1">
                  <c:v>2.5</c:v>
                </c:pt>
                <c:pt idx="2">
                  <c:v>2.5</c:v>
                </c:pt>
                <c:pt idx="3">
                  <c:v>2.5</c:v>
                </c:pt>
                <c:pt idx="4">
                  <c:v>2.5</c:v>
                </c:pt>
              </c:numCache>
            </c:numRef>
          </c:val>
          <c:extLst>
            <c:ext xmlns:c16="http://schemas.microsoft.com/office/drawing/2014/chart" uri="{C3380CC4-5D6E-409C-BE32-E72D297353CC}">
              <c16:uniqueId val="{00000000-BC15-41E3-89AB-934D86573633}"/>
            </c:ext>
          </c:extLst>
        </c:ser>
        <c:ser>
          <c:idx val="1"/>
          <c:order val="1"/>
          <c:tx>
            <c:strRef>
              <c:f>Sheet1!$C$1</c:f>
              <c:strCache>
                <c:ptCount val="1"/>
                <c:pt idx="0">
                  <c:v>V1</c:v>
                </c:pt>
              </c:strCache>
            </c:strRef>
          </c:tx>
          <c:spPr>
            <a:gradFill rotWithShape="1">
              <a:gsLst>
                <a:gs pos="0">
                  <a:schemeClr val="accent2">
                    <a:tint val="77000"/>
                    <a:satMod val="103000"/>
                    <a:lumMod val="102000"/>
                    <a:tint val="94000"/>
                  </a:schemeClr>
                </a:gs>
                <a:gs pos="50000">
                  <a:schemeClr val="accent2">
                    <a:tint val="77000"/>
                    <a:satMod val="110000"/>
                    <a:lumMod val="100000"/>
                    <a:shade val="100000"/>
                  </a:schemeClr>
                </a:gs>
                <a:gs pos="100000">
                  <a:schemeClr val="accent2">
                    <a:tint val="77000"/>
                    <a:lumMod val="99000"/>
                    <a:satMod val="120000"/>
                    <a:shade val="78000"/>
                  </a:schemeClr>
                </a:gs>
              </a:gsLst>
              <a:lin ang="5400000" scaled="0"/>
            </a:gradFill>
            <a:ln>
              <a:noFill/>
            </a:ln>
            <a:effectLst/>
          </c:spPr>
          <c:cat>
            <c:strRef>
              <c:f>Sheet1!$A$2:$A$6</c:f>
              <c:strCache>
                <c:ptCount val="5"/>
                <c:pt idx="0">
                  <c:v>Trsf</c:v>
                </c:pt>
                <c:pt idx="1">
                  <c:v>Chng</c:v>
                </c:pt>
                <c:pt idx="2">
                  <c:v>Rbst</c:v>
                </c:pt>
                <c:pt idx="3">
                  <c:v>Efcy</c:v>
                </c:pt>
                <c:pt idx="4">
                  <c:v>Secu</c:v>
                </c:pt>
              </c:strCache>
            </c:strRef>
          </c:cat>
          <c:val>
            <c:numRef>
              <c:f>Sheet1!$C$2:$C$6</c:f>
              <c:numCache>
                <c:formatCode>General</c:formatCode>
                <c:ptCount val="5"/>
                <c:pt idx="0">
                  <c:v>1.5</c:v>
                </c:pt>
                <c:pt idx="1">
                  <c:v>1.5</c:v>
                </c:pt>
                <c:pt idx="2">
                  <c:v>1.5</c:v>
                </c:pt>
                <c:pt idx="3">
                  <c:v>1.5</c:v>
                </c:pt>
                <c:pt idx="4">
                  <c:v>1.5</c:v>
                </c:pt>
              </c:numCache>
            </c:numRef>
          </c:val>
          <c:extLst>
            <c:ext xmlns:c16="http://schemas.microsoft.com/office/drawing/2014/chart" uri="{C3380CC4-5D6E-409C-BE32-E72D297353CC}">
              <c16:uniqueId val="{00000001-BC15-41E3-89AB-934D86573633}"/>
            </c:ext>
          </c:extLst>
        </c:ser>
        <c:dLbls>
          <c:showLegendKey val="0"/>
          <c:showVal val="0"/>
          <c:showCatName val="0"/>
          <c:showSerName val="0"/>
          <c:showPercent val="0"/>
          <c:showBubbleSize val="0"/>
        </c:dLbls>
        <c:axId val="299490456"/>
        <c:axId val="299490848"/>
      </c:radarChart>
      <c:catAx>
        <c:axId val="299490456"/>
        <c:scaling>
          <c:orientation val="minMax"/>
        </c:scaling>
        <c:delete val="0"/>
        <c:axPos val="b"/>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99490848"/>
        <c:crosses val="autoZero"/>
        <c:auto val="1"/>
        <c:lblAlgn val="ctr"/>
        <c:lblOffset val="100"/>
        <c:noMultiLvlLbl val="0"/>
      </c:catAx>
      <c:valAx>
        <c:axId val="299490848"/>
        <c:scaling>
          <c:orientation val="minMax"/>
          <c:max val="4"/>
          <c:min val="0"/>
        </c:scaling>
        <c:delete val="0"/>
        <c:axPos val="l"/>
        <c:majorGridlines>
          <c:spPr>
            <a:ln w="6350" cap="flat" cmpd="sng" algn="ctr">
              <a:solidFill>
                <a:schemeClr val="tx1">
                  <a:tint val="75000"/>
                </a:schemeClr>
              </a:solidFill>
              <a:prstDash val="solid"/>
              <a:round/>
            </a:ln>
            <a:effectLst/>
          </c:spPr>
        </c:majorGridlines>
        <c:numFmt formatCode="General" sourceLinked="1"/>
        <c:majorTickMark val="cross"/>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99490456"/>
        <c:crosses val="autoZero"/>
        <c:crossBetween val="between"/>
      </c:valAx>
      <c:spPr>
        <a:noFill/>
        <a:ln>
          <a:noFill/>
        </a:ln>
        <a:effectLst/>
      </c:spPr>
    </c:plotArea>
    <c:legend>
      <c:legendPos val="r"/>
      <c:layout>
        <c:manualLayout>
          <c:xMode val="edge"/>
          <c:yMode val="edge"/>
          <c:x val="0.63321818968031296"/>
          <c:y val="0.49796390144685387"/>
          <c:w val="0.33971742157848461"/>
          <c:h val="0.34506155298984414"/>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8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0.15704302179619914"/>
          <c:y val="9.9343759784266392E-2"/>
          <c:w val="0.42290779060724915"/>
          <c:h val="0.74140499540455163"/>
        </c:manualLayout>
      </c:layout>
      <c:radarChart>
        <c:radarStyle val="filled"/>
        <c:varyColors val="0"/>
        <c:ser>
          <c:idx val="0"/>
          <c:order val="0"/>
          <c:tx>
            <c:strRef>
              <c:f>Sheet1!$B$1</c:f>
              <c:strCache>
                <c:ptCount val="1"/>
                <c:pt idx="0">
                  <c:v>V2</c:v>
                </c:pt>
              </c:strCache>
            </c:strRef>
          </c:tx>
          <c:spPr>
            <a:gradFill rotWithShape="1">
              <a:gsLst>
                <a:gs pos="0">
                  <a:schemeClr val="accent2">
                    <a:shade val="76000"/>
                    <a:satMod val="103000"/>
                    <a:lumMod val="102000"/>
                    <a:tint val="94000"/>
                  </a:schemeClr>
                </a:gs>
                <a:gs pos="50000">
                  <a:schemeClr val="accent2">
                    <a:shade val="76000"/>
                    <a:satMod val="110000"/>
                    <a:lumMod val="100000"/>
                    <a:shade val="100000"/>
                  </a:schemeClr>
                </a:gs>
                <a:gs pos="100000">
                  <a:schemeClr val="accent2">
                    <a:shade val="76000"/>
                    <a:lumMod val="99000"/>
                    <a:satMod val="120000"/>
                    <a:shade val="78000"/>
                  </a:schemeClr>
                </a:gs>
              </a:gsLst>
              <a:lin ang="5400000" scaled="0"/>
            </a:gradFill>
            <a:ln>
              <a:noFill/>
            </a:ln>
            <a:effectLst/>
          </c:spPr>
          <c:cat>
            <c:strRef>
              <c:f>Sheet1!$A$2:$A$4</c:f>
              <c:strCache>
                <c:ptCount val="3"/>
                <c:pt idx="0">
                  <c:v>Prog</c:v>
                </c:pt>
                <c:pt idx="1">
                  <c:v>Arch</c:v>
                </c:pt>
                <c:pt idx="2">
                  <c:v>Doc</c:v>
                </c:pt>
              </c:strCache>
            </c:strRef>
          </c:cat>
          <c:val>
            <c:numRef>
              <c:f>Sheet1!$B$2:$B$4</c:f>
              <c:numCache>
                <c:formatCode>General</c:formatCode>
                <c:ptCount val="3"/>
                <c:pt idx="0">
                  <c:v>2.5</c:v>
                </c:pt>
                <c:pt idx="1">
                  <c:v>2.5</c:v>
                </c:pt>
                <c:pt idx="2">
                  <c:v>2.5</c:v>
                </c:pt>
              </c:numCache>
            </c:numRef>
          </c:val>
          <c:extLst>
            <c:ext xmlns:c16="http://schemas.microsoft.com/office/drawing/2014/chart" uri="{C3380CC4-5D6E-409C-BE32-E72D297353CC}">
              <c16:uniqueId val="{00000000-1010-4690-88CE-B7C529B5951E}"/>
            </c:ext>
          </c:extLst>
        </c:ser>
        <c:ser>
          <c:idx val="1"/>
          <c:order val="1"/>
          <c:tx>
            <c:strRef>
              <c:f>Sheet1!$C$1</c:f>
              <c:strCache>
                <c:ptCount val="1"/>
                <c:pt idx="0">
                  <c:v>V1</c:v>
                </c:pt>
              </c:strCache>
            </c:strRef>
          </c:tx>
          <c:spPr>
            <a:gradFill rotWithShape="1">
              <a:gsLst>
                <a:gs pos="0">
                  <a:schemeClr val="accent2">
                    <a:tint val="77000"/>
                    <a:satMod val="103000"/>
                    <a:lumMod val="102000"/>
                    <a:tint val="94000"/>
                  </a:schemeClr>
                </a:gs>
                <a:gs pos="50000">
                  <a:schemeClr val="accent2">
                    <a:tint val="77000"/>
                    <a:satMod val="110000"/>
                    <a:lumMod val="100000"/>
                    <a:shade val="100000"/>
                  </a:schemeClr>
                </a:gs>
                <a:gs pos="100000">
                  <a:schemeClr val="accent2">
                    <a:tint val="77000"/>
                    <a:lumMod val="99000"/>
                    <a:satMod val="120000"/>
                    <a:shade val="78000"/>
                  </a:schemeClr>
                </a:gs>
              </a:gsLst>
              <a:lin ang="5400000" scaled="0"/>
            </a:gradFill>
            <a:ln>
              <a:noFill/>
            </a:ln>
            <a:effectLst/>
          </c:spPr>
          <c:cat>
            <c:strRef>
              <c:f>Sheet1!$A$2:$A$4</c:f>
              <c:strCache>
                <c:ptCount val="3"/>
                <c:pt idx="0">
                  <c:v>Prog</c:v>
                </c:pt>
                <c:pt idx="1">
                  <c:v>Arch</c:v>
                </c:pt>
                <c:pt idx="2">
                  <c:v>Doc</c:v>
                </c:pt>
              </c:strCache>
            </c:strRef>
          </c:cat>
          <c:val>
            <c:numRef>
              <c:f>Sheet1!$C$2:$C$4</c:f>
              <c:numCache>
                <c:formatCode>General</c:formatCode>
                <c:ptCount val="3"/>
                <c:pt idx="0">
                  <c:v>1.5</c:v>
                </c:pt>
                <c:pt idx="1">
                  <c:v>1.5</c:v>
                </c:pt>
                <c:pt idx="2">
                  <c:v>1.5</c:v>
                </c:pt>
              </c:numCache>
            </c:numRef>
          </c:val>
          <c:extLst>
            <c:ext xmlns:c16="http://schemas.microsoft.com/office/drawing/2014/chart" uri="{C3380CC4-5D6E-409C-BE32-E72D297353CC}">
              <c16:uniqueId val="{00000001-1010-4690-88CE-B7C529B5951E}"/>
            </c:ext>
          </c:extLst>
        </c:ser>
        <c:dLbls>
          <c:showLegendKey val="0"/>
          <c:showVal val="0"/>
          <c:showCatName val="0"/>
          <c:showSerName val="0"/>
          <c:showPercent val="0"/>
          <c:showBubbleSize val="0"/>
        </c:dLbls>
        <c:axId val="360662752"/>
        <c:axId val="360667456"/>
      </c:radarChart>
      <c:catAx>
        <c:axId val="360662752"/>
        <c:scaling>
          <c:orientation val="minMax"/>
        </c:scaling>
        <c:delete val="0"/>
        <c:axPos val="b"/>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360667456"/>
        <c:crosses val="autoZero"/>
        <c:auto val="1"/>
        <c:lblAlgn val="ctr"/>
        <c:lblOffset val="100"/>
        <c:noMultiLvlLbl val="0"/>
      </c:catAx>
      <c:valAx>
        <c:axId val="360667456"/>
        <c:scaling>
          <c:orientation val="minMax"/>
          <c:max val="4"/>
          <c:min val="0"/>
        </c:scaling>
        <c:delete val="0"/>
        <c:axPos val="l"/>
        <c:majorGridlines>
          <c:spPr>
            <a:ln w="6350" cap="flat" cmpd="sng" algn="ctr">
              <a:solidFill>
                <a:schemeClr val="tx1">
                  <a:tint val="75000"/>
                </a:schemeClr>
              </a:solidFill>
              <a:prstDash val="solid"/>
              <a:round/>
            </a:ln>
            <a:effectLst/>
          </c:spPr>
        </c:majorGridlines>
        <c:numFmt formatCode="General" sourceLinked="1"/>
        <c:majorTickMark val="cross"/>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360662752"/>
        <c:crosses val="autoZero"/>
        <c:crossBetween val="between"/>
      </c:valAx>
      <c:spPr>
        <a:noFill/>
        <a:ln>
          <a:noFill/>
        </a:ln>
        <a:effectLst/>
      </c:spPr>
    </c:plotArea>
    <c:legend>
      <c:legendPos val="r"/>
      <c:layout>
        <c:manualLayout>
          <c:xMode val="edge"/>
          <c:yMode val="edge"/>
          <c:x val="0.63321818968031296"/>
          <c:y val="0.49796390144685393"/>
          <c:w val="0.33971742157848467"/>
          <c:h val="0.34506155298984426"/>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8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5.8063828336937982E-2"/>
          <c:y val="0.12779902512185976"/>
          <c:w val="0.69909120199010766"/>
          <c:h val="0.58660680089237949"/>
        </c:manualLayout>
      </c:layout>
      <c:lineChart>
        <c:grouping val="standard"/>
        <c:varyColors val="0"/>
        <c:ser>
          <c:idx val="0"/>
          <c:order val="0"/>
          <c:tx>
            <c:strRef>
              <c:f>Sheet1!$B$1</c:f>
              <c:strCache>
                <c:ptCount val="1"/>
                <c:pt idx="0">
                  <c:v>Trsf</c:v>
                </c:pt>
              </c:strCache>
            </c:strRef>
          </c:tx>
          <c:spPr>
            <a:ln w="6350">
              <a:solidFill>
                <a:schemeClr val="accent4">
                  <a:lumMod val="75000"/>
                </a:schemeClr>
              </a:solidFill>
              <a:prstDash val="solid"/>
            </a:ln>
          </c:spPr>
          <c:marker>
            <c:symbol val="circle"/>
            <c:size val="4"/>
            <c:spPr>
              <a:solidFill>
                <a:schemeClr val="accent4">
                  <a:lumMod val="50000"/>
                </a:schemeClr>
              </a:solidFill>
              <a:ln w="19050">
                <a:noFill/>
              </a:ln>
            </c:spPr>
          </c:marker>
          <c:cat>
            <c:numRef>
              <c:f>Sheet1!$A$2:$A$7</c:f>
              <c:numCache>
                <c:formatCode>m/d/yyyy</c:formatCode>
                <c:ptCount val="6"/>
                <c:pt idx="0">
                  <c:v>40680.083333333299</c:v>
                </c:pt>
                <c:pt idx="1">
                  <c:v>40842.083333333299</c:v>
                </c:pt>
                <c:pt idx="2">
                  <c:v>40981.083333333299</c:v>
                </c:pt>
                <c:pt idx="3">
                  <c:v>41072.083333333299</c:v>
                </c:pt>
                <c:pt idx="4">
                  <c:v>41154.083333333299</c:v>
                </c:pt>
                <c:pt idx="5">
                  <c:v>41226.083333333299</c:v>
                </c:pt>
              </c:numCache>
            </c:numRef>
          </c:cat>
          <c:val>
            <c:numRef>
              <c:f>Sheet1!$B$2:$B$7</c:f>
              <c:numCache>
                <c:formatCode>General</c:formatCode>
                <c:ptCount val="6"/>
                <c:pt idx="0">
                  <c:v>3.12</c:v>
                </c:pt>
                <c:pt idx="1">
                  <c:v>3.12</c:v>
                </c:pt>
                <c:pt idx="2">
                  <c:v>3.12</c:v>
                </c:pt>
                <c:pt idx="3">
                  <c:v>3.1</c:v>
                </c:pt>
                <c:pt idx="4">
                  <c:v>3.1</c:v>
                </c:pt>
                <c:pt idx="5">
                  <c:v>3.14</c:v>
                </c:pt>
              </c:numCache>
            </c:numRef>
          </c:val>
          <c:smooth val="0"/>
          <c:extLst>
            <c:ext xmlns:c16="http://schemas.microsoft.com/office/drawing/2014/chart" uri="{C3380CC4-5D6E-409C-BE32-E72D297353CC}">
              <c16:uniqueId val="{00000000-56C1-4CB5-A4C4-96FB9B75F46A}"/>
            </c:ext>
          </c:extLst>
        </c:ser>
        <c:ser>
          <c:idx val="1"/>
          <c:order val="1"/>
          <c:tx>
            <c:strRef>
              <c:f>Sheet1!$C$1</c:f>
              <c:strCache>
                <c:ptCount val="1"/>
                <c:pt idx="0">
                  <c:v>Chng</c:v>
                </c:pt>
              </c:strCache>
            </c:strRef>
          </c:tx>
          <c:spPr>
            <a:ln w="6350">
              <a:solidFill>
                <a:schemeClr val="accent3">
                  <a:lumMod val="75000"/>
                </a:schemeClr>
              </a:solidFill>
              <a:prstDash val="solid"/>
            </a:ln>
          </c:spPr>
          <c:marker>
            <c:symbol val="circle"/>
            <c:size val="4"/>
            <c:spPr>
              <a:solidFill>
                <a:schemeClr val="accent3">
                  <a:lumMod val="50000"/>
                </a:schemeClr>
              </a:solidFill>
              <a:ln w="19050">
                <a:noFill/>
              </a:ln>
            </c:spPr>
          </c:marker>
          <c:cat>
            <c:numRef>
              <c:f>Sheet1!$A$2:$A$7</c:f>
              <c:numCache>
                <c:formatCode>m/d/yyyy</c:formatCode>
                <c:ptCount val="6"/>
                <c:pt idx="0">
                  <c:v>40680.083333333299</c:v>
                </c:pt>
                <c:pt idx="1">
                  <c:v>40842.083333333299</c:v>
                </c:pt>
                <c:pt idx="2">
                  <c:v>40981.083333333299</c:v>
                </c:pt>
                <c:pt idx="3">
                  <c:v>41072.083333333299</c:v>
                </c:pt>
                <c:pt idx="4">
                  <c:v>41154.083333333299</c:v>
                </c:pt>
                <c:pt idx="5">
                  <c:v>41226.083333333299</c:v>
                </c:pt>
              </c:numCache>
            </c:numRef>
          </c:cat>
          <c:val>
            <c:numRef>
              <c:f>Sheet1!$C$2:$C$7</c:f>
              <c:numCache>
                <c:formatCode>General</c:formatCode>
                <c:ptCount val="6"/>
                <c:pt idx="0">
                  <c:v>3.48</c:v>
                </c:pt>
                <c:pt idx="1">
                  <c:v>3.43</c:v>
                </c:pt>
                <c:pt idx="2">
                  <c:v>3.52</c:v>
                </c:pt>
                <c:pt idx="3">
                  <c:v>3.51</c:v>
                </c:pt>
                <c:pt idx="4">
                  <c:v>3.51</c:v>
                </c:pt>
                <c:pt idx="5">
                  <c:v>3.53</c:v>
                </c:pt>
              </c:numCache>
            </c:numRef>
          </c:val>
          <c:smooth val="0"/>
          <c:extLst>
            <c:ext xmlns:c16="http://schemas.microsoft.com/office/drawing/2014/chart" uri="{C3380CC4-5D6E-409C-BE32-E72D297353CC}">
              <c16:uniqueId val="{00000001-56C1-4CB5-A4C4-96FB9B75F46A}"/>
            </c:ext>
          </c:extLst>
        </c:ser>
        <c:ser>
          <c:idx val="2"/>
          <c:order val="2"/>
          <c:tx>
            <c:strRef>
              <c:f>Sheet1!$D$1</c:f>
              <c:strCache>
                <c:ptCount val="1"/>
                <c:pt idx="0">
                  <c:v>Rbst</c:v>
                </c:pt>
              </c:strCache>
            </c:strRef>
          </c:tx>
          <c:spPr>
            <a:ln w="6350">
              <a:solidFill>
                <a:srgbClr val="FF0000"/>
              </a:solidFill>
              <a:prstDash val="solid"/>
            </a:ln>
          </c:spPr>
          <c:marker>
            <c:symbol val="circle"/>
            <c:size val="4"/>
            <c:spPr>
              <a:solidFill>
                <a:srgbClr val="C00000"/>
              </a:solidFill>
              <a:ln w="19050">
                <a:noFill/>
              </a:ln>
            </c:spPr>
          </c:marker>
          <c:cat>
            <c:numRef>
              <c:f>Sheet1!$A$2:$A$7</c:f>
              <c:numCache>
                <c:formatCode>m/d/yyyy</c:formatCode>
                <c:ptCount val="6"/>
                <c:pt idx="0">
                  <c:v>40680.083333333299</c:v>
                </c:pt>
                <c:pt idx="1">
                  <c:v>40842.083333333299</c:v>
                </c:pt>
                <c:pt idx="2">
                  <c:v>40981.083333333299</c:v>
                </c:pt>
                <c:pt idx="3">
                  <c:v>41072.083333333299</c:v>
                </c:pt>
                <c:pt idx="4">
                  <c:v>41154.083333333299</c:v>
                </c:pt>
                <c:pt idx="5">
                  <c:v>41226.083333333299</c:v>
                </c:pt>
              </c:numCache>
            </c:numRef>
          </c:cat>
          <c:val>
            <c:numRef>
              <c:f>Sheet1!$D$2:$D$7</c:f>
              <c:numCache>
                <c:formatCode>General</c:formatCode>
                <c:ptCount val="6"/>
                <c:pt idx="0">
                  <c:v>3.39</c:v>
                </c:pt>
                <c:pt idx="1">
                  <c:v>3.37</c:v>
                </c:pt>
                <c:pt idx="2">
                  <c:v>3.45</c:v>
                </c:pt>
                <c:pt idx="3">
                  <c:v>2.99</c:v>
                </c:pt>
                <c:pt idx="4">
                  <c:v>2.98</c:v>
                </c:pt>
                <c:pt idx="5">
                  <c:v>2.95</c:v>
                </c:pt>
              </c:numCache>
            </c:numRef>
          </c:val>
          <c:smooth val="0"/>
          <c:extLst>
            <c:ext xmlns:c16="http://schemas.microsoft.com/office/drawing/2014/chart" uri="{C3380CC4-5D6E-409C-BE32-E72D297353CC}">
              <c16:uniqueId val="{00000002-56C1-4CB5-A4C4-96FB9B75F46A}"/>
            </c:ext>
          </c:extLst>
        </c:ser>
        <c:ser>
          <c:idx val="3"/>
          <c:order val="3"/>
          <c:tx>
            <c:strRef>
              <c:f>Sheet1!$E$1</c:f>
              <c:strCache>
                <c:ptCount val="1"/>
                <c:pt idx="0">
                  <c:v>Efcy</c:v>
                </c:pt>
              </c:strCache>
            </c:strRef>
          </c:tx>
          <c:spPr>
            <a:ln w="6350">
              <a:solidFill>
                <a:schemeClr val="accent6">
                  <a:lumMod val="75000"/>
                </a:schemeClr>
              </a:solidFill>
              <a:prstDash val="solid"/>
            </a:ln>
          </c:spPr>
          <c:marker>
            <c:symbol val="circle"/>
            <c:size val="4"/>
            <c:spPr>
              <a:solidFill>
                <a:schemeClr val="accent6">
                  <a:lumMod val="50000"/>
                </a:schemeClr>
              </a:solidFill>
              <a:ln w="19050">
                <a:noFill/>
              </a:ln>
            </c:spPr>
          </c:marker>
          <c:cat>
            <c:numRef>
              <c:f>Sheet1!$A$2:$A$7</c:f>
              <c:numCache>
                <c:formatCode>m/d/yyyy</c:formatCode>
                <c:ptCount val="6"/>
                <c:pt idx="0">
                  <c:v>40680.083333333299</c:v>
                </c:pt>
                <c:pt idx="1">
                  <c:v>40842.083333333299</c:v>
                </c:pt>
                <c:pt idx="2">
                  <c:v>40981.083333333299</c:v>
                </c:pt>
                <c:pt idx="3">
                  <c:v>41072.083333333299</c:v>
                </c:pt>
                <c:pt idx="4">
                  <c:v>41154.083333333299</c:v>
                </c:pt>
                <c:pt idx="5">
                  <c:v>41226.083333333299</c:v>
                </c:pt>
              </c:numCache>
            </c:numRef>
          </c:cat>
          <c:val>
            <c:numRef>
              <c:f>Sheet1!$E$2:$E$7</c:f>
              <c:numCache>
                <c:formatCode>General</c:formatCode>
                <c:ptCount val="6"/>
                <c:pt idx="0">
                  <c:v>2.95</c:v>
                </c:pt>
                <c:pt idx="1">
                  <c:v>2.95</c:v>
                </c:pt>
                <c:pt idx="2">
                  <c:v>2.95</c:v>
                </c:pt>
                <c:pt idx="3">
                  <c:v>2.95</c:v>
                </c:pt>
                <c:pt idx="4">
                  <c:v>2.95</c:v>
                </c:pt>
                <c:pt idx="5">
                  <c:v>2.78</c:v>
                </c:pt>
              </c:numCache>
            </c:numRef>
          </c:val>
          <c:smooth val="0"/>
          <c:extLst>
            <c:ext xmlns:c16="http://schemas.microsoft.com/office/drawing/2014/chart" uri="{C3380CC4-5D6E-409C-BE32-E72D297353CC}">
              <c16:uniqueId val="{00000003-56C1-4CB5-A4C4-96FB9B75F46A}"/>
            </c:ext>
          </c:extLst>
        </c:ser>
        <c:ser>
          <c:idx val="4"/>
          <c:order val="4"/>
          <c:tx>
            <c:strRef>
              <c:f>Sheet1!$F$1</c:f>
              <c:strCache>
                <c:ptCount val="1"/>
                <c:pt idx="0">
                  <c:v>Secu</c:v>
                </c:pt>
              </c:strCache>
            </c:strRef>
          </c:tx>
          <c:spPr>
            <a:ln w="6350">
              <a:solidFill>
                <a:schemeClr val="accent1">
                  <a:lumMod val="75000"/>
                </a:schemeClr>
              </a:solidFill>
              <a:prstDash val="solid"/>
            </a:ln>
          </c:spPr>
          <c:marker>
            <c:symbol val="circle"/>
            <c:size val="4"/>
            <c:spPr>
              <a:solidFill>
                <a:schemeClr val="accent1">
                  <a:lumMod val="50000"/>
                </a:schemeClr>
              </a:solidFill>
              <a:ln w="19050">
                <a:noFill/>
              </a:ln>
            </c:spPr>
          </c:marker>
          <c:cat>
            <c:numRef>
              <c:f>Sheet1!$A$2:$A$7</c:f>
              <c:numCache>
                <c:formatCode>m/d/yyyy</c:formatCode>
                <c:ptCount val="6"/>
                <c:pt idx="0">
                  <c:v>40680.083333333299</c:v>
                </c:pt>
                <c:pt idx="1">
                  <c:v>40842.083333333299</c:v>
                </c:pt>
                <c:pt idx="2">
                  <c:v>40981.083333333299</c:v>
                </c:pt>
                <c:pt idx="3">
                  <c:v>41072.083333333299</c:v>
                </c:pt>
                <c:pt idx="4">
                  <c:v>41154.083333333299</c:v>
                </c:pt>
                <c:pt idx="5">
                  <c:v>41226.083333333299</c:v>
                </c:pt>
              </c:numCache>
            </c:numRef>
          </c:cat>
          <c:val>
            <c:numRef>
              <c:f>Sheet1!$F$2:$F$7</c:f>
              <c:numCache>
                <c:formatCode>General</c:formatCode>
                <c:ptCount val="6"/>
                <c:pt idx="0">
                  <c:v>3.03</c:v>
                </c:pt>
                <c:pt idx="1">
                  <c:v>3</c:v>
                </c:pt>
                <c:pt idx="2">
                  <c:v>3.15</c:v>
                </c:pt>
                <c:pt idx="3">
                  <c:v>2.75</c:v>
                </c:pt>
                <c:pt idx="4">
                  <c:v>2.33</c:v>
                </c:pt>
                <c:pt idx="5">
                  <c:v>2.73</c:v>
                </c:pt>
              </c:numCache>
            </c:numRef>
          </c:val>
          <c:smooth val="0"/>
          <c:extLst>
            <c:ext xmlns:c16="http://schemas.microsoft.com/office/drawing/2014/chart" uri="{C3380CC4-5D6E-409C-BE32-E72D297353CC}">
              <c16:uniqueId val="{00000004-56C1-4CB5-A4C4-96FB9B75F46A}"/>
            </c:ext>
          </c:extLst>
        </c:ser>
        <c:dLbls>
          <c:showLegendKey val="0"/>
          <c:showVal val="0"/>
          <c:showCatName val="0"/>
          <c:showSerName val="0"/>
          <c:showPercent val="0"/>
          <c:showBubbleSize val="0"/>
        </c:dLbls>
        <c:marker val="1"/>
        <c:smooth val="0"/>
        <c:axId val="360661968"/>
        <c:axId val="360664320"/>
      </c:lineChart>
      <c:lineChart>
        <c:grouping val="standard"/>
        <c:varyColors val="0"/>
        <c:ser>
          <c:idx val="5"/>
          <c:order val="5"/>
          <c:tx>
            <c:strRef>
              <c:f>Sheet1!$G$1</c:f>
              <c:strCache>
                <c:ptCount val="1"/>
                <c:pt idx="0">
                  <c:v>LoC</c:v>
                </c:pt>
              </c:strCache>
            </c:strRef>
          </c:tx>
          <c:spPr>
            <a:ln w="6350">
              <a:solidFill>
                <a:schemeClr val="bg2">
                  <a:lumMod val="25000"/>
                </a:schemeClr>
              </a:solidFill>
            </a:ln>
          </c:spPr>
          <c:marker>
            <c:symbol val="square"/>
            <c:size val="4"/>
            <c:spPr>
              <a:solidFill>
                <a:schemeClr val="bg2">
                  <a:lumMod val="10000"/>
                </a:schemeClr>
              </a:solidFill>
              <a:ln>
                <a:noFill/>
              </a:ln>
            </c:spPr>
          </c:marker>
          <c:cat>
            <c:numRef>
              <c:f>Sheet1!$A$2:$A$7</c:f>
              <c:numCache>
                <c:formatCode>m/d/yyyy</c:formatCode>
                <c:ptCount val="6"/>
                <c:pt idx="0">
                  <c:v>40680.083333333299</c:v>
                </c:pt>
                <c:pt idx="1">
                  <c:v>40842.083333333299</c:v>
                </c:pt>
                <c:pt idx="2">
                  <c:v>40981.083333333299</c:v>
                </c:pt>
                <c:pt idx="3">
                  <c:v>41072.083333333299</c:v>
                </c:pt>
                <c:pt idx="4">
                  <c:v>41154.083333333299</c:v>
                </c:pt>
                <c:pt idx="5">
                  <c:v>41226.083333333299</c:v>
                </c:pt>
              </c:numCache>
            </c:numRef>
          </c:cat>
          <c:val>
            <c:numRef>
              <c:f>Sheet1!$G$2:$G$7</c:f>
              <c:numCache>
                <c:formatCode>General</c:formatCode>
                <c:ptCount val="6"/>
                <c:pt idx="0">
                  <c:v>76388</c:v>
                </c:pt>
                <c:pt idx="1">
                  <c:v>76404</c:v>
                </c:pt>
                <c:pt idx="2">
                  <c:v>76431</c:v>
                </c:pt>
                <c:pt idx="3">
                  <c:v>77996</c:v>
                </c:pt>
                <c:pt idx="4">
                  <c:v>79650</c:v>
                </c:pt>
                <c:pt idx="5">
                  <c:v>81828</c:v>
                </c:pt>
              </c:numCache>
            </c:numRef>
          </c:val>
          <c:smooth val="0"/>
          <c:extLst>
            <c:ext xmlns:c16="http://schemas.microsoft.com/office/drawing/2014/chart" uri="{C3380CC4-5D6E-409C-BE32-E72D297353CC}">
              <c16:uniqueId val="{00000005-56C1-4CB5-A4C4-96FB9B75F46A}"/>
            </c:ext>
          </c:extLst>
        </c:ser>
        <c:dLbls>
          <c:showLegendKey val="0"/>
          <c:showVal val="0"/>
          <c:showCatName val="0"/>
          <c:showSerName val="0"/>
          <c:showPercent val="0"/>
          <c:showBubbleSize val="0"/>
        </c:dLbls>
        <c:marker val="1"/>
        <c:smooth val="0"/>
        <c:axId val="360662360"/>
        <c:axId val="360666672"/>
      </c:lineChart>
      <c:catAx>
        <c:axId val="360661968"/>
        <c:scaling>
          <c:orientation val="minMax"/>
        </c:scaling>
        <c:delete val="0"/>
        <c:axPos val="b"/>
        <c:numFmt formatCode="m/d/yyyy" sourceLinked="1"/>
        <c:majorTickMark val="out"/>
        <c:minorTickMark val="none"/>
        <c:tickLblPos val="nextTo"/>
        <c:spPr>
          <a:ln w="12700" cmpd="sng"/>
        </c:spPr>
        <c:crossAx val="360664320"/>
        <c:crosses val="autoZero"/>
        <c:auto val="0"/>
        <c:lblAlgn val="ctr"/>
        <c:lblOffset val="100"/>
        <c:noMultiLvlLbl val="1"/>
      </c:catAx>
      <c:valAx>
        <c:axId val="360664320"/>
        <c:scaling>
          <c:orientation val="minMax"/>
          <c:max val="3.8"/>
          <c:min val="2"/>
        </c:scaling>
        <c:delete val="0"/>
        <c:axPos val="l"/>
        <c:majorGridlines>
          <c:spPr>
            <a:ln>
              <a:solidFill>
                <a:schemeClr val="bg1">
                  <a:lumMod val="85000"/>
                </a:schemeClr>
              </a:solidFill>
            </a:ln>
          </c:spPr>
        </c:majorGridlines>
        <c:numFmt formatCode="General" sourceLinked="1"/>
        <c:majorTickMark val="cross"/>
        <c:minorTickMark val="none"/>
        <c:tickLblPos val="nextTo"/>
        <c:spPr>
          <a:ln w="9525"/>
        </c:spPr>
        <c:crossAx val="360661968"/>
        <c:crosses val="autoZero"/>
        <c:crossBetween val="midCat"/>
        <c:majorUnit val="0.5"/>
      </c:valAx>
      <c:valAx>
        <c:axId val="360666672"/>
        <c:scaling>
          <c:orientation val="minMax"/>
        </c:scaling>
        <c:delete val="0"/>
        <c:axPos val="r"/>
        <c:numFmt formatCode="General" sourceLinked="1"/>
        <c:majorTickMark val="out"/>
        <c:minorTickMark val="none"/>
        <c:tickLblPos val="nextTo"/>
        <c:crossAx val="360662360"/>
        <c:crosses val="max"/>
        <c:crossBetween val="between"/>
      </c:valAx>
      <c:dateAx>
        <c:axId val="360662360"/>
        <c:scaling>
          <c:orientation val="minMax"/>
        </c:scaling>
        <c:delete val="1"/>
        <c:axPos val="b"/>
        <c:numFmt formatCode="m/d/yyyy" sourceLinked="1"/>
        <c:majorTickMark val="out"/>
        <c:minorTickMark val="none"/>
        <c:tickLblPos val="none"/>
        <c:crossAx val="360666672"/>
        <c:crosses val="autoZero"/>
        <c:auto val="1"/>
        <c:lblOffset val="100"/>
        <c:baseTimeUnit val="months"/>
      </c:dateAx>
      <c:spPr>
        <a:noFill/>
        <a:ln w="25400">
          <a:noFill/>
        </a:ln>
      </c:spPr>
    </c:plotArea>
    <c:legend>
      <c:legendPos val="r"/>
      <c:layout>
        <c:manualLayout>
          <c:xMode val="edge"/>
          <c:yMode val="edge"/>
          <c:x val="0.8814704798881996"/>
          <c:y val="0.14633670791151107"/>
          <c:w val="0.10865150923931582"/>
          <c:h val="0.52200131606711864"/>
        </c:manualLayout>
      </c:layout>
      <c:overlay val="0"/>
    </c:legend>
    <c:plotVisOnly val="1"/>
    <c:dispBlanksAs val="gap"/>
    <c:showDLblsOverMax val="0"/>
  </c:chart>
  <c:spPr>
    <a:ln>
      <a:noFill/>
    </a:ln>
  </c:spPr>
  <c:txPr>
    <a:bodyPr/>
    <a:lstStyle/>
    <a:p>
      <a:pPr>
        <a:defRPr sz="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5.9802492911395805E-2"/>
          <c:y val="0.12779902512185976"/>
          <c:w val="0.6991997319576001"/>
          <c:h val="0.60242198341239872"/>
        </c:manualLayout>
      </c:layout>
      <c:lineChart>
        <c:grouping val="standard"/>
        <c:varyColors val="0"/>
        <c:ser>
          <c:idx val="0"/>
          <c:order val="0"/>
          <c:tx>
            <c:strRef>
              <c:f>Sheet1!$B$1</c:f>
              <c:strCache>
                <c:ptCount val="1"/>
                <c:pt idx="0">
                  <c:v>Prog</c:v>
                </c:pt>
              </c:strCache>
            </c:strRef>
          </c:tx>
          <c:spPr>
            <a:ln w="6350">
              <a:solidFill>
                <a:schemeClr val="accent1">
                  <a:lumMod val="75000"/>
                </a:schemeClr>
              </a:solidFill>
              <a:prstDash val="solid"/>
            </a:ln>
          </c:spPr>
          <c:marker>
            <c:symbol val="circle"/>
            <c:size val="4"/>
            <c:spPr>
              <a:solidFill>
                <a:schemeClr val="accent1">
                  <a:lumMod val="50000"/>
                </a:schemeClr>
              </a:solidFill>
              <a:ln w="19050">
                <a:noFill/>
              </a:ln>
            </c:spPr>
          </c:marke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Sheet1!$B$2:$B$8</c:f>
              <c:numCache>
                <c:formatCode>General</c:formatCode>
                <c:ptCount val="7"/>
                <c:pt idx="0">
                  <c:v>3.1919142526585298</c:v>
                </c:pt>
                <c:pt idx="1">
                  <c:v>3.19337097100478</c:v>
                </c:pt>
                <c:pt idx="2">
                  <c:v>3.1947557250108298</c:v>
                </c:pt>
                <c:pt idx="3">
                  <c:v>3.1435091338859098</c:v>
                </c:pt>
                <c:pt idx="4">
                  <c:v>3.1302250951328001</c:v>
                </c:pt>
                <c:pt idx="5">
                  <c:v>3.0318257565372901</c:v>
                </c:pt>
                <c:pt idx="6">
                  <c:v>3.0318257565372901</c:v>
                </c:pt>
              </c:numCache>
            </c:numRef>
          </c:val>
          <c:smooth val="0"/>
          <c:extLst>
            <c:ext xmlns:c16="http://schemas.microsoft.com/office/drawing/2014/chart" uri="{C3380CC4-5D6E-409C-BE32-E72D297353CC}">
              <c16:uniqueId val="{00000000-5BB7-4089-B9E5-F0561025214F}"/>
            </c:ext>
          </c:extLst>
        </c:ser>
        <c:ser>
          <c:idx val="1"/>
          <c:order val="1"/>
          <c:tx>
            <c:strRef>
              <c:f>Sheet1!$C$1</c:f>
              <c:strCache>
                <c:ptCount val="1"/>
                <c:pt idx="0">
                  <c:v>Arch</c:v>
                </c:pt>
              </c:strCache>
            </c:strRef>
          </c:tx>
          <c:spPr>
            <a:ln w="6350">
              <a:solidFill>
                <a:schemeClr val="accent6">
                  <a:lumMod val="75000"/>
                </a:schemeClr>
              </a:solidFill>
              <a:prstDash val="solid"/>
            </a:ln>
          </c:spPr>
          <c:marker>
            <c:symbol val="circle"/>
            <c:size val="4"/>
            <c:spPr>
              <a:solidFill>
                <a:schemeClr val="accent6">
                  <a:lumMod val="50000"/>
                </a:schemeClr>
              </a:solidFill>
              <a:ln w="19050">
                <a:noFill/>
              </a:ln>
            </c:spPr>
          </c:marke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Sheet1!$C$2:$C$8</c:f>
              <c:numCache>
                <c:formatCode>General</c:formatCode>
                <c:ptCount val="7"/>
                <c:pt idx="0">
                  <c:v>3.1131835353615198</c:v>
                </c:pt>
                <c:pt idx="1">
                  <c:v>3.08286157815273</c:v>
                </c:pt>
                <c:pt idx="2">
                  <c:v>3.27090842397824</c:v>
                </c:pt>
                <c:pt idx="3">
                  <c:v>3.26538602495607</c:v>
                </c:pt>
                <c:pt idx="4">
                  <c:v>3.2646715038724099</c:v>
                </c:pt>
                <c:pt idx="5">
                  <c:v>3.27250816920718</c:v>
                </c:pt>
                <c:pt idx="6">
                  <c:v>3.27250816920718</c:v>
                </c:pt>
              </c:numCache>
            </c:numRef>
          </c:val>
          <c:smooth val="0"/>
          <c:extLst>
            <c:ext xmlns:c16="http://schemas.microsoft.com/office/drawing/2014/chart" uri="{C3380CC4-5D6E-409C-BE32-E72D297353CC}">
              <c16:uniqueId val="{00000001-5BB7-4089-B9E5-F0561025214F}"/>
            </c:ext>
          </c:extLst>
        </c:ser>
        <c:ser>
          <c:idx val="2"/>
          <c:order val="2"/>
          <c:tx>
            <c:strRef>
              <c:f>Sheet1!$D$1</c:f>
              <c:strCache>
                <c:ptCount val="1"/>
                <c:pt idx="0">
                  <c:v>Doc</c:v>
                </c:pt>
              </c:strCache>
            </c:strRef>
          </c:tx>
          <c:spPr>
            <a:ln w="6350">
              <a:solidFill>
                <a:schemeClr val="accent3">
                  <a:lumMod val="75000"/>
                </a:schemeClr>
              </a:solidFill>
              <a:prstDash val="solid"/>
            </a:ln>
          </c:spPr>
          <c:marker>
            <c:symbol val="circle"/>
            <c:size val="4"/>
            <c:spPr>
              <a:solidFill>
                <a:schemeClr val="accent3">
                  <a:lumMod val="50000"/>
                </a:schemeClr>
              </a:solidFill>
              <a:ln w="19050">
                <a:noFill/>
                <a:prstDash val="solid"/>
              </a:ln>
            </c:spPr>
          </c:marke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Sheet1!$D$2:$D$8</c:f>
              <c:numCache>
                <c:formatCode>General</c:formatCode>
                <c:ptCount val="7"/>
                <c:pt idx="0">
                  <c:v>2.60410403155662</c:v>
                </c:pt>
                <c:pt idx="1">
                  <c:v>2.6038446416416998</c:v>
                </c:pt>
                <c:pt idx="2">
                  <c:v>2.5988616060305598</c:v>
                </c:pt>
                <c:pt idx="3">
                  <c:v>2.5497419638747201</c:v>
                </c:pt>
                <c:pt idx="4">
                  <c:v>2.5495496876070001</c:v>
                </c:pt>
                <c:pt idx="5">
                  <c:v>2.67227670135322</c:v>
                </c:pt>
                <c:pt idx="6">
                  <c:v>2.67227670135322</c:v>
                </c:pt>
              </c:numCache>
            </c:numRef>
          </c:val>
          <c:smooth val="0"/>
          <c:extLst>
            <c:ext xmlns:c16="http://schemas.microsoft.com/office/drawing/2014/chart" uri="{C3380CC4-5D6E-409C-BE32-E72D297353CC}">
              <c16:uniqueId val="{00000002-5BB7-4089-B9E5-F0561025214F}"/>
            </c:ext>
          </c:extLst>
        </c:ser>
        <c:dLbls>
          <c:showLegendKey val="0"/>
          <c:showVal val="0"/>
          <c:showCatName val="0"/>
          <c:showSerName val="0"/>
          <c:showPercent val="0"/>
          <c:showBubbleSize val="0"/>
        </c:dLbls>
        <c:marker val="1"/>
        <c:smooth val="0"/>
        <c:axId val="360667064"/>
        <c:axId val="360667848"/>
      </c:lineChart>
      <c:lineChart>
        <c:grouping val="standard"/>
        <c:varyColors val="0"/>
        <c:ser>
          <c:idx val="3"/>
          <c:order val="3"/>
          <c:tx>
            <c:strRef>
              <c:f>Sheet1!$E$1</c:f>
              <c:strCache>
                <c:ptCount val="1"/>
                <c:pt idx="0">
                  <c:v>LoC</c:v>
                </c:pt>
              </c:strCache>
            </c:strRef>
          </c:tx>
          <c:spPr>
            <a:ln w="6350">
              <a:solidFill>
                <a:schemeClr val="bg2">
                  <a:lumMod val="25000"/>
                </a:schemeClr>
              </a:solidFill>
            </a:ln>
          </c:spPr>
          <c:marker>
            <c:symbol val="square"/>
            <c:size val="4"/>
            <c:spPr>
              <a:solidFill>
                <a:schemeClr val="bg2">
                  <a:lumMod val="10000"/>
                </a:schemeClr>
              </a:solidFill>
              <a:ln>
                <a:noFill/>
              </a:ln>
            </c:spPr>
          </c:marke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Sheet1!$E$2:$E$8</c:f>
              <c:numCache>
                <c:formatCode>General</c:formatCode>
                <c:ptCount val="7"/>
                <c:pt idx="0">
                  <c:v>76388</c:v>
                </c:pt>
                <c:pt idx="1">
                  <c:v>76404</c:v>
                </c:pt>
                <c:pt idx="2">
                  <c:v>76431</c:v>
                </c:pt>
                <c:pt idx="3">
                  <c:v>77996</c:v>
                </c:pt>
                <c:pt idx="4">
                  <c:v>79650</c:v>
                </c:pt>
                <c:pt idx="5">
                  <c:v>81828</c:v>
                </c:pt>
                <c:pt idx="6">
                  <c:v>81828</c:v>
                </c:pt>
              </c:numCache>
            </c:numRef>
          </c:val>
          <c:smooth val="0"/>
          <c:extLst>
            <c:ext xmlns:c16="http://schemas.microsoft.com/office/drawing/2014/chart" uri="{C3380CC4-5D6E-409C-BE32-E72D297353CC}">
              <c16:uniqueId val="{00000003-5BB7-4089-B9E5-F0561025214F}"/>
            </c:ext>
          </c:extLst>
        </c:ser>
        <c:dLbls>
          <c:showLegendKey val="0"/>
          <c:showVal val="0"/>
          <c:showCatName val="0"/>
          <c:showSerName val="0"/>
          <c:showPercent val="0"/>
          <c:showBubbleSize val="0"/>
        </c:dLbls>
        <c:marker val="1"/>
        <c:smooth val="0"/>
        <c:axId val="360664712"/>
        <c:axId val="360663536"/>
      </c:lineChart>
      <c:catAx>
        <c:axId val="360667064"/>
        <c:scaling>
          <c:orientation val="minMax"/>
        </c:scaling>
        <c:delete val="0"/>
        <c:axPos val="b"/>
        <c:numFmt formatCode="m/d/yyyy" sourceLinked="1"/>
        <c:majorTickMark val="out"/>
        <c:minorTickMark val="none"/>
        <c:tickLblPos val="nextTo"/>
        <c:crossAx val="360667848"/>
        <c:crosses val="autoZero"/>
        <c:auto val="0"/>
        <c:lblAlgn val="ctr"/>
        <c:lblOffset val="100"/>
        <c:noMultiLvlLbl val="1"/>
      </c:catAx>
      <c:valAx>
        <c:axId val="360667848"/>
        <c:scaling>
          <c:orientation val="minMax"/>
          <c:max val="4"/>
          <c:min val="2"/>
        </c:scaling>
        <c:delete val="0"/>
        <c:axPos val="l"/>
        <c:majorGridlines>
          <c:spPr>
            <a:ln>
              <a:solidFill>
                <a:schemeClr val="bg1">
                  <a:lumMod val="85000"/>
                </a:schemeClr>
              </a:solidFill>
            </a:ln>
          </c:spPr>
        </c:majorGridlines>
        <c:numFmt formatCode="General" sourceLinked="1"/>
        <c:majorTickMark val="cross"/>
        <c:minorTickMark val="none"/>
        <c:tickLblPos val="nextTo"/>
        <c:spPr>
          <a:ln>
            <a:solidFill>
              <a:sysClr val="windowText" lastClr="000000">
                <a:tint val="75000"/>
                <a:shade val="95000"/>
                <a:satMod val="105000"/>
              </a:sysClr>
            </a:solidFill>
          </a:ln>
        </c:spPr>
        <c:crossAx val="360667064"/>
        <c:crosses val="autoZero"/>
        <c:crossBetween val="midCat"/>
        <c:majorUnit val="0.5"/>
      </c:valAx>
      <c:valAx>
        <c:axId val="360663536"/>
        <c:scaling>
          <c:orientation val="minMax"/>
        </c:scaling>
        <c:delete val="0"/>
        <c:axPos val="r"/>
        <c:numFmt formatCode="General" sourceLinked="1"/>
        <c:majorTickMark val="out"/>
        <c:minorTickMark val="none"/>
        <c:tickLblPos val="nextTo"/>
        <c:crossAx val="360664712"/>
        <c:crosses val="max"/>
        <c:crossBetween val="between"/>
      </c:valAx>
      <c:dateAx>
        <c:axId val="360664712"/>
        <c:scaling>
          <c:orientation val="minMax"/>
        </c:scaling>
        <c:delete val="1"/>
        <c:axPos val="b"/>
        <c:numFmt formatCode="m/d/yyyy" sourceLinked="1"/>
        <c:majorTickMark val="out"/>
        <c:minorTickMark val="none"/>
        <c:tickLblPos val="none"/>
        <c:crossAx val="360663536"/>
        <c:crosses val="autoZero"/>
        <c:auto val="1"/>
        <c:lblOffset val="100"/>
        <c:baseTimeUnit val="months"/>
      </c:dateAx>
    </c:plotArea>
    <c:legend>
      <c:legendPos val="r"/>
      <c:layout>
        <c:manualLayout>
          <c:xMode val="edge"/>
          <c:yMode val="edge"/>
          <c:x val="0.90143160807191636"/>
          <c:y val="0.2212100214745884"/>
          <c:w val="9.1553899249591245E-2"/>
          <c:h val="0.32665116522196663"/>
        </c:manualLayout>
      </c:layout>
      <c:overlay val="0"/>
    </c:legend>
    <c:plotVisOnly val="1"/>
    <c:dispBlanksAs val="gap"/>
    <c:showDLblsOverMax val="0"/>
  </c:chart>
  <c:spPr>
    <a:ln>
      <a:noFill/>
    </a:ln>
  </c:spPr>
  <c:txPr>
    <a:bodyPr/>
    <a:lstStyle/>
    <a:p>
      <a:pPr>
        <a:defRPr sz="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2302551437254132E-2"/>
          <c:y val="8.7498611265414819E-2"/>
          <c:w val="0.61678910010806565"/>
          <c:h val="0.59729289338221658"/>
        </c:manualLayout>
      </c:layout>
      <c:barChart>
        <c:barDir val="col"/>
        <c:grouping val="clustered"/>
        <c:varyColors val="0"/>
        <c:ser>
          <c:idx val="0"/>
          <c:order val="0"/>
          <c:tx>
            <c:strRef>
              <c:f>Sheet1!$B$1</c:f>
              <c:strCache>
                <c:ptCount val="1"/>
                <c:pt idx="0">
                  <c:v>Debt removed ($)</c:v>
                </c:pt>
              </c:strCache>
            </c:strRef>
          </c:tx>
          <c:spPr>
            <a:solidFill>
              <a:schemeClr val="accent1"/>
            </a:solidFill>
            <a:ln>
              <a:noFill/>
            </a:ln>
            <a:effectLst/>
          </c:spPr>
          <c:invertIfNegative val="0"/>
          <c:cat>
            <c:numRef>
              <c:f>Sheet1!$A$2:$A$5</c:f>
              <c:numCache>
                <c:formatCode>m/d/yyyy</c:formatCode>
                <c:ptCount val="4"/>
                <c:pt idx="0">
                  <c:v>40787</c:v>
                </c:pt>
                <c:pt idx="1">
                  <c:v>40878</c:v>
                </c:pt>
                <c:pt idx="2">
                  <c:v>40969</c:v>
                </c:pt>
                <c:pt idx="3">
                  <c:v>41244</c:v>
                </c:pt>
              </c:numCache>
            </c:numRef>
          </c:cat>
          <c:val>
            <c:numRef>
              <c:f>Sheet1!$B$2:$B$5</c:f>
              <c:numCache>
                <c:formatCode>#,##0</c:formatCode>
                <c:ptCount val="4"/>
                <c:pt idx="0">
                  <c:v>-2100</c:v>
                </c:pt>
                <c:pt idx="1">
                  <c:v>-600</c:v>
                </c:pt>
                <c:pt idx="2">
                  <c:v>-1800</c:v>
                </c:pt>
                <c:pt idx="3">
                  <c:v>-1200</c:v>
                </c:pt>
              </c:numCache>
            </c:numRef>
          </c:val>
          <c:extLst>
            <c:ext xmlns:c16="http://schemas.microsoft.com/office/drawing/2014/chart" uri="{C3380CC4-5D6E-409C-BE32-E72D297353CC}">
              <c16:uniqueId val="{00000000-FA0C-4B69-A1C3-EB94E12FBB66}"/>
            </c:ext>
          </c:extLst>
        </c:ser>
        <c:ser>
          <c:idx val="1"/>
          <c:order val="1"/>
          <c:tx>
            <c:strRef>
              <c:f>Sheet1!$C$1</c:f>
              <c:strCache>
                <c:ptCount val="1"/>
                <c:pt idx="0">
                  <c:v>Debt added ($)</c:v>
                </c:pt>
              </c:strCache>
            </c:strRef>
          </c:tx>
          <c:spPr>
            <a:solidFill>
              <a:schemeClr val="accent2"/>
            </a:solidFill>
            <a:ln>
              <a:noFill/>
            </a:ln>
            <a:effectLst/>
          </c:spPr>
          <c:invertIfNegative val="0"/>
          <c:cat>
            <c:numRef>
              <c:f>Sheet1!$A$2:$A$5</c:f>
              <c:numCache>
                <c:formatCode>m/d/yyyy</c:formatCode>
                <c:ptCount val="4"/>
                <c:pt idx="0">
                  <c:v>40787</c:v>
                </c:pt>
                <c:pt idx="1">
                  <c:v>40878</c:v>
                </c:pt>
                <c:pt idx="2">
                  <c:v>40969</c:v>
                </c:pt>
                <c:pt idx="3">
                  <c:v>41244</c:v>
                </c:pt>
              </c:numCache>
            </c:numRef>
          </c:cat>
          <c:val>
            <c:numRef>
              <c:f>Sheet1!$C$2:$C$5</c:f>
              <c:numCache>
                <c:formatCode>#,##0</c:formatCode>
                <c:ptCount val="4"/>
                <c:pt idx="0">
                  <c:v>2800</c:v>
                </c:pt>
                <c:pt idx="1">
                  <c:v>3200</c:v>
                </c:pt>
                <c:pt idx="2">
                  <c:v>2300</c:v>
                </c:pt>
                <c:pt idx="3">
                  <c:v>1300</c:v>
                </c:pt>
              </c:numCache>
            </c:numRef>
          </c:val>
          <c:extLst>
            <c:ext xmlns:c16="http://schemas.microsoft.com/office/drawing/2014/chart" uri="{C3380CC4-5D6E-409C-BE32-E72D297353CC}">
              <c16:uniqueId val="{00000001-FA0C-4B69-A1C3-EB94E12FBB66}"/>
            </c:ext>
          </c:extLst>
        </c:ser>
        <c:dLbls>
          <c:showLegendKey val="0"/>
          <c:showVal val="0"/>
          <c:showCatName val="0"/>
          <c:showSerName val="0"/>
          <c:showPercent val="0"/>
          <c:showBubbleSize val="0"/>
        </c:dLbls>
        <c:gapWidth val="150"/>
        <c:overlap val="100"/>
        <c:axId val="299492024"/>
        <c:axId val="299486144"/>
      </c:barChart>
      <c:lineChart>
        <c:grouping val="standard"/>
        <c:varyColors val="0"/>
        <c:ser>
          <c:idx val="2"/>
          <c:order val="2"/>
          <c:tx>
            <c:strRef>
              <c:f>Sheet1!$D$1</c:f>
              <c:strCache>
                <c:ptCount val="1"/>
                <c:pt idx="0">
                  <c:v>Debt ($)</c:v>
                </c:pt>
              </c:strCache>
            </c:strRef>
          </c:tx>
          <c:spPr>
            <a:ln w="19050" cap="rnd" cmpd="sng" algn="ctr">
              <a:solidFill>
                <a:schemeClr val="accent3"/>
              </a:solidFill>
              <a:prstDash val="solid"/>
              <a:round/>
            </a:ln>
            <a:effectLst/>
          </c:spPr>
          <c:marker>
            <c:symbol val="none"/>
          </c:marker>
          <c:cat>
            <c:numRef>
              <c:f>Sheet1!$A$2:$A$5</c:f>
              <c:numCache>
                <c:formatCode>m/d/yyyy</c:formatCode>
                <c:ptCount val="4"/>
                <c:pt idx="0">
                  <c:v>40787</c:v>
                </c:pt>
                <c:pt idx="1">
                  <c:v>40878</c:v>
                </c:pt>
                <c:pt idx="2">
                  <c:v>40969</c:v>
                </c:pt>
                <c:pt idx="3">
                  <c:v>41244</c:v>
                </c:pt>
              </c:numCache>
            </c:numRef>
          </c:cat>
          <c:val>
            <c:numRef>
              <c:f>Sheet1!$D$2:$D$5</c:f>
              <c:numCache>
                <c:formatCode>#,##0</c:formatCode>
                <c:ptCount val="4"/>
                <c:pt idx="0">
                  <c:v>470000</c:v>
                </c:pt>
                <c:pt idx="1">
                  <c:v>480000</c:v>
                </c:pt>
                <c:pt idx="2">
                  <c:v>490000</c:v>
                </c:pt>
                <c:pt idx="3">
                  <c:v>480000</c:v>
                </c:pt>
              </c:numCache>
            </c:numRef>
          </c:val>
          <c:smooth val="0"/>
          <c:extLst>
            <c:ext xmlns:c16="http://schemas.microsoft.com/office/drawing/2014/chart" uri="{C3380CC4-5D6E-409C-BE32-E72D297353CC}">
              <c16:uniqueId val="{00000002-FA0C-4B69-A1C3-EB94E12FBB66}"/>
            </c:ext>
          </c:extLst>
        </c:ser>
        <c:dLbls>
          <c:showLegendKey val="0"/>
          <c:showVal val="0"/>
          <c:showCatName val="0"/>
          <c:showSerName val="0"/>
          <c:showPercent val="0"/>
          <c:showBubbleSize val="0"/>
        </c:dLbls>
        <c:marker val="1"/>
        <c:smooth val="0"/>
        <c:axId val="299489280"/>
        <c:axId val="299484576"/>
      </c:lineChart>
      <c:catAx>
        <c:axId val="299492024"/>
        <c:scaling>
          <c:orientation val="minMax"/>
        </c:scaling>
        <c:delete val="0"/>
        <c:axPos val="b"/>
        <c:numFmt formatCode="m/d/yyyy" sourceLinked="1"/>
        <c:majorTickMark val="out"/>
        <c:minorTickMark val="none"/>
        <c:tickLblPos val="low"/>
        <c:spPr>
          <a:noFill/>
          <a:ln w="12700" cap="flat" cmpd="sng" algn="ctr">
            <a:solidFill>
              <a:prstClr val="white">
                <a:lumMod val="50000"/>
              </a:prst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99486144"/>
        <c:crosses val="autoZero"/>
        <c:auto val="0"/>
        <c:lblAlgn val="ctr"/>
        <c:lblOffset val="100"/>
        <c:noMultiLvlLbl val="1"/>
      </c:catAx>
      <c:valAx>
        <c:axId val="299486144"/>
        <c:scaling>
          <c:orientation val="minMax"/>
        </c:scaling>
        <c:delete val="0"/>
        <c:axPos val="l"/>
        <c:majorGridlines>
          <c:spPr>
            <a:ln w="6350" cap="flat" cmpd="sng" algn="ctr">
              <a:solidFill>
                <a:schemeClr val="tx1">
                  <a:tint val="75000"/>
                </a:schemeClr>
              </a:solidFill>
              <a:prstDash val="solid"/>
              <a:round/>
            </a:ln>
            <a:effectLst/>
          </c:spPr>
        </c:majorGridlines>
        <c:numFmt formatCode="#,##0" sourceLinked="1"/>
        <c:majorTickMark val="cross"/>
        <c:minorTickMark val="none"/>
        <c:tickLblPos val="nextTo"/>
        <c:spPr>
          <a:noFill/>
          <a:ln w="6350" cap="flat" cmpd="sng" algn="ctr">
            <a:solidFill>
              <a:prstClr val="white">
                <a:lumMod val="50000"/>
              </a:prst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99492024"/>
        <c:crosses val="autoZero"/>
        <c:crossBetween val="between"/>
      </c:valAx>
      <c:valAx>
        <c:axId val="299484576"/>
        <c:scaling>
          <c:orientation val="minMax"/>
          <c:min val="0"/>
        </c:scaling>
        <c:delete val="0"/>
        <c:axPos val="r"/>
        <c:numFmt formatCode="#,##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99489280"/>
        <c:crosses val="max"/>
        <c:crossBetween val="between"/>
      </c:valAx>
      <c:dateAx>
        <c:axId val="299489280"/>
        <c:scaling>
          <c:orientation val="minMax"/>
        </c:scaling>
        <c:delete val="1"/>
        <c:axPos val="b"/>
        <c:numFmt formatCode="m/d/yyyy" sourceLinked="1"/>
        <c:majorTickMark val="out"/>
        <c:minorTickMark val="none"/>
        <c:tickLblPos val="none"/>
        <c:crossAx val="299484576"/>
        <c:crosses val="autoZero"/>
        <c:auto val="1"/>
        <c:lblOffset val="100"/>
        <c:baseTimeUnit val="months"/>
        <c:majorUnit val="1"/>
        <c:minorUnit val="1"/>
      </c:dateAx>
      <c:spPr>
        <a:noFill/>
        <a:ln>
          <a:noFill/>
        </a:ln>
        <a:effectLst/>
      </c:spPr>
    </c:plotArea>
    <c:legend>
      <c:legendPos val="r"/>
      <c:layout>
        <c:manualLayout>
          <c:xMode val="edge"/>
          <c:yMode val="edge"/>
          <c:x val="0.78513069797719071"/>
          <c:y val="0.18344284087277346"/>
          <c:w val="0.20907799790262985"/>
          <c:h val="0.31489460360363608"/>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800"/>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2302551437254132E-2"/>
          <c:y val="8.7498611265414819E-2"/>
          <c:w val="0.61678910010806565"/>
          <c:h val="0.59729289338221658"/>
        </c:manualLayout>
      </c:layout>
      <c:barChart>
        <c:barDir val="col"/>
        <c:grouping val="clustered"/>
        <c:varyColors val="0"/>
        <c:ser>
          <c:idx val="0"/>
          <c:order val="0"/>
          <c:tx>
            <c:strRef>
              <c:f>Sheet1!$B$1</c:f>
              <c:strCache>
                <c:ptCount val="1"/>
                <c:pt idx="0">
                  <c:v>Debt removed (Days)</c:v>
                </c:pt>
              </c:strCache>
            </c:strRef>
          </c:tx>
          <c:spPr>
            <a:solidFill>
              <a:schemeClr val="accent1"/>
            </a:solidFill>
            <a:ln>
              <a:noFill/>
            </a:ln>
            <a:effectLst/>
          </c:spPr>
          <c:invertIfNegative val="0"/>
          <c:cat>
            <c:numRef>
              <c:f>Sheet1!$A$2:$A$5</c:f>
              <c:numCache>
                <c:formatCode>m/d/yyyy</c:formatCode>
                <c:ptCount val="4"/>
                <c:pt idx="0">
                  <c:v>40787</c:v>
                </c:pt>
                <c:pt idx="1">
                  <c:v>40878</c:v>
                </c:pt>
                <c:pt idx="2">
                  <c:v>40969</c:v>
                </c:pt>
                <c:pt idx="3">
                  <c:v>41244</c:v>
                </c:pt>
              </c:numCache>
            </c:numRef>
          </c:cat>
          <c:val>
            <c:numRef>
              <c:f>Sheet1!$B$2:$B$5</c:f>
              <c:numCache>
                <c:formatCode>#,##0</c:formatCode>
                <c:ptCount val="4"/>
                <c:pt idx="0">
                  <c:v>0</c:v>
                </c:pt>
                <c:pt idx="1">
                  <c:v>-80</c:v>
                </c:pt>
                <c:pt idx="2">
                  <c:v>-25</c:v>
                </c:pt>
                <c:pt idx="3">
                  <c:v>-60</c:v>
                </c:pt>
              </c:numCache>
            </c:numRef>
          </c:val>
          <c:extLst>
            <c:ext xmlns:c16="http://schemas.microsoft.com/office/drawing/2014/chart" uri="{C3380CC4-5D6E-409C-BE32-E72D297353CC}">
              <c16:uniqueId val="{00000000-FA0C-4B69-A1C3-EB94E12FBB66}"/>
            </c:ext>
          </c:extLst>
        </c:ser>
        <c:ser>
          <c:idx val="1"/>
          <c:order val="1"/>
          <c:tx>
            <c:strRef>
              <c:f>Sheet1!$C$1</c:f>
              <c:strCache>
                <c:ptCount val="1"/>
                <c:pt idx="0">
                  <c:v>Debt added (Days)</c:v>
                </c:pt>
              </c:strCache>
            </c:strRef>
          </c:tx>
          <c:spPr>
            <a:solidFill>
              <a:schemeClr val="accent2"/>
            </a:solidFill>
            <a:ln>
              <a:noFill/>
            </a:ln>
            <a:effectLst/>
          </c:spPr>
          <c:invertIfNegative val="0"/>
          <c:cat>
            <c:numRef>
              <c:f>Sheet1!$A$2:$A$5</c:f>
              <c:numCache>
                <c:formatCode>m/d/yyyy</c:formatCode>
                <c:ptCount val="4"/>
                <c:pt idx="0">
                  <c:v>40787</c:v>
                </c:pt>
                <c:pt idx="1">
                  <c:v>40878</c:v>
                </c:pt>
                <c:pt idx="2">
                  <c:v>40969</c:v>
                </c:pt>
                <c:pt idx="3">
                  <c:v>41244</c:v>
                </c:pt>
              </c:numCache>
            </c:numRef>
          </c:cat>
          <c:val>
            <c:numRef>
              <c:f>Sheet1!$C$2:$C$5</c:f>
              <c:numCache>
                <c:formatCode>#,##0</c:formatCode>
                <c:ptCount val="4"/>
                <c:pt idx="0">
                  <c:v>200</c:v>
                </c:pt>
                <c:pt idx="1">
                  <c:v>25</c:v>
                </c:pt>
                <c:pt idx="2">
                  <c:v>40</c:v>
                </c:pt>
                <c:pt idx="3">
                  <c:v>10</c:v>
                </c:pt>
              </c:numCache>
            </c:numRef>
          </c:val>
          <c:extLst>
            <c:ext xmlns:c16="http://schemas.microsoft.com/office/drawing/2014/chart" uri="{C3380CC4-5D6E-409C-BE32-E72D297353CC}">
              <c16:uniqueId val="{00000001-FA0C-4B69-A1C3-EB94E12FBB66}"/>
            </c:ext>
          </c:extLst>
        </c:ser>
        <c:dLbls>
          <c:showLegendKey val="0"/>
          <c:showVal val="0"/>
          <c:showCatName val="0"/>
          <c:showSerName val="0"/>
          <c:showPercent val="0"/>
          <c:showBubbleSize val="0"/>
        </c:dLbls>
        <c:gapWidth val="150"/>
        <c:overlap val="100"/>
        <c:axId val="299492024"/>
        <c:axId val="299486144"/>
      </c:barChart>
      <c:lineChart>
        <c:grouping val="standard"/>
        <c:varyColors val="0"/>
        <c:ser>
          <c:idx val="2"/>
          <c:order val="2"/>
          <c:tx>
            <c:strRef>
              <c:f>Sheet1!$D$1</c:f>
              <c:strCache>
                <c:ptCount val="1"/>
                <c:pt idx="0">
                  <c:v>Debt (Days)</c:v>
                </c:pt>
              </c:strCache>
            </c:strRef>
          </c:tx>
          <c:spPr>
            <a:ln w="19050" cap="rnd" cmpd="sng" algn="ctr">
              <a:solidFill>
                <a:schemeClr val="accent3"/>
              </a:solidFill>
              <a:prstDash val="solid"/>
              <a:round/>
            </a:ln>
            <a:effectLst/>
          </c:spPr>
          <c:marker>
            <c:symbol val="none"/>
          </c:marker>
          <c:cat>
            <c:numRef>
              <c:f>Sheet1!$A$2:$A$5</c:f>
              <c:numCache>
                <c:formatCode>m/d/yyyy</c:formatCode>
                <c:ptCount val="4"/>
                <c:pt idx="0">
                  <c:v>40787</c:v>
                </c:pt>
                <c:pt idx="1">
                  <c:v>40878</c:v>
                </c:pt>
                <c:pt idx="2">
                  <c:v>40969</c:v>
                </c:pt>
                <c:pt idx="3">
                  <c:v>41244</c:v>
                </c:pt>
              </c:numCache>
            </c:numRef>
          </c:cat>
          <c:val>
            <c:numRef>
              <c:f>Sheet1!$D$2:$D$5</c:f>
              <c:numCache>
                <c:formatCode>#,##0</c:formatCode>
                <c:ptCount val="4"/>
                <c:pt idx="0">
                  <c:v>580</c:v>
                </c:pt>
                <c:pt idx="1">
                  <c:v>525</c:v>
                </c:pt>
                <c:pt idx="2">
                  <c:v>540</c:v>
                </c:pt>
                <c:pt idx="3">
                  <c:v>490</c:v>
                </c:pt>
              </c:numCache>
            </c:numRef>
          </c:val>
          <c:smooth val="0"/>
          <c:extLst>
            <c:ext xmlns:c16="http://schemas.microsoft.com/office/drawing/2014/chart" uri="{C3380CC4-5D6E-409C-BE32-E72D297353CC}">
              <c16:uniqueId val="{00000002-FA0C-4B69-A1C3-EB94E12FBB66}"/>
            </c:ext>
          </c:extLst>
        </c:ser>
        <c:dLbls>
          <c:showLegendKey val="0"/>
          <c:showVal val="0"/>
          <c:showCatName val="0"/>
          <c:showSerName val="0"/>
          <c:showPercent val="0"/>
          <c:showBubbleSize val="0"/>
        </c:dLbls>
        <c:marker val="1"/>
        <c:smooth val="0"/>
        <c:axId val="299489280"/>
        <c:axId val="299484576"/>
      </c:lineChart>
      <c:catAx>
        <c:axId val="299492024"/>
        <c:scaling>
          <c:orientation val="minMax"/>
        </c:scaling>
        <c:delete val="0"/>
        <c:axPos val="b"/>
        <c:numFmt formatCode="m/d/yyyy" sourceLinked="1"/>
        <c:majorTickMark val="out"/>
        <c:minorTickMark val="none"/>
        <c:tickLblPos val="low"/>
        <c:spPr>
          <a:noFill/>
          <a:ln w="12700" cap="flat" cmpd="sng" algn="ctr">
            <a:solidFill>
              <a:prstClr val="white">
                <a:lumMod val="50000"/>
              </a:prst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99486144"/>
        <c:crosses val="autoZero"/>
        <c:auto val="0"/>
        <c:lblAlgn val="ctr"/>
        <c:lblOffset val="100"/>
        <c:noMultiLvlLbl val="1"/>
      </c:catAx>
      <c:valAx>
        <c:axId val="299486144"/>
        <c:scaling>
          <c:orientation val="minMax"/>
        </c:scaling>
        <c:delete val="0"/>
        <c:axPos val="l"/>
        <c:majorGridlines>
          <c:spPr>
            <a:ln w="6350" cap="flat" cmpd="sng" algn="ctr">
              <a:solidFill>
                <a:schemeClr val="tx1">
                  <a:tint val="75000"/>
                </a:schemeClr>
              </a:solidFill>
              <a:prstDash val="solid"/>
              <a:round/>
            </a:ln>
            <a:effectLst/>
          </c:spPr>
        </c:majorGridlines>
        <c:numFmt formatCode="#,##0" sourceLinked="1"/>
        <c:majorTickMark val="cross"/>
        <c:minorTickMark val="none"/>
        <c:tickLblPos val="nextTo"/>
        <c:spPr>
          <a:noFill/>
          <a:ln w="6350" cap="flat" cmpd="sng" algn="ctr">
            <a:solidFill>
              <a:prstClr val="white">
                <a:lumMod val="50000"/>
              </a:prst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99492024"/>
        <c:crosses val="autoZero"/>
        <c:crossBetween val="between"/>
      </c:valAx>
      <c:valAx>
        <c:axId val="299484576"/>
        <c:scaling>
          <c:orientation val="minMax"/>
          <c:min val="0"/>
        </c:scaling>
        <c:delete val="0"/>
        <c:axPos val="r"/>
        <c:numFmt formatCode="#,##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99489280"/>
        <c:crosses val="max"/>
        <c:crossBetween val="between"/>
      </c:valAx>
      <c:dateAx>
        <c:axId val="299489280"/>
        <c:scaling>
          <c:orientation val="minMax"/>
        </c:scaling>
        <c:delete val="1"/>
        <c:axPos val="b"/>
        <c:numFmt formatCode="m/d/yyyy" sourceLinked="1"/>
        <c:majorTickMark val="out"/>
        <c:minorTickMark val="none"/>
        <c:tickLblPos val="none"/>
        <c:crossAx val="299484576"/>
        <c:crosses val="autoZero"/>
        <c:auto val="1"/>
        <c:lblOffset val="100"/>
        <c:baseTimeUnit val="months"/>
        <c:majorUnit val="1"/>
        <c:minorUnit val="1"/>
      </c:dateAx>
      <c:spPr>
        <a:noFill/>
        <a:ln>
          <a:noFill/>
        </a:ln>
        <a:effectLst/>
      </c:spPr>
    </c:plotArea>
    <c:legend>
      <c:legendPos val="r"/>
      <c:layout>
        <c:manualLayout>
          <c:xMode val="edge"/>
          <c:yMode val="edge"/>
          <c:x val="0.78513069797719071"/>
          <c:y val="0.18344284087277346"/>
          <c:w val="0.20907799790262985"/>
          <c:h val="0.31489460360363608"/>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800"/>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overlay val="0"/>
      <c:spPr>
        <a:noFill/>
        <a:ln>
          <a:noFill/>
        </a:ln>
        <a:effectLst/>
      </c:spPr>
      <c:txPr>
        <a:bodyPr rot="0" spcFirstLastPara="1" vertOverflow="ellipsis" vert="horz" wrap="square" anchor="ctr" anchorCtr="1"/>
        <a:lstStyle/>
        <a:p>
          <a:pPr>
            <a:defRPr sz="960" b="1" i="0" u="none" strike="noStrike" kern="1200" baseline="0">
              <a:solidFill>
                <a:schemeClr val="tx1"/>
              </a:solidFill>
              <a:latin typeface="+mn-lt"/>
              <a:ea typeface="+mn-ea"/>
              <a:cs typeface="+mn-cs"/>
            </a:defRPr>
          </a:pPr>
          <a:endParaRPr lang="en-US"/>
        </a:p>
      </c:txPr>
    </c:title>
    <c:autoTitleDeleted val="0"/>
    <c:plotArea>
      <c:layout>
        <c:manualLayout>
          <c:layoutTarget val="inner"/>
          <c:xMode val="edge"/>
          <c:yMode val="edge"/>
          <c:x val="0.11103203380548671"/>
          <c:y val="8.7498611265414819E-2"/>
          <c:w val="0.69012575298910472"/>
          <c:h val="0.71095310397610145"/>
        </c:manualLayout>
      </c:layout>
      <c:bubbleChart>
        <c:varyColors val="0"/>
        <c:ser>
          <c:idx val="0"/>
          <c:order val="0"/>
          <c:tx>
            <c:strRef>
              <c:f>Sheet1!$C$1</c:f>
              <c:strCache>
                <c:ptCount val="1"/>
                <c:pt idx="0">
                  <c:v>Size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threePt" dir="t">
                <a:rot lat="0" lon="0" rev="1200000"/>
              </a:lightRig>
            </a:scene3d>
            <a:sp3d/>
          </c:spPr>
          <c:invertIfNegative val="0"/>
          <c:dPt>
            <c:idx val="0"/>
            <c:invertIfNegative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threePt" dir="t">
                  <a:rot lat="0" lon="0" rev="1200000"/>
                </a:lightRig>
              </a:scene3d>
              <a:sp3d/>
            </c:spPr>
            <c:extLst>
              <c:ext xmlns:c16="http://schemas.microsoft.com/office/drawing/2014/chart" uri="{C3380CC4-5D6E-409C-BE32-E72D297353CC}">
                <c16:uniqueId val="{00000001-A97D-4194-BD54-6156B1F53FA2}"/>
              </c:ext>
            </c:extLst>
          </c:dPt>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xVal>
            <c:numRef>
              <c:f>Sheet1!$A$2</c:f>
              <c:numCache>
                <c:formatCode>0.00</c:formatCode>
                <c:ptCount val="1"/>
                <c:pt idx="0">
                  <c:v>2</c:v>
                </c:pt>
              </c:numCache>
            </c:numRef>
          </c:xVal>
          <c:yVal>
            <c:numRef>
              <c:f>Sheet1!$B$2</c:f>
              <c:numCache>
                <c:formatCode>#,##0</c:formatCode>
                <c:ptCount val="1"/>
                <c:pt idx="0">
                  <c:v>40000</c:v>
                </c:pt>
              </c:numCache>
            </c:numRef>
          </c:yVal>
          <c:bubbleSize>
            <c:numRef>
              <c:f>Sheet1!$C$2</c:f>
              <c:numCache>
                <c:formatCode>#,##0</c:formatCode>
                <c:ptCount val="1"/>
                <c:pt idx="0">
                  <c:v>20000</c:v>
                </c:pt>
              </c:numCache>
            </c:numRef>
          </c:bubbleSize>
          <c:bubble3D val="0"/>
          <c:extLst>
            <c:ext xmlns:c16="http://schemas.microsoft.com/office/drawing/2014/chart" uri="{C3380CC4-5D6E-409C-BE32-E72D297353CC}">
              <c16:uniqueId val="{00000002-A97D-4194-BD54-6156B1F53FA2}"/>
            </c:ext>
          </c:extLst>
        </c:ser>
        <c:dLbls>
          <c:showLegendKey val="0"/>
          <c:showVal val="0"/>
          <c:showCatName val="0"/>
          <c:showSerName val="0"/>
          <c:showPercent val="0"/>
          <c:showBubbleSize val="0"/>
        </c:dLbls>
        <c:bubbleScale val="100"/>
        <c:showNegBubbles val="0"/>
        <c:axId val="360666280"/>
        <c:axId val="360661184"/>
      </c:bubbleChart>
      <c:valAx>
        <c:axId val="360666280"/>
        <c:scaling>
          <c:orientation val="minMax"/>
          <c:max val="4"/>
          <c:min val="1"/>
        </c:scaling>
        <c:delete val="0"/>
        <c:axPos val="b"/>
        <c:title>
          <c:tx>
            <c:rich>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r>
                  <a:rPr lang="fr-FR"/>
                  <a:t>Technical Quality Indicator</a:t>
                </a:r>
              </a:p>
            </c:rich>
          </c:tx>
          <c:layout>
            <c:manualLayout>
              <c:xMode val="edge"/>
              <c:yMode val="edge"/>
              <c:x val="0.35103806066779208"/>
              <c:y val="0.90727820365638923"/>
            </c:manualLayout>
          </c:layout>
          <c:overlay val="0"/>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title>
        <c:numFmt formatCode="0.0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360661184"/>
        <c:crosses val="autoZero"/>
        <c:crossBetween val="midCat"/>
        <c:minorUnit val="0.25"/>
      </c:valAx>
      <c:valAx>
        <c:axId val="360661184"/>
        <c:scaling>
          <c:orientation val="minMax"/>
        </c:scaling>
        <c:delete val="0"/>
        <c:axPos val="l"/>
        <c:title>
          <c:tx>
            <c:rich>
              <a:bodyPr rot="-5400000" spcFirstLastPara="1" vertOverflow="ellipsis" vert="horz" wrap="square" anchor="ctr" anchorCtr="1"/>
              <a:lstStyle/>
              <a:p>
                <a:pPr>
                  <a:defRPr sz="800" b="1" i="0" u="none" strike="noStrike" kern="1200" baseline="0">
                    <a:solidFill>
                      <a:schemeClr val="tx1"/>
                    </a:solidFill>
                    <a:latin typeface="+mn-lt"/>
                    <a:ea typeface="+mn-ea"/>
                    <a:cs typeface="+mn-cs"/>
                  </a:defRPr>
                </a:pPr>
                <a:r>
                  <a:rPr lang="fr-FR"/>
                  <a:t>Technical Debt ($)</a:t>
                </a:r>
              </a:p>
            </c:rich>
          </c:tx>
          <c:layout>
            <c:manualLayout>
              <c:xMode val="edge"/>
              <c:yMode val="edge"/>
              <c:x val="0"/>
              <c:y val="0.29582422940661224"/>
            </c:manualLayout>
          </c:layout>
          <c:overlay val="0"/>
          <c:spPr>
            <a:noFill/>
            <a:ln>
              <a:noFill/>
            </a:ln>
            <a:effectLst/>
          </c:spPr>
          <c:txPr>
            <a:bodyPr rot="-54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title>
        <c:numFmt formatCode="#,##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360666280"/>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lgn="just">
            <a:defRPr sz="8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800"/>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overlay val="0"/>
      <c:spPr>
        <a:noFill/>
        <a:ln>
          <a:noFill/>
        </a:ln>
        <a:effectLst/>
      </c:spPr>
      <c:txPr>
        <a:bodyPr rot="0" spcFirstLastPara="1" vertOverflow="ellipsis" vert="horz" wrap="square" anchor="ctr" anchorCtr="1"/>
        <a:lstStyle/>
        <a:p>
          <a:pPr>
            <a:defRPr sz="960" b="1" i="0" u="none" strike="noStrike" kern="1200" baseline="0">
              <a:solidFill>
                <a:schemeClr val="tx1"/>
              </a:solidFill>
              <a:latin typeface="+mn-lt"/>
              <a:ea typeface="+mn-ea"/>
              <a:cs typeface="+mn-cs"/>
            </a:defRPr>
          </a:pPr>
          <a:endParaRPr lang="en-US"/>
        </a:p>
      </c:txPr>
    </c:title>
    <c:autoTitleDeleted val="0"/>
    <c:plotArea>
      <c:layout>
        <c:manualLayout>
          <c:layoutTarget val="inner"/>
          <c:xMode val="edge"/>
          <c:yMode val="edge"/>
          <c:x val="0.11103203380548671"/>
          <c:y val="8.7498611265414819E-2"/>
          <c:w val="0.69012575298910472"/>
          <c:h val="0.71095310397610145"/>
        </c:manualLayout>
      </c:layout>
      <c:bubbleChart>
        <c:varyColors val="0"/>
        <c:ser>
          <c:idx val="0"/>
          <c:order val="0"/>
          <c:tx>
            <c:strRef>
              <c:f>Sheet1!$C$1</c:f>
              <c:strCache>
                <c:ptCount val="1"/>
                <c:pt idx="0">
                  <c:v>Size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threePt" dir="t">
                <a:rot lat="0" lon="0" rev="1200000"/>
              </a:lightRig>
            </a:scene3d>
            <a:sp3d/>
          </c:spPr>
          <c:invertIfNegative val="0"/>
          <c:dPt>
            <c:idx val="0"/>
            <c:invertIfNegative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threePt" dir="t">
                  <a:rot lat="0" lon="0" rev="1200000"/>
                </a:lightRig>
              </a:scene3d>
              <a:sp3d/>
            </c:spPr>
            <c:extLst>
              <c:ext xmlns:c16="http://schemas.microsoft.com/office/drawing/2014/chart" uri="{C3380CC4-5D6E-409C-BE32-E72D297353CC}">
                <c16:uniqueId val="{00000001-A97D-4194-BD54-6156B1F53FA2}"/>
              </c:ext>
            </c:extLst>
          </c:dPt>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xVal>
            <c:numRef>
              <c:f>Sheet1!$A$2</c:f>
              <c:numCache>
                <c:formatCode>0.00</c:formatCode>
                <c:ptCount val="1"/>
                <c:pt idx="0">
                  <c:v>2</c:v>
                </c:pt>
              </c:numCache>
            </c:numRef>
          </c:xVal>
          <c:yVal>
            <c:numRef>
              <c:f>Sheet1!$B$2</c:f>
              <c:numCache>
                <c:formatCode>#,##0</c:formatCode>
                <c:ptCount val="1"/>
                <c:pt idx="0">
                  <c:v>500</c:v>
                </c:pt>
              </c:numCache>
            </c:numRef>
          </c:yVal>
          <c:bubbleSize>
            <c:numRef>
              <c:f>Sheet1!$C$2</c:f>
              <c:numCache>
                <c:formatCode>#,##0</c:formatCode>
                <c:ptCount val="1"/>
                <c:pt idx="0">
                  <c:v>20000</c:v>
                </c:pt>
              </c:numCache>
            </c:numRef>
          </c:bubbleSize>
          <c:bubble3D val="0"/>
          <c:extLst>
            <c:ext xmlns:c16="http://schemas.microsoft.com/office/drawing/2014/chart" uri="{C3380CC4-5D6E-409C-BE32-E72D297353CC}">
              <c16:uniqueId val="{00000002-A97D-4194-BD54-6156B1F53FA2}"/>
            </c:ext>
          </c:extLst>
        </c:ser>
        <c:dLbls>
          <c:showLegendKey val="0"/>
          <c:showVal val="0"/>
          <c:showCatName val="0"/>
          <c:showSerName val="0"/>
          <c:showPercent val="0"/>
          <c:showBubbleSize val="0"/>
        </c:dLbls>
        <c:bubbleScale val="100"/>
        <c:showNegBubbles val="0"/>
        <c:axId val="360666280"/>
        <c:axId val="360661184"/>
      </c:bubbleChart>
      <c:valAx>
        <c:axId val="360666280"/>
        <c:scaling>
          <c:orientation val="minMax"/>
          <c:max val="4"/>
          <c:min val="1"/>
        </c:scaling>
        <c:delete val="0"/>
        <c:axPos val="b"/>
        <c:title>
          <c:tx>
            <c:rich>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r>
                  <a:rPr lang="fr-FR"/>
                  <a:t>Technical Quality Indicator</a:t>
                </a:r>
              </a:p>
            </c:rich>
          </c:tx>
          <c:layout>
            <c:manualLayout>
              <c:xMode val="edge"/>
              <c:yMode val="edge"/>
              <c:x val="0.35103806066779208"/>
              <c:y val="0.90727820365638923"/>
            </c:manualLayout>
          </c:layout>
          <c:overlay val="0"/>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title>
        <c:numFmt formatCode="0.0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360661184"/>
        <c:crosses val="autoZero"/>
        <c:crossBetween val="midCat"/>
        <c:minorUnit val="0.25"/>
      </c:valAx>
      <c:valAx>
        <c:axId val="360661184"/>
        <c:scaling>
          <c:orientation val="minMax"/>
        </c:scaling>
        <c:delete val="0"/>
        <c:axPos val="l"/>
        <c:title>
          <c:tx>
            <c:rich>
              <a:bodyPr rot="-5400000" spcFirstLastPara="1" vertOverflow="ellipsis" vert="horz" wrap="square" anchor="ctr" anchorCtr="1"/>
              <a:lstStyle/>
              <a:p>
                <a:pPr>
                  <a:defRPr sz="800" b="1" i="0" u="none" strike="noStrike" kern="1200" baseline="0">
                    <a:solidFill>
                      <a:schemeClr val="tx1"/>
                    </a:solidFill>
                    <a:latin typeface="+mn-lt"/>
                    <a:ea typeface="+mn-ea"/>
                    <a:cs typeface="+mn-cs"/>
                  </a:defRPr>
                </a:pPr>
                <a:r>
                  <a:rPr lang="fr-FR" dirty="0" err="1"/>
                  <a:t>Technical</a:t>
                </a:r>
                <a:r>
                  <a:rPr lang="fr-FR" dirty="0"/>
                  <a:t> </a:t>
                </a:r>
                <a:r>
                  <a:rPr lang="fr-FR" dirty="0" err="1"/>
                  <a:t>Debt</a:t>
                </a:r>
                <a:r>
                  <a:rPr lang="fr-FR" dirty="0"/>
                  <a:t> (Days)</a:t>
                </a:r>
              </a:p>
            </c:rich>
          </c:tx>
          <c:layout>
            <c:manualLayout>
              <c:xMode val="edge"/>
              <c:yMode val="edge"/>
              <c:x val="0"/>
              <c:y val="0.29582422940661224"/>
            </c:manualLayout>
          </c:layout>
          <c:overlay val="0"/>
          <c:spPr>
            <a:noFill/>
            <a:ln>
              <a:noFill/>
            </a:ln>
            <a:effectLst/>
          </c:spPr>
          <c:txPr>
            <a:bodyPr rot="-54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title>
        <c:numFmt formatCode="#,##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360666280"/>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lgn="just">
            <a:defRPr sz="8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8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Current Version</c:v>
                </c:pt>
              </c:strCache>
            </c:strRef>
          </c:tx>
          <c:spPr>
            <a:ln w="25400">
              <a:solidFill>
                <a:srgbClr val="1F497D"/>
              </a:solidFill>
            </a:ln>
          </c:spPr>
          <c:marker>
            <c:symbol val="none"/>
          </c:marker>
          <c:cat>
            <c:strRef>
              <c:f>Sheet1!$A$2:$A$7</c:f>
              <c:strCache>
                <c:ptCount val="6"/>
                <c:pt idx="0">
                  <c:v>.</c:v>
                </c:pt>
                <c:pt idx="1">
                  <c:v>Low</c:v>
                </c:pt>
                <c:pt idx="2">
                  <c:v>Average</c:v>
                </c:pt>
                <c:pt idx="3">
                  <c:v>High</c:v>
                </c:pt>
                <c:pt idx="4">
                  <c:v>Very High</c:v>
                </c:pt>
                <c:pt idx="5">
                  <c:v>.</c:v>
                </c:pt>
              </c:strCache>
            </c:strRef>
          </c:cat>
          <c:val>
            <c:numRef>
              <c:f>Sheet1!$B$2:$B$7</c:f>
              <c:numCache>
                <c:formatCode>General</c:formatCode>
                <c:ptCount val="6"/>
                <c:pt idx="0">
                  <c:v>0</c:v>
                </c:pt>
                <c:pt idx="1">
                  <c:v>15</c:v>
                </c:pt>
                <c:pt idx="2">
                  <c:v>11</c:v>
                </c:pt>
                <c:pt idx="3">
                  <c:v>7</c:v>
                </c:pt>
                <c:pt idx="4">
                  <c:v>5</c:v>
                </c:pt>
                <c:pt idx="5">
                  <c:v>0</c:v>
                </c:pt>
              </c:numCache>
            </c:numRef>
          </c:val>
          <c:smooth val="1"/>
          <c:extLst>
            <c:ext xmlns:c16="http://schemas.microsoft.com/office/drawing/2014/chart" uri="{C3380CC4-5D6E-409C-BE32-E72D297353CC}">
              <c16:uniqueId val="{00000000-3AD5-49D7-AB2A-24FFA08346D2}"/>
            </c:ext>
          </c:extLst>
        </c:ser>
        <c:ser>
          <c:idx val="1"/>
          <c:order val="1"/>
          <c:tx>
            <c:strRef>
              <c:f>Sheet1!$C$1</c:f>
              <c:strCache>
                <c:ptCount val="1"/>
                <c:pt idx="0">
                  <c:v>Previous Version</c:v>
                </c:pt>
              </c:strCache>
            </c:strRef>
          </c:tx>
          <c:spPr>
            <a:ln w="19050">
              <a:solidFill>
                <a:schemeClr val="accent2">
                  <a:lumMod val="60000"/>
                  <a:lumOff val="40000"/>
                </a:schemeClr>
              </a:solidFill>
            </a:ln>
          </c:spPr>
          <c:marker>
            <c:symbol val="none"/>
          </c:marker>
          <c:cat>
            <c:strRef>
              <c:f>Sheet1!$A$2:$A$7</c:f>
              <c:strCache>
                <c:ptCount val="6"/>
                <c:pt idx="0">
                  <c:v>.</c:v>
                </c:pt>
                <c:pt idx="1">
                  <c:v>Low</c:v>
                </c:pt>
                <c:pt idx="2">
                  <c:v>Average</c:v>
                </c:pt>
                <c:pt idx="3">
                  <c:v>High</c:v>
                </c:pt>
                <c:pt idx="4">
                  <c:v>Very High</c:v>
                </c:pt>
                <c:pt idx="5">
                  <c:v>.</c:v>
                </c:pt>
              </c:strCache>
            </c:strRef>
          </c:cat>
          <c:val>
            <c:numRef>
              <c:f>Sheet1!$C$2:$C$7</c:f>
              <c:numCache>
                <c:formatCode>General</c:formatCode>
                <c:ptCount val="6"/>
                <c:pt idx="0">
                  <c:v>0</c:v>
                </c:pt>
                <c:pt idx="1">
                  <c:v>10</c:v>
                </c:pt>
                <c:pt idx="2">
                  <c:v>5</c:v>
                </c:pt>
                <c:pt idx="3">
                  <c:v>3</c:v>
                </c:pt>
                <c:pt idx="4">
                  <c:v>1</c:v>
                </c:pt>
                <c:pt idx="5">
                  <c:v>0</c:v>
                </c:pt>
              </c:numCache>
            </c:numRef>
          </c:val>
          <c:smooth val="1"/>
          <c:extLst>
            <c:ext xmlns:c16="http://schemas.microsoft.com/office/drawing/2014/chart" uri="{C3380CC4-5D6E-409C-BE32-E72D297353CC}">
              <c16:uniqueId val="{00000001-3AD5-49D7-AB2A-24FFA08346D2}"/>
            </c:ext>
          </c:extLst>
        </c:ser>
        <c:dLbls>
          <c:showLegendKey val="0"/>
          <c:showVal val="0"/>
          <c:showCatName val="0"/>
          <c:showSerName val="0"/>
          <c:showPercent val="0"/>
          <c:showBubbleSize val="0"/>
        </c:dLbls>
        <c:smooth val="0"/>
        <c:axId val="360665496"/>
        <c:axId val="358805536"/>
      </c:lineChart>
      <c:catAx>
        <c:axId val="360665496"/>
        <c:scaling>
          <c:orientation val="minMax"/>
        </c:scaling>
        <c:delete val="0"/>
        <c:axPos val="b"/>
        <c:numFmt formatCode="General" sourceLinked="0"/>
        <c:majorTickMark val="out"/>
        <c:minorTickMark val="none"/>
        <c:tickLblPos val="nextTo"/>
        <c:crossAx val="358805536"/>
        <c:crosses val="autoZero"/>
        <c:auto val="1"/>
        <c:lblAlgn val="ctr"/>
        <c:lblOffset val="100"/>
        <c:noMultiLvlLbl val="0"/>
      </c:catAx>
      <c:valAx>
        <c:axId val="358805536"/>
        <c:scaling>
          <c:orientation val="minMax"/>
          <c:min val="0"/>
        </c:scaling>
        <c:delete val="0"/>
        <c:axPos val="l"/>
        <c:majorGridlines/>
        <c:numFmt formatCode="General" sourceLinked="1"/>
        <c:majorTickMark val="out"/>
        <c:minorTickMark val="none"/>
        <c:tickLblPos val="nextTo"/>
        <c:crossAx val="360665496"/>
        <c:crosses val="autoZero"/>
        <c:crossBetween val="midCat"/>
      </c:valAx>
    </c:plotArea>
    <c:legend>
      <c:legendPos val="r"/>
      <c:overlay val="0"/>
    </c:legend>
    <c:plotVisOnly val="1"/>
    <c:dispBlanksAs val="gap"/>
    <c:showDLblsOverMax val="0"/>
  </c:chart>
  <c:txPr>
    <a:bodyPr/>
    <a:lstStyle/>
    <a:p>
      <a:pPr>
        <a:defRPr sz="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Current Version</c:v>
                </c:pt>
              </c:strCache>
            </c:strRef>
          </c:tx>
          <c:spPr>
            <a:ln w="25400">
              <a:solidFill>
                <a:srgbClr val="1F497D"/>
              </a:solidFill>
            </a:ln>
          </c:spPr>
          <c:marker>
            <c:symbol val="none"/>
          </c:marker>
          <c:cat>
            <c:strRef>
              <c:f>Sheet1!$A$2:$A$7</c:f>
              <c:strCache>
                <c:ptCount val="6"/>
                <c:pt idx="0">
                  <c:v>.</c:v>
                </c:pt>
                <c:pt idx="1">
                  <c:v>Low</c:v>
                </c:pt>
                <c:pt idx="2">
                  <c:v>Average</c:v>
                </c:pt>
                <c:pt idx="3">
                  <c:v>High</c:v>
                </c:pt>
                <c:pt idx="4">
                  <c:v>Very High</c:v>
                </c:pt>
                <c:pt idx="5">
                  <c:v>.</c:v>
                </c:pt>
              </c:strCache>
            </c:strRef>
          </c:cat>
          <c:val>
            <c:numRef>
              <c:f>Sheet1!$B$2:$B$7</c:f>
              <c:numCache>
                <c:formatCode>General</c:formatCode>
                <c:ptCount val="6"/>
                <c:pt idx="0">
                  <c:v>0</c:v>
                </c:pt>
                <c:pt idx="1">
                  <c:v>15</c:v>
                </c:pt>
                <c:pt idx="2">
                  <c:v>11</c:v>
                </c:pt>
                <c:pt idx="3">
                  <c:v>7</c:v>
                </c:pt>
                <c:pt idx="4">
                  <c:v>5</c:v>
                </c:pt>
                <c:pt idx="5">
                  <c:v>0</c:v>
                </c:pt>
              </c:numCache>
            </c:numRef>
          </c:val>
          <c:smooth val="1"/>
          <c:extLst>
            <c:ext xmlns:c16="http://schemas.microsoft.com/office/drawing/2014/chart" uri="{C3380CC4-5D6E-409C-BE32-E72D297353CC}">
              <c16:uniqueId val="{00000000-EA2F-41A1-8FFB-ADCDF24F00E9}"/>
            </c:ext>
          </c:extLst>
        </c:ser>
        <c:ser>
          <c:idx val="1"/>
          <c:order val="1"/>
          <c:tx>
            <c:strRef>
              <c:f>Sheet1!$C$1</c:f>
              <c:strCache>
                <c:ptCount val="1"/>
                <c:pt idx="0">
                  <c:v>Previous Version</c:v>
                </c:pt>
              </c:strCache>
            </c:strRef>
          </c:tx>
          <c:spPr>
            <a:ln w="19050">
              <a:solidFill>
                <a:schemeClr val="accent2">
                  <a:lumMod val="60000"/>
                  <a:lumOff val="40000"/>
                </a:schemeClr>
              </a:solidFill>
            </a:ln>
          </c:spPr>
          <c:marker>
            <c:symbol val="none"/>
          </c:marker>
          <c:cat>
            <c:strRef>
              <c:f>Sheet1!$A$2:$A$7</c:f>
              <c:strCache>
                <c:ptCount val="6"/>
                <c:pt idx="0">
                  <c:v>.</c:v>
                </c:pt>
                <c:pt idx="1">
                  <c:v>Low</c:v>
                </c:pt>
                <c:pt idx="2">
                  <c:v>Average</c:v>
                </c:pt>
                <c:pt idx="3">
                  <c:v>High</c:v>
                </c:pt>
                <c:pt idx="4">
                  <c:v>Very High</c:v>
                </c:pt>
                <c:pt idx="5">
                  <c:v>.</c:v>
                </c:pt>
              </c:strCache>
            </c:strRef>
          </c:cat>
          <c:val>
            <c:numRef>
              <c:f>Sheet1!$C$2:$C$7</c:f>
              <c:numCache>
                <c:formatCode>General</c:formatCode>
                <c:ptCount val="6"/>
                <c:pt idx="0">
                  <c:v>0</c:v>
                </c:pt>
                <c:pt idx="1">
                  <c:v>10</c:v>
                </c:pt>
                <c:pt idx="2">
                  <c:v>5</c:v>
                </c:pt>
                <c:pt idx="3">
                  <c:v>3</c:v>
                </c:pt>
                <c:pt idx="4">
                  <c:v>1</c:v>
                </c:pt>
                <c:pt idx="5">
                  <c:v>0</c:v>
                </c:pt>
              </c:numCache>
            </c:numRef>
          </c:val>
          <c:smooth val="1"/>
          <c:extLst>
            <c:ext xmlns:c16="http://schemas.microsoft.com/office/drawing/2014/chart" uri="{C3380CC4-5D6E-409C-BE32-E72D297353CC}">
              <c16:uniqueId val="{00000001-EA2F-41A1-8FFB-ADCDF24F00E9}"/>
            </c:ext>
          </c:extLst>
        </c:ser>
        <c:dLbls>
          <c:showLegendKey val="0"/>
          <c:showVal val="0"/>
          <c:showCatName val="0"/>
          <c:showSerName val="0"/>
          <c:showPercent val="0"/>
          <c:showBubbleSize val="0"/>
        </c:dLbls>
        <c:smooth val="0"/>
        <c:axId val="359980368"/>
        <c:axId val="359976056"/>
      </c:lineChart>
      <c:catAx>
        <c:axId val="359980368"/>
        <c:scaling>
          <c:orientation val="minMax"/>
        </c:scaling>
        <c:delete val="0"/>
        <c:axPos val="b"/>
        <c:numFmt formatCode="General" sourceLinked="0"/>
        <c:majorTickMark val="out"/>
        <c:minorTickMark val="none"/>
        <c:tickLblPos val="nextTo"/>
        <c:crossAx val="359976056"/>
        <c:crosses val="autoZero"/>
        <c:auto val="1"/>
        <c:lblAlgn val="ctr"/>
        <c:lblOffset val="100"/>
        <c:noMultiLvlLbl val="0"/>
      </c:catAx>
      <c:valAx>
        <c:axId val="359976056"/>
        <c:scaling>
          <c:orientation val="minMax"/>
          <c:min val="0"/>
        </c:scaling>
        <c:delete val="0"/>
        <c:axPos val="l"/>
        <c:majorGridlines/>
        <c:numFmt formatCode="General" sourceLinked="1"/>
        <c:majorTickMark val="out"/>
        <c:minorTickMark val="none"/>
        <c:tickLblPos val="nextTo"/>
        <c:crossAx val="359980368"/>
        <c:crosses val="autoZero"/>
        <c:crossBetween val="midCat"/>
      </c:valAx>
    </c:plotArea>
    <c:legend>
      <c:legendPos val="r"/>
      <c:overlay val="0"/>
    </c:legend>
    <c:plotVisOnly val="1"/>
    <c:dispBlanksAs val="gap"/>
    <c:showDLblsOverMax val="0"/>
  </c:chart>
  <c:txPr>
    <a:bodyPr/>
    <a:lstStyle/>
    <a:p>
      <a:pPr>
        <a:defRPr sz="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0.14550645875148496"/>
          <c:y val="3.2133153882922205E-2"/>
          <c:w val="0.62073855053834148"/>
          <c:h val="0.91066434061011869"/>
        </c:manualLayout>
      </c:layout>
      <c:pieChart>
        <c:varyColors val="1"/>
        <c:ser>
          <c:idx val="0"/>
          <c:order val="0"/>
          <c:tx>
            <c:strRef>
              <c:f>Sheet1!$B$1:$B$2</c:f>
              <c:strCache>
                <c:ptCount val="1"/>
                <c:pt idx="0">
                  <c:v>LOCs 300</c:v>
                </c:pt>
              </c:strCache>
            </c:strRef>
          </c:tx>
          <c:dPt>
            <c:idx val="0"/>
            <c:bubble3D val="0"/>
            <c:spPr>
              <a:gradFill rotWithShape="1">
                <a:gsLst>
                  <a:gs pos="0">
                    <a:schemeClr val="accent2">
                      <a:shade val="53000"/>
                      <a:satMod val="103000"/>
                      <a:lumMod val="102000"/>
                      <a:tint val="94000"/>
                    </a:schemeClr>
                  </a:gs>
                  <a:gs pos="50000">
                    <a:schemeClr val="accent2">
                      <a:shade val="53000"/>
                      <a:satMod val="110000"/>
                      <a:lumMod val="100000"/>
                      <a:shade val="100000"/>
                    </a:schemeClr>
                  </a:gs>
                  <a:gs pos="100000">
                    <a:schemeClr val="accent2">
                      <a:shade val="53000"/>
                      <a:lumMod val="99000"/>
                      <a:satMod val="120000"/>
                      <a:shade val="78000"/>
                    </a:schemeClr>
                  </a:gs>
                </a:gsLst>
                <a:lin ang="5400000" scaled="0"/>
              </a:gradFill>
              <a:ln>
                <a:noFill/>
              </a:ln>
              <a:effectLst/>
            </c:spPr>
            <c:extLst>
              <c:ext xmlns:c16="http://schemas.microsoft.com/office/drawing/2014/chart" uri="{C3380CC4-5D6E-409C-BE32-E72D297353CC}">
                <c16:uniqueId val="{00000001-9786-4187-91ED-490A0931E31E}"/>
              </c:ext>
            </c:extLst>
          </c:dPt>
          <c:dPt>
            <c:idx val="1"/>
            <c:bubble3D val="0"/>
            <c:spPr>
              <a:gradFill rotWithShape="1">
                <a:gsLst>
                  <a:gs pos="0">
                    <a:schemeClr val="accent2">
                      <a:shade val="76000"/>
                      <a:satMod val="103000"/>
                      <a:lumMod val="102000"/>
                      <a:tint val="94000"/>
                    </a:schemeClr>
                  </a:gs>
                  <a:gs pos="50000">
                    <a:schemeClr val="accent2">
                      <a:shade val="76000"/>
                      <a:satMod val="110000"/>
                      <a:lumMod val="100000"/>
                      <a:shade val="100000"/>
                    </a:schemeClr>
                  </a:gs>
                  <a:gs pos="100000">
                    <a:schemeClr val="accent2">
                      <a:shade val="76000"/>
                      <a:lumMod val="99000"/>
                      <a:satMod val="120000"/>
                      <a:shade val="78000"/>
                    </a:schemeClr>
                  </a:gs>
                </a:gsLst>
                <a:lin ang="5400000" scaled="0"/>
              </a:gradFill>
              <a:ln>
                <a:noFill/>
              </a:ln>
              <a:effectLst/>
            </c:spPr>
            <c:extLst>
              <c:ext xmlns:c16="http://schemas.microsoft.com/office/drawing/2014/chart" uri="{C3380CC4-5D6E-409C-BE32-E72D297353CC}">
                <c16:uniqueId val="{00000003-9786-4187-91ED-490A0931E31E}"/>
              </c:ext>
            </c:extLst>
          </c:dPt>
          <c:dPt>
            <c:idx val="2"/>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5-9786-4187-91ED-490A0931E31E}"/>
              </c:ext>
            </c:extLst>
          </c:dPt>
          <c:dPt>
            <c:idx val="3"/>
            <c:bubble3D val="0"/>
            <c:spPr>
              <a:gradFill rotWithShape="1">
                <a:gsLst>
                  <a:gs pos="0">
                    <a:schemeClr val="accent2">
                      <a:tint val="77000"/>
                      <a:satMod val="103000"/>
                      <a:lumMod val="102000"/>
                      <a:tint val="94000"/>
                    </a:schemeClr>
                  </a:gs>
                  <a:gs pos="50000">
                    <a:schemeClr val="accent2">
                      <a:tint val="77000"/>
                      <a:satMod val="110000"/>
                      <a:lumMod val="100000"/>
                      <a:shade val="100000"/>
                    </a:schemeClr>
                  </a:gs>
                  <a:gs pos="100000">
                    <a:schemeClr val="accent2">
                      <a:tint val="77000"/>
                      <a:lumMod val="99000"/>
                      <a:satMod val="120000"/>
                      <a:shade val="78000"/>
                    </a:schemeClr>
                  </a:gs>
                </a:gsLst>
                <a:lin ang="5400000" scaled="0"/>
              </a:gradFill>
              <a:ln>
                <a:noFill/>
              </a:ln>
              <a:effectLst/>
            </c:spPr>
            <c:extLst>
              <c:ext xmlns:c16="http://schemas.microsoft.com/office/drawing/2014/chart" uri="{C3380CC4-5D6E-409C-BE32-E72D297353CC}">
                <c16:uniqueId val="{00000000-8936-4C1A-8E06-7E396CC56025}"/>
              </c:ext>
            </c:extLst>
          </c:dPt>
          <c:dPt>
            <c:idx val="4"/>
            <c:bubble3D val="0"/>
            <c:spPr>
              <a:gradFill rotWithShape="1">
                <a:gsLst>
                  <a:gs pos="0">
                    <a:schemeClr val="accent2">
                      <a:tint val="54000"/>
                      <a:satMod val="103000"/>
                      <a:lumMod val="102000"/>
                      <a:tint val="94000"/>
                    </a:schemeClr>
                  </a:gs>
                  <a:gs pos="50000">
                    <a:schemeClr val="accent2">
                      <a:tint val="54000"/>
                      <a:satMod val="110000"/>
                      <a:lumMod val="100000"/>
                      <a:shade val="100000"/>
                    </a:schemeClr>
                  </a:gs>
                  <a:gs pos="100000">
                    <a:schemeClr val="accent2">
                      <a:tint val="54000"/>
                      <a:lumMod val="99000"/>
                      <a:satMod val="120000"/>
                      <a:shade val="78000"/>
                    </a:schemeClr>
                  </a:gs>
                </a:gsLst>
                <a:lin ang="5400000" scaled="0"/>
              </a:gradFill>
              <a:ln>
                <a:noFill/>
              </a:ln>
              <a:effectLst/>
            </c:spPr>
            <c:extLst>
              <c:ext xmlns:c16="http://schemas.microsoft.com/office/drawing/2014/chart" uri="{C3380CC4-5D6E-409C-BE32-E72D297353CC}">
                <c16:uniqueId val="{00000001-8936-4C1A-8E06-7E396CC56025}"/>
              </c:ext>
            </c:extLst>
          </c:dPt>
          <c:dLbls>
            <c:dLbl>
              <c:idx val="3"/>
              <c:layout>
                <c:manualLayout>
                  <c:x val="-0.13693050918319016"/>
                  <c:y val="0.1151190638154157"/>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8936-4C1A-8E06-7E396CC56025}"/>
                </c:ext>
              </c:extLst>
            </c:dLbl>
            <c:dLbl>
              <c:idx val="4"/>
              <c:layout>
                <c:manualLayout>
                  <c:x val="-0.19094460995561899"/>
                  <c:y val="2.020984437715654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8936-4C1A-8E06-7E396CC56025}"/>
                </c:ext>
              </c:extLst>
            </c:dLbl>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eparator>
</c:separator>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Sheet1!$A$2:$A$6</c:f>
              <c:strCache>
                <c:ptCount val="5"/>
                <c:pt idx="0">
                  <c:v>Techno1</c:v>
                </c:pt>
                <c:pt idx="1">
                  <c:v>Techno2</c:v>
                </c:pt>
                <c:pt idx="2">
                  <c:v>Techno3</c:v>
                </c:pt>
                <c:pt idx="3">
                  <c:v>Techno4</c:v>
                </c:pt>
                <c:pt idx="4">
                  <c:v>Techno5</c:v>
                </c:pt>
              </c:strCache>
            </c:strRef>
          </c:cat>
          <c:val>
            <c:numRef>
              <c:f>Sheet1!$B$2:$B$6</c:f>
              <c:numCache>
                <c:formatCode>#,##0</c:formatCode>
                <c:ptCount val="5"/>
                <c:pt idx="0">
                  <c:v>300</c:v>
                </c:pt>
                <c:pt idx="1">
                  <c:v>200</c:v>
                </c:pt>
                <c:pt idx="2">
                  <c:v>150</c:v>
                </c:pt>
                <c:pt idx="3">
                  <c:v>100</c:v>
                </c:pt>
                <c:pt idx="4">
                  <c:v>50</c:v>
                </c:pt>
              </c:numCache>
            </c:numRef>
          </c:val>
          <c:extLst>
            <c:ext xmlns:c16="http://schemas.microsoft.com/office/drawing/2014/chart" uri="{C3380CC4-5D6E-409C-BE32-E72D297353CC}">
              <c16:uniqueId val="{00000002-8936-4C1A-8E06-7E396CC56025}"/>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zero"/>
    <c:showDLblsOverMax val="0"/>
  </c:chart>
  <c:spPr>
    <a:noFill/>
    <a:ln w="6350" cap="flat" cmpd="sng" algn="ctr">
      <a:noFill/>
      <a:prstDash val="solid"/>
      <a:miter lim="800000"/>
    </a:ln>
    <a:effectLst/>
  </c:spPr>
  <c:txPr>
    <a:bodyPr/>
    <a:lstStyle/>
    <a:p>
      <a:pPr>
        <a:defRPr sz="800"/>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5.9802492911395805E-2"/>
          <c:y val="0.12779902512185976"/>
          <c:w val="0.45391970071971349"/>
          <c:h val="0.60242198341239872"/>
        </c:manualLayout>
      </c:layout>
      <c:lineChart>
        <c:grouping val="standard"/>
        <c:varyColors val="0"/>
        <c:ser>
          <c:idx val="0"/>
          <c:order val="0"/>
          <c:tx>
            <c:strRef>
              <c:f>Sheet1!$B$1</c:f>
              <c:strCache>
                <c:ptCount val="1"/>
                <c:pt idx="0">
                  <c:v>TQI</c:v>
                </c:pt>
              </c:strCache>
            </c:strRef>
          </c:tx>
          <c:spPr>
            <a:ln w="6350">
              <a:solidFill>
                <a:schemeClr val="accent1">
                  <a:lumMod val="75000"/>
                </a:schemeClr>
              </a:solidFill>
              <a:prstDash val="solid"/>
            </a:ln>
          </c:spPr>
          <c:marker>
            <c:symbol val="circle"/>
            <c:size val="4"/>
            <c:spPr>
              <a:solidFill>
                <a:schemeClr val="accent1">
                  <a:lumMod val="50000"/>
                </a:schemeClr>
              </a:solidFill>
              <a:ln w="19050">
                <a:noFill/>
              </a:ln>
            </c:spPr>
          </c:marke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Sheet1!$B$2:$B$8</c:f>
              <c:numCache>
                <c:formatCode>General</c:formatCode>
                <c:ptCount val="7"/>
                <c:pt idx="0">
                  <c:v>3.1919142526585298</c:v>
                </c:pt>
                <c:pt idx="1">
                  <c:v>3.19337097100478</c:v>
                </c:pt>
                <c:pt idx="2">
                  <c:v>3.1947557250108298</c:v>
                </c:pt>
                <c:pt idx="3">
                  <c:v>3.1435091338859098</c:v>
                </c:pt>
                <c:pt idx="4">
                  <c:v>3.1302250951328001</c:v>
                </c:pt>
                <c:pt idx="5">
                  <c:v>3.0318257565372901</c:v>
                </c:pt>
                <c:pt idx="6">
                  <c:v>3.0318257565372901</c:v>
                </c:pt>
              </c:numCache>
            </c:numRef>
          </c:val>
          <c:smooth val="0"/>
          <c:extLst>
            <c:ext xmlns:c16="http://schemas.microsoft.com/office/drawing/2014/chart" uri="{C3380CC4-5D6E-409C-BE32-E72D297353CC}">
              <c16:uniqueId val="{00000000-49D9-468F-A983-266B7C7ED93F}"/>
            </c:ext>
          </c:extLst>
        </c:ser>
        <c:ser>
          <c:idx val="1"/>
          <c:order val="1"/>
          <c:tx>
            <c:strRef>
              <c:f>Sheet1!$C$1</c:f>
              <c:strCache>
                <c:ptCount val="1"/>
                <c:pt idx="0">
                  <c:v>Arch</c:v>
                </c:pt>
              </c:strCache>
            </c:strRef>
          </c:tx>
          <c:spPr>
            <a:ln w="6350">
              <a:solidFill>
                <a:schemeClr val="accent6">
                  <a:lumMod val="75000"/>
                </a:schemeClr>
              </a:solidFill>
              <a:prstDash val="solid"/>
            </a:ln>
          </c:spPr>
          <c:marker>
            <c:symbol val="circle"/>
            <c:size val="4"/>
            <c:spPr>
              <a:solidFill>
                <a:schemeClr val="accent6">
                  <a:lumMod val="50000"/>
                </a:schemeClr>
              </a:solidFill>
              <a:ln w="19050">
                <a:noFill/>
              </a:ln>
            </c:spPr>
          </c:marke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Sheet1!$C$2:$C$8</c:f>
              <c:numCache>
                <c:formatCode>General</c:formatCode>
                <c:ptCount val="7"/>
                <c:pt idx="0">
                  <c:v>3.1131835353615198</c:v>
                </c:pt>
                <c:pt idx="1">
                  <c:v>3.08286157815273</c:v>
                </c:pt>
                <c:pt idx="2">
                  <c:v>3.27090842397824</c:v>
                </c:pt>
                <c:pt idx="3">
                  <c:v>3.26538602495607</c:v>
                </c:pt>
                <c:pt idx="4">
                  <c:v>3.2646715038724099</c:v>
                </c:pt>
                <c:pt idx="5">
                  <c:v>3.27250816920718</c:v>
                </c:pt>
                <c:pt idx="6">
                  <c:v>3.27250816920718</c:v>
                </c:pt>
              </c:numCache>
            </c:numRef>
          </c:val>
          <c:smooth val="0"/>
          <c:extLst>
            <c:ext xmlns:c16="http://schemas.microsoft.com/office/drawing/2014/chart" uri="{C3380CC4-5D6E-409C-BE32-E72D297353CC}">
              <c16:uniqueId val="{00000001-49D9-468F-A983-266B7C7ED93F}"/>
            </c:ext>
          </c:extLst>
        </c:ser>
        <c:ser>
          <c:idx val="2"/>
          <c:order val="2"/>
          <c:tx>
            <c:strRef>
              <c:f>Sheet1!$D$1</c:f>
              <c:strCache>
                <c:ptCount val="1"/>
                <c:pt idx="0">
                  <c:v>Doc</c:v>
                </c:pt>
              </c:strCache>
            </c:strRef>
          </c:tx>
          <c:spPr>
            <a:ln w="6350">
              <a:solidFill>
                <a:schemeClr val="accent3">
                  <a:lumMod val="75000"/>
                </a:schemeClr>
              </a:solidFill>
              <a:prstDash val="solid"/>
            </a:ln>
          </c:spPr>
          <c:marker>
            <c:symbol val="circle"/>
            <c:size val="4"/>
            <c:spPr>
              <a:solidFill>
                <a:schemeClr val="accent3">
                  <a:lumMod val="50000"/>
                </a:schemeClr>
              </a:solidFill>
              <a:ln w="19050">
                <a:noFill/>
                <a:prstDash val="solid"/>
              </a:ln>
            </c:spPr>
          </c:marke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Sheet1!$D$2:$D$8</c:f>
              <c:numCache>
                <c:formatCode>General</c:formatCode>
                <c:ptCount val="7"/>
                <c:pt idx="0">
                  <c:v>2.60410403155662</c:v>
                </c:pt>
                <c:pt idx="1">
                  <c:v>2.6038446416416998</c:v>
                </c:pt>
                <c:pt idx="2">
                  <c:v>2.5988616060305598</c:v>
                </c:pt>
                <c:pt idx="3">
                  <c:v>2.5497419638747201</c:v>
                </c:pt>
                <c:pt idx="4">
                  <c:v>2.5495496876070001</c:v>
                </c:pt>
                <c:pt idx="5">
                  <c:v>2.67227670135322</c:v>
                </c:pt>
                <c:pt idx="6">
                  <c:v>2.67227670135322</c:v>
                </c:pt>
              </c:numCache>
            </c:numRef>
          </c:val>
          <c:smooth val="0"/>
          <c:extLst>
            <c:ext xmlns:c16="http://schemas.microsoft.com/office/drawing/2014/chart" uri="{C3380CC4-5D6E-409C-BE32-E72D297353CC}">
              <c16:uniqueId val="{00000002-49D9-468F-A983-266B7C7ED93F}"/>
            </c:ext>
          </c:extLst>
        </c:ser>
        <c:ser>
          <c:idx val="3"/>
          <c:order val="3"/>
          <c:tx>
            <c:strRef>
              <c:f>Sheet1!$E$1</c:f>
              <c:strCache>
                <c:ptCount val="1"/>
                <c:pt idx="0">
                  <c:v>Security</c:v>
                </c:pt>
              </c:strCache>
            </c:strRef>
          </c:tx>
          <c:spPr>
            <a:ln w="6350">
              <a:solidFill>
                <a:schemeClr val="bg2">
                  <a:lumMod val="25000"/>
                </a:schemeClr>
              </a:solidFill>
            </a:ln>
          </c:spPr>
          <c:marker>
            <c:symbol val="square"/>
            <c:size val="4"/>
            <c:spPr>
              <a:solidFill>
                <a:schemeClr val="bg2">
                  <a:lumMod val="10000"/>
                </a:schemeClr>
              </a:solidFill>
              <a:ln>
                <a:noFill/>
              </a:ln>
            </c:spPr>
          </c:marke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Sheet1!$E$2:$E$8</c:f>
              <c:numCache>
                <c:formatCode>General</c:formatCode>
                <c:ptCount val="7"/>
                <c:pt idx="0">
                  <c:v>3.2</c:v>
                </c:pt>
                <c:pt idx="1">
                  <c:v>3.1</c:v>
                </c:pt>
                <c:pt idx="2">
                  <c:v>3.5</c:v>
                </c:pt>
                <c:pt idx="3">
                  <c:v>3.3</c:v>
                </c:pt>
                <c:pt idx="4">
                  <c:v>3.3</c:v>
                </c:pt>
                <c:pt idx="5">
                  <c:v>3.4</c:v>
                </c:pt>
                <c:pt idx="6">
                  <c:v>4</c:v>
                </c:pt>
              </c:numCache>
            </c:numRef>
          </c:val>
          <c:smooth val="0"/>
          <c:extLst>
            <c:ext xmlns:c16="http://schemas.microsoft.com/office/drawing/2014/chart" uri="{C3380CC4-5D6E-409C-BE32-E72D297353CC}">
              <c16:uniqueId val="{00000003-49D9-468F-A983-266B7C7ED93F}"/>
            </c:ext>
          </c:extLst>
        </c:ser>
        <c:ser>
          <c:idx val="4"/>
          <c:order val="4"/>
          <c:tx>
            <c:strRef>
              <c:f>Sheet1!$F$1</c:f>
              <c:strCache>
                <c:ptCount val="1"/>
                <c:pt idx="0">
                  <c:v>Green Index</c:v>
                </c:pt>
              </c:strCache>
            </c:strRef>
          </c:tx>
          <c:spPr>
            <a:ln w="12700">
              <a:solidFill>
                <a:srgbClr val="65D7FF"/>
              </a:solidFill>
            </a:ln>
          </c:spP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Sheet1!$F$2:$F$8</c:f>
              <c:numCache>
                <c:formatCode>General</c:formatCode>
                <c:ptCount val="7"/>
                <c:pt idx="0">
                  <c:v>2.9</c:v>
                </c:pt>
                <c:pt idx="1">
                  <c:v>2.8</c:v>
                </c:pt>
                <c:pt idx="2">
                  <c:v>2.6</c:v>
                </c:pt>
                <c:pt idx="3">
                  <c:v>2.8</c:v>
                </c:pt>
                <c:pt idx="4">
                  <c:v>2.7</c:v>
                </c:pt>
                <c:pt idx="5">
                  <c:v>2.9</c:v>
                </c:pt>
                <c:pt idx="6">
                  <c:v>2.5</c:v>
                </c:pt>
              </c:numCache>
            </c:numRef>
          </c:val>
          <c:smooth val="0"/>
          <c:extLst>
            <c:ext xmlns:c16="http://schemas.microsoft.com/office/drawing/2014/chart" uri="{C3380CC4-5D6E-409C-BE32-E72D297353CC}">
              <c16:uniqueId val="{00000004-49D9-468F-A983-266B7C7ED93F}"/>
            </c:ext>
          </c:extLst>
        </c:ser>
        <c:ser>
          <c:idx val="5"/>
          <c:order val="5"/>
          <c:tx>
            <c:strRef>
              <c:f>Sheet1!$G$1</c:f>
              <c:strCache>
                <c:ptCount val="1"/>
                <c:pt idx="0">
                  <c:v>Architecture - Object-level Dependencies</c:v>
                </c:pt>
              </c:strCache>
            </c:strRef>
          </c:tx>
          <c:spPr>
            <a:ln w="12700">
              <a:solidFill>
                <a:srgbClr val="FF0000"/>
              </a:solidFill>
            </a:ln>
          </c:spP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Sheet1!$G$2:$G$8</c:f>
              <c:numCache>
                <c:formatCode>General</c:formatCode>
                <c:ptCount val="7"/>
                <c:pt idx="0">
                  <c:v>3.12</c:v>
                </c:pt>
                <c:pt idx="1">
                  <c:v>3.1</c:v>
                </c:pt>
                <c:pt idx="2">
                  <c:v>2.99</c:v>
                </c:pt>
                <c:pt idx="3">
                  <c:v>3.03</c:v>
                </c:pt>
                <c:pt idx="4">
                  <c:v>3.35</c:v>
                </c:pt>
                <c:pt idx="5">
                  <c:v>3.4</c:v>
                </c:pt>
                <c:pt idx="6">
                  <c:v>3.41</c:v>
                </c:pt>
              </c:numCache>
            </c:numRef>
          </c:val>
          <c:smooth val="0"/>
          <c:extLst>
            <c:ext xmlns:c16="http://schemas.microsoft.com/office/drawing/2014/chart" uri="{C3380CC4-5D6E-409C-BE32-E72D297353CC}">
              <c16:uniqueId val="{00000005-49D9-468F-A983-266B7C7ED93F}"/>
            </c:ext>
          </c:extLst>
        </c:ser>
        <c:ser>
          <c:idx val="6"/>
          <c:order val="6"/>
          <c:tx>
            <c:strRef>
              <c:f>Sheet1!$H$1</c:f>
              <c:strCache>
                <c:ptCount val="1"/>
                <c:pt idx="0">
                  <c:v>Secure Coding - Input Validation</c:v>
                </c:pt>
              </c:strCache>
            </c:strRef>
          </c:tx>
          <c:spPr>
            <a:ln w="12700">
              <a:solidFill>
                <a:srgbClr val="FFFF00"/>
              </a:solidFill>
            </a:ln>
          </c:spP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Sheet1!$H$2:$H$8</c:f>
              <c:numCache>
                <c:formatCode>General</c:formatCode>
                <c:ptCount val="7"/>
                <c:pt idx="0">
                  <c:v>3.14</c:v>
                </c:pt>
                <c:pt idx="1">
                  <c:v>3.16</c:v>
                </c:pt>
                <c:pt idx="2">
                  <c:v>3.13</c:v>
                </c:pt>
                <c:pt idx="3">
                  <c:v>3.03</c:v>
                </c:pt>
                <c:pt idx="4">
                  <c:v>3.05</c:v>
                </c:pt>
                <c:pt idx="5">
                  <c:v>3.11</c:v>
                </c:pt>
                <c:pt idx="6">
                  <c:v>3.12</c:v>
                </c:pt>
              </c:numCache>
            </c:numRef>
          </c:val>
          <c:smooth val="0"/>
          <c:extLst>
            <c:ext xmlns:c16="http://schemas.microsoft.com/office/drawing/2014/chart" uri="{C3380CC4-5D6E-409C-BE32-E72D297353CC}">
              <c16:uniqueId val="{00000006-49D9-468F-A983-266B7C7ED93F}"/>
            </c:ext>
          </c:extLst>
        </c:ser>
        <c:ser>
          <c:idx val="7"/>
          <c:order val="7"/>
          <c:tx>
            <c:strRef>
              <c:f>Sheet1!$I$1</c:f>
              <c:strCache>
                <c:ptCount val="1"/>
                <c:pt idx="0">
                  <c:v>Always validate user input with Request variables</c:v>
                </c:pt>
              </c:strCache>
            </c:strRef>
          </c:tx>
          <c:spPr>
            <a:ln w="12700">
              <a:solidFill>
                <a:srgbClr val="00B050"/>
              </a:solidFill>
            </a:ln>
          </c:spP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Sheet1!$I$2:$I$8</c:f>
              <c:numCache>
                <c:formatCode>General</c:formatCode>
                <c:ptCount val="7"/>
                <c:pt idx="0">
                  <c:v>2.85</c:v>
                </c:pt>
                <c:pt idx="1">
                  <c:v>2.84</c:v>
                </c:pt>
                <c:pt idx="2">
                  <c:v>2.86</c:v>
                </c:pt>
                <c:pt idx="3">
                  <c:v>2.84</c:v>
                </c:pt>
                <c:pt idx="4">
                  <c:v>2.88</c:v>
                </c:pt>
                <c:pt idx="5">
                  <c:v>2.88</c:v>
                </c:pt>
                <c:pt idx="6">
                  <c:v>2.89</c:v>
                </c:pt>
              </c:numCache>
            </c:numRef>
          </c:val>
          <c:smooth val="0"/>
          <c:extLst>
            <c:ext xmlns:c16="http://schemas.microsoft.com/office/drawing/2014/chart" uri="{C3380CC4-5D6E-409C-BE32-E72D297353CC}">
              <c16:uniqueId val="{00000007-49D9-468F-A983-266B7C7ED93F}"/>
            </c:ext>
          </c:extLst>
        </c:ser>
        <c:ser>
          <c:idx val="8"/>
          <c:order val="8"/>
          <c:tx>
            <c:strRef>
              <c:f>Sheet1!$J$1</c:f>
              <c:strCache>
                <c:ptCount val="1"/>
                <c:pt idx="0">
                  <c:v>Avoid Artifacts with High integration complexity</c:v>
                </c:pt>
              </c:strCache>
            </c:strRef>
          </c:tx>
          <c:spPr>
            <a:ln w="12700">
              <a:solidFill>
                <a:srgbClr val="2F65B4"/>
              </a:solidFill>
            </a:ln>
          </c:spP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Sheet1!$J$2:$J$8</c:f>
              <c:numCache>
                <c:formatCode>General</c:formatCode>
                <c:ptCount val="7"/>
                <c:pt idx="0">
                  <c:v>1.56</c:v>
                </c:pt>
                <c:pt idx="1">
                  <c:v>1.52</c:v>
                </c:pt>
                <c:pt idx="2">
                  <c:v>1.54</c:v>
                </c:pt>
                <c:pt idx="3">
                  <c:v>1.53</c:v>
                </c:pt>
                <c:pt idx="4">
                  <c:v>1.62</c:v>
                </c:pt>
                <c:pt idx="5">
                  <c:v>1.75</c:v>
                </c:pt>
                <c:pt idx="6">
                  <c:v>1.74</c:v>
                </c:pt>
              </c:numCache>
            </c:numRef>
          </c:val>
          <c:smooth val="0"/>
          <c:extLst>
            <c:ext xmlns:c16="http://schemas.microsoft.com/office/drawing/2014/chart" uri="{C3380CC4-5D6E-409C-BE32-E72D297353CC}">
              <c16:uniqueId val="{00000008-49D9-468F-A983-266B7C7ED93F}"/>
            </c:ext>
          </c:extLst>
        </c:ser>
        <c:ser>
          <c:idx val="9"/>
          <c:order val="9"/>
          <c:tx>
            <c:strRef>
              <c:f>Sheet1!$K$1</c:f>
              <c:strCache>
                <c:ptCount val="1"/>
                <c:pt idx="0">
                  <c:v>Never use array to map a collection</c:v>
                </c:pt>
              </c:strCache>
            </c:strRef>
          </c:tx>
          <c:spPr>
            <a:ln w="12700">
              <a:solidFill>
                <a:srgbClr val="7030A0"/>
              </a:solidFill>
            </a:ln>
          </c:spPr>
          <c:cat>
            <c:numRef>
              <c:f>Sheet1!$A$2:$A$8</c:f>
              <c:numCache>
                <c:formatCode>m/d/yyyy</c:formatCode>
                <c:ptCount val="7"/>
                <c:pt idx="0">
                  <c:v>40680.083333333299</c:v>
                </c:pt>
                <c:pt idx="1">
                  <c:v>40842.083333333299</c:v>
                </c:pt>
                <c:pt idx="2">
                  <c:v>40981.083333333299</c:v>
                </c:pt>
                <c:pt idx="3">
                  <c:v>41072.083333333299</c:v>
                </c:pt>
                <c:pt idx="4">
                  <c:v>41154.083333333299</c:v>
                </c:pt>
                <c:pt idx="5">
                  <c:v>41226.083333333299</c:v>
                </c:pt>
                <c:pt idx="6">
                  <c:v>41606</c:v>
                </c:pt>
              </c:numCache>
            </c:numRef>
          </c:cat>
          <c:val>
            <c:numRef>
              <c:f>Sheet1!$K$2:$K$8</c:f>
              <c:numCache>
                <c:formatCode>General</c:formatCode>
                <c:ptCount val="7"/>
                <c:pt idx="0">
                  <c:v>2.12</c:v>
                </c:pt>
                <c:pt idx="1">
                  <c:v>2.1</c:v>
                </c:pt>
                <c:pt idx="2">
                  <c:v>2.23</c:v>
                </c:pt>
                <c:pt idx="3">
                  <c:v>2.2999999999999998</c:v>
                </c:pt>
                <c:pt idx="4">
                  <c:v>2.29</c:v>
                </c:pt>
                <c:pt idx="5">
                  <c:v>2.35</c:v>
                </c:pt>
                <c:pt idx="6">
                  <c:v>2.34</c:v>
                </c:pt>
              </c:numCache>
            </c:numRef>
          </c:val>
          <c:smooth val="0"/>
          <c:extLst>
            <c:ext xmlns:c16="http://schemas.microsoft.com/office/drawing/2014/chart" uri="{C3380CC4-5D6E-409C-BE32-E72D297353CC}">
              <c16:uniqueId val="{00000009-49D9-468F-A983-266B7C7ED93F}"/>
            </c:ext>
          </c:extLst>
        </c:ser>
        <c:dLbls>
          <c:showLegendKey val="0"/>
          <c:showVal val="0"/>
          <c:showCatName val="0"/>
          <c:showSerName val="0"/>
          <c:showPercent val="0"/>
          <c:showBubbleSize val="0"/>
        </c:dLbls>
        <c:marker val="1"/>
        <c:smooth val="0"/>
        <c:axId val="359979584"/>
        <c:axId val="359978800"/>
      </c:lineChart>
      <c:catAx>
        <c:axId val="359979584"/>
        <c:scaling>
          <c:orientation val="minMax"/>
        </c:scaling>
        <c:delete val="0"/>
        <c:axPos val="b"/>
        <c:numFmt formatCode="m/d/yyyy" sourceLinked="1"/>
        <c:majorTickMark val="out"/>
        <c:minorTickMark val="none"/>
        <c:tickLblPos val="nextTo"/>
        <c:crossAx val="359978800"/>
        <c:crosses val="autoZero"/>
        <c:auto val="0"/>
        <c:lblAlgn val="ctr"/>
        <c:lblOffset val="100"/>
        <c:noMultiLvlLbl val="1"/>
      </c:catAx>
      <c:valAx>
        <c:axId val="359978800"/>
        <c:scaling>
          <c:orientation val="minMax"/>
        </c:scaling>
        <c:delete val="0"/>
        <c:axPos val="l"/>
        <c:majorGridlines>
          <c:spPr>
            <a:ln>
              <a:solidFill>
                <a:schemeClr val="bg1">
                  <a:lumMod val="85000"/>
                </a:schemeClr>
              </a:solidFill>
            </a:ln>
          </c:spPr>
        </c:majorGridlines>
        <c:numFmt formatCode="General" sourceLinked="1"/>
        <c:majorTickMark val="cross"/>
        <c:minorTickMark val="none"/>
        <c:tickLblPos val="nextTo"/>
        <c:spPr>
          <a:ln>
            <a:solidFill>
              <a:sysClr val="windowText" lastClr="000000">
                <a:tint val="75000"/>
                <a:shade val="95000"/>
                <a:satMod val="105000"/>
              </a:sysClr>
            </a:solidFill>
          </a:ln>
        </c:spPr>
        <c:crossAx val="359979584"/>
        <c:crosses val="autoZero"/>
        <c:crossBetween val="midCat"/>
      </c:valAx>
    </c:plotArea>
    <c:legend>
      <c:legendPos val="r"/>
      <c:layout>
        <c:manualLayout>
          <c:xMode val="edge"/>
          <c:yMode val="edge"/>
          <c:x val="0.52891250648205645"/>
          <c:y val="0.12020936305482828"/>
          <c:w val="0.46407299109363037"/>
          <c:h val="0.75590338942516622"/>
        </c:manualLayout>
      </c:layout>
      <c:overlay val="0"/>
    </c:legend>
    <c:plotVisOnly val="1"/>
    <c:dispBlanksAs val="gap"/>
    <c:showDLblsOverMax val="0"/>
  </c:chart>
  <c:spPr>
    <a:ln>
      <a:noFill/>
    </a:ln>
  </c:spPr>
  <c:txPr>
    <a:bodyPr/>
    <a:lstStyle/>
    <a:p>
      <a:pPr>
        <a:defRPr sz="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9"/>
    </mc:Choice>
    <mc:Fallback>
      <c:style val="19"/>
    </mc:Fallback>
  </mc:AlternateContent>
  <c:chart>
    <c:autoTitleDeleted val="1"/>
    <c:plotArea>
      <c:layout>
        <c:manualLayout>
          <c:layoutTarget val="inner"/>
          <c:xMode val="edge"/>
          <c:yMode val="edge"/>
          <c:x val="0.15704302179619908"/>
          <c:y val="0.12779902512185976"/>
          <c:w val="0.44563988115612629"/>
          <c:h val="0.73184818687984154"/>
        </c:manualLayout>
      </c:layout>
      <c:radarChart>
        <c:radarStyle val="filled"/>
        <c:varyColors val="0"/>
        <c:ser>
          <c:idx val="0"/>
          <c:order val="0"/>
          <c:tx>
            <c:strRef>
              <c:f>Sheet1!$B$1</c:f>
              <c:strCache>
                <c:ptCount val="1"/>
                <c:pt idx="0">
                  <c:v>V2</c:v>
                </c:pt>
              </c:strCache>
            </c:strRef>
          </c:tx>
          <c:spPr>
            <a:solidFill>
              <a:schemeClr val="accent2"/>
            </a:solidFill>
          </c:spPr>
          <c:cat>
            <c:strRef>
              <c:f>Sheet1!$A$2:$A$6</c:f>
              <c:strCache>
                <c:ptCount val="5"/>
                <c:pt idx="0">
                  <c:v>Trsf</c:v>
                </c:pt>
                <c:pt idx="1">
                  <c:v>Chng</c:v>
                </c:pt>
                <c:pt idx="2">
                  <c:v>Rbst</c:v>
                </c:pt>
                <c:pt idx="3">
                  <c:v>Efcy</c:v>
                </c:pt>
                <c:pt idx="4">
                  <c:v>Secu</c:v>
                </c:pt>
              </c:strCache>
            </c:strRef>
          </c:cat>
          <c:val>
            <c:numRef>
              <c:f>Sheet1!$B$2:$B$6</c:f>
              <c:numCache>
                <c:formatCode>General</c:formatCode>
                <c:ptCount val="5"/>
                <c:pt idx="0">
                  <c:v>2.5</c:v>
                </c:pt>
                <c:pt idx="1">
                  <c:v>2.5</c:v>
                </c:pt>
                <c:pt idx="2">
                  <c:v>2.5</c:v>
                </c:pt>
                <c:pt idx="3">
                  <c:v>2.5</c:v>
                </c:pt>
                <c:pt idx="4">
                  <c:v>2.5</c:v>
                </c:pt>
              </c:numCache>
            </c:numRef>
          </c:val>
          <c:extLst>
            <c:ext xmlns:c16="http://schemas.microsoft.com/office/drawing/2014/chart" uri="{C3380CC4-5D6E-409C-BE32-E72D297353CC}">
              <c16:uniqueId val="{00000000-F429-433C-8C35-6C87D075E0A4}"/>
            </c:ext>
          </c:extLst>
        </c:ser>
        <c:ser>
          <c:idx val="1"/>
          <c:order val="1"/>
          <c:tx>
            <c:strRef>
              <c:f>Sheet1!$C$1</c:f>
              <c:strCache>
                <c:ptCount val="1"/>
                <c:pt idx="0">
                  <c:v>V1</c:v>
                </c:pt>
              </c:strCache>
            </c:strRef>
          </c:tx>
          <c:spPr>
            <a:noFill/>
            <a:ln w="15875">
              <a:solidFill>
                <a:schemeClr val="tx1"/>
              </a:solidFill>
              <a:prstDash val="lgDash"/>
            </a:ln>
          </c:spPr>
          <c:cat>
            <c:strRef>
              <c:f>Sheet1!$A$2:$A$6</c:f>
              <c:strCache>
                <c:ptCount val="5"/>
                <c:pt idx="0">
                  <c:v>Trsf</c:v>
                </c:pt>
                <c:pt idx="1">
                  <c:v>Chng</c:v>
                </c:pt>
                <c:pt idx="2">
                  <c:v>Rbst</c:v>
                </c:pt>
                <c:pt idx="3">
                  <c:v>Efcy</c:v>
                </c:pt>
                <c:pt idx="4">
                  <c:v>Secu</c:v>
                </c:pt>
              </c:strCache>
            </c:strRef>
          </c:cat>
          <c:val>
            <c:numRef>
              <c:f>Sheet1!$C$2:$C$6</c:f>
              <c:numCache>
                <c:formatCode>General</c:formatCode>
                <c:ptCount val="5"/>
                <c:pt idx="0">
                  <c:v>1.5</c:v>
                </c:pt>
                <c:pt idx="1">
                  <c:v>1.5</c:v>
                </c:pt>
                <c:pt idx="2">
                  <c:v>1.5</c:v>
                </c:pt>
                <c:pt idx="3">
                  <c:v>1.5</c:v>
                </c:pt>
                <c:pt idx="4">
                  <c:v>1.5</c:v>
                </c:pt>
              </c:numCache>
            </c:numRef>
          </c:val>
          <c:extLst>
            <c:ext xmlns:c16="http://schemas.microsoft.com/office/drawing/2014/chart" uri="{C3380CC4-5D6E-409C-BE32-E72D297353CC}">
              <c16:uniqueId val="{00000001-F429-433C-8C35-6C87D075E0A4}"/>
            </c:ext>
          </c:extLst>
        </c:ser>
        <c:dLbls>
          <c:showLegendKey val="0"/>
          <c:showVal val="0"/>
          <c:showCatName val="0"/>
          <c:showSerName val="0"/>
          <c:showPercent val="0"/>
          <c:showBubbleSize val="0"/>
        </c:dLbls>
        <c:axId val="359978408"/>
        <c:axId val="359972920"/>
      </c:radarChart>
      <c:catAx>
        <c:axId val="359978408"/>
        <c:scaling>
          <c:orientation val="minMax"/>
        </c:scaling>
        <c:delete val="0"/>
        <c:axPos val="b"/>
        <c:majorGridlines/>
        <c:numFmt formatCode="General" sourceLinked="1"/>
        <c:majorTickMark val="out"/>
        <c:minorTickMark val="none"/>
        <c:tickLblPos val="nextTo"/>
        <c:crossAx val="359972920"/>
        <c:crosses val="autoZero"/>
        <c:auto val="1"/>
        <c:lblAlgn val="ctr"/>
        <c:lblOffset val="100"/>
        <c:noMultiLvlLbl val="0"/>
      </c:catAx>
      <c:valAx>
        <c:axId val="359972920"/>
        <c:scaling>
          <c:orientation val="minMax"/>
          <c:max val="4"/>
          <c:min val="0"/>
        </c:scaling>
        <c:delete val="0"/>
        <c:axPos val="l"/>
        <c:majorGridlines/>
        <c:numFmt formatCode="General" sourceLinked="1"/>
        <c:majorTickMark val="cross"/>
        <c:minorTickMark val="none"/>
        <c:tickLblPos val="nextTo"/>
        <c:crossAx val="359978408"/>
        <c:crosses val="autoZero"/>
        <c:crossBetween val="between"/>
      </c:valAx>
    </c:plotArea>
    <c:legend>
      <c:legendPos val="r"/>
      <c:layout>
        <c:manualLayout>
          <c:xMode val="edge"/>
          <c:yMode val="edge"/>
          <c:x val="0.63321818968031296"/>
          <c:y val="0.49796390144685387"/>
          <c:w val="0.33971742157848461"/>
          <c:h val="0.34506155298984414"/>
        </c:manualLayout>
      </c:layout>
      <c:overlay val="0"/>
    </c:legend>
    <c:plotVisOnly val="1"/>
    <c:dispBlanksAs val="gap"/>
    <c:showDLblsOverMax val="0"/>
  </c:chart>
  <c:txPr>
    <a:bodyPr/>
    <a:lstStyle/>
    <a:p>
      <a:pPr>
        <a:defRPr sz="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fr-FR" sz="1200" b="1" dirty="0">
                <a:effectLst/>
              </a:rPr>
              <a:t>TRANSACTIONS CHART</a:t>
            </a:r>
            <a:endParaRPr lang="en-US" sz="1200" b="1" dirty="0">
              <a:effectLst/>
            </a:endParaRPr>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Security</c:v>
                </c:pt>
              </c:strCache>
            </c:strRef>
          </c:tx>
          <c:spPr>
            <a:solidFill>
              <a:schemeClr val="accent1"/>
            </a:solidFill>
            <a:ln>
              <a:noFill/>
            </a:ln>
            <a:effectLst/>
          </c:spPr>
          <c:invertIfNegative val="0"/>
          <c:cat>
            <c:strRef>
              <c:f>Sheet1!$A$2:$A$21</c:f>
              <c:strCache>
                <c:ptCount val="20"/>
                <c:pt idx="0">
                  <c:v>HammerHead</c:v>
                </c:pt>
                <c:pt idx="1">
                  <c:v>LessonSource</c:v>
                </c:pt>
                <c:pt idx="2">
                  <c:v>Catcher</c:v>
                </c:pt>
                <c:pt idx="3">
                  <c:v>btnPlaceOrder_Click</c:v>
                </c:pt>
                <c:pt idx="4">
                  <c:v>Page_Load</c:v>
                </c:pt>
                <c:pt idx="5">
                  <c:v>main.jsp</c:v>
                </c:pt>
                <c:pt idx="6">
                  <c:v>lessoninfo.mvc/</c:v>
                </c:pt>
                <c:pt idx="7">
                  <c:v>Page_Load</c:v>
                </c:pt>
                <c:pt idx="8">
                  <c:v>#reset-btn/click</c:v>
                </c:pt>
                <c:pt idx="9">
                  <c:v>#show-php-btn/click</c:v>
                </c:pt>
                <c:pt idx="10">
                  <c:v>ready/ready</c:v>
                </c:pt>
                <c:pt idx="11">
                  <c:v>.btn-toggle/click</c:v>
                </c:pt>
                <c:pt idx="12">
                  <c:v>ready/ready</c:v>
                </c:pt>
                <c:pt idx="13">
                  <c:v>Page_Load</c:v>
                </c:pt>
                <c:pt idx="14">
                  <c:v>content.html</c:v>
                </c:pt>
                <c:pt idx="15">
                  <c:v>btnSaveChanges_Click</c:v>
                </c:pt>
                <c:pt idx="16">
                  <c:v>btnSaveChanges_Click</c:v>
                </c:pt>
                <c:pt idx="17">
                  <c:v>btnSubmit_Click</c:v>
                </c:pt>
                <c:pt idx="18">
                  <c:v>reportBug.jsp</c:v>
                </c:pt>
                <c:pt idx="19">
                  <c:v>btnUpdate_Click</c:v>
                </c:pt>
              </c:strCache>
            </c:strRef>
          </c:cat>
          <c:val>
            <c:numRef>
              <c:f>Sheet1!$B$2:$B$21</c:f>
              <c:numCache>
                <c:formatCode>General</c:formatCode>
                <c:ptCount val="20"/>
                <c:pt idx="0">
                  <c:v>1251</c:v>
                </c:pt>
                <c:pt idx="1">
                  <c:v>1022</c:v>
                </c:pt>
                <c:pt idx="2">
                  <c:v>947</c:v>
                </c:pt>
                <c:pt idx="3">
                  <c:v>530</c:v>
                </c:pt>
                <c:pt idx="4">
                  <c:v>520</c:v>
                </c:pt>
                <c:pt idx="5">
                  <c:v>332</c:v>
                </c:pt>
                <c:pt idx="6">
                  <c:v>312</c:v>
                </c:pt>
                <c:pt idx="7">
                  <c:v>240</c:v>
                </c:pt>
                <c:pt idx="8">
                  <c:v>134</c:v>
                </c:pt>
                <c:pt idx="9">
                  <c:v>134</c:v>
                </c:pt>
                <c:pt idx="10">
                  <c:v>134</c:v>
                </c:pt>
                <c:pt idx="11">
                  <c:v>184</c:v>
                </c:pt>
                <c:pt idx="12">
                  <c:v>184</c:v>
                </c:pt>
                <c:pt idx="13">
                  <c:v>0</c:v>
                </c:pt>
                <c:pt idx="14">
                  <c:v>204</c:v>
                </c:pt>
                <c:pt idx="15">
                  <c:v>0</c:v>
                </c:pt>
                <c:pt idx="16">
                  <c:v>0</c:v>
                </c:pt>
                <c:pt idx="17">
                  <c:v>190</c:v>
                </c:pt>
                <c:pt idx="18">
                  <c:v>0</c:v>
                </c:pt>
                <c:pt idx="19">
                  <c:v>80</c:v>
                </c:pt>
              </c:numCache>
            </c:numRef>
          </c:val>
          <c:extLst>
            <c:ext xmlns:c16="http://schemas.microsoft.com/office/drawing/2014/chart" uri="{C3380CC4-5D6E-409C-BE32-E72D297353CC}">
              <c16:uniqueId val="{00000000-B755-490E-A07E-A51F4BEB4597}"/>
            </c:ext>
          </c:extLst>
        </c:ser>
        <c:ser>
          <c:idx val="1"/>
          <c:order val="1"/>
          <c:tx>
            <c:strRef>
              <c:f>Sheet1!$C$1</c:f>
              <c:strCache>
                <c:ptCount val="1"/>
                <c:pt idx="0">
                  <c:v>Efficiency</c:v>
                </c:pt>
              </c:strCache>
            </c:strRef>
          </c:tx>
          <c:spPr>
            <a:solidFill>
              <a:schemeClr val="accent2"/>
            </a:solidFill>
            <a:ln>
              <a:noFill/>
            </a:ln>
            <a:effectLst/>
          </c:spPr>
          <c:invertIfNegative val="0"/>
          <c:cat>
            <c:strRef>
              <c:f>Sheet1!$A$2:$A$21</c:f>
              <c:strCache>
                <c:ptCount val="20"/>
                <c:pt idx="0">
                  <c:v>HammerHead</c:v>
                </c:pt>
                <c:pt idx="1">
                  <c:v>LessonSource</c:v>
                </c:pt>
                <c:pt idx="2">
                  <c:v>Catcher</c:v>
                </c:pt>
                <c:pt idx="3">
                  <c:v>btnPlaceOrder_Click</c:v>
                </c:pt>
                <c:pt idx="4">
                  <c:v>Page_Load</c:v>
                </c:pt>
                <c:pt idx="5">
                  <c:v>main.jsp</c:v>
                </c:pt>
                <c:pt idx="6">
                  <c:v>lessoninfo.mvc/</c:v>
                </c:pt>
                <c:pt idx="7">
                  <c:v>Page_Load</c:v>
                </c:pt>
                <c:pt idx="8">
                  <c:v>#reset-btn/click</c:v>
                </c:pt>
                <c:pt idx="9">
                  <c:v>#show-php-btn/click</c:v>
                </c:pt>
                <c:pt idx="10">
                  <c:v>ready/ready</c:v>
                </c:pt>
                <c:pt idx="11">
                  <c:v>.btn-toggle/click</c:v>
                </c:pt>
                <c:pt idx="12">
                  <c:v>ready/ready</c:v>
                </c:pt>
                <c:pt idx="13">
                  <c:v>Page_Load</c:v>
                </c:pt>
                <c:pt idx="14">
                  <c:v>content.html</c:v>
                </c:pt>
                <c:pt idx="15">
                  <c:v>btnSaveChanges_Click</c:v>
                </c:pt>
                <c:pt idx="16">
                  <c:v>btnSaveChanges_Click</c:v>
                </c:pt>
                <c:pt idx="17">
                  <c:v>btnSubmit_Click</c:v>
                </c:pt>
                <c:pt idx="18">
                  <c:v>reportBug.jsp</c:v>
                </c:pt>
                <c:pt idx="19">
                  <c:v>btnUpdate_Click</c:v>
                </c:pt>
              </c:strCache>
            </c:strRef>
          </c:cat>
          <c:val>
            <c:numRef>
              <c:f>Sheet1!$C$2:$C$21</c:f>
              <c:numCache>
                <c:formatCode>General</c:formatCode>
                <c:ptCount val="20"/>
                <c:pt idx="0">
                  <c:v>400</c:v>
                </c:pt>
                <c:pt idx="1">
                  <c:v>360</c:v>
                </c:pt>
                <c:pt idx="2">
                  <c:v>280</c:v>
                </c:pt>
                <c:pt idx="3">
                  <c:v>0</c:v>
                </c:pt>
                <c:pt idx="4">
                  <c:v>0</c:v>
                </c:pt>
                <c:pt idx="5">
                  <c:v>200</c:v>
                </c:pt>
                <c:pt idx="6">
                  <c:v>160</c:v>
                </c:pt>
                <c:pt idx="7">
                  <c:v>0</c:v>
                </c:pt>
                <c:pt idx="8">
                  <c:v>63</c:v>
                </c:pt>
                <c:pt idx="9">
                  <c:v>63</c:v>
                </c:pt>
                <c:pt idx="10">
                  <c:v>63</c:v>
                </c:pt>
                <c:pt idx="11">
                  <c:v>63</c:v>
                </c:pt>
                <c:pt idx="12">
                  <c:v>63</c:v>
                </c:pt>
                <c:pt idx="13">
                  <c:v>0</c:v>
                </c:pt>
                <c:pt idx="14">
                  <c:v>63</c:v>
                </c:pt>
                <c:pt idx="15">
                  <c:v>0</c:v>
                </c:pt>
                <c:pt idx="16">
                  <c:v>0</c:v>
                </c:pt>
                <c:pt idx="17">
                  <c:v>120</c:v>
                </c:pt>
                <c:pt idx="18">
                  <c:v>40</c:v>
                </c:pt>
                <c:pt idx="19">
                  <c:v>0</c:v>
                </c:pt>
              </c:numCache>
            </c:numRef>
          </c:val>
          <c:extLst>
            <c:ext xmlns:c16="http://schemas.microsoft.com/office/drawing/2014/chart" uri="{C3380CC4-5D6E-409C-BE32-E72D297353CC}">
              <c16:uniqueId val="{00000001-B755-490E-A07E-A51F4BEB4597}"/>
            </c:ext>
          </c:extLst>
        </c:ser>
        <c:ser>
          <c:idx val="2"/>
          <c:order val="2"/>
          <c:tx>
            <c:strRef>
              <c:f>Sheet1!$D$1</c:f>
              <c:strCache>
                <c:ptCount val="1"/>
                <c:pt idx="0">
                  <c:v>Robustness</c:v>
                </c:pt>
              </c:strCache>
            </c:strRef>
          </c:tx>
          <c:spPr>
            <a:solidFill>
              <a:schemeClr val="accent3"/>
            </a:solidFill>
            <a:ln>
              <a:noFill/>
            </a:ln>
            <a:effectLst/>
          </c:spPr>
          <c:invertIfNegative val="0"/>
          <c:cat>
            <c:strRef>
              <c:f>Sheet1!$A$2:$A$21</c:f>
              <c:strCache>
                <c:ptCount val="20"/>
                <c:pt idx="0">
                  <c:v>HammerHead</c:v>
                </c:pt>
                <c:pt idx="1">
                  <c:v>LessonSource</c:v>
                </c:pt>
                <c:pt idx="2">
                  <c:v>Catcher</c:v>
                </c:pt>
                <c:pt idx="3">
                  <c:v>btnPlaceOrder_Click</c:v>
                </c:pt>
                <c:pt idx="4">
                  <c:v>Page_Load</c:v>
                </c:pt>
                <c:pt idx="5">
                  <c:v>main.jsp</c:v>
                </c:pt>
                <c:pt idx="6">
                  <c:v>lessoninfo.mvc/</c:v>
                </c:pt>
                <c:pt idx="7">
                  <c:v>Page_Load</c:v>
                </c:pt>
                <c:pt idx="8">
                  <c:v>#reset-btn/click</c:v>
                </c:pt>
                <c:pt idx="9">
                  <c:v>#show-php-btn/click</c:v>
                </c:pt>
                <c:pt idx="10">
                  <c:v>ready/ready</c:v>
                </c:pt>
                <c:pt idx="11">
                  <c:v>.btn-toggle/click</c:v>
                </c:pt>
                <c:pt idx="12">
                  <c:v>ready/ready</c:v>
                </c:pt>
                <c:pt idx="13">
                  <c:v>Page_Load</c:v>
                </c:pt>
                <c:pt idx="14">
                  <c:v>content.html</c:v>
                </c:pt>
                <c:pt idx="15">
                  <c:v>btnSaveChanges_Click</c:v>
                </c:pt>
                <c:pt idx="16">
                  <c:v>btnSaveChanges_Click</c:v>
                </c:pt>
                <c:pt idx="17">
                  <c:v>btnSubmit_Click</c:v>
                </c:pt>
                <c:pt idx="18">
                  <c:v>reportBug.jsp</c:v>
                </c:pt>
                <c:pt idx="19">
                  <c:v>btnUpdate_Click</c:v>
                </c:pt>
              </c:strCache>
            </c:strRef>
          </c:cat>
          <c:val>
            <c:numRef>
              <c:f>Sheet1!$D$2:$D$21</c:f>
              <c:numCache>
                <c:formatCode>General</c:formatCode>
                <c:ptCount val="20"/>
                <c:pt idx="0">
                  <c:v>1486</c:v>
                </c:pt>
                <c:pt idx="1">
                  <c:v>1179</c:v>
                </c:pt>
                <c:pt idx="2">
                  <c:v>1067</c:v>
                </c:pt>
                <c:pt idx="3">
                  <c:v>706</c:v>
                </c:pt>
                <c:pt idx="4">
                  <c:v>686</c:v>
                </c:pt>
                <c:pt idx="5">
                  <c:v>546</c:v>
                </c:pt>
                <c:pt idx="6">
                  <c:v>329</c:v>
                </c:pt>
                <c:pt idx="7">
                  <c:v>178</c:v>
                </c:pt>
                <c:pt idx="8">
                  <c:v>174</c:v>
                </c:pt>
                <c:pt idx="9">
                  <c:v>174</c:v>
                </c:pt>
                <c:pt idx="10">
                  <c:v>174</c:v>
                </c:pt>
                <c:pt idx="11">
                  <c:v>168</c:v>
                </c:pt>
                <c:pt idx="12">
                  <c:v>168</c:v>
                </c:pt>
                <c:pt idx="13">
                  <c:v>136</c:v>
                </c:pt>
                <c:pt idx="14">
                  <c:v>118</c:v>
                </c:pt>
                <c:pt idx="15">
                  <c:v>108</c:v>
                </c:pt>
                <c:pt idx="16">
                  <c:v>108</c:v>
                </c:pt>
                <c:pt idx="17">
                  <c:v>108</c:v>
                </c:pt>
                <c:pt idx="18">
                  <c:v>80</c:v>
                </c:pt>
                <c:pt idx="19">
                  <c:v>80</c:v>
                </c:pt>
              </c:numCache>
            </c:numRef>
          </c:val>
          <c:extLst>
            <c:ext xmlns:c16="http://schemas.microsoft.com/office/drawing/2014/chart" uri="{C3380CC4-5D6E-409C-BE32-E72D297353CC}">
              <c16:uniqueId val="{00000002-B755-490E-A07E-A51F4BEB4597}"/>
            </c:ext>
          </c:extLst>
        </c:ser>
        <c:dLbls>
          <c:showLegendKey val="0"/>
          <c:showVal val="0"/>
          <c:showCatName val="0"/>
          <c:showSerName val="0"/>
          <c:showPercent val="0"/>
          <c:showBubbleSize val="0"/>
        </c:dLbls>
        <c:gapWidth val="219"/>
        <c:overlap val="-27"/>
        <c:axId val="461299216"/>
        <c:axId val="461299544"/>
      </c:barChart>
      <c:catAx>
        <c:axId val="461299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1299544"/>
        <c:crosses val="autoZero"/>
        <c:auto val="1"/>
        <c:lblAlgn val="ctr"/>
        <c:lblOffset val="100"/>
        <c:noMultiLvlLbl val="0"/>
      </c:catAx>
      <c:valAx>
        <c:axId val="4612995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12992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5">
  <a:schemeClr val="accent2"/>
</cs:colorStyle>
</file>

<file path=ppt/charts/colors7.xml><?xml version="1.0" encoding="utf-8"?>
<cs:colorStyle xmlns:cs="http://schemas.microsoft.com/office/drawing/2012/chartStyle" xmlns:a="http://schemas.openxmlformats.org/drawingml/2006/main" meth="withinLinear" id="15">
  <a:schemeClr val="accent2"/>
</cs:colorStyle>
</file>

<file path=ppt/charts/colors8.xml><?xml version="1.0" encoding="utf-8"?>
<cs:colorStyle xmlns:cs="http://schemas.microsoft.com/office/drawing/2012/chartStyle" xmlns:a="http://schemas.openxmlformats.org/drawingml/2006/main" meth="withinLinear" id="15">
  <a:schemeClr val="accent2"/>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19">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1">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mods="ignoreCSTransforms">
      <cs:styleClr val="0">
        <a:shade val="25000"/>
      </cs:styl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mods="ignoreCSTransforms">
      <cs:styleClr val="0">
        <a:tint val="25000"/>
      </cs:styl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19">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1">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mods="ignoreCSTransforms">
      <cs:styleClr val="0">
        <a:shade val="25000"/>
      </cs:styl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mods="ignoreCSTransforms">
      <cs:styleClr val="0">
        <a:tint val="25000"/>
      </cs:styl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19">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1">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mods="ignoreCSTransforms">
      <cs:styleClr val="0">
        <a:shade val="25000"/>
      </cs:styl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mods="ignoreCSTransforms">
      <cs:styleClr val="0">
        <a:tint val="25000"/>
      </cs:styl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126">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3">
      <a:schemeClr val="dk1"/>
    </cs:effectRef>
    <cs:fontRef idx="minor">
      <a:schemeClr val="tx1"/>
    </cs:fontRef>
  </cs:dataPoint>
  <cs:dataPoint3D>
    <cs:lnRef idx="0"/>
    <cs:fillRef idx="3">
      <cs:styleClr val="auto"/>
    </cs:fillRef>
    <cs:effectRef idx="3">
      <a:schemeClr val="dk1"/>
    </cs:effectRef>
    <cs:fontRef idx="minor">
      <a:schemeClr val="tx1"/>
    </cs:fontRef>
  </cs:dataPoint3D>
  <cs:dataPointLine>
    <cs:lnRef idx="1">
      <cs:styleClr val="auto"/>
    </cs:lnRef>
    <cs:lineWidthScale>7</cs:lineWidthScale>
    <cs:fillRef idx="0"/>
    <cs:effectRef idx="0"/>
    <cs:fontRef idx="minor">
      <a:schemeClr val="tx1"/>
    </cs:fontRef>
    <cs:spPr>
      <a:ln cap="rnd">
        <a:round/>
      </a:ln>
    </cs:spPr>
  </cs:dataPointLine>
  <cs:dataPointMarker>
    <cs:lnRef idx="1">
      <cs:styleClr val="auto"/>
    </cs:lnRef>
    <cs:fillRef idx="3">
      <cs:styleClr val="auto"/>
    </cs:fillRef>
    <cs:effectRef idx="3">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a:schemeClr val="dk1">
        <a:tint val="95000"/>
      </a:schemeClr>
    </cs:fillRef>
    <cs:effectRef idx="3">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a:schemeClr val="dk1">
        <a:tint val="5000"/>
      </a:schemeClr>
    </cs:fillRef>
    <cs:effectRef idx="3">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126">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3">
      <a:schemeClr val="dk1"/>
    </cs:effectRef>
    <cs:fontRef idx="minor">
      <a:schemeClr val="tx1"/>
    </cs:fontRef>
  </cs:dataPoint>
  <cs:dataPoint3D>
    <cs:lnRef idx="0"/>
    <cs:fillRef idx="3">
      <cs:styleClr val="auto"/>
    </cs:fillRef>
    <cs:effectRef idx="3">
      <a:schemeClr val="dk1"/>
    </cs:effectRef>
    <cs:fontRef idx="minor">
      <a:schemeClr val="tx1"/>
    </cs:fontRef>
  </cs:dataPoint3D>
  <cs:dataPointLine>
    <cs:lnRef idx="1">
      <cs:styleClr val="auto"/>
    </cs:lnRef>
    <cs:lineWidthScale>7</cs:lineWidthScale>
    <cs:fillRef idx="0"/>
    <cs:effectRef idx="0"/>
    <cs:fontRef idx="minor">
      <a:schemeClr val="tx1"/>
    </cs:fontRef>
    <cs:spPr>
      <a:ln cap="rnd">
        <a:round/>
      </a:ln>
    </cs:spPr>
  </cs:dataPointLine>
  <cs:dataPointMarker>
    <cs:lnRef idx="1">
      <cs:styleClr val="auto"/>
    </cs:lnRef>
    <cs:fillRef idx="3">
      <cs:styleClr val="auto"/>
    </cs:fillRef>
    <cs:effectRef idx="3">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a:schemeClr val="dk1">
        <a:tint val="95000"/>
      </a:schemeClr>
    </cs:fillRef>
    <cs:effectRef idx="3">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a:schemeClr val="dk1">
        <a:tint val="5000"/>
      </a:schemeClr>
    </cs:fillRef>
    <cs:effectRef idx="3">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119">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1">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mods="ignoreCSTransforms">
      <cs:styleClr val="0">
        <a:shade val="25000"/>
      </cs:styl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mods="ignoreCSTransforms">
      <cs:styleClr val="0">
        <a:tint val="25000"/>
      </cs:styl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3F0280-73A8-4D0E-AE4A-F7BA00132B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2619D10-BACB-4DC6-8266-08198C55FD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62845F-21F6-4531-A304-559DC661811C}" type="datetimeFigureOut">
              <a:rPr lang="en-US" smtClean="0"/>
              <a:t>2/3/2026</a:t>
            </a:fld>
            <a:endParaRPr lang="en-US"/>
          </a:p>
        </p:txBody>
      </p:sp>
      <p:sp>
        <p:nvSpPr>
          <p:cNvPr id="4" name="Footer Placeholder 3">
            <a:extLst>
              <a:ext uri="{FF2B5EF4-FFF2-40B4-BE49-F238E27FC236}">
                <a16:creationId xmlns:a16="http://schemas.microsoft.com/office/drawing/2014/main" id="{C4182E07-4672-464B-8D21-624F65F274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5B60D3B-3403-4DFF-B5D5-3E848A81D8D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823D1D-50ED-42A0-B153-5A24BEF249FF}" type="slidenum">
              <a:rPr lang="en-US" smtClean="0"/>
              <a:t>‹#›</a:t>
            </a:fld>
            <a:endParaRPr lang="en-US"/>
          </a:p>
        </p:txBody>
      </p:sp>
    </p:spTree>
    <p:extLst>
      <p:ext uri="{BB962C8B-B14F-4D97-AF65-F5344CB8AC3E}">
        <p14:creationId xmlns:p14="http://schemas.microsoft.com/office/powerpoint/2010/main" val="9806428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CF963-E58D-FC4D-BA9E-60A980752DC6}"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3DE286-B060-1443-B64D-5D3E5B39C639}" type="slidenum">
              <a:rPr lang="en-US" smtClean="0"/>
              <a:t>‹#›</a:t>
            </a:fld>
            <a:endParaRPr lang="en-US"/>
          </a:p>
        </p:txBody>
      </p:sp>
    </p:spTree>
    <p:extLst>
      <p:ext uri="{BB962C8B-B14F-4D97-AF65-F5344CB8AC3E}">
        <p14:creationId xmlns:p14="http://schemas.microsoft.com/office/powerpoint/2010/main" val="389498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3DE286-B060-1443-B64D-5D3E5B39C639}" type="slidenum">
              <a:rPr lang="en-US" smtClean="0"/>
              <a:t>1</a:t>
            </a:fld>
            <a:endParaRPr lang="en-US"/>
          </a:p>
        </p:txBody>
      </p:sp>
    </p:spTree>
    <p:extLst>
      <p:ext uri="{BB962C8B-B14F-4D97-AF65-F5344CB8AC3E}">
        <p14:creationId xmlns:p14="http://schemas.microsoft.com/office/powerpoint/2010/main" val="3010906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836C7F0-1843-4F1A-8814-7FA6560D8D6B}" type="slidenum">
              <a:rPr lang="fr-FR" smtClean="0"/>
              <a:t>68</a:t>
            </a:fld>
            <a:endParaRPr lang="fr-FR"/>
          </a:p>
        </p:txBody>
      </p:sp>
    </p:spTree>
    <p:extLst>
      <p:ext uri="{BB962C8B-B14F-4D97-AF65-F5344CB8AC3E}">
        <p14:creationId xmlns:p14="http://schemas.microsoft.com/office/powerpoint/2010/main" val="4268210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836C7F0-1843-4F1A-8814-7FA6560D8D6B}" type="slidenum">
              <a:rPr lang="fr-FR" smtClean="0"/>
              <a:t>69</a:t>
            </a:fld>
            <a:endParaRPr lang="fr-FR"/>
          </a:p>
        </p:txBody>
      </p:sp>
    </p:spTree>
    <p:extLst>
      <p:ext uri="{BB962C8B-B14F-4D97-AF65-F5344CB8AC3E}">
        <p14:creationId xmlns:p14="http://schemas.microsoft.com/office/powerpoint/2010/main" val="575953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836C7F0-1843-4F1A-8814-7FA6560D8D6B}" type="slidenum">
              <a:rPr lang="fr-FR" smtClean="0"/>
              <a:t>70</a:t>
            </a:fld>
            <a:endParaRPr lang="fr-FR"/>
          </a:p>
        </p:txBody>
      </p:sp>
    </p:spTree>
    <p:extLst>
      <p:ext uri="{BB962C8B-B14F-4D97-AF65-F5344CB8AC3E}">
        <p14:creationId xmlns:p14="http://schemas.microsoft.com/office/powerpoint/2010/main" val="12201504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7.png"/><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Dev team">
    <p:spTree>
      <p:nvGrpSpPr>
        <p:cNvPr id="1" name=""/>
        <p:cNvGrpSpPr/>
        <p:nvPr/>
      </p:nvGrpSpPr>
      <p:grpSpPr>
        <a:xfrm>
          <a:off x="0" y="0"/>
          <a:ext cx="0" cy="0"/>
          <a:chOff x="0" y="0"/>
          <a:chExt cx="0" cy="0"/>
        </a:xfrm>
      </p:grpSpPr>
      <p:pic>
        <p:nvPicPr>
          <p:cNvPr id="11" name="Picture 10" descr="A group of people looking at a computer&#10;&#10;Description generated with high confidence">
            <a:extLst>
              <a:ext uri="{FF2B5EF4-FFF2-40B4-BE49-F238E27FC236}">
                <a16:creationId xmlns:a16="http://schemas.microsoft.com/office/drawing/2014/main" id="{8C9A953A-3019-402C-AC2A-CD61DD0EA4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92001" cy="5298113"/>
          </a:xfrm>
          <a:prstGeom prst="rect">
            <a:avLst/>
          </a:prstGeom>
        </p:spPr>
      </p:pic>
      <p:sp>
        <p:nvSpPr>
          <p:cNvPr id="12" name="Rectangle 11">
            <a:extLst>
              <a:ext uri="{FF2B5EF4-FFF2-40B4-BE49-F238E27FC236}">
                <a16:creationId xmlns:a16="http://schemas.microsoft.com/office/drawing/2014/main" id="{08885CAD-111A-494E-84CE-9C1F636E3BC9}"/>
              </a:ext>
            </a:extLst>
          </p:cNvPr>
          <p:cNvSpPr/>
          <p:nvPr userDrawn="1"/>
        </p:nvSpPr>
        <p:spPr>
          <a:xfrm>
            <a:off x="0" y="0"/>
            <a:ext cx="12192000" cy="5298112"/>
          </a:xfrm>
          <a:prstGeom prst="rect">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839200" y="6468757"/>
            <a:ext cx="2743200" cy="365125"/>
          </a:xfrm>
        </p:spPr>
        <p:txBody>
          <a:bodyPr/>
          <a:lstStyle/>
          <a:p>
            <a:fld id="{82A741BF-3B2B-D247-8C55-2CB6AFEF6FBF}" type="slidenum">
              <a:rPr lang="en-US" smtClean="0"/>
              <a:t>‹#›</a:t>
            </a:fld>
            <a:endParaRPr lang="en-US"/>
          </a:p>
        </p:txBody>
      </p:sp>
      <p:sp>
        <p:nvSpPr>
          <p:cNvPr id="18" name="Text Placeholder 17"/>
          <p:cNvSpPr>
            <a:spLocks noGrp="1"/>
          </p:cNvSpPr>
          <p:nvPr>
            <p:ph type="body" sz="quarter" idx="15" hasCustomPrompt="1"/>
          </p:nvPr>
        </p:nvSpPr>
        <p:spPr>
          <a:xfrm>
            <a:off x="609600" y="3379838"/>
            <a:ext cx="10972800" cy="651626"/>
          </a:xfrm>
          <a:prstGeom prst="rect">
            <a:avLst/>
          </a:prstGeom>
        </p:spPr>
        <p:txBody>
          <a:bodyPr>
            <a:noAutofit/>
          </a:bodyPr>
          <a:lstStyle>
            <a:lvl1pPr marL="0" indent="0">
              <a:buNone/>
              <a:defRPr lang="en-US" sz="4400" b="0" kern="1200" dirty="0">
                <a:solidFill>
                  <a:schemeClr val="bg1"/>
                </a:solidFill>
                <a:latin typeface="Gotham Book" pitchFamily="50" charset="0"/>
                <a:ea typeface="+mn-ea"/>
                <a:cs typeface="Gotham Book" pitchFamily="50" charset="0"/>
              </a:defRPr>
            </a:lvl1pPr>
          </a:lstStyle>
          <a:p>
            <a:pPr lvl="0"/>
            <a:r>
              <a:rPr lang="en-US" dirty="0"/>
              <a:t>TITLE</a:t>
            </a:r>
          </a:p>
        </p:txBody>
      </p:sp>
      <p:sp>
        <p:nvSpPr>
          <p:cNvPr id="19" name="Text Placeholder 17"/>
          <p:cNvSpPr>
            <a:spLocks noGrp="1"/>
          </p:cNvSpPr>
          <p:nvPr>
            <p:ph type="body" sz="quarter" idx="16" hasCustomPrompt="1"/>
          </p:nvPr>
        </p:nvSpPr>
        <p:spPr>
          <a:xfrm>
            <a:off x="609600" y="4041576"/>
            <a:ext cx="10972800" cy="651626"/>
          </a:xfrm>
          <a:prstGeom prst="rect">
            <a:avLst/>
          </a:prstGeom>
        </p:spPr>
        <p:txBody>
          <a:bodyPr>
            <a:normAutofit/>
          </a:bodyPr>
          <a:lstStyle>
            <a:lvl1pPr marL="0" indent="0">
              <a:buNone/>
              <a:defRPr sz="2800">
                <a:solidFill>
                  <a:schemeClr val="bg1"/>
                </a:solidFill>
                <a:latin typeface="Gotham Book" pitchFamily="50" charset="0"/>
                <a:cs typeface="Gotham Book" pitchFamily="50" charset="0"/>
              </a:defRPr>
            </a:lvl1pPr>
          </a:lstStyle>
          <a:p>
            <a:pPr lvl="0"/>
            <a:r>
              <a:rPr lang="en-US" dirty="0"/>
              <a:t>Subtitle</a:t>
            </a:r>
          </a:p>
        </p:txBody>
      </p:sp>
      <p:sp>
        <p:nvSpPr>
          <p:cNvPr id="10" name="TextBox 9">
            <a:extLst>
              <a:ext uri="{FF2B5EF4-FFF2-40B4-BE49-F238E27FC236}">
                <a16:creationId xmlns:a16="http://schemas.microsoft.com/office/drawing/2014/main" id="{C861C67D-2B19-42F2-9286-75912967EBE2}"/>
              </a:ext>
            </a:extLst>
          </p:cNvPr>
          <p:cNvSpPr txBox="1"/>
          <p:nvPr userDrawn="1"/>
        </p:nvSpPr>
        <p:spPr>
          <a:xfrm>
            <a:off x="536506" y="6572272"/>
            <a:ext cx="1351652" cy="246221"/>
          </a:xfrm>
          <a:prstGeom prst="rect">
            <a:avLst/>
          </a:prstGeom>
          <a:noFill/>
        </p:spPr>
        <p:txBody>
          <a:bodyPr wrap="none" rtlCol="0">
            <a:spAutoFit/>
          </a:bodyPr>
          <a:lstStyle/>
          <a:p>
            <a:r>
              <a:rPr lang="en-US" sz="1000" b="0" i="0" dirty="0">
                <a:solidFill>
                  <a:schemeClr val="bg1">
                    <a:lumMod val="50000"/>
                  </a:schemeClr>
                </a:solidFill>
                <a:latin typeface="Gotham Book" pitchFamily="50" charset="0"/>
                <a:ea typeface="Arial" charset="0"/>
                <a:cs typeface="Gotham Book" pitchFamily="50" charset="0"/>
              </a:rPr>
              <a:t>CAST Confidential</a:t>
            </a:r>
          </a:p>
        </p:txBody>
      </p:sp>
      <p:sp>
        <p:nvSpPr>
          <p:cNvPr id="14" name="Text Placeholder 20">
            <a:extLst>
              <a:ext uri="{FF2B5EF4-FFF2-40B4-BE49-F238E27FC236}">
                <a16:creationId xmlns:a16="http://schemas.microsoft.com/office/drawing/2014/main" id="{C3A30DB9-BAE1-4111-B7FC-3F062DFEE6E9}"/>
              </a:ext>
            </a:extLst>
          </p:cNvPr>
          <p:cNvSpPr>
            <a:spLocks noGrp="1"/>
          </p:cNvSpPr>
          <p:nvPr>
            <p:ph type="body" sz="quarter" idx="17" hasCustomPrompt="1"/>
          </p:nvPr>
        </p:nvSpPr>
        <p:spPr>
          <a:xfrm>
            <a:off x="609600" y="5514975"/>
            <a:ext cx="3810000" cy="952500"/>
          </a:xfrm>
          <a:prstGeom prst="rect">
            <a:avLst/>
          </a:prstGeom>
        </p:spPr>
        <p:txBody>
          <a:bodyPr>
            <a:noAutofit/>
          </a:bodyPr>
          <a:lstStyle>
            <a:lvl1pPr marL="0" indent="0">
              <a:spcBef>
                <a:spcPts val="600"/>
              </a:spcBef>
              <a:buNone/>
              <a:defRPr sz="1100" baseline="0">
                <a:latin typeface="Gotham Book" pitchFamily="50" charset="0"/>
                <a:cs typeface="Gotham Book" pitchFamily="50" charset="0"/>
              </a:defRPr>
            </a:lvl1pPr>
          </a:lstStyle>
          <a:p>
            <a:pPr lvl="0"/>
            <a:r>
              <a:rPr lang="en-US" dirty="0"/>
              <a:t>Name</a:t>
            </a:r>
          </a:p>
          <a:p>
            <a:pPr lvl="0"/>
            <a:r>
              <a:rPr lang="en-US" dirty="0"/>
              <a:t>Title</a:t>
            </a:r>
          </a:p>
          <a:p>
            <a:pPr lvl="0"/>
            <a:r>
              <a:rPr lang="en-US" dirty="0"/>
              <a:t>Contact</a:t>
            </a:r>
          </a:p>
        </p:txBody>
      </p:sp>
      <p:pic>
        <p:nvPicPr>
          <p:cNvPr id="2" name="Picture 1">
            <a:extLst>
              <a:ext uri="{FF2B5EF4-FFF2-40B4-BE49-F238E27FC236}">
                <a16:creationId xmlns:a16="http://schemas.microsoft.com/office/drawing/2014/main" id="{4A29C696-EC19-09DE-0C29-B3D79DFBB493}"/>
              </a:ext>
            </a:extLst>
          </p:cNvPr>
          <p:cNvPicPr>
            <a:picLocks noChangeAspect="1"/>
          </p:cNvPicPr>
          <p:nvPr userDrawn="1"/>
        </p:nvPicPr>
        <p:blipFill>
          <a:blip r:embed="rId3"/>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3725926404"/>
      </p:ext>
    </p:extLst>
  </p:cSld>
  <p:clrMapOvr>
    <a:masterClrMapping/>
  </p:clrMapOvr>
  <p:extLst>
    <p:ext uri="{DCECCB84-F9BA-43D5-87BE-67443E8EF086}">
      <p15:sldGuideLst xmlns:p15="http://schemas.microsoft.com/office/powerpoint/2012/main">
        <p15:guide id="1" pos="3840">
          <p15:clr>
            <a:srgbClr val="FBAE40"/>
          </p15:clr>
        </p15:guide>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8" orient="horz" pos="2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Entreprise">
    <p:spTree>
      <p:nvGrpSpPr>
        <p:cNvPr id="1" name=""/>
        <p:cNvGrpSpPr/>
        <p:nvPr/>
      </p:nvGrpSpPr>
      <p:grpSpPr>
        <a:xfrm>
          <a:off x="0" y="0"/>
          <a:ext cx="0" cy="0"/>
          <a:chOff x="0" y="0"/>
          <a:chExt cx="0" cy="0"/>
        </a:xfrm>
      </p:grpSpPr>
      <p:pic>
        <p:nvPicPr>
          <p:cNvPr id="11" name="Picture 10" descr="A person wearing a suit and tie&#10;&#10;Description generated with very high confidence">
            <a:extLst>
              <a:ext uri="{FF2B5EF4-FFF2-40B4-BE49-F238E27FC236}">
                <a16:creationId xmlns:a16="http://schemas.microsoft.com/office/drawing/2014/main" id="{151F7529-4ADF-46B3-BF2C-689D2027D5C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 y="0"/>
            <a:ext cx="12192001" cy="5300655"/>
          </a:xfrm>
          <a:prstGeom prst="rect">
            <a:avLst/>
          </a:prstGeom>
        </p:spPr>
      </p:pic>
      <p:sp>
        <p:nvSpPr>
          <p:cNvPr id="12" name="Rectangle 11">
            <a:extLst>
              <a:ext uri="{FF2B5EF4-FFF2-40B4-BE49-F238E27FC236}">
                <a16:creationId xmlns:a16="http://schemas.microsoft.com/office/drawing/2014/main" id="{08885CAD-111A-494E-84CE-9C1F636E3BC9}"/>
              </a:ext>
            </a:extLst>
          </p:cNvPr>
          <p:cNvSpPr/>
          <p:nvPr userDrawn="1"/>
        </p:nvSpPr>
        <p:spPr>
          <a:xfrm>
            <a:off x="0" y="-1"/>
            <a:ext cx="12192000" cy="5300655"/>
          </a:xfrm>
          <a:prstGeom prst="rect">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839200" y="6468757"/>
            <a:ext cx="2743200" cy="365125"/>
          </a:xfrm>
        </p:spPr>
        <p:txBody>
          <a:bodyPr/>
          <a:lstStyle/>
          <a:p>
            <a:fld id="{82A741BF-3B2B-D247-8C55-2CB6AFEF6FBF}" type="slidenum">
              <a:rPr lang="en-US" smtClean="0"/>
              <a:t>‹#›</a:t>
            </a:fld>
            <a:endParaRPr lang="en-US"/>
          </a:p>
        </p:txBody>
      </p:sp>
      <p:sp>
        <p:nvSpPr>
          <p:cNvPr id="18" name="Text Placeholder 17"/>
          <p:cNvSpPr>
            <a:spLocks noGrp="1"/>
          </p:cNvSpPr>
          <p:nvPr>
            <p:ph type="body" sz="quarter" idx="15" hasCustomPrompt="1"/>
          </p:nvPr>
        </p:nvSpPr>
        <p:spPr>
          <a:xfrm>
            <a:off x="609600" y="3379838"/>
            <a:ext cx="10972800" cy="651626"/>
          </a:xfrm>
          <a:prstGeom prst="rect">
            <a:avLst/>
          </a:prstGeom>
        </p:spPr>
        <p:txBody>
          <a:bodyPr>
            <a:noAutofit/>
          </a:bodyPr>
          <a:lstStyle>
            <a:lvl1pPr marL="0" indent="0">
              <a:buNone/>
              <a:defRPr sz="4400" b="0">
                <a:solidFill>
                  <a:schemeClr val="bg1"/>
                </a:solidFill>
                <a:latin typeface="Gotham Book" pitchFamily="50" charset="0"/>
                <a:cs typeface="Gotham Book" pitchFamily="50" charset="0"/>
              </a:defRPr>
            </a:lvl1pPr>
          </a:lstStyle>
          <a:p>
            <a:pPr lvl="0"/>
            <a:r>
              <a:rPr lang="en-US" dirty="0"/>
              <a:t>TITLE</a:t>
            </a:r>
          </a:p>
        </p:txBody>
      </p:sp>
      <p:sp>
        <p:nvSpPr>
          <p:cNvPr id="19" name="Text Placeholder 17"/>
          <p:cNvSpPr>
            <a:spLocks noGrp="1"/>
          </p:cNvSpPr>
          <p:nvPr>
            <p:ph type="body" sz="quarter" idx="16" hasCustomPrompt="1"/>
          </p:nvPr>
        </p:nvSpPr>
        <p:spPr>
          <a:xfrm>
            <a:off x="609600" y="4041576"/>
            <a:ext cx="10972800" cy="651626"/>
          </a:xfrm>
          <a:prstGeom prst="rect">
            <a:avLst/>
          </a:prstGeom>
        </p:spPr>
        <p:txBody>
          <a:bodyPr>
            <a:normAutofit/>
          </a:bodyPr>
          <a:lstStyle>
            <a:lvl1pPr marL="0" indent="0">
              <a:buNone/>
              <a:defRPr sz="2800">
                <a:solidFill>
                  <a:schemeClr val="bg1"/>
                </a:solidFill>
                <a:latin typeface="Gotham Book" pitchFamily="50" charset="0"/>
                <a:cs typeface="Gotham Book" pitchFamily="50" charset="0"/>
              </a:defRPr>
            </a:lvl1pPr>
          </a:lstStyle>
          <a:p>
            <a:pPr lvl="0"/>
            <a:r>
              <a:rPr lang="en-US" dirty="0"/>
              <a:t>Subtitle</a:t>
            </a:r>
          </a:p>
        </p:txBody>
      </p:sp>
      <p:sp>
        <p:nvSpPr>
          <p:cNvPr id="10" name="TextBox 9">
            <a:extLst>
              <a:ext uri="{FF2B5EF4-FFF2-40B4-BE49-F238E27FC236}">
                <a16:creationId xmlns:a16="http://schemas.microsoft.com/office/drawing/2014/main" id="{AF81059F-59FA-452E-8175-8E308DC2C0CA}"/>
              </a:ext>
            </a:extLst>
          </p:cNvPr>
          <p:cNvSpPr txBox="1"/>
          <p:nvPr userDrawn="1"/>
        </p:nvSpPr>
        <p:spPr>
          <a:xfrm>
            <a:off x="536506" y="6572272"/>
            <a:ext cx="1351652" cy="246221"/>
          </a:xfrm>
          <a:prstGeom prst="rect">
            <a:avLst/>
          </a:prstGeom>
          <a:noFill/>
        </p:spPr>
        <p:txBody>
          <a:bodyPr wrap="none" rtlCol="0">
            <a:spAutoFit/>
          </a:bodyPr>
          <a:lstStyle/>
          <a:p>
            <a:r>
              <a:rPr lang="en-US" sz="1000" b="0" i="0" dirty="0">
                <a:solidFill>
                  <a:schemeClr val="bg1">
                    <a:lumMod val="50000"/>
                  </a:schemeClr>
                </a:solidFill>
                <a:latin typeface="Gotham Book" pitchFamily="50" charset="0"/>
                <a:ea typeface="Arial" charset="0"/>
                <a:cs typeface="Gotham Book" pitchFamily="50" charset="0"/>
              </a:rPr>
              <a:t>CAST Confidential</a:t>
            </a:r>
          </a:p>
        </p:txBody>
      </p:sp>
      <p:sp>
        <p:nvSpPr>
          <p:cNvPr id="14" name="Text Placeholder 20">
            <a:extLst>
              <a:ext uri="{FF2B5EF4-FFF2-40B4-BE49-F238E27FC236}">
                <a16:creationId xmlns:a16="http://schemas.microsoft.com/office/drawing/2014/main" id="{9783DA59-EDAF-4DC0-894B-563BEE7932A9}"/>
              </a:ext>
            </a:extLst>
          </p:cNvPr>
          <p:cNvSpPr>
            <a:spLocks noGrp="1"/>
          </p:cNvSpPr>
          <p:nvPr>
            <p:ph type="body" sz="quarter" idx="17" hasCustomPrompt="1"/>
          </p:nvPr>
        </p:nvSpPr>
        <p:spPr>
          <a:xfrm>
            <a:off x="609600" y="5514975"/>
            <a:ext cx="3810000" cy="952500"/>
          </a:xfrm>
          <a:prstGeom prst="rect">
            <a:avLst/>
          </a:prstGeom>
        </p:spPr>
        <p:txBody>
          <a:bodyPr>
            <a:noAutofit/>
          </a:bodyPr>
          <a:lstStyle>
            <a:lvl1pPr marL="0" indent="0">
              <a:spcBef>
                <a:spcPts val="600"/>
              </a:spcBef>
              <a:buNone/>
              <a:defRPr sz="1100" baseline="0">
                <a:latin typeface="Gotham Book" pitchFamily="50" charset="0"/>
                <a:cs typeface="Gotham Book" pitchFamily="50" charset="0"/>
              </a:defRPr>
            </a:lvl1pPr>
          </a:lstStyle>
          <a:p>
            <a:pPr lvl="0"/>
            <a:r>
              <a:rPr lang="en-US" dirty="0"/>
              <a:t>Name</a:t>
            </a:r>
          </a:p>
          <a:p>
            <a:pPr lvl="0"/>
            <a:r>
              <a:rPr lang="en-US" dirty="0"/>
              <a:t>Title</a:t>
            </a:r>
          </a:p>
          <a:p>
            <a:pPr lvl="0"/>
            <a:r>
              <a:rPr lang="en-US" dirty="0"/>
              <a:t>Contact</a:t>
            </a:r>
          </a:p>
        </p:txBody>
      </p:sp>
      <p:pic>
        <p:nvPicPr>
          <p:cNvPr id="2" name="Picture 1">
            <a:extLst>
              <a:ext uri="{FF2B5EF4-FFF2-40B4-BE49-F238E27FC236}">
                <a16:creationId xmlns:a16="http://schemas.microsoft.com/office/drawing/2014/main" id="{C4EDB942-CD3D-6940-27A1-86D6A467BB7D}"/>
              </a:ext>
            </a:extLst>
          </p:cNvPr>
          <p:cNvPicPr>
            <a:picLocks noChangeAspect="1"/>
          </p:cNvPicPr>
          <p:nvPr userDrawn="1"/>
        </p:nvPicPr>
        <p:blipFill>
          <a:blip r:embed="rId3"/>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1848464097"/>
      </p:ext>
    </p:extLst>
  </p:cSld>
  <p:clrMapOvr>
    <a:masterClrMapping/>
  </p:clrMapOvr>
  <p:extLst>
    <p:ext uri="{DCECCB84-F9BA-43D5-87BE-67443E8EF086}">
      <p15:sldGuideLst xmlns:p15="http://schemas.microsoft.com/office/powerpoint/2012/main">
        <p15:guide id="1" pos="3840">
          <p15:clr>
            <a:srgbClr val="FBAE40"/>
          </p15:clr>
        </p15:guide>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8" orient="horz" pos="2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Collaboration">
    <p:spTree>
      <p:nvGrpSpPr>
        <p:cNvPr id="1" name=""/>
        <p:cNvGrpSpPr/>
        <p:nvPr/>
      </p:nvGrpSpPr>
      <p:grpSpPr>
        <a:xfrm>
          <a:off x="0" y="0"/>
          <a:ext cx="0" cy="0"/>
          <a:chOff x="0" y="0"/>
          <a:chExt cx="0" cy="0"/>
        </a:xfrm>
      </p:grpSpPr>
      <p:pic>
        <p:nvPicPr>
          <p:cNvPr id="11" name="Picture 10" descr="A person standing next to a window&#10;&#10;Description generated with very high confidence">
            <a:extLst>
              <a:ext uri="{FF2B5EF4-FFF2-40B4-BE49-F238E27FC236}">
                <a16:creationId xmlns:a16="http://schemas.microsoft.com/office/drawing/2014/main" id="{4AEB56BB-51CA-42E9-A56F-E6B45A340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1" cy="5288686"/>
          </a:xfrm>
          <a:prstGeom prst="rect">
            <a:avLst/>
          </a:prstGeom>
        </p:spPr>
      </p:pic>
      <p:sp>
        <p:nvSpPr>
          <p:cNvPr id="12" name="Rectangle 11">
            <a:extLst>
              <a:ext uri="{FF2B5EF4-FFF2-40B4-BE49-F238E27FC236}">
                <a16:creationId xmlns:a16="http://schemas.microsoft.com/office/drawing/2014/main" id="{08885CAD-111A-494E-84CE-9C1F636E3BC9}"/>
              </a:ext>
            </a:extLst>
          </p:cNvPr>
          <p:cNvSpPr/>
          <p:nvPr userDrawn="1"/>
        </p:nvSpPr>
        <p:spPr>
          <a:xfrm>
            <a:off x="0" y="0"/>
            <a:ext cx="12192000" cy="5288686"/>
          </a:xfrm>
          <a:prstGeom prst="rect">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839200" y="6468757"/>
            <a:ext cx="2743200" cy="365125"/>
          </a:xfrm>
        </p:spPr>
        <p:txBody>
          <a:bodyPr/>
          <a:lstStyle/>
          <a:p>
            <a:fld id="{82A741BF-3B2B-D247-8C55-2CB6AFEF6FBF}" type="slidenum">
              <a:rPr lang="en-US" smtClean="0"/>
              <a:t>‹#›</a:t>
            </a:fld>
            <a:endParaRPr lang="en-US"/>
          </a:p>
        </p:txBody>
      </p:sp>
      <p:sp>
        <p:nvSpPr>
          <p:cNvPr id="18" name="Text Placeholder 17"/>
          <p:cNvSpPr>
            <a:spLocks noGrp="1"/>
          </p:cNvSpPr>
          <p:nvPr>
            <p:ph type="body" sz="quarter" idx="15" hasCustomPrompt="1"/>
          </p:nvPr>
        </p:nvSpPr>
        <p:spPr>
          <a:xfrm>
            <a:off x="609600" y="3379838"/>
            <a:ext cx="10972800" cy="651626"/>
          </a:xfrm>
          <a:prstGeom prst="rect">
            <a:avLst/>
          </a:prstGeom>
        </p:spPr>
        <p:txBody>
          <a:bodyPr>
            <a:noAutofit/>
          </a:bodyPr>
          <a:lstStyle>
            <a:lvl1pPr marL="0" indent="0">
              <a:buNone/>
              <a:defRPr sz="4400" b="0">
                <a:solidFill>
                  <a:schemeClr val="bg1"/>
                </a:solidFill>
                <a:latin typeface="Gotham Book" pitchFamily="50" charset="0"/>
                <a:cs typeface="Gotham Book" pitchFamily="50" charset="0"/>
              </a:defRPr>
            </a:lvl1pPr>
          </a:lstStyle>
          <a:p>
            <a:pPr lvl="0"/>
            <a:r>
              <a:rPr lang="en-US" dirty="0"/>
              <a:t>TITLE</a:t>
            </a:r>
          </a:p>
        </p:txBody>
      </p:sp>
      <p:sp>
        <p:nvSpPr>
          <p:cNvPr id="19" name="Text Placeholder 17"/>
          <p:cNvSpPr>
            <a:spLocks noGrp="1"/>
          </p:cNvSpPr>
          <p:nvPr>
            <p:ph type="body" sz="quarter" idx="16" hasCustomPrompt="1"/>
          </p:nvPr>
        </p:nvSpPr>
        <p:spPr>
          <a:xfrm>
            <a:off x="609600" y="4041576"/>
            <a:ext cx="10972800" cy="651626"/>
          </a:xfrm>
          <a:prstGeom prst="rect">
            <a:avLst/>
          </a:prstGeom>
        </p:spPr>
        <p:txBody>
          <a:bodyPr>
            <a:normAutofit/>
          </a:bodyPr>
          <a:lstStyle>
            <a:lvl1pPr marL="0" indent="0">
              <a:buNone/>
              <a:defRPr sz="2800">
                <a:solidFill>
                  <a:schemeClr val="bg1"/>
                </a:solidFill>
                <a:latin typeface="Gotham Book" pitchFamily="50" charset="0"/>
                <a:cs typeface="Gotham Book" pitchFamily="50" charset="0"/>
              </a:defRPr>
            </a:lvl1pPr>
          </a:lstStyle>
          <a:p>
            <a:pPr lvl="0"/>
            <a:r>
              <a:rPr lang="en-US" dirty="0"/>
              <a:t>Subtitle</a:t>
            </a:r>
          </a:p>
        </p:txBody>
      </p:sp>
      <p:sp>
        <p:nvSpPr>
          <p:cNvPr id="10" name="TextBox 9">
            <a:extLst>
              <a:ext uri="{FF2B5EF4-FFF2-40B4-BE49-F238E27FC236}">
                <a16:creationId xmlns:a16="http://schemas.microsoft.com/office/drawing/2014/main" id="{669875DA-8301-48D7-AB32-C8DDE9F712A9}"/>
              </a:ext>
            </a:extLst>
          </p:cNvPr>
          <p:cNvSpPr txBox="1"/>
          <p:nvPr userDrawn="1"/>
        </p:nvSpPr>
        <p:spPr>
          <a:xfrm>
            <a:off x="536506" y="6572272"/>
            <a:ext cx="1351652" cy="246221"/>
          </a:xfrm>
          <a:prstGeom prst="rect">
            <a:avLst/>
          </a:prstGeom>
          <a:noFill/>
        </p:spPr>
        <p:txBody>
          <a:bodyPr wrap="none" rtlCol="0">
            <a:spAutoFit/>
          </a:bodyPr>
          <a:lstStyle/>
          <a:p>
            <a:r>
              <a:rPr lang="en-US" sz="1000" b="0" i="0" dirty="0">
                <a:solidFill>
                  <a:schemeClr val="bg1">
                    <a:lumMod val="50000"/>
                  </a:schemeClr>
                </a:solidFill>
                <a:latin typeface="Gotham Book" pitchFamily="50" charset="0"/>
                <a:ea typeface="Arial" charset="0"/>
                <a:cs typeface="Gotham Book" pitchFamily="50" charset="0"/>
              </a:rPr>
              <a:t>CAST Confidential</a:t>
            </a:r>
          </a:p>
        </p:txBody>
      </p:sp>
      <p:sp>
        <p:nvSpPr>
          <p:cNvPr id="14" name="Text Placeholder 20">
            <a:extLst>
              <a:ext uri="{FF2B5EF4-FFF2-40B4-BE49-F238E27FC236}">
                <a16:creationId xmlns:a16="http://schemas.microsoft.com/office/drawing/2014/main" id="{4329ED3E-F091-4FAD-9F58-7ADBEE350BCB}"/>
              </a:ext>
            </a:extLst>
          </p:cNvPr>
          <p:cNvSpPr>
            <a:spLocks noGrp="1"/>
          </p:cNvSpPr>
          <p:nvPr>
            <p:ph type="body" sz="quarter" idx="17" hasCustomPrompt="1"/>
          </p:nvPr>
        </p:nvSpPr>
        <p:spPr>
          <a:xfrm>
            <a:off x="609600" y="5514975"/>
            <a:ext cx="3810000" cy="952500"/>
          </a:xfrm>
          <a:prstGeom prst="rect">
            <a:avLst/>
          </a:prstGeom>
        </p:spPr>
        <p:txBody>
          <a:bodyPr>
            <a:noAutofit/>
          </a:bodyPr>
          <a:lstStyle>
            <a:lvl1pPr marL="0" indent="0">
              <a:spcBef>
                <a:spcPts val="600"/>
              </a:spcBef>
              <a:buNone/>
              <a:defRPr sz="1100" baseline="0">
                <a:latin typeface="Gotham Book" pitchFamily="50" charset="0"/>
                <a:cs typeface="Gotham Book" pitchFamily="50" charset="0"/>
              </a:defRPr>
            </a:lvl1pPr>
          </a:lstStyle>
          <a:p>
            <a:pPr lvl="0"/>
            <a:r>
              <a:rPr lang="en-US" dirty="0"/>
              <a:t>Name</a:t>
            </a:r>
          </a:p>
          <a:p>
            <a:pPr lvl="0"/>
            <a:r>
              <a:rPr lang="en-US" dirty="0"/>
              <a:t>Title</a:t>
            </a:r>
          </a:p>
          <a:p>
            <a:pPr lvl="0"/>
            <a:r>
              <a:rPr lang="en-US" dirty="0"/>
              <a:t>Contact</a:t>
            </a:r>
          </a:p>
        </p:txBody>
      </p:sp>
      <p:pic>
        <p:nvPicPr>
          <p:cNvPr id="2" name="Picture 1">
            <a:extLst>
              <a:ext uri="{FF2B5EF4-FFF2-40B4-BE49-F238E27FC236}">
                <a16:creationId xmlns:a16="http://schemas.microsoft.com/office/drawing/2014/main" id="{B02B6F38-711D-8AD7-481E-F531B4C58099}"/>
              </a:ext>
            </a:extLst>
          </p:cNvPr>
          <p:cNvPicPr>
            <a:picLocks noChangeAspect="1"/>
          </p:cNvPicPr>
          <p:nvPr userDrawn="1"/>
        </p:nvPicPr>
        <p:blipFill>
          <a:blip r:embed="rId3"/>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3291691882"/>
      </p:ext>
    </p:extLst>
  </p:cSld>
  <p:clrMapOvr>
    <a:masterClrMapping/>
  </p:clrMapOvr>
  <p:extLst>
    <p:ext uri="{DCECCB84-F9BA-43D5-87BE-67443E8EF086}">
      <p15:sldGuideLst xmlns:p15="http://schemas.microsoft.com/office/powerpoint/2012/main">
        <p15:guide id="1" pos="3840">
          <p15:clr>
            <a:srgbClr val="FBAE40"/>
          </p15:clr>
        </p15:guide>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8" orient="horz" pos="2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Quality">
    <p:spTree>
      <p:nvGrpSpPr>
        <p:cNvPr id="1" name=""/>
        <p:cNvGrpSpPr/>
        <p:nvPr/>
      </p:nvGrpSpPr>
      <p:grpSpPr>
        <a:xfrm>
          <a:off x="0" y="0"/>
          <a:ext cx="0" cy="0"/>
          <a:chOff x="0" y="0"/>
          <a:chExt cx="0" cy="0"/>
        </a:xfrm>
      </p:grpSpPr>
      <p:pic>
        <p:nvPicPr>
          <p:cNvPr id="11" name="Picture 10" descr="A person sitting in front of a computer&#10;&#10;Description generated with high confidence">
            <a:extLst>
              <a:ext uri="{FF2B5EF4-FFF2-40B4-BE49-F238E27FC236}">
                <a16:creationId xmlns:a16="http://schemas.microsoft.com/office/drawing/2014/main" id="{2F5FFF99-7973-4CE0-B103-AB5F98C869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 y="0"/>
            <a:ext cx="12192001" cy="5298113"/>
          </a:xfrm>
          <a:prstGeom prst="rect">
            <a:avLst/>
          </a:prstGeom>
        </p:spPr>
      </p:pic>
      <p:sp>
        <p:nvSpPr>
          <p:cNvPr id="12" name="Rectangle 11">
            <a:extLst>
              <a:ext uri="{FF2B5EF4-FFF2-40B4-BE49-F238E27FC236}">
                <a16:creationId xmlns:a16="http://schemas.microsoft.com/office/drawing/2014/main" id="{08885CAD-111A-494E-84CE-9C1F636E3BC9}"/>
              </a:ext>
            </a:extLst>
          </p:cNvPr>
          <p:cNvSpPr/>
          <p:nvPr userDrawn="1"/>
        </p:nvSpPr>
        <p:spPr>
          <a:xfrm>
            <a:off x="0" y="-1"/>
            <a:ext cx="12192000" cy="5298113"/>
          </a:xfrm>
          <a:prstGeom prst="rect">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839200" y="6468757"/>
            <a:ext cx="2743200" cy="365125"/>
          </a:xfrm>
        </p:spPr>
        <p:txBody>
          <a:bodyPr/>
          <a:lstStyle/>
          <a:p>
            <a:fld id="{82A741BF-3B2B-D247-8C55-2CB6AFEF6FBF}" type="slidenum">
              <a:rPr lang="en-US" smtClean="0"/>
              <a:t>‹#›</a:t>
            </a:fld>
            <a:endParaRPr lang="en-US"/>
          </a:p>
        </p:txBody>
      </p:sp>
      <p:sp>
        <p:nvSpPr>
          <p:cNvPr id="18" name="Text Placeholder 17"/>
          <p:cNvSpPr>
            <a:spLocks noGrp="1"/>
          </p:cNvSpPr>
          <p:nvPr>
            <p:ph type="body" sz="quarter" idx="15" hasCustomPrompt="1"/>
          </p:nvPr>
        </p:nvSpPr>
        <p:spPr>
          <a:xfrm>
            <a:off x="609600" y="3379838"/>
            <a:ext cx="10972800" cy="651626"/>
          </a:xfrm>
          <a:prstGeom prst="rect">
            <a:avLst/>
          </a:prstGeom>
        </p:spPr>
        <p:txBody>
          <a:bodyPr>
            <a:noAutofit/>
          </a:bodyPr>
          <a:lstStyle>
            <a:lvl1pPr marL="0" indent="0">
              <a:buNone/>
              <a:defRPr sz="4400" b="0">
                <a:solidFill>
                  <a:schemeClr val="bg1"/>
                </a:solidFill>
                <a:latin typeface="Gotham Book" pitchFamily="50" charset="0"/>
                <a:cs typeface="Gotham Book" pitchFamily="50" charset="0"/>
              </a:defRPr>
            </a:lvl1pPr>
          </a:lstStyle>
          <a:p>
            <a:pPr lvl="0"/>
            <a:r>
              <a:rPr lang="en-US" dirty="0"/>
              <a:t>TITLE</a:t>
            </a:r>
          </a:p>
        </p:txBody>
      </p:sp>
      <p:sp>
        <p:nvSpPr>
          <p:cNvPr id="19" name="Text Placeholder 17"/>
          <p:cNvSpPr>
            <a:spLocks noGrp="1"/>
          </p:cNvSpPr>
          <p:nvPr>
            <p:ph type="body" sz="quarter" idx="16" hasCustomPrompt="1"/>
          </p:nvPr>
        </p:nvSpPr>
        <p:spPr>
          <a:xfrm>
            <a:off x="609600" y="4041576"/>
            <a:ext cx="10972800" cy="651626"/>
          </a:xfrm>
          <a:prstGeom prst="rect">
            <a:avLst/>
          </a:prstGeom>
        </p:spPr>
        <p:txBody>
          <a:bodyPr>
            <a:normAutofit/>
          </a:bodyPr>
          <a:lstStyle>
            <a:lvl1pPr marL="0" indent="0">
              <a:buNone/>
              <a:defRPr sz="2800">
                <a:solidFill>
                  <a:schemeClr val="bg1"/>
                </a:solidFill>
                <a:latin typeface="Gotham Book" pitchFamily="50" charset="0"/>
                <a:cs typeface="Gotham Book" pitchFamily="50" charset="0"/>
              </a:defRPr>
            </a:lvl1pPr>
          </a:lstStyle>
          <a:p>
            <a:pPr lvl="0"/>
            <a:r>
              <a:rPr lang="en-US" dirty="0"/>
              <a:t>Subtitle</a:t>
            </a:r>
          </a:p>
        </p:txBody>
      </p:sp>
      <p:sp>
        <p:nvSpPr>
          <p:cNvPr id="10" name="TextBox 9">
            <a:extLst>
              <a:ext uri="{FF2B5EF4-FFF2-40B4-BE49-F238E27FC236}">
                <a16:creationId xmlns:a16="http://schemas.microsoft.com/office/drawing/2014/main" id="{C6228D3F-59C4-4300-96C9-61B6C782778E}"/>
              </a:ext>
            </a:extLst>
          </p:cNvPr>
          <p:cNvSpPr txBox="1"/>
          <p:nvPr userDrawn="1"/>
        </p:nvSpPr>
        <p:spPr>
          <a:xfrm>
            <a:off x="536506" y="6572272"/>
            <a:ext cx="1351652" cy="246221"/>
          </a:xfrm>
          <a:prstGeom prst="rect">
            <a:avLst/>
          </a:prstGeom>
          <a:noFill/>
        </p:spPr>
        <p:txBody>
          <a:bodyPr wrap="none" rtlCol="0">
            <a:spAutoFit/>
          </a:bodyPr>
          <a:lstStyle/>
          <a:p>
            <a:r>
              <a:rPr lang="en-US" sz="1000" b="0" i="0" dirty="0">
                <a:solidFill>
                  <a:schemeClr val="bg1">
                    <a:lumMod val="50000"/>
                  </a:schemeClr>
                </a:solidFill>
                <a:latin typeface="Gotham Book" pitchFamily="50" charset="0"/>
                <a:ea typeface="Arial" charset="0"/>
                <a:cs typeface="Gotham Book" pitchFamily="50" charset="0"/>
              </a:rPr>
              <a:t>CAST Confidential</a:t>
            </a:r>
          </a:p>
        </p:txBody>
      </p:sp>
      <p:sp>
        <p:nvSpPr>
          <p:cNvPr id="13" name="Text Placeholder 20">
            <a:extLst>
              <a:ext uri="{FF2B5EF4-FFF2-40B4-BE49-F238E27FC236}">
                <a16:creationId xmlns:a16="http://schemas.microsoft.com/office/drawing/2014/main" id="{495B55E4-BB4F-4595-8119-A21018CA62D9}"/>
              </a:ext>
            </a:extLst>
          </p:cNvPr>
          <p:cNvSpPr>
            <a:spLocks noGrp="1"/>
          </p:cNvSpPr>
          <p:nvPr>
            <p:ph type="body" sz="quarter" idx="17" hasCustomPrompt="1"/>
          </p:nvPr>
        </p:nvSpPr>
        <p:spPr>
          <a:xfrm>
            <a:off x="609600" y="5514975"/>
            <a:ext cx="3810000" cy="952500"/>
          </a:xfrm>
          <a:prstGeom prst="rect">
            <a:avLst/>
          </a:prstGeom>
        </p:spPr>
        <p:txBody>
          <a:bodyPr>
            <a:noAutofit/>
          </a:bodyPr>
          <a:lstStyle>
            <a:lvl1pPr marL="0" indent="0">
              <a:spcBef>
                <a:spcPts val="600"/>
              </a:spcBef>
              <a:buNone/>
              <a:defRPr sz="1100" baseline="0">
                <a:latin typeface="Gotham Book" pitchFamily="50" charset="0"/>
                <a:cs typeface="Gotham Book" pitchFamily="50" charset="0"/>
              </a:defRPr>
            </a:lvl1pPr>
          </a:lstStyle>
          <a:p>
            <a:pPr lvl="0"/>
            <a:r>
              <a:rPr lang="en-US" dirty="0"/>
              <a:t>Name</a:t>
            </a:r>
          </a:p>
          <a:p>
            <a:pPr lvl="0"/>
            <a:r>
              <a:rPr lang="en-US" dirty="0"/>
              <a:t>Title</a:t>
            </a:r>
          </a:p>
          <a:p>
            <a:pPr lvl="0"/>
            <a:r>
              <a:rPr lang="en-US" dirty="0"/>
              <a:t>Contact</a:t>
            </a:r>
          </a:p>
        </p:txBody>
      </p:sp>
      <p:pic>
        <p:nvPicPr>
          <p:cNvPr id="2" name="Picture 1">
            <a:extLst>
              <a:ext uri="{FF2B5EF4-FFF2-40B4-BE49-F238E27FC236}">
                <a16:creationId xmlns:a16="http://schemas.microsoft.com/office/drawing/2014/main" id="{62E4BE67-86F7-AD38-2435-08F9CFAA3DA3}"/>
              </a:ext>
            </a:extLst>
          </p:cNvPr>
          <p:cNvPicPr>
            <a:picLocks noChangeAspect="1"/>
          </p:cNvPicPr>
          <p:nvPr userDrawn="1"/>
        </p:nvPicPr>
        <p:blipFill>
          <a:blip r:embed="rId3"/>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3164799143"/>
      </p:ext>
    </p:extLst>
  </p:cSld>
  <p:clrMapOvr>
    <a:masterClrMapping/>
  </p:clrMapOvr>
  <p:extLst>
    <p:ext uri="{DCECCB84-F9BA-43D5-87BE-67443E8EF086}">
      <p15:sldGuideLst xmlns:p15="http://schemas.microsoft.com/office/powerpoint/2012/main">
        <p15:guide id="1" pos="3840">
          <p15:clr>
            <a:srgbClr val="FBAE40"/>
          </p15:clr>
        </p15:guide>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8" orient="horz" pos="2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Grey graphics">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48ED2D2-662A-46A2-BE3D-53A5AE17F8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749"/>
            <a:ext cx="12192000" cy="5394960"/>
          </a:xfrm>
          <a:prstGeom prst="rect">
            <a:avLst/>
          </a:prstGeom>
        </p:spPr>
      </p:pic>
      <p:sp>
        <p:nvSpPr>
          <p:cNvPr id="12" name="Rectangle 11">
            <a:extLst>
              <a:ext uri="{FF2B5EF4-FFF2-40B4-BE49-F238E27FC236}">
                <a16:creationId xmlns:a16="http://schemas.microsoft.com/office/drawing/2014/main" id="{08885CAD-111A-494E-84CE-9C1F636E3BC9}"/>
              </a:ext>
            </a:extLst>
          </p:cNvPr>
          <p:cNvSpPr/>
          <p:nvPr userDrawn="1"/>
        </p:nvSpPr>
        <p:spPr>
          <a:xfrm>
            <a:off x="0" y="0"/>
            <a:ext cx="12192000" cy="5394960"/>
          </a:xfrm>
          <a:prstGeom prst="rect">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839200" y="6468757"/>
            <a:ext cx="2743200" cy="365125"/>
          </a:xfrm>
        </p:spPr>
        <p:txBody>
          <a:bodyPr/>
          <a:lstStyle/>
          <a:p>
            <a:fld id="{82A741BF-3B2B-D247-8C55-2CB6AFEF6FBF}" type="slidenum">
              <a:rPr lang="en-US" smtClean="0"/>
              <a:t>‹#›</a:t>
            </a:fld>
            <a:endParaRPr lang="en-US"/>
          </a:p>
        </p:txBody>
      </p:sp>
      <p:sp>
        <p:nvSpPr>
          <p:cNvPr id="7" name="TextBox 6"/>
          <p:cNvSpPr txBox="1"/>
          <p:nvPr userDrawn="1"/>
        </p:nvSpPr>
        <p:spPr>
          <a:xfrm>
            <a:off x="536506" y="6572272"/>
            <a:ext cx="1351652" cy="246221"/>
          </a:xfrm>
          <a:prstGeom prst="rect">
            <a:avLst/>
          </a:prstGeom>
          <a:noFill/>
        </p:spPr>
        <p:txBody>
          <a:bodyPr wrap="none" rtlCol="0">
            <a:spAutoFit/>
          </a:bodyPr>
          <a:lstStyle/>
          <a:p>
            <a:r>
              <a:rPr lang="en-US" sz="1000" b="0" i="0" dirty="0">
                <a:solidFill>
                  <a:schemeClr val="bg1">
                    <a:lumMod val="50000"/>
                  </a:schemeClr>
                </a:solidFill>
                <a:latin typeface="Gotham Book" pitchFamily="50" charset="0"/>
                <a:ea typeface="Arial" charset="0"/>
                <a:cs typeface="Gotham Book" pitchFamily="50" charset="0"/>
              </a:rPr>
              <a:t>CAST Confidential</a:t>
            </a:r>
          </a:p>
        </p:txBody>
      </p:sp>
      <p:sp>
        <p:nvSpPr>
          <p:cNvPr id="18" name="Text Placeholder 17"/>
          <p:cNvSpPr>
            <a:spLocks noGrp="1"/>
          </p:cNvSpPr>
          <p:nvPr>
            <p:ph type="body" sz="quarter" idx="15" hasCustomPrompt="1"/>
          </p:nvPr>
        </p:nvSpPr>
        <p:spPr>
          <a:xfrm>
            <a:off x="609600" y="3379838"/>
            <a:ext cx="10972800" cy="651626"/>
          </a:xfrm>
          <a:prstGeom prst="rect">
            <a:avLst/>
          </a:prstGeom>
        </p:spPr>
        <p:txBody>
          <a:bodyPr>
            <a:noAutofit/>
          </a:bodyPr>
          <a:lstStyle>
            <a:lvl1pPr marL="0" indent="0">
              <a:buNone/>
              <a:defRPr sz="4400" b="0">
                <a:solidFill>
                  <a:schemeClr val="bg1"/>
                </a:solidFill>
                <a:latin typeface="Gotham Book" pitchFamily="50" charset="0"/>
                <a:cs typeface="Gotham Book" pitchFamily="50" charset="0"/>
              </a:defRPr>
            </a:lvl1pPr>
          </a:lstStyle>
          <a:p>
            <a:pPr lvl="0"/>
            <a:r>
              <a:rPr lang="en-US" dirty="0"/>
              <a:t>TITLE</a:t>
            </a:r>
          </a:p>
        </p:txBody>
      </p:sp>
      <p:sp>
        <p:nvSpPr>
          <p:cNvPr id="19" name="Text Placeholder 17"/>
          <p:cNvSpPr>
            <a:spLocks noGrp="1"/>
          </p:cNvSpPr>
          <p:nvPr>
            <p:ph type="body" sz="quarter" idx="16" hasCustomPrompt="1"/>
          </p:nvPr>
        </p:nvSpPr>
        <p:spPr>
          <a:xfrm>
            <a:off x="609600" y="4041576"/>
            <a:ext cx="10972800" cy="651626"/>
          </a:xfrm>
          <a:prstGeom prst="rect">
            <a:avLst/>
          </a:prstGeom>
        </p:spPr>
        <p:txBody>
          <a:bodyPr>
            <a:normAutofit/>
          </a:bodyPr>
          <a:lstStyle>
            <a:lvl1pPr marL="0" indent="0">
              <a:buNone/>
              <a:defRPr sz="2800">
                <a:solidFill>
                  <a:schemeClr val="bg1"/>
                </a:solidFill>
                <a:latin typeface="Gotham Book" pitchFamily="50" charset="0"/>
                <a:cs typeface="Gotham Book" pitchFamily="50" charset="0"/>
              </a:defRPr>
            </a:lvl1pPr>
          </a:lstStyle>
          <a:p>
            <a:pPr lvl="0"/>
            <a:r>
              <a:rPr lang="en-US" dirty="0"/>
              <a:t>Subtitle</a:t>
            </a:r>
          </a:p>
        </p:txBody>
      </p:sp>
      <p:sp>
        <p:nvSpPr>
          <p:cNvPr id="10" name="Text Placeholder 20">
            <a:extLst>
              <a:ext uri="{FF2B5EF4-FFF2-40B4-BE49-F238E27FC236}">
                <a16:creationId xmlns:a16="http://schemas.microsoft.com/office/drawing/2014/main" id="{1D90169D-5422-4860-9F73-D6CF527CC3EA}"/>
              </a:ext>
            </a:extLst>
          </p:cNvPr>
          <p:cNvSpPr>
            <a:spLocks noGrp="1"/>
          </p:cNvSpPr>
          <p:nvPr>
            <p:ph type="body" sz="quarter" idx="17" hasCustomPrompt="1"/>
          </p:nvPr>
        </p:nvSpPr>
        <p:spPr>
          <a:xfrm>
            <a:off x="609600" y="5514975"/>
            <a:ext cx="3810000" cy="952500"/>
          </a:xfrm>
          <a:prstGeom prst="rect">
            <a:avLst/>
          </a:prstGeom>
        </p:spPr>
        <p:txBody>
          <a:bodyPr>
            <a:noAutofit/>
          </a:bodyPr>
          <a:lstStyle>
            <a:lvl1pPr marL="0" indent="0">
              <a:spcBef>
                <a:spcPts val="600"/>
              </a:spcBef>
              <a:buNone/>
              <a:defRPr sz="1100" baseline="0">
                <a:latin typeface="Gotham Book" pitchFamily="50" charset="0"/>
                <a:cs typeface="Gotham Book" pitchFamily="50" charset="0"/>
              </a:defRPr>
            </a:lvl1pPr>
          </a:lstStyle>
          <a:p>
            <a:pPr lvl="0"/>
            <a:r>
              <a:rPr lang="en-US" dirty="0"/>
              <a:t>Name</a:t>
            </a:r>
          </a:p>
          <a:p>
            <a:pPr lvl="0"/>
            <a:r>
              <a:rPr lang="en-US" dirty="0"/>
              <a:t>Title</a:t>
            </a:r>
          </a:p>
          <a:p>
            <a:pPr lvl="0"/>
            <a:r>
              <a:rPr lang="en-US" dirty="0"/>
              <a:t>Contact</a:t>
            </a:r>
          </a:p>
        </p:txBody>
      </p:sp>
      <p:pic>
        <p:nvPicPr>
          <p:cNvPr id="2" name="Picture 1">
            <a:extLst>
              <a:ext uri="{FF2B5EF4-FFF2-40B4-BE49-F238E27FC236}">
                <a16:creationId xmlns:a16="http://schemas.microsoft.com/office/drawing/2014/main" id="{B19660AA-4703-8847-D81C-ECF1B3D42CF7}"/>
              </a:ext>
            </a:extLst>
          </p:cNvPr>
          <p:cNvPicPr>
            <a:picLocks noChangeAspect="1"/>
          </p:cNvPicPr>
          <p:nvPr userDrawn="1"/>
        </p:nvPicPr>
        <p:blipFill>
          <a:blip r:embed="rId3"/>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2810463529"/>
      </p:ext>
    </p:extLst>
  </p:cSld>
  <p:clrMapOvr>
    <a:masterClrMapping/>
  </p:clrMapOvr>
  <p:extLst>
    <p:ext uri="{DCECCB84-F9BA-43D5-87BE-67443E8EF086}">
      <p15:sldGuideLst xmlns:p15="http://schemas.microsoft.com/office/powerpoint/2012/main">
        <p15:guide id="1" pos="3840">
          <p15:clr>
            <a:srgbClr val="FBAE40"/>
          </p15:clr>
        </p15:guide>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8" orient="horz" pos="2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Grey fla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8885CAD-111A-494E-84CE-9C1F636E3BC9}"/>
              </a:ext>
            </a:extLst>
          </p:cNvPr>
          <p:cNvSpPr/>
          <p:nvPr userDrawn="1"/>
        </p:nvSpPr>
        <p:spPr>
          <a:xfrm>
            <a:off x="0" y="0"/>
            <a:ext cx="12192000" cy="539496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a:xfrm>
            <a:off x="8839200" y="6468757"/>
            <a:ext cx="2743200" cy="365125"/>
          </a:xfrm>
        </p:spPr>
        <p:txBody>
          <a:bodyPr/>
          <a:lstStyle/>
          <a:p>
            <a:fld id="{82A741BF-3B2B-D247-8C55-2CB6AFEF6FBF}" type="slidenum">
              <a:rPr lang="en-US" smtClean="0"/>
              <a:t>‹#›</a:t>
            </a:fld>
            <a:endParaRPr lang="en-US"/>
          </a:p>
        </p:txBody>
      </p:sp>
      <p:sp>
        <p:nvSpPr>
          <p:cNvPr id="7" name="TextBox 6"/>
          <p:cNvSpPr txBox="1"/>
          <p:nvPr userDrawn="1"/>
        </p:nvSpPr>
        <p:spPr>
          <a:xfrm>
            <a:off x="536506" y="6572272"/>
            <a:ext cx="1351652" cy="246221"/>
          </a:xfrm>
          <a:prstGeom prst="rect">
            <a:avLst/>
          </a:prstGeom>
          <a:noFill/>
        </p:spPr>
        <p:txBody>
          <a:bodyPr wrap="none" rtlCol="0">
            <a:spAutoFit/>
          </a:bodyPr>
          <a:lstStyle/>
          <a:p>
            <a:r>
              <a:rPr lang="en-US" sz="1000" b="0" i="0" dirty="0">
                <a:solidFill>
                  <a:schemeClr val="bg1">
                    <a:lumMod val="50000"/>
                  </a:schemeClr>
                </a:solidFill>
                <a:latin typeface="Gotham Book" pitchFamily="50" charset="0"/>
                <a:ea typeface="Arial" charset="0"/>
                <a:cs typeface="Gotham Book" pitchFamily="50" charset="0"/>
              </a:rPr>
              <a:t>CAST Confidential</a:t>
            </a:r>
          </a:p>
        </p:txBody>
      </p:sp>
      <p:sp>
        <p:nvSpPr>
          <p:cNvPr id="18" name="Text Placeholder 17"/>
          <p:cNvSpPr>
            <a:spLocks noGrp="1"/>
          </p:cNvSpPr>
          <p:nvPr>
            <p:ph type="body" sz="quarter" idx="15" hasCustomPrompt="1"/>
          </p:nvPr>
        </p:nvSpPr>
        <p:spPr>
          <a:xfrm>
            <a:off x="609600" y="3379838"/>
            <a:ext cx="10972800" cy="651626"/>
          </a:xfrm>
          <a:prstGeom prst="rect">
            <a:avLst/>
          </a:prstGeom>
        </p:spPr>
        <p:txBody>
          <a:bodyPr>
            <a:noAutofit/>
          </a:bodyPr>
          <a:lstStyle>
            <a:lvl1pPr marL="0" indent="0">
              <a:buNone/>
              <a:defRPr sz="4400" b="0">
                <a:solidFill>
                  <a:schemeClr val="bg1"/>
                </a:solidFill>
                <a:latin typeface="Gotham Book" pitchFamily="50" charset="0"/>
                <a:cs typeface="Gotham Book" pitchFamily="50" charset="0"/>
              </a:defRPr>
            </a:lvl1pPr>
          </a:lstStyle>
          <a:p>
            <a:pPr lvl="0"/>
            <a:r>
              <a:rPr lang="en-US" dirty="0"/>
              <a:t>TITLE</a:t>
            </a:r>
          </a:p>
        </p:txBody>
      </p:sp>
      <p:sp>
        <p:nvSpPr>
          <p:cNvPr id="19" name="Text Placeholder 17"/>
          <p:cNvSpPr>
            <a:spLocks noGrp="1"/>
          </p:cNvSpPr>
          <p:nvPr>
            <p:ph type="body" sz="quarter" idx="16" hasCustomPrompt="1"/>
          </p:nvPr>
        </p:nvSpPr>
        <p:spPr>
          <a:xfrm>
            <a:off x="609600" y="4041576"/>
            <a:ext cx="10972800" cy="651626"/>
          </a:xfrm>
          <a:prstGeom prst="rect">
            <a:avLst/>
          </a:prstGeom>
        </p:spPr>
        <p:txBody>
          <a:bodyPr>
            <a:normAutofit/>
          </a:bodyPr>
          <a:lstStyle>
            <a:lvl1pPr marL="0" indent="0">
              <a:buNone/>
              <a:defRPr sz="2800">
                <a:solidFill>
                  <a:schemeClr val="bg1"/>
                </a:solidFill>
                <a:latin typeface="Gotham Book" pitchFamily="50" charset="0"/>
                <a:cs typeface="Gotham Book" pitchFamily="50" charset="0"/>
              </a:defRPr>
            </a:lvl1pPr>
          </a:lstStyle>
          <a:p>
            <a:pPr lvl="0"/>
            <a:r>
              <a:rPr lang="en-US" dirty="0"/>
              <a:t>Subtitle</a:t>
            </a:r>
          </a:p>
        </p:txBody>
      </p:sp>
      <p:sp>
        <p:nvSpPr>
          <p:cNvPr id="21" name="Text Placeholder 20"/>
          <p:cNvSpPr>
            <a:spLocks noGrp="1"/>
          </p:cNvSpPr>
          <p:nvPr>
            <p:ph type="body" sz="quarter" idx="17" hasCustomPrompt="1"/>
          </p:nvPr>
        </p:nvSpPr>
        <p:spPr>
          <a:xfrm>
            <a:off x="609600" y="5514975"/>
            <a:ext cx="3810000" cy="952500"/>
          </a:xfrm>
          <a:prstGeom prst="rect">
            <a:avLst/>
          </a:prstGeom>
        </p:spPr>
        <p:txBody>
          <a:bodyPr>
            <a:noAutofit/>
          </a:bodyPr>
          <a:lstStyle>
            <a:lvl1pPr marL="0" indent="0">
              <a:spcBef>
                <a:spcPts val="600"/>
              </a:spcBef>
              <a:buNone/>
              <a:defRPr sz="1100" baseline="0">
                <a:latin typeface="Gotham Book" pitchFamily="50" charset="0"/>
                <a:cs typeface="Gotham Book" pitchFamily="50" charset="0"/>
              </a:defRPr>
            </a:lvl1pPr>
          </a:lstStyle>
          <a:p>
            <a:pPr lvl="0"/>
            <a:r>
              <a:rPr lang="en-US" dirty="0"/>
              <a:t>Name</a:t>
            </a:r>
          </a:p>
          <a:p>
            <a:pPr lvl="0"/>
            <a:r>
              <a:rPr lang="en-US" dirty="0"/>
              <a:t>Title</a:t>
            </a:r>
          </a:p>
          <a:p>
            <a:pPr lvl="0"/>
            <a:r>
              <a:rPr lang="en-US" dirty="0"/>
              <a:t>Contact</a:t>
            </a:r>
          </a:p>
        </p:txBody>
      </p:sp>
      <p:pic>
        <p:nvPicPr>
          <p:cNvPr id="2" name="Picture 1">
            <a:extLst>
              <a:ext uri="{FF2B5EF4-FFF2-40B4-BE49-F238E27FC236}">
                <a16:creationId xmlns:a16="http://schemas.microsoft.com/office/drawing/2014/main" id="{08321415-F925-6B67-1FF7-D8586C2592B4}"/>
              </a:ext>
            </a:extLst>
          </p:cNvPr>
          <p:cNvPicPr>
            <a:picLocks noChangeAspect="1"/>
          </p:cNvPicPr>
          <p:nvPr userDrawn="1"/>
        </p:nvPicPr>
        <p:blipFill>
          <a:blip r:embed="rId2"/>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2228484570"/>
      </p:ext>
    </p:extLst>
  </p:cSld>
  <p:clrMapOvr>
    <a:masterClrMapping/>
  </p:clrMapOvr>
  <p:extLst>
    <p:ext uri="{DCECCB84-F9BA-43D5-87BE-67443E8EF086}">
      <p15:sldGuideLst xmlns:p15="http://schemas.microsoft.com/office/powerpoint/2012/main">
        <p15:guide id="1" pos="3840">
          <p15:clr>
            <a:srgbClr val="FBAE40"/>
          </p15:clr>
        </p15:guide>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8" orient="horz" pos="2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Bullets">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79442FA-2F80-4DC9-9F85-569C6A878A9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64828" b="28404"/>
          <a:stretch/>
        </p:blipFill>
        <p:spPr>
          <a:xfrm>
            <a:off x="-1" y="6484776"/>
            <a:ext cx="12192000" cy="365125"/>
          </a:xfrm>
          <a:prstGeom prst="rect">
            <a:avLst/>
          </a:prstGeom>
        </p:spPr>
      </p:pic>
      <p:sp>
        <p:nvSpPr>
          <p:cNvPr id="14" name="Rectangle 13">
            <a:extLst>
              <a:ext uri="{FF2B5EF4-FFF2-40B4-BE49-F238E27FC236}">
                <a16:creationId xmlns:a16="http://schemas.microsoft.com/office/drawing/2014/main" id="{1F83BBA5-919E-4F1F-9393-FEA119F82634}"/>
              </a:ext>
            </a:extLst>
          </p:cNvPr>
          <p:cNvSpPr/>
          <p:nvPr userDrawn="1"/>
        </p:nvSpPr>
        <p:spPr>
          <a:xfrm flipV="1">
            <a:off x="0" y="6484776"/>
            <a:ext cx="12192000" cy="405452"/>
          </a:xfrm>
          <a:prstGeom prst="rect">
            <a:avLst/>
          </a:prstGeom>
          <a:solidFill>
            <a:srgbClr val="293C47">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userDrawn="1"/>
        </p:nvSpPr>
        <p:spPr>
          <a:xfrm flipV="1">
            <a:off x="0" y="0"/>
            <a:ext cx="12192000" cy="91440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chemeClr val="bg1"/>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chemeClr val="bg1"/>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12" name="Text Placeholder 7"/>
          <p:cNvSpPr>
            <a:spLocks noGrp="1"/>
          </p:cNvSpPr>
          <p:nvPr>
            <p:ph type="body" sz="quarter" idx="13" hasCustomPrompt="1"/>
          </p:nvPr>
        </p:nvSpPr>
        <p:spPr>
          <a:xfrm>
            <a:off x="609600" y="1333500"/>
            <a:ext cx="10972800" cy="4838700"/>
          </a:xfrm>
          <a:prstGeom prst="rect">
            <a:avLst/>
          </a:prstGeom>
        </p:spPr>
        <p:txBody>
          <a:bodyPr>
            <a:noAutofit/>
          </a:bodyPr>
          <a:lstStyle>
            <a:lvl1pPr>
              <a:defRPr sz="2000">
                <a:latin typeface="Gotham Light" panose="02000603030000020004" pitchFamily="2" charset="0"/>
                <a:cs typeface="Gotham Book" pitchFamily="50" charset="0"/>
              </a:defRPr>
            </a:lvl1pPr>
            <a:lvl2pPr>
              <a:defRPr sz="1800">
                <a:latin typeface="Gotham Light" panose="02000603030000020004" pitchFamily="2" charset="0"/>
                <a:cs typeface="Gotham Book" pitchFamily="50" charset="0"/>
              </a:defRPr>
            </a:lvl2pPr>
            <a:lvl3pPr>
              <a:defRPr sz="1600">
                <a:latin typeface="Gotham Light" panose="02000603030000020004" pitchFamily="2" charset="0"/>
                <a:cs typeface="Gotham Book" pitchFamily="50" charset="0"/>
              </a:defRPr>
            </a:lvl3pPr>
            <a:lvl4pPr>
              <a:defRPr sz="1400">
                <a:latin typeface="Gotham Light" panose="02000603030000020004" pitchFamily="2" charset="0"/>
                <a:cs typeface="Gotham Book" pitchFamily="50" charset="0"/>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26B7B6A0-42F7-4032-9B15-8C3F8484BD34}"/>
              </a:ext>
            </a:extLst>
          </p:cNvPr>
          <p:cNvSpPr>
            <a:spLocks noGrp="1"/>
          </p:cNvSpPr>
          <p:nvPr>
            <p:ph type="title"/>
          </p:nvPr>
        </p:nvSpPr>
        <p:spPr>
          <a:xfrm>
            <a:off x="548024" y="39693"/>
            <a:ext cx="8756784" cy="874707"/>
          </a:xfrm>
        </p:spPr>
        <p:txBody>
          <a:bodyPr anchor="ctr" anchorCtr="0"/>
          <a:lstStyle>
            <a:lvl1pPr>
              <a:defRPr sz="2400" b="0">
                <a:solidFill>
                  <a:schemeClr val="bg1"/>
                </a:solidFill>
                <a:latin typeface="Gotham Book" pitchFamily="50" charset="0"/>
                <a:cs typeface="Gotham Book" pitchFamily="50" charset="0"/>
              </a:defRPr>
            </a:lvl1pPr>
          </a:lstStyle>
          <a:p>
            <a:r>
              <a:rPr lang="en-US" dirty="0"/>
              <a:t>Click to edit Master title style</a:t>
            </a:r>
          </a:p>
        </p:txBody>
      </p:sp>
      <p:sp>
        <p:nvSpPr>
          <p:cNvPr id="16" name="TextBox 15">
            <a:extLst>
              <a:ext uri="{FF2B5EF4-FFF2-40B4-BE49-F238E27FC236}">
                <a16:creationId xmlns:a16="http://schemas.microsoft.com/office/drawing/2014/main" id="{186111D9-B349-4B82-9966-46C3F0A6F8C6}"/>
              </a:ext>
            </a:extLst>
          </p:cNvPr>
          <p:cNvSpPr txBox="1"/>
          <p:nvPr userDrawn="1"/>
        </p:nvSpPr>
        <p:spPr>
          <a:xfrm>
            <a:off x="7414260" y="6540764"/>
            <a:ext cx="4191000" cy="293476"/>
          </a:xfrm>
          <a:prstGeom prst="rect">
            <a:avLst/>
          </a:prstGeom>
        </p:spPr>
        <p:txBody>
          <a:bodyPr vert="horz" wrap="square" lIns="91440" tIns="45720" rIns="91440" bIns="45720" rtlCol="0" anchor="ctr">
            <a:noAutofit/>
          </a:bodyPr>
          <a:lstStyle/>
          <a:p>
            <a:pPr algn="r"/>
            <a:r>
              <a:rPr lang="en-US" sz="1200" cap="all" baseline="0" dirty="0">
                <a:solidFill>
                  <a:schemeClr val="bg1"/>
                </a:solidFill>
                <a:latin typeface="Gotham Book" pitchFamily="50" charset="0"/>
                <a:cs typeface="Gotham Book" pitchFamily="50" charset="0"/>
              </a:rPr>
              <a:t>Software Intelligence for Digital Leaders</a:t>
            </a:r>
          </a:p>
        </p:txBody>
      </p:sp>
      <p:pic>
        <p:nvPicPr>
          <p:cNvPr id="3" name="Picture 2">
            <a:extLst>
              <a:ext uri="{FF2B5EF4-FFF2-40B4-BE49-F238E27FC236}">
                <a16:creationId xmlns:a16="http://schemas.microsoft.com/office/drawing/2014/main" id="{8776DFAF-948A-CB73-E135-29B8D82FEF64}"/>
              </a:ext>
            </a:extLst>
          </p:cNvPr>
          <p:cNvPicPr>
            <a:picLocks noChangeAspect="1"/>
          </p:cNvPicPr>
          <p:nvPr userDrawn="1"/>
        </p:nvPicPr>
        <p:blipFill>
          <a:blip r:embed="rId3"/>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3108181158"/>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Canvas">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79442FA-2F80-4DC9-9F85-569C6A878A9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64828" b="28404"/>
          <a:stretch/>
        </p:blipFill>
        <p:spPr>
          <a:xfrm>
            <a:off x="-1" y="6484776"/>
            <a:ext cx="12192000" cy="365125"/>
          </a:xfrm>
          <a:prstGeom prst="rect">
            <a:avLst/>
          </a:prstGeom>
        </p:spPr>
      </p:pic>
      <p:sp>
        <p:nvSpPr>
          <p:cNvPr id="14" name="Rectangle 13">
            <a:extLst>
              <a:ext uri="{FF2B5EF4-FFF2-40B4-BE49-F238E27FC236}">
                <a16:creationId xmlns:a16="http://schemas.microsoft.com/office/drawing/2014/main" id="{1F83BBA5-919E-4F1F-9393-FEA119F82634}"/>
              </a:ext>
            </a:extLst>
          </p:cNvPr>
          <p:cNvSpPr/>
          <p:nvPr userDrawn="1"/>
        </p:nvSpPr>
        <p:spPr>
          <a:xfrm flipV="1">
            <a:off x="0" y="6484776"/>
            <a:ext cx="12192000" cy="405452"/>
          </a:xfrm>
          <a:prstGeom prst="rect">
            <a:avLst/>
          </a:prstGeom>
          <a:solidFill>
            <a:srgbClr val="293C47">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userDrawn="1"/>
        </p:nvSpPr>
        <p:spPr>
          <a:xfrm flipV="1">
            <a:off x="0" y="0"/>
            <a:ext cx="12192000" cy="91440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chemeClr val="bg1"/>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chemeClr val="bg1"/>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2" name="Title 1">
            <a:extLst>
              <a:ext uri="{FF2B5EF4-FFF2-40B4-BE49-F238E27FC236}">
                <a16:creationId xmlns:a16="http://schemas.microsoft.com/office/drawing/2014/main" id="{26B7B6A0-42F7-4032-9B15-8C3F8484BD34}"/>
              </a:ext>
            </a:extLst>
          </p:cNvPr>
          <p:cNvSpPr>
            <a:spLocks noGrp="1"/>
          </p:cNvSpPr>
          <p:nvPr>
            <p:ph type="title"/>
          </p:nvPr>
        </p:nvSpPr>
        <p:spPr>
          <a:xfrm>
            <a:off x="548024" y="39693"/>
            <a:ext cx="8756784" cy="874707"/>
          </a:xfrm>
        </p:spPr>
        <p:txBody>
          <a:bodyPr anchor="ctr" anchorCtr="0"/>
          <a:lstStyle>
            <a:lvl1pPr>
              <a:defRPr sz="2400" b="0">
                <a:solidFill>
                  <a:schemeClr val="bg1"/>
                </a:solidFill>
                <a:latin typeface="Gotham Book" pitchFamily="50" charset="0"/>
                <a:cs typeface="Gotham Book" pitchFamily="50" charset="0"/>
              </a:defRPr>
            </a:lvl1pPr>
          </a:lstStyle>
          <a:p>
            <a:r>
              <a:rPr lang="en-US" dirty="0"/>
              <a:t>Click to edit Master title style</a:t>
            </a:r>
          </a:p>
        </p:txBody>
      </p:sp>
      <p:sp>
        <p:nvSpPr>
          <p:cNvPr id="16" name="TextBox 15">
            <a:extLst>
              <a:ext uri="{FF2B5EF4-FFF2-40B4-BE49-F238E27FC236}">
                <a16:creationId xmlns:a16="http://schemas.microsoft.com/office/drawing/2014/main" id="{186111D9-B349-4B82-9966-46C3F0A6F8C6}"/>
              </a:ext>
            </a:extLst>
          </p:cNvPr>
          <p:cNvSpPr txBox="1"/>
          <p:nvPr userDrawn="1"/>
        </p:nvSpPr>
        <p:spPr>
          <a:xfrm>
            <a:off x="7414260" y="6540764"/>
            <a:ext cx="4191000" cy="293476"/>
          </a:xfrm>
          <a:prstGeom prst="rect">
            <a:avLst/>
          </a:prstGeom>
        </p:spPr>
        <p:txBody>
          <a:bodyPr vert="horz" wrap="square" lIns="91440" tIns="45720" rIns="91440" bIns="45720" rtlCol="0" anchor="ctr">
            <a:noAutofit/>
          </a:bodyPr>
          <a:lstStyle/>
          <a:p>
            <a:pPr algn="r"/>
            <a:r>
              <a:rPr lang="en-US" sz="1200" cap="all" baseline="0" dirty="0">
                <a:solidFill>
                  <a:schemeClr val="bg1"/>
                </a:solidFill>
                <a:latin typeface="Gotham Book" pitchFamily="50" charset="0"/>
                <a:cs typeface="Gotham Book" pitchFamily="50" charset="0"/>
              </a:rPr>
              <a:t>Software Intelligence for Digital Leaders</a:t>
            </a:r>
          </a:p>
        </p:txBody>
      </p:sp>
      <p:pic>
        <p:nvPicPr>
          <p:cNvPr id="3" name="Picture 2">
            <a:extLst>
              <a:ext uri="{FF2B5EF4-FFF2-40B4-BE49-F238E27FC236}">
                <a16:creationId xmlns:a16="http://schemas.microsoft.com/office/drawing/2014/main" id="{8E59C947-0D05-0973-B2C8-316BF275622A}"/>
              </a:ext>
            </a:extLst>
          </p:cNvPr>
          <p:cNvPicPr>
            <a:picLocks noChangeAspect="1"/>
          </p:cNvPicPr>
          <p:nvPr userDrawn="1"/>
        </p:nvPicPr>
        <p:blipFill>
          <a:blip r:embed="rId3"/>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4272217198"/>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ffset background">
    <p:spTree>
      <p:nvGrpSpPr>
        <p:cNvPr id="1" name=""/>
        <p:cNvGrpSpPr/>
        <p:nvPr/>
      </p:nvGrpSpPr>
      <p:grpSpPr>
        <a:xfrm>
          <a:off x="0" y="0"/>
          <a:ext cx="0" cy="0"/>
          <a:chOff x="0" y="0"/>
          <a:chExt cx="0" cy="0"/>
        </a:xfrm>
      </p:grpSpPr>
      <p:sp>
        <p:nvSpPr>
          <p:cNvPr id="9" name="Rectangle 8"/>
          <p:cNvSpPr/>
          <p:nvPr userDrawn="1"/>
        </p:nvSpPr>
        <p:spPr>
          <a:xfrm flipV="1">
            <a:off x="0" y="0"/>
            <a:ext cx="12192000" cy="6858000"/>
          </a:xfrm>
          <a:prstGeom prst="rect">
            <a:avLst/>
          </a:prstGeom>
          <a:solidFill>
            <a:srgbClr val="E9E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rgbClr val="293C47"/>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rgbClr val="293C47"/>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17" name="Title 1">
            <a:extLst>
              <a:ext uri="{FF2B5EF4-FFF2-40B4-BE49-F238E27FC236}">
                <a16:creationId xmlns:a16="http://schemas.microsoft.com/office/drawing/2014/main" id="{ACE36E0C-3F4B-43B9-91DF-E842AE071AE8}"/>
              </a:ext>
            </a:extLst>
          </p:cNvPr>
          <p:cNvSpPr>
            <a:spLocks noGrp="1"/>
          </p:cNvSpPr>
          <p:nvPr>
            <p:ph type="title"/>
          </p:nvPr>
        </p:nvSpPr>
        <p:spPr>
          <a:xfrm>
            <a:off x="548024" y="39693"/>
            <a:ext cx="8756784" cy="874707"/>
          </a:xfrm>
        </p:spPr>
        <p:txBody>
          <a:bodyPr anchor="ctr" anchorCtr="0"/>
          <a:lstStyle>
            <a:lvl1pPr>
              <a:defRPr sz="2400" b="0">
                <a:solidFill>
                  <a:srgbClr val="293C47"/>
                </a:solidFill>
                <a:latin typeface="Gotham Book" pitchFamily="50" charset="0"/>
                <a:cs typeface="Gotham Book" pitchFamily="50" charset="0"/>
              </a:defRPr>
            </a:lvl1pPr>
          </a:lstStyle>
          <a:p>
            <a:r>
              <a:rPr lang="en-US" dirty="0"/>
              <a:t>Click to edit Master title style</a:t>
            </a:r>
          </a:p>
        </p:txBody>
      </p:sp>
      <p:pic>
        <p:nvPicPr>
          <p:cNvPr id="2" name="Picture 1">
            <a:extLst>
              <a:ext uri="{FF2B5EF4-FFF2-40B4-BE49-F238E27FC236}">
                <a16:creationId xmlns:a16="http://schemas.microsoft.com/office/drawing/2014/main" id="{B0CF8D8D-B832-7715-89C1-F0409C084885}"/>
              </a:ext>
            </a:extLst>
          </p:cNvPr>
          <p:cNvPicPr>
            <a:picLocks noChangeAspect="1"/>
          </p:cNvPicPr>
          <p:nvPr userDrawn="1"/>
        </p:nvPicPr>
        <p:blipFill>
          <a:blip r:embed="rId2"/>
          <a:stretch>
            <a:fillRect/>
          </a:stretch>
        </p:blipFill>
        <p:spPr>
          <a:xfrm>
            <a:off x="10564611" y="286570"/>
            <a:ext cx="1079365" cy="380952"/>
          </a:xfrm>
          <a:prstGeom prst="rect">
            <a:avLst/>
          </a:prstGeom>
        </p:spPr>
      </p:pic>
    </p:spTree>
    <p:extLst>
      <p:ext uri="{BB962C8B-B14F-4D97-AF65-F5344CB8AC3E}">
        <p14:creationId xmlns:p14="http://schemas.microsoft.com/office/powerpoint/2010/main" val="2564624866"/>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 with logo">
    <p:spTree>
      <p:nvGrpSpPr>
        <p:cNvPr id="1" name=""/>
        <p:cNvGrpSpPr/>
        <p:nvPr/>
      </p:nvGrpSpPr>
      <p:grpSpPr>
        <a:xfrm>
          <a:off x="0" y="0"/>
          <a:ext cx="0" cy="0"/>
          <a:chOff x="0" y="0"/>
          <a:chExt cx="0" cy="0"/>
        </a:xfrm>
      </p:grpSpPr>
      <p:sp>
        <p:nvSpPr>
          <p:cNvPr id="9" name="Rectangle 8"/>
          <p:cNvSpPr/>
          <p:nvPr userDrawn="1"/>
        </p:nvSpPr>
        <p:spPr>
          <a:xfrm flipV="1">
            <a:off x="0" y="0"/>
            <a:ext cx="4756638" cy="685800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chemeClr val="bg1"/>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chemeClr val="bg1"/>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2" name="Title 1">
            <a:extLst>
              <a:ext uri="{FF2B5EF4-FFF2-40B4-BE49-F238E27FC236}">
                <a16:creationId xmlns:a16="http://schemas.microsoft.com/office/drawing/2014/main" id="{26B7B6A0-42F7-4032-9B15-8C3F8484BD34}"/>
              </a:ext>
            </a:extLst>
          </p:cNvPr>
          <p:cNvSpPr>
            <a:spLocks noGrp="1"/>
          </p:cNvSpPr>
          <p:nvPr>
            <p:ph type="title"/>
          </p:nvPr>
        </p:nvSpPr>
        <p:spPr>
          <a:xfrm>
            <a:off x="312126" y="1037493"/>
            <a:ext cx="4132385" cy="4783014"/>
          </a:xfrm>
        </p:spPr>
        <p:txBody>
          <a:bodyPr anchor="ctr" anchorCtr="0"/>
          <a:lstStyle>
            <a:lvl1pPr>
              <a:defRPr sz="2400" b="0">
                <a:solidFill>
                  <a:schemeClr val="bg1"/>
                </a:solidFill>
                <a:latin typeface="Gotham Book" pitchFamily="50" charset="0"/>
                <a:cs typeface="Gotham Book" pitchFamily="50" charset="0"/>
              </a:defRPr>
            </a:lvl1pPr>
          </a:lstStyle>
          <a:p>
            <a:r>
              <a:rPr lang="en-US" dirty="0"/>
              <a:t>Click to edit Master title style</a:t>
            </a:r>
          </a:p>
        </p:txBody>
      </p:sp>
      <p:pic>
        <p:nvPicPr>
          <p:cNvPr id="3" name="Picture 2">
            <a:extLst>
              <a:ext uri="{FF2B5EF4-FFF2-40B4-BE49-F238E27FC236}">
                <a16:creationId xmlns:a16="http://schemas.microsoft.com/office/drawing/2014/main" id="{127A2C61-3A5F-721E-CDC3-AED84B078AA0}"/>
              </a:ext>
            </a:extLst>
          </p:cNvPr>
          <p:cNvPicPr>
            <a:picLocks noChangeAspect="1"/>
          </p:cNvPicPr>
          <p:nvPr userDrawn="1"/>
        </p:nvPicPr>
        <p:blipFill>
          <a:blip r:embed="rId2"/>
          <a:stretch>
            <a:fillRect/>
          </a:stretch>
        </p:blipFill>
        <p:spPr>
          <a:xfrm>
            <a:off x="10564611" y="286570"/>
            <a:ext cx="1079365" cy="380952"/>
          </a:xfrm>
          <a:prstGeom prst="rect">
            <a:avLst/>
          </a:prstGeom>
        </p:spPr>
      </p:pic>
    </p:spTree>
    <p:extLst>
      <p:ext uri="{BB962C8B-B14F-4D97-AF65-F5344CB8AC3E}">
        <p14:creationId xmlns:p14="http://schemas.microsoft.com/office/powerpoint/2010/main" val="1734500679"/>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p:spTree>
      <p:nvGrpSpPr>
        <p:cNvPr id="1" name=""/>
        <p:cNvGrpSpPr/>
        <p:nvPr/>
      </p:nvGrpSpPr>
      <p:grpSpPr>
        <a:xfrm>
          <a:off x="0" y="0"/>
          <a:ext cx="0" cy="0"/>
          <a:chOff x="0" y="0"/>
          <a:chExt cx="0" cy="0"/>
        </a:xfrm>
      </p:grpSpPr>
      <p:sp>
        <p:nvSpPr>
          <p:cNvPr id="9" name="Rectangle 8"/>
          <p:cNvSpPr/>
          <p:nvPr userDrawn="1"/>
        </p:nvSpPr>
        <p:spPr>
          <a:xfrm flipV="1">
            <a:off x="0" y="0"/>
            <a:ext cx="4756638" cy="685800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chemeClr val="bg1"/>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chemeClr val="bg1"/>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2" name="Title 1">
            <a:extLst>
              <a:ext uri="{FF2B5EF4-FFF2-40B4-BE49-F238E27FC236}">
                <a16:creationId xmlns:a16="http://schemas.microsoft.com/office/drawing/2014/main" id="{26B7B6A0-42F7-4032-9B15-8C3F8484BD34}"/>
              </a:ext>
            </a:extLst>
          </p:cNvPr>
          <p:cNvSpPr>
            <a:spLocks noGrp="1"/>
          </p:cNvSpPr>
          <p:nvPr>
            <p:ph type="title"/>
          </p:nvPr>
        </p:nvSpPr>
        <p:spPr>
          <a:xfrm>
            <a:off x="312126" y="1037493"/>
            <a:ext cx="4132385" cy="4783014"/>
          </a:xfrm>
        </p:spPr>
        <p:txBody>
          <a:bodyPr anchor="ctr" anchorCtr="0"/>
          <a:lstStyle>
            <a:lvl1pPr>
              <a:defRPr sz="2400" b="0">
                <a:solidFill>
                  <a:schemeClr val="bg1"/>
                </a:solidFill>
                <a:latin typeface="Gotham Book" pitchFamily="50" charset="0"/>
                <a:cs typeface="Gotham Book" pitchFamily="50" charset="0"/>
              </a:defRPr>
            </a:lvl1pPr>
          </a:lstStyle>
          <a:p>
            <a:r>
              <a:rPr lang="en-US" dirty="0"/>
              <a:t>Click to edit Master title style</a:t>
            </a:r>
          </a:p>
        </p:txBody>
      </p:sp>
    </p:spTree>
    <p:extLst>
      <p:ext uri="{BB962C8B-B14F-4D97-AF65-F5344CB8AC3E}">
        <p14:creationId xmlns:p14="http://schemas.microsoft.com/office/powerpoint/2010/main" val="2829714056"/>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p:spTree>
      <p:nvGrpSpPr>
        <p:cNvPr id="1" name=""/>
        <p:cNvGrpSpPr/>
        <p:nvPr/>
      </p:nvGrpSpPr>
      <p:grpSpPr>
        <a:xfrm>
          <a:off x="0" y="0"/>
          <a:ext cx="0" cy="0"/>
          <a:chOff x="0" y="0"/>
          <a:chExt cx="0" cy="0"/>
        </a:xfrm>
      </p:grpSpPr>
      <p:sp>
        <p:nvSpPr>
          <p:cNvPr id="9" name="Rectangle 8"/>
          <p:cNvSpPr/>
          <p:nvPr userDrawn="1"/>
        </p:nvSpPr>
        <p:spPr>
          <a:xfrm flipV="1">
            <a:off x="0" y="0"/>
            <a:ext cx="6096000" cy="685800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chemeClr val="bg1"/>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chemeClr val="bg1"/>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2" name="Title 1">
            <a:extLst>
              <a:ext uri="{FF2B5EF4-FFF2-40B4-BE49-F238E27FC236}">
                <a16:creationId xmlns:a16="http://schemas.microsoft.com/office/drawing/2014/main" id="{26B7B6A0-42F7-4032-9B15-8C3F8484BD34}"/>
              </a:ext>
            </a:extLst>
          </p:cNvPr>
          <p:cNvSpPr>
            <a:spLocks noGrp="1"/>
          </p:cNvSpPr>
          <p:nvPr>
            <p:ph type="title"/>
          </p:nvPr>
        </p:nvSpPr>
        <p:spPr>
          <a:xfrm>
            <a:off x="312126" y="1037493"/>
            <a:ext cx="5411666" cy="4783014"/>
          </a:xfrm>
        </p:spPr>
        <p:txBody>
          <a:bodyPr anchor="ctr" anchorCtr="0"/>
          <a:lstStyle>
            <a:lvl1pPr>
              <a:defRPr sz="2400" b="0">
                <a:solidFill>
                  <a:schemeClr val="bg1"/>
                </a:solidFill>
                <a:latin typeface="Gotham Book" pitchFamily="50" charset="0"/>
                <a:cs typeface="Gotham Book" pitchFamily="50" charset="0"/>
              </a:defRPr>
            </a:lvl1pPr>
          </a:lstStyle>
          <a:p>
            <a:r>
              <a:rPr lang="en-US" dirty="0"/>
              <a:t>Click to edit Master title style</a:t>
            </a:r>
          </a:p>
        </p:txBody>
      </p:sp>
    </p:spTree>
    <p:extLst>
      <p:ext uri="{BB962C8B-B14F-4D97-AF65-F5344CB8AC3E}">
        <p14:creationId xmlns:p14="http://schemas.microsoft.com/office/powerpoint/2010/main" val="2689891264"/>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 with arrow">
    <p:spTree>
      <p:nvGrpSpPr>
        <p:cNvPr id="1" name=""/>
        <p:cNvGrpSpPr/>
        <p:nvPr/>
      </p:nvGrpSpPr>
      <p:grpSpPr>
        <a:xfrm>
          <a:off x="0" y="0"/>
          <a:ext cx="0" cy="0"/>
          <a:chOff x="0" y="0"/>
          <a:chExt cx="0" cy="0"/>
        </a:xfrm>
      </p:grpSpPr>
      <p:sp>
        <p:nvSpPr>
          <p:cNvPr id="9" name="Rectangle 8"/>
          <p:cNvSpPr/>
          <p:nvPr userDrawn="1"/>
        </p:nvSpPr>
        <p:spPr>
          <a:xfrm flipV="1">
            <a:off x="0" y="0"/>
            <a:ext cx="4756638" cy="685800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chemeClr val="bg1"/>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chemeClr val="bg1"/>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2" name="Title 1">
            <a:extLst>
              <a:ext uri="{FF2B5EF4-FFF2-40B4-BE49-F238E27FC236}">
                <a16:creationId xmlns:a16="http://schemas.microsoft.com/office/drawing/2014/main" id="{26B7B6A0-42F7-4032-9B15-8C3F8484BD34}"/>
              </a:ext>
            </a:extLst>
          </p:cNvPr>
          <p:cNvSpPr>
            <a:spLocks noGrp="1"/>
          </p:cNvSpPr>
          <p:nvPr>
            <p:ph type="title"/>
          </p:nvPr>
        </p:nvSpPr>
        <p:spPr>
          <a:xfrm>
            <a:off x="312126" y="1037493"/>
            <a:ext cx="4132385" cy="4783014"/>
          </a:xfrm>
        </p:spPr>
        <p:txBody>
          <a:bodyPr anchor="ctr" anchorCtr="0"/>
          <a:lstStyle>
            <a:lvl1pPr>
              <a:defRPr sz="2400" b="0">
                <a:solidFill>
                  <a:schemeClr val="bg1"/>
                </a:solidFill>
                <a:latin typeface="Gotham Book" pitchFamily="50" charset="0"/>
                <a:cs typeface="Gotham Book" pitchFamily="50" charset="0"/>
              </a:defRPr>
            </a:lvl1pPr>
          </a:lstStyle>
          <a:p>
            <a:r>
              <a:rPr lang="en-US" dirty="0"/>
              <a:t>Click to edit Master title style</a:t>
            </a:r>
          </a:p>
        </p:txBody>
      </p:sp>
      <p:sp>
        <p:nvSpPr>
          <p:cNvPr id="3" name="Right Triangle 2">
            <a:extLst>
              <a:ext uri="{FF2B5EF4-FFF2-40B4-BE49-F238E27FC236}">
                <a16:creationId xmlns:a16="http://schemas.microsoft.com/office/drawing/2014/main" id="{A8778185-0A3D-4965-86CA-B929653B0169}"/>
              </a:ext>
            </a:extLst>
          </p:cNvPr>
          <p:cNvSpPr/>
          <p:nvPr userDrawn="1"/>
        </p:nvSpPr>
        <p:spPr>
          <a:xfrm>
            <a:off x="4756637" y="0"/>
            <a:ext cx="1230925" cy="3429000"/>
          </a:xfrm>
          <a:prstGeom prst="rtTriangle">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D763A928-E3DF-47BD-A8F3-CF87F8571F52}"/>
              </a:ext>
            </a:extLst>
          </p:cNvPr>
          <p:cNvSpPr/>
          <p:nvPr userDrawn="1"/>
        </p:nvSpPr>
        <p:spPr>
          <a:xfrm flipV="1">
            <a:off x="4756637" y="3429000"/>
            <a:ext cx="1230925" cy="3429000"/>
          </a:xfrm>
          <a:prstGeom prst="rtTriangle">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9340451"/>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5 with arrow">
    <p:spTree>
      <p:nvGrpSpPr>
        <p:cNvPr id="1" name=""/>
        <p:cNvGrpSpPr/>
        <p:nvPr/>
      </p:nvGrpSpPr>
      <p:grpSpPr>
        <a:xfrm>
          <a:off x="0" y="0"/>
          <a:ext cx="0" cy="0"/>
          <a:chOff x="0" y="0"/>
          <a:chExt cx="0" cy="0"/>
        </a:xfrm>
      </p:grpSpPr>
      <p:sp>
        <p:nvSpPr>
          <p:cNvPr id="3" name="Right Triangle 2">
            <a:extLst>
              <a:ext uri="{FF2B5EF4-FFF2-40B4-BE49-F238E27FC236}">
                <a16:creationId xmlns:a16="http://schemas.microsoft.com/office/drawing/2014/main" id="{A8778185-0A3D-4965-86CA-B929653B0169}"/>
              </a:ext>
            </a:extLst>
          </p:cNvPr>
          <p:cNvSpPr/>
          <p:nvPr userDrawn="1"/>
        </p:nvSpPr>
        <p:spPr>
          <a:xfrm>
            <a:off x="3253154" y="0"/>
            <a:ext cx="1230925" cy="3429000"/>
          </a:xfrm>
          <a:prstGeom prst="rtTriangle">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D763A928-E3DF-47BD-A8F3-CF87F8571F52}"/>
              </a:ext>
            </a:extLst>
          </p:cNvPr>
          <p:cNvSpPr/>
          <p:nvPr userDrawn="1"/>
        </p:nvSpPr>
        <p:spPr>
          <a:xfrm flipV="1">
            <a:off x="3253154" y="3429000"/>
            <a:ext cx="1230925" cy="3429000"/>
          </a:xfrm>
          <a:prstGeom prst="rtTriangle">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flipV="1">
            <a:off x="0" y="0"/>
            <a:ext cx="3253154" cy="685800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chemeClr val="bg1"/>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chemeClr val="bg1"/>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2" name="Title 1">
            <a:extLst>
              <a:ext uri="{FF2B5EF4-FFF2-40B4-BE49-F238E27FC236}">
                <a16:creationId xmlns:a16="http://schemas.microsoft.com/office/drawing/2014/main" id="{26B7B6A0-42F7-4032-9B15-8C3F8484BD34}"/>
              </a:ext>
            </a:extLst>
          </p:cNvPr>
          <p:cNvSpPr>
            <a:spLocks noGrp="1"/>
          </p:cNvSpPr>
          <p:nvPr>
            <p:ph type="title"/>
          </p:nvPr>
        </p:nvSpPr>
        <p:spPr>
          <a:xfrm>
            <a:off x="312126" y="1037493"/>
            <a:ext cx="3152043" cy="4783014"/>
          </a:xfrm>
        </p:spPr>
        <p:txBody>
          <a:bodyPr anchor="ctr" anchorCtr="0"/>
          <a:lstStyle>
            <a:lvl1pPr>
              <a:defRPr sz="2400" b="0">
                <a:solidFill>
                  <a:schemeClr val="bg1"/>
                </a:solidFill>
                <a:latin typeface="Gotham Book" pitchFamily="50" charset="0"/>
                <a:cs typeface="Gotham Book" pitchFamily="50" charset="0"/>
              </a:defRPr>
            </a:lvl1pPr>
          </a:lstStyle>
          <a:p>
            <a:r>
              <a:rPr lang="en-US" dirty="0"/>
              <a:t>Click to edit Master title style</a:t>
            </a:r>
          </a:p>
        </p:txBody>
      </p:sp>
    </p:spTree>
    <p:extLst>
      <p:ext uri="{BB962C8B-B14F-4D97-AF65-F5344CB8AC3E}">
        <p14:creationId xmlns:p14="http://schemas.microsoft.com/office/powerpoint/2010/main" val="2858546793"/>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Finding for dev team">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79442FA-2F80-4DC9-9F85-569C6A878A9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64828" b="28404"/>
          <a:stretch/>
        </p:blipFill>
        <p:spPr>
          <a:xfrm>
            <a:off x="-1" y="6484776"/>
            <a:ext cx="12192000" cy="365125"/>
          </a:xfrm>
          <a:prstGeom prst="rect">
            <a:avLst/>
          </a:prstGeom>
        </p:spPr>
      </p:pic>
      <p:sp>
        <p:nvSpPr>
          <p:cNvPr id="14" name="Rectangle 13">
            <a:extLst>
              <a:ext uri="{FF2B5EF4-FFF2-40B4-BE49-F238E27FC236}">
                <a16:creationId xmlns:a16="http://schemas.microsoft.com/office/drawing/2014/main" id="{1F83BBA5-919E-4F1F-9393-FEA119F82634}"/>
              </a:ext>
            </a:extLst>
          </p:cNvPr>
          <p:cNvSpPr/>
          <p:nvPr userDrawn="1"/>
        </p:nvSpPr>
        <p:spPr>
          <a:xfrm flipV="1">
            <a:off x="0" y="6484776"/>
            <a:ext cx="12192000" cy="405452"/>
          </a:xfrm>
          <a:prstGeom prst="rect">
            <a:avLst/>
          </a:prstGeom>
          <a:solidFill>
            <a:srgbClr val="293C47">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userDrawn="1"/>
        </p:nvSpPr>
        <p:spPr>
          <a:xfrm flipV="1">
            <a:off x="0" y="0"/>
            <a:ext cx="12192000" cy="91440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chemeClr val="bg1"/>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chemeClr val="bg1"/>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2" name="Title 1">
            <a:extLst>
              <a:ext uri="{FF2B5EF4-FFF2-40B4-BE49-F238E27FC236}">
                <a16:creationId xmlns:a16="http://schemas.microsoft.com/office/drawing/2014/main" id="{26B7B6A0-42F7-4032-9B15-8C3F8484BD34}"/>
              </a:ext>
            </a:extLst>
          </p:cNvPr>
          <p:cNvSpPr>
            <a:spLocks noGrp="1"/>
          </p:cNvSpPr>
          <p:nvPr>
            <p:ph type="title"/>
          </p:nvPr>
        </p:nvSpPr>
        <p:spPr>
          <a:xfrm>
            <a:off x="548024" y="39693"/>
            <a:ext cx="8756784" cy="874707"/>
          </a:xfrm>
        </p:spPr>
        <p:txBody>
          <a:bodyPr anchor="ctr" anchorCtr="0"/>
          <a:lstStyle>
            <a:lvl1pPr>
              <a:defRPr sz="2400" b="0">
                <a:solidFill>
                  <a:schemeClr val="bg1"/>
                </a:solidFill>
                <a:latin typeface="Gotham Book" pitchFamily="50" charset="0"/>
                <a:cs typeface="Gotham Book" pitchFamily="50" charset="0"/>
              </a:defRPr>
            </a:lvl1pPr>
          </a:lstStyle>
          <a:p>
            <a:r>
              <a:rPr lang="en-US" dirty="0"/>
              <a:t>Click to edit Master title style</a:t>
            </a:r>
          </a:p>
        </p:txBody>
      </p:sp>
      <p:sp>
        <p:nvSpPr>
          <p:cNvPr id="16" name="TextBox 15">
            <a:extLst>
              <a:ext uri="{FF2B5EF4-FFF2-40B4-BE49-F238E27FC236}">
                <a16:creationId xmlns:a16="http://schemas.microsoft.com/office/drawing/2014/main" id="{186111D9-B349-4B82-9966-46C3F0A6F8C6}"/>
              </a:ext>
            </a:extLst>
          </p:cNvPr>
          <p:cNvSpPr txBox="1"/>
          <p:nvPr userDrawn="1"/>
        </p:nvSpPr>
        <p:spPr>
          <a:xfrm>
            <a:off x="7414260" y="6540764"/>
            <a:ext cx="4191000" cy="293476"/>
          </a:xfrm>
          <a:prstGeom prst="rect">
            <a:avLst/>
          </a:prstGeom>
        </p:spPr>
        <p:txBody>
          <a:bodyPr vert="horz" wrap="square" lIns="91440" tIns="45720" rIns="91440" bIns="45720" rtlCol="0" anchor="ctr">
            <a:noAutofit/>
          </a:bodyPr>
          <a:lstStyle/>
          <a:p>
            <a:pPr algn="r"/>
            <a:r>
              <a:rPr lang="en-US" sz="1200" cap="all" baseline="0" dirty="0">
                <a:solidFill>
                  <a:schemeClr val="bg1"/>
                </a:solidFill>
                <a:latin typeface="Gotham Book" pitchFamily="50" charset="0"/>
                <a:cs typeface="Gotham Book" pitchFamily="50" charset="0"/>
              </a:rPr>
              <a:t>Software Intelligence for Digital Leaders</a:t>
            </a:r>
          </a:p>
        </p:txBody>
      </p:sp>
      <p:sp>
        <p:nvSpPr>
          <p:cNvPr id="17" name="Rounded Rectangle 6">
            <a:extLst>
              <a:ext uri="{FF2B5EF4-FFF2-40B4-BE49-F238E27FC236}">
                <a16:creationId xmlns:a16="http://schemas.microsoft.com/office/drawing/2014/main" id="{14D29999-1D8E-4D8F-931C-60C5188F1501}"/>
              </a:ext>
            </a:extLst>
          </p:cNvPr>
          <p:cNvSpPr/>
          <p:nvPr userDrawn="1"/>
        </p:nvSpPr>
        <p:spPr bwMode="auto">
          <a:xfrm>
            <a:off x="609600" y="1155329"/>
            <a:ext cx="11064077" cy="1016786"/>
          </a:xfrm>
          <a:prstGeom prst="roundRect">
            <a:avLst/>
          </a:prstGeom>
          <a:solidFill>
            <a:schemeClr val="bg1"/>
          </a:solidFill>
          <a:ln>
            <a:solidFill>
              <a:srgbClr val="293C47"/>
            </a:solidFill>
          </a:ln>
          <a:effectLst/>
        </p:spPr>
        <p:txBody>
          <a:bodyPr vert="horz" wrap="square" lIns="45720" tIns="45720" rIns="45720" bIns="45720" rtlCol="0" anchor="t">
            <a:noAutofit/>
          </a:bodyPr>
          <a:lstStyle/>
          <a:p>
            <a:pPr>
              <a:spcBef>
                <a:spcPts val="300"/>
              </a:spcBef>
              <a:spcAft>
                <a:spcPts val="400"/>
              </a:spcAft>
              <a:buClr>
                <a:schemeClr val="accent5">
                  <a:lumMod val="50000"/>
                </a:schemeClr>
              </a:buClr>
              <a:buFont typeface="Webdings" pitchFamily="18" charset="2"/>
              <a:buNone/>
            </a:pPr>
            <a:r>
              <a:rPr lang="fr-FR" sz="1400" b="1" dirty="0">
                <a:solidFill>
                  <a:srgbClr val="000000">
                    <a:lumMod val="65000"/>
                    <a:lumOff val="35000"/>
                  </a:srgbClr>
                </a:solidFill>
                <a:cs typeface="Arial" pitchFamily="34" charset="0"/>
              </a:rPr>
              <a:t>Observation:</a:t>
            </a:r>
          </a:p>
          <a:p>
            <a:pPr>
              <a:spcBef>
                <a:spcPts val="300"/>
              </a:spcBef>
              <a:spcAft>
                <a:spcPts val="400"/>
              </a:spcAft>
              <a:buClr>
                <a:schemeClr val="accent5">
                  <a:lumMod val="50000"/>
                </a:schemeClr>
              </a:buClr>
              <a:buFont typeface="Webdings" pitchFamily="18" charset="2"/>
              <a:buNone/>
            </a:pPr>
            <a:r>
              <a:rPr lang="en-US" sz="1200" dirty="0">
                <a:solidFill>
                  <a:srgbClr val="000000">
                    <a:lumMod val="65000"/>
                    <a:lumOff val="35000"/>
                  </a:srgbClr>
                </a:solidFill>
                <a:cs typeface="Arial" pitchFamily="34" charset="0"/>
              </a:rPr>
              <a:t>In xxx, 7 utility classes do not declare a private constructor. Utility classes are not meant to be instantiated because all the functionalities they provide are accessible without instantiation. A private constructor locks the instantiation mechanism and protects the utility class against misuse.</a:t>
            </a:r>
            <a:endParaRPr lang="fr-FR" sz="1200" dirty="0">
              <a:solidFill>
                <a:srgbClr val="000000">
                  <a:lumMod val="65000"/>
                  <a:lumOff val="35000"/>
                </a:srgbClr>
              </a:solidFill>
              <a:cs typeface="Arial" pitchFamily="34" charset="0"/>
            </a:endParaRPr>
          </a:p>
          <a:p>
            <a:pPr>
              <a:spcBef>
                <a:spcPts val="300"/>
              </a:spcBef>
              <a:spcAft>
                <a:spcPts val="400"/>
              </a:spcAft>
              <a:buClr>
                <a:schemeClr val="accent5">
                  <a:lumMod val="50000"/>
                </a:schemeClr>
              </a:buClr>
              <a:buFont typeface="Webdings" pitchFamily="18" charset="2"/>
              <a:buNone/>
            </a:pPr>
            <a:endParaRPr lang="fr-FR" sz="1800" dirty="0" err="1">
              <a:solidFill>
                <a:schemeClr val="tx2">
                  <a:lumMod val="65000"/>
                  <a:lumOff val="35000"/>
                </a:schemeClr>
              </a:solidFill>
              <a:cs typeface="Arial" pitchFamily="34" charset="0"/>
            </a:endParaRPr>
          </a:p>
        </p:txBody>
      </p:sp>
      <p:sp>
        <p:nvSpPr>
          <p:cNvPr id="19" name="Rounded Rectangle 7">
            <a:extLst>
              <a:ext uri="{FF2B5EF4-FFF2-40B4-BE49-F238E27FC236}">
                <a16:creationId xmlns:a16="http://schemas.microsoft.com/office/drawing/2014/main" id="{356F8FBC-A967-479A-A2C2-6F82B7055647}"/>
              </a:ext>
            </a:extLst>
          </p:cNvPr>
          <p:cNvSpPr/>
          <p:nvPr userDrawn="1"/>
        </p:nvSpPr>
        <p:spPr bwMode="auto">
          <a:xfrm>
            <a:off x="616442" y="2318894"/>
            <a:ext cx="3384058" cy="1928600"/>
          </a:xfrm>
          <a:prstGeom prst="roundRect">
            <a:avLst/>
          </a:prstGeom>
          <a:solidFill>
            <a:schemeClr val="bg1"/>
          </a:solidFill>
          <a:ln>
            <a:solidFill>
              <a:srgbClr val="293C47"/>
            </a:solidFill>
          </a:ln>
          <a:effectLst/>
        </p:spPr>
        <p:txBody>
          <a:bodyPr vert="horz" wrap="square" lIns="45720" tIns="45720" rIns="45720" bIns="45720" rtlCol="0" anchor="t">
            <a:noAutofit/>
          </a:bodyPr>
          <a:lstStyle/>
          <a:p>
            <a:pPr lvl="0">
              <a:spcBef>
                <a:spcPts val="300"/>
              </a:spcBef>
              <a:spcAft>
                <a:spcPts val="400"/>
              </a:spcAft>
              <a:buClr>
                <a:srgbClr val="12223A">
                  <a:lumMod val="50000"/>
                </a:srgbClr>
              </a:buClr>
            </a:pPr>
            <a:r>
              <a:rPr lang="en-US" sz="1400" b="1" dirty="0">
                <a:solidFill>
                  <a:srgbClr val="000000">
                    <a:lumMod val="65000"/>
                    <a:lumOff val="35000"/>
                  </a:srgbClr>
                </a:solidFill>
                <a:cs typeface="Arial" pitchFamily="34" charset="0"/>
              </a:rPr>
              <a:t>Recommendation</a:t>
            </a:r>
            <a:r>
              <a:rPr lang="fr-FR" sz="1400" b="1" dirty="0">
                <a:solidFill>
                  <a:srgbClr val="000000">
                    <a:lumMod val="65000"/>
                    <a:lumOff val="35000"/>
                  </a:srgbClr>
                </a:solidFill>
                <a:cs typeface="Arial" pitchFamily="34" charset="0"/>
              </a:rPr>
              <a:t>:</a:t>
            </a:r>
          </a:p>
          <a:p>
            <a:pPr>
              <a:spcBef>
                <a:spcPts val="300"/>
              </a:spcBef>
              <a:spcAft>
                <a:spcPts val="400"/>
              </a:spcAft>
              <a:buClr>
                <a:srgbClr val="12223A">
                  <a:lumMod val="50000"/>
                </a:srgbClr>
              </a:buClr>
            </a:pPr>
            <a:r>
              <a:rPr lang="en-US" sz="1200" i="1" u="sng" dirty="0">
                <a:solidFill>
                  <a:srgbClr val="CF7600"/>
                </a:solidFill>
                <a:cs typeface="Arial" pitchFamily="34" charset="0"/>
              </a:rPr>
              <a:t>Quick-win</a:t>
            </a:r>
            <a:r>
              <a:rPr lang="en-US" sz="1200" dirty="0">
                <a:solidFill>
                  <a:srgbClr val="CF7600"/>
                </a:solidFill>
                <a:cs typeface="Arial" pitchFamily="34" charset="0"/>
              </a:rPr>
              <a:t> – </a:t>
            </a:r>
            <a:r>
              <a:rPr lang="en-US" sz="1200" dirty="0">
                <a:solidFill>
                  <a:srgbClr val="000000">
                    <a:lumMod val="65000"/>
                    <a:lumOff val="35000"/>
                  </a:srgbClr>
                </a:solidFill>
                <a:cs typeface="Arial" pitchFamily="34" charset="0"/>
              </a:rPr>
              <a:t>provide a private default constructor for utility classes to ensure that the class can’t be instantiated.</a:t>
            </a:r>
          </a:p>
          <a:p>
            <a:pPr>
              <a:spcBef>
                <a:spcPts val="300"/>
              </a:spcBef>
              <a:spcAft>
                <a:spcPts val="400"/>
              </a:spcAft>
              <a:buClr>
                <a:srgbClr val="12223A">
                  <a:lumMod val="50000"/>
                </a:srgbClr>
              </a:buClr>
            </a:pPr>
            <a:r>
              <a:rPr lang="en-US" sz="1200" dirty="0">
                <a:solidFill>
                  <a:srgbClr val="000000">
                    <a:lumMod val="65000"/>
                    <a:lumOff val="35000"/>
                  </a:srgbClr>
                </a:solidFill>
                <a:cs typeface="Arial" pitchFamily="34" charset="0"/>
              </a:rPr>
              <a:t>The scope is small, with only 7 violations, so the time estimate is very low.</a:t>
            </a:r>
          </a:p>
        </p:txBody>
      </p:sp>
      <p:sp>
        <p:nvSpPr>
          <p:cNvPr id="20" name="Rounded Rectangle 8">
            <a:extLst>
              <a:ext uri="{FF2B5EF4-FFF2-40B4-BE49-F238E27FC236}">
                <a16:creationId xmlns:a16="http://schemas.microsoft.com/office/drawing/2014/main" id="{1CD741A7-C74D-4B32-A2B5-570AC1CB6A0F}"/>
              </a:ext>
            </a:extLst>
          </p:cNvPr>
          <p:cNvSpPr/>
          <p:nvPr userDrawn="1"/>
        </p:nvSpPr>
        <p:spPr bwMode="auto">
          <a:xfrm>
            <a:off x="616442" y="4394273"/>
            <a:ext cx="3452475" cy="1779235"/>
          </a:xfrm>
          <a:prstGeom prst="roundRect">
            <a:avLst/>
          </a:prstGeom>
          <a:solidFill>
            <a:schemeClr val="bg1"/>
          </a:solidFill>
          <a:ln>
            <a:solidFill>
              <a:srgbClr val="293C47"/>
            </a:solidFill>
          </a:ln>
          <a:effectLst/>
        </p:spPr>
        <p:txBody>
          <a:bodyPr vert="horz" wrap="square" lIns="45720" tIns="45720" rIns="45720" bIns="45720" rtlCol="0" anchor="t">
            <a:noAutofit/>
          </a:bodyPr>
          <a:lstStyle/>
          <a:p>
            <a:pPr lvl="0">
              <a:spcBef>
                <a:spcPts val="300"/>
              </a:spcBef>
              <a:spcAft>
                <a:spcPts val="400"/>
              </a:spcAft>
              <a:buClr>
                <a:srgbClr val="12223A">
                  <a:lumMod val="50000"/>
                </a:srgbClr>
              </a:buClr>
            </a:pPr>
            <a:r>
              <a:rPr lang="fr-FR" sz="1400" b="1" dirty="0">
                <a:solidFill>
                  <a:srgbClr val="000000">
                    <a:lumMod val="65000"/>
                    <a:lumOff val="35000"/>
                  </a:srgbClr>
                </a:solidFill>
                <a:cs typeface="Arial" pitchFamily="34" charset="0"/>
              </a:rPr>
              <a:t>Business Value</a:t>
            </a:r>
            <a:r>
              <a:rPr lang="fr-FR" sz="1600" dirty="0">
                <a:solidFill>
                  <a:srgbClr val="000000">
                    <a:lumMod val="65000"/>
                    <a:lumOff val="35000"/>
                  </a:srgbClr>
                </a:solidFill>
                <a:cs typeface="Arial" pitchFamily="34" charset="0"/>
              </a:rPr>
              <a:t>:</a:t>
            </a:r>
          </a:p>
          <a:p>
            <a:pPr lvl="0">
              <a:spcBef>
                <a:spcPts val="300"/>
              </a:spcBef>
              <a:spcAft>
                <a:spcPts val="400"/>
              </a:spcAft>
              <a:buClr>
                <a:srgbClr val="12223A">
                  <a:lumMod val="50000"/>
                </a:srgbClr>
              </a:buClr>
            </a:pPr>
            <a:r>
              <a:rPr lang="en-US" sz="1200" i="1" u="sng" dirty="0">
                <a:solidFill>
                  <a:srgbClr val="CF7600"/>
                </a:solidFill>
                <a:cs typeface="Arial" pitchFamily="34" charset="0"/>
              </a:rPr>
              <a:t>Efficiency</a:t>
            </a:r>
            <a:r>
              <a:rPr lang="en-US" sz="1200" dirty="0">
                <a:solidFill>
                  <a:srgbClr val="CF7600"/>
                </a:solidFill>
                <a:cs typeface="Arial" pitchFamily="34" charset="0"/>
              </a:rPr>
              <a:t> – </a:t>
            </a:r>
            <a:r>
              <a:rPr lang="en-US" sz="1200" dirty="0">
                <a:solidFill>
                  <a:srgbClr val="000000">
                    <a:lumMod val="65000"/>
                    <a:lumOff val="35000"/>
                  </a:srgbClr>
                </a:solidFill>
                <a:cs typeface="Arial" pitchFamily="34" charset="0"/>
              </a:rPr>
              <a:t>unwarranted instantiations would consume memory without adding any functional value.</a:t>
            </a:r>
          </a:p>
          <a:p>
            <a:pPr lvl="0">
              <a:spcBef>
                <a:spcPts val="300"/>
              </a:spcBef>
              <a:spcAft>
                <a:spcPts val="400"/>
              </a:spcAft>
              <a:buClr>
                <a:srgbClr val="12223A">
                  <a:lumMod val="50000"/>
                </a:srgbClr>
              </a:buClr>
            </a:pPr>
            <a:r>
              <a:rPr lang="en-US" sz="1200" i="1" u="sng" dirty="0">
                <a:solidFill>
                  <a:srgbClr val="CF7600"/>
                </a:solidFill>
                <a:cs typeface="Arial" pitchFamily="34" charset="0"/>
              </a:rPr>
              <a:t>Changeability</a:t>
            </a:r>
            <a:r>
              <a:rPr lang="en-US" sz="1200" dirty="0">
                <a:solidFill>
                  <a:srgbClr val="CF7600"/>
                </a:solidFill>
                <a:cs typeface="Arial" pitchFamily="34" charset="0"/>
              </a:rPr>
              <a:t> – </a:t>
            </a:r>
            <a:r>
              <a:rPr lang="en-US" sz="1200" dirty="0">
                <a:solidFill>
                  <a:srgbClr val="000000">
                    <a:lumMod val="65000"/>
                    <a:lumOff val="35000"/>
                  </a:srgbClr>
                </a:solidFill>
                <a:cs typeface="Arial" pitchFamily="34" charset="0"/>
              </a:rPr>
              <a:t>unclear boundaries or conventions can hinder reuse of utility classes. </a:t>
            </a:r>
          </a:p>
        </p:txBody>
      </p:sp>
      <p:sp>
        <p:nvSpPr>
          <p:cNvPr id="21" name="Isosceles Triangle 20">
            <a:extLst>
              <a:ext uri="{FF2B5EF4-FFF2-40B4-BE49-F238E27FC236}">
                <a16:creationId xmlns:a16="http://schemas.microsoft.com/office/drawing/2014/main" id="{A60297C8-7C8B-4DE0-A115-BE13FCF20343}"/>
              </a:ext>
            </a:extLst>
          </p:cNvPr>
          <p:cNvSpPr/>
          <p:nvPr userDrawn="1"/>
        </p:nvSpPr>
        <p:spPr bwMode="auto">
          <a:xfrm flipV="1">
            <a:off x="1036036" y="2174011"/>
            <a:ext cx="508092" cy="127949"/>
          </a:xfrm>
          <a:prstGeom prst="triangle">
            <a:avLst/>
          </a:prstGeom>
          <a:solidFill>
            <a:srgbClr val="293C47"/>
          </a:solidFill>
          <a:ln>
            <a:solidFill>
              <a:srgbClr val="293C47"/>
            </a:solidFill>
          </a:ln>
        </p:spPr>
        <p:txBody>
          <a:bodyPr vert="horz" wrap="square" lIns="45720" tIns="45720" rIns="45720" bIns="45720" rtlCol="0" anchor="ctr">
            <a:noAutofit/>
          </a:bodyPr>
          <a:lstStyle/>
          <a:p>
            <a:pPr algn="ctr">
              <a:spcBef>
                <a:spcPts val="300"/>
              </a:spcBef>
              <a:spcAft>
                <a:spcPts val="400"/>
              </a:spcAft>
              <a:buClr>
                <a:schemeClr val="accent5">
                  <a:lumMod val="50000"/>
                </a:schemeClr>
              </a:buClr>
              <a:buFont typeface="Webdings" pitchFamily="18" charset="2"/>
              <a:buNone/>
            </a:pPr>
            <a:endParaRPr lang="fr-FR" sz="2200" dirty="0" err="1">
              <a:solidFill>
                <a:schemeClr val="tx2">
                  <a:lumMod val="65000"/>
                  <a:lumOff val="35000"/>
                </a:schemeClr>
              </a:solidFill>
              <a:latin typeface="+mn-lt"/>
              <a:cs typeface="Arial" pitchFamily="34" charset="0"/>
            </a:endParaRPr>
          </a:p>
        </p:txBody>
      </p:sp>
      <p:sp>
        <p:nvSpPr>
          <p:cNvPr id="22" name="Isosceles Triangle 21">
            <a:extLst>
              <a:ext uri="{FF2B5EF4-FFF2-40B4-BE49-F238E27FC236}">
                <a16:creationId xmlns:a16="http://schemas.microsoft.com/office/drawing/2014/main" id="{FB09807F-4CE0-4940-A906-E4B6F1AF5C1E}"/>
              </a:ext>
            </a:extLst>
          </p:cNvPr>
          <p:cNvSpPr/>
          <p:nvPr userDrawn="1"/>
        </p:nvSpPr>
        <p:spPr bwMode="auto">
          <a:xfrm flipV="1">
            <a:off x="1036036" y="4248195"/>
            <a:ext cx="508092" cy="127949"/>
          </a:xfrm>
          <a:prstGeom prst="triangle">
            <a:avLst/>
          </a:prstGeom>
          <a:solidFill>
            <a:srgbClr val="293C47"/>
          </a:solidFill>
          <a:ln>
            <a:solidFill>
              <a:srgbClr val="293C47"/>
            </a:solidFill>
          </a:ln>
        </p:spPr>
        <p:txBody>
          <a:bodyPr vert="horz" wrap="square" lIns="45720" tIns="45720" rIns="45720" bIns="45720" rtlCol="0" anchor="ctr">
            <a:noAutofit/>
          </a:bodyPr>
          <a:lstStyle/>
          <a:p>
            <a:pPr algn="ctr">
              <a:spcBef>
                <a:spcPts val="300"/>
              </a:spcBef>
              <a:spcAft>
                <a:spcPts val="400"/>
              </a:spcAft>
              <a:buClr>
                <a:schemeClr val="accent5">
                  <a:lumMod val="50000"/>
                </a:schemeClr>
              </a:buClr>
              <a:buFont typeface="Webdings" pitchFamily="18" charset="2"/>
              <a:buNone/>
            </a:pPr>
            <a:endParaRPr lang="fr-FR" sz="2200" dirty="0" err="1">
              <a:solidFill>
                <a:schemeClr val="tx2">
                  <a:lumMod val="65000"/>
                  <a:lumOff val="35000"/>
                </a:schemeClr>
              </a:solidFill>
              <a:latin typeface="+mn-lt"/>
              <a:cs typeface="Arial" pitchFamily="34" charset="0"/>
            </a:endParaRPr>
          </a:p>
        </p:txBody>
      </p:sp>
      <p:pic>
        <p:nvPicPr>
          <p:cNvPr id="3" name="Picture 2">
            <a:extLst>
              <a:ext uri="{FF2B5EF4-FFF2-40B4-BE49-F238E27FC236}">
                <a16:creationId xmlns:a16="http://schemas.microsoft.com/office/drawing/2014/main" id="{7A01CE77-A77B-AB3C-5593-A336330E3CCB}"/>
              </a:ext>
            </a:extLst>
          </p:cNvPr>
          <p:cNvPicPr>
            <a:picLocks noChangeAspect="1"/>
          </p:cNvPicPr>
          <p:nvPr userDrawn="1"/>
        </p:nvPicPr>
        <p:blipFill>
          <a:blip r:embed="rId3"/>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1948559784"/>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Finding for exec team">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79442FA-2F80-4DC9-9F85-569C6A878A9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64828" b="28404"/>
          <a:stretch/>
        </p:blipFill>
        <p:spPr>
          <a:xfrm>
            <a:off x="-1" y="6484776"/>
            <a:ext cx="12192000" cy="365125"/>
          </a:xfrm>
          <a:prstGeom prst="rect">
            <a:avLst/>
          </a:prstGeom>
        </p:spPr>
      </p:pic>
      <p:sp>
        <p:nvSpPr>
          <p:cNvPr id="14" name="Rectangle 13">
            <a:extLst>
              <a:ext uri="{FF2B5EF4-FFF2-40B4-BE49-F238E27FC236}">
                <a16:creationId xmlns:a16="http://schemas.microsoft.com/office/drawing/2014/main" id="{1F83BBA5-919E-4F1F-9393-FEA119F82634}"/>
              </a:ext>
            </a:extLst>
          </p:cNvPr>
          <p:cNvSpPr/>
          <p:nvPr userDrawn="1"/>
        </p:nvSpPr>
        <p:spPr>
          <a:xfrm flipV="1">
            <a:off x="0" y="6484776"/>
            <a:ext cx="12192000" cy="405452"/>
          </a:xfrm>
          <a:prstGeom prst="rect">
            <a:avLst/>
          </a:prstGeom>
          <a:solidFill>
            <a:srgbClr val="293C47">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userDrawn="1"/>
        </p:nvSpPr>
        <p:spPr>
          <a:xfrm flipV="1">
            <a:off x="0" y="0"/>
            <a:ext cx="12192000" cy="914400"/>
          </a:xfrm>
          <a:prstGeom prst="rect">
            <a:avLst/>
          </a:prstGeom>
          <a:solidFill>
            <a:srgbClr val="293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userDrawn="1"/>
        </p:nvSpPr>
        <p:spPr>
          <a:xfrm>
            <a:off x="947692" y="6504941"/>
            <a:ext cx="1351652" cy="365124"/>
          </a:xfrm>
          <a:prstGeom prst="rect">
            <a:avLst/>
          </a:prstGeom>
          <a:noFill/>
        </p:spPr>
        <p:txBody>
          <a:bodyPr wrap="none" rtlCol="0" anchor="ctr">
            <a:noAutofit/>
          </a:bodyPr>
          <a:lstStyle/>
          <a:p>
            <a:r>
              <a:rPr lang="en-US" sz="1000" b="0" i="0" dirty="0">
                <a:solidFill>
                  <a:schemeClr val="bg1"/>
                </a:solidFill>
                <a:latin typeface="Gotham Book" pitchFamily="50" charset="0"/>
                <a:ea typeface="Arial" charset="0"/>
                <a:cs typeface="Gotham Book" pitchFamily="50" charset="0"/>
              </a:rPr>
              <a:t>CAST Confidential</a:t>
            </a:r>
          </a:p>
        </p:txBody>
      </p:sp>
      <p:sp>
        <p:nvSpPr>
          <p:cNvPr id="13" name="Slide Number Placeholder 3"/>
          <p:cNvSpPr>
            <a:spLocks noGrp="1"/>
          </p:cNvSpPr>
          <p:nvPr>
            <p:ph type="sldNum" sz="quarter" idx="12"/>
          </p:nvPr>
        </p:nvSpPr>
        <p:spPr>
          <a:xfrm>
            <a:off x="86632" y="6504940"/>
            <a:ext cx="662940" cy="365125"/>
          </a:xfrm>
        </p:spPr>
        <p:txBody>
          <a:bodyPr/>
          <a:lstStyle>
            <a:lvl1pPr algn="ctr">
              <a:defRPr sz="1050">
                <a:solidFill>
                  <a:schemeClr val="bg1"/>
                </a:solidFill>
                <a:latin typeface="Gotham Book" pitchFamily="50" charset="0"/>
                <a:cs typeface="Gotham Book" pitchFamily="50" charset="0"/>
              </a:defRPr>
            </a:lvl1pPr>
          </a:lstStyle>
          <a:p>
            <a:fld id="{EEFED013-66E8-448A-B953-99801F824AF7}" type="slidenum">
              <a:rPr lang="en-US" smtClean="0"/>
              <a:pPr/>
              <a:t>‹#›</a:t>
            </a:fld>
            <a:endParaRPr lang="en-US" dirty="0"/>
          </a:p>
        </p:txBody>
      </p:sp>
      <p:sp>
        <p:nvSpPr>
          <p:cNvPr id="2" name="Title 1">
            <a:extLst>
              <a:ext uri="{FF2B5EF4-FFF2-40B4-BE49-F238E27FC236}">
                <a16:creationId xmlns:a16="http://schemas.microsoft.com/office/drawing/2014/main" id="{26B7B6A0-42F7-4032-9B15-8C3F8484BD34}"/>
              </a:ext>
            </a:extLst>
          </p:cNvPr>
          <p:cNvSpPr>
            <a:spLocks noGrp="1"/>
          </p:cNvSpPr>
          <p:nvPr>
            <p:ph type="title"/>
          </p:nvPr>
        </p:nvSpPr>
        <p:spPr>
          <a:xfrm>
            <a:off x="548024" y="39693"/>
            <a:ext cx="8756784" cy="874707"/>
          </a:xfrm>
        </p:spPr>
        <p:txBody>
          <a:bodyPr anchor="ctr" anchorCtr="0"/>
          <a:lstStyle>
            <a:lvl1pPr>
              <a:defRPr sz="2400" b="0">
                <a:solidFill>
                  <a:schemeClr val="bg1"/>
                </a:solidFill>
                <a:latin typeface="Gotham Book" pitchFamily="50" charset="0"/>
                <a:cs typeface="Gotham Book" pitchFamily="50" charset="0"/>
              </a:defRPr>
            </a:lvl1pPr>
          </a:lstStyle>
          <a:p>
            <a:r>
              <a:rPr lang="en-US" dirty="0"/>
              <a:t>Click to edit Master title style</a:t>
            </a:r>
          </a:p>
        </p:txBody>
      </p:sp>
      <p:sp>
        <p:nvSpPr>
          <p:cNvPr id="16" name="TextBox 15">
            <a:extLst>
              <a:ext uri="{FF2B5EF4-FFF2-40B4-BE49-F238E27FC236}">
                <a16:creationId xmlns:a16="http://schemas.microsoft.com/office/drawing/2014/main" id="{186111D9-B349-4B82-9966-46C3F0A6F8C6}"/>
              </a:ext>
            </a:extLst>
          </p:cNvPr>
          <p:cNvSpPr txBox="1"/>
          <p:nvPr userDrawn="1"/>
        </p:nvSpPr>
        <p:spPr>
          <a:xfrm>
            <a:off x="7414260" y="6540764"/>
            <a:ext cx="4191000" cy="293476"/>
          </a:xfrm>
          <a:prstGeom prst="rect">
            <a:avLst/>
          </a:prstGeom>
        </p:spPr>
        <p:txBody>
          <a:bodyPr vert="horz" wrap="square" lIns="91440" tIns="45720" rIns="91440" bIns="45720" rtlCol="0" anchor="ctr">
            <a:noAutofit/>
          </a:bodyPr>
          <a:lstStyle/>
          <a:p>
            <a:pPr algn="r"/>
            <a:r>
              <a:rPr lang="en-US" sz="1200" cap="all" baseline="0" dirty="0">
                <a:solidFill>
                  <a:schemeClr val="bg1"/>
                </a:solidFill>
                <a:latin typeface="Gotham Book" pitchFamily="50" charset="0"/>
                <a:cs typeface="Gotham Book" pitchFamily="50" charset="0"/>
              </a:rPr>
              <a:t>Software Intelligence for Digital Leaders</a:t>
            </a:r>
          </a:p>
        </p:txBody>
      </p:sp>
      <p:sp>
        <p:nvSpPr>
          <p:cNvPr id="17" name="Rounded Rectangle 6">
            <a:extLst>
              <a:ext uri="{FF2B5EF4-FFF2-40B4-BE49-F238E27FC236}">
                <a16:creationId xmlns:a16="http://schemas.microsoft.com/office/drawing/2014/main" id="{14D29999-1D8E-4D8F-931C-60C5188F1501}"/>
              </a:ext>
            </a:extLst>
          </p:cNvPr>
          <p:cNvSpPr/>
          <p:nvPr userDrawn="1"/>
        </p:nvSpPr>
        <p:spPr bwMode="auto">
          <a:xfrm>
            <a:off x="609600" y="1155329"/>
            <a:ext cx="11064077" cy="1016786"/>
          </a:xfrm>
          <a:prstGeom prst="roundRect">
            <a:avLst/>
          </a:prstGeom>
          <a:solidFill>
            <a:schemeClr val="bg1"/>
          </a:solidFill>
          <a:ln>
            <a:solidFill>
              <a:srgbClr val="293C47"/>
            </a:solidFill>
          </a:ln>
          <a:effectLst/>
        </p:spPr>
        <p:txBody>
          <a:bodyPr vert="horz" wrap="square" lIns="45720" tIns="45720" rIns="45720" bIns="45720" rtlCol="0" anchor="t">
            <a:noAutofit/>
          </a:bodyPr>
          <a:lstStyle/>
          <a:p>
            <a:pPr>
              <a:spcBef>
                <a:spcPts val="300"/>
              </a:spcBef>
              <a:spcAft>
                <a:spcPts val="400"/>
              </a:spcAft>
              <a:buClr>
                <a:schemeClr val="accent5">
                  <a:lumMod val="50000"/>
                </a:schemeClr>
              </a:buClr>
              <a:buFont typeface="Webdings" pitchFamily="18" charset="2"/>
              <a:buNone/>
            </a:pPr>
            <a:r>
              <a:rPr lang="fr-FR" sz="1400" b="1" dirty="0">
                <a:solidFill>
                  <a:srgbClr val="000000">
                    <a:lumMod val="65000"/>
                    <a:lumOff val="35000"/>
                  </a:srgbClr>
                </a:solidFill>
                <a:cs typeface="Arial" pitchFamily="34" charset="0"/>
              </a:rPr>
              <a:t>Observation:</a:t>
            </a:r>
          </a:p>
          <a:p>
            <a:pPr>
              <a:spcBef>
                <a:spcPts val="300"/>
              </a:spcBef>
              <a:spcAft>
                <a:spcPts val="400"/>
              </a:spcAft>
              <a:buClr>
                <a:schemeClr val="accent5">
                  <a:lumMod val="50000"/>
                </a:schemeClr>
              </a:buClr>
              <a:buFont typeface="Webdings" pitchFamily="18" charset="2"/>
              <a:buNone/>
            </a:pPr>
            <a:r>
              <a:rPr lang="en-US" sz="1200" dirty="0">
                <a:solidFill>
                  <a:srgbClr val="000000">
                    <a:lumMod val="65000"/>
                    <a:lumOff val="35000"/>
                  </a:srgbClr>
                </a:solidFill>
                <a:cs typeface="Arial" pitchFamily="34" charset="0"/>
              </a:rPr>
              <a:t>In xxx, 7 utility classes do not declare a private constructor. Utility classes are not meant to be instantiated because all the functionalities they provide are accessible without instantiation. A private constructor locks the instantiation mechanism and protects the utility class against misuse.</a:t>
            </a:r>
            <a:endParaRPr lang="fr-FR" sz="1200" dirty="0">
              <a:solidFill>
                <a:srgbClr val="000000">
                  <a:lumMod val="65000"/>
                  <a:lumOff val="35000"/>
                </a:srgbClr>
              </a:solidFill>
              <a:cs typeface="Arial" pitchFamily="34" charset="0"/>
            </a:endParaRPr>
          </a:p>
          <a:p>
            <a:pPr>
              <a:spcBef>
                <a:spcPts val="300"/>
              </a:spcBef>
              <a:spcAft>
                <a:spcPts val="400"/>
              </a:spcAft>
              <a:buClr>
                <a:schemeClr val="accent5">
                  <a:lumMod val="50000"/>
                </a:schemeClr>
              </a:buClr>
              <a:buFont typeface="Webdings" pitchFamily="18" charset="2"/>
              <a:buNone/>
            </a:pPr>
            <a:endParaRPr lang="fr-FR" sz="1800" dirty="0" err="1">
              <a:solidFill>
                <a:schemeClr val="tx2">
                  <a:lumMod val="65000"/>
                  <a:lumOff val="35000"/>
                </a:schemeClr>
              </a:solidFill>
              <a:cs typeface="Arial" pitchFamily="34" charset="0"/>
            </a:endParaRPr>
          </a:p>
        </p:txBody>
      </p:sp>
      <p:sp>
        <p:nvSpPr>
          <p:cNvPr id="19" name="Rounded Rectangle 7">
            <a:extLst>
              <a:ext uri="{FF2B5EF4-FFF2-40B4-BE49-F238E27FC236}">
                <a16:creationId xmlns:a16="http://schemas.microsoft.com/office/drawing/2014/main" id="{356F8FBC-A967-479A-A2C2-6F82B7055647}"/>
              </a:ext>
            </a:extLst>
          </p:cNvPr>
          <p:cNvSpPr/>
          <p:nvPr userDrawn="1"/>
        </p:nvSpPr>
        <p:spPr bwMode="auto">
          <a:xfrm>
            <a:off x="616442" y="2318894"/>
            <a:ext cx="3384058" cy="1928600"/>
          </a:xfrm>
          <a:prstGeom prst="roundRect">
            <a:avLst/>
          </a:prstGeom>
          <a:solidFill>
            <a:schemeClr val="bg1"/>
          </a:solidFill>
          <a:ln>
            <a:solidFill>
              <a:srgbClr val="293C47"/>
            </a:solidFill>
          </a:ln>
          <a:effectLst/>
        </p:spPr>
        <p:txBody>
          <a:bodyPr vert="horz" wrap="square" lIns="45720" tIns="45720" rIns="45720" bIns="45720" rtlCol="0" anchor="t">
            <a:noAutofit/>
          </a:bodyPr>
          <a:lstStyle/>
          <a:p>
            <a:pPr marL="0" marR="0" lvl="0" indent="0" algn="l" defTabSz="914400" rtl="0" eaLnBrk="1" fontAlgn="auto" latinLnBrk="0" hangingPunct="1">
              <a:lnSpc>
                <a:spcPct val="100000"/>
              </a:lnSpc>
              <a:spcBef>
                <a:spcPts val="300"/>
              </a:spcBef>
              <a:spcAft>
                <a:spcPts val="400"/>
              </a:spcAft>
              <a:buClr>
                <a:srgbClr val="12223A">
                  <a:lumMod val="50000"/>
                </a:srgbClr>
              </a:buClr>
              <a:buSzTx/>
              <a:buFontTx/>
              <a:buNone/>
              <a:tabLst/>
              <a:defRPr/>
            </a:pPr>
            <a:r>
              <a:rPr kumimoji="0" lang="fr-FR" sz="1400" b="1" i="0" u="none" strike="noStrike" kern="1200" cap="none" spc="0" normalizeH="0" baseline="0" noProof="0" dirty="0">
                <a:ln>
                  <a:noFill/>
                </a:ln>
                <a:solidFill>
                  <a:srgbClr val="000000">
                    <a:lumMod val="65000"/>
                    <a:lumOff val="35000"/>
                  </a:srgbClr>
                </a:solidFill>
                <a:effectLst/>
                <a:uLnTx/>
                <a:uFillTx/>
                <a:latin typeface="+mn-lt"/>
                <a:ea typeface="+mn-ea"/>
                <a:cs typeface="Arial" pitchFamily="34" charset="0"/>
              </a:rPr>
              <a:t>Business Value</a:t>
            </a:r>
            <a:r>
              <a:rPr kumimoji="0" lang="fr-FR" sz="1600" b="0" i="0" u="none" strike="noStrike" kern="1200" cap="none" spc="0" normalizeH="0" baseline="0" noProof="0" dirty="0">
                <a:ln>
                  <a:noFill/>
                </a:ln>
                <a:solidFill>
                  <a:srgbClr val="000000">
                    <a:lumMod val="65000"/>
                    <a:lumOff val="35000"/>
                  </a:srgbClr>
                </a:solidFill>
                <a:effectLst/>
                <a:uLnTx/>
                <a:uFillTx/>
                <a:latin typeface="+mn-lt"/>
                <a:ea typeface="+mn-ea"/>
                <a:cs typeface="Arial" pitchFamily="34" charset="0"/>
              </a:rPr>
              <a:t>:</a:t>
            </a:r>
          </a:p>
          <a:p>
            <a:pPr marL="0" marR="0" lvl="0" indent="0" algn="l" defTabSz="914400" rtl="0" eaLnBrk="1" fontAlgn="auto" latinLnBrk="0" hangingPunct="1">
              <a:lnSpc>
                <a:spcPct val="100000"/>
              </a:lnSpc>
              <a:spcBef>
                <a:spcPts val="300"/>
              </a:spcBef>
              <a:spcAft>
                <a:spcPts val="400"/>
              </a:spcAft>
              <a:buClr>
                <a:srgbClr val="12223A">
                  <a:lumMod val="50000"/>
                </a:srgbClr>
              </a:buClr>
              <a:buSzTx/>
              <a:buFontTx/>
              <a:buNone/>
              <a:tabLst/>
              <a:defRPr/>
            </a:pPr>
            <a:r>
              <a:rPr kumimoji="0" lang="en-US" sz="1200" b="0" i="1" u="sng" strike="noStrike" kern="1200" cap="none" spc="0" normalizeH="0" baseline="0" noProof="0" dirty="0">
                <a:ln>
                  <a:noFill/>
                </a:ln>
                <a:solidFill>
                  <a:srgbClr val="CF7600"/>
                </a:solidFill>
                <a:effectLst/>
                <a:uLnTx/>
                <a:uFillTx/>
                <a:latin typeface="+mn-lt"/>
                <a:ea typeface="+mn-ea"/>
                <a:cs typeface="Arial" pitchFamily="34" charset="0"/>
              </a:rPr>
              <a:t>Efficiency</a:t>
            </a:r>
            <a:r>
              <a:rPr kumimoji="0" lang="en-US" sz="1200" b="0" i="0" u="none" strike="noStrike" kern="1200" cap="none" spc="0" normalizeH="0" baseline="0" noProof="0" dirty="0">
                <a:ln>
                  <a:noFill/>
                </a:ln>
                <a:solidFill>
                  <a:srgbClr val="CF7600"/>
                </a:solidFill>
                <a:effectLst/>
                <a:uLnTx/>
                <a:uFillTx/>
                <a:latin typeface="+mn-lt"/>
                <a:ea typeface="+mn-ea"/>
                <a:cs typeface="Arial" pitchFamily="34" charset="0"/>
              </a:rPr>
              <a:t> – </a:t>
            </a:r>
            <a:r>
              <a:rPr kumimoji="0" lang="en-US" sz="1200" b="0" i="0" u="none" strike="noStrike" kern="1200" cap="none" spc="0" normalizeH="0" baseline="0" noProof="0" dirty="0">
                <a:ln>
                  <a:noFill/>
                </a:ln>
                <a:solidFill>
                  <a:srgbClr val="000000">
                    <a:lumMod val="65000"/>
                    <a:lumOff val="35000"/>
                  </a:srgbClr>
                </a:solidFill>
                <a:effectLst/>
                <a:uLnTx/>
                <a:uFillTx/>
                <a:latin typeface="+mn-lt"/>
                <a:ea typeface="+mn-ea"/>
                <a:cs typeface="Arial" pitchFamily="34" charset="0"/>
              </a:rPr>
              <a:t>unwarranted instantiations would consume memory without adding any functional value.</a:t>
            </a:r>
          </a:p>
          <a:p>
            <a:pPr marL="0" marR="0" lvl="0" indent="0" algn="l" defTabSz="914400" rtl="0" eaLnBrk="1" fontAlgn="auto" latinLnBrk="0" hangingPunct="1">
              <a:lnSpc>
                <a:spcPct val="100000"/>
              </a:lnSpc>
              <a:spcBef>
                <a:spcPts val="300"/>
              </a:spcBef>
              <a:spcAft>
                <a:spcPts val="400"/>
              </a:spcAft>
              <a:buClr>
                <a:srgbClr val="12223A">
                  <a:lumMod val="50000"/>
                </a:srgbClr>
              </a:buClr>
              <a:buSzTx/>
              <a:buFontTx/>
              <a:buNone/>
              <a:tabLst/>
              <a:defRPr/>
            </a:pPr>
            <a:r>
              <a:rPr kumimoji="0" lang="en-US" sz="1200" b="0" i="1" u="sng" strike="noStrike" kern="1200" cap="none" spc="0" normalizeH="0" baseline="0" noProof="0" dirty="0">
                <a:ln>
                  <a:noFill/>
                </a:ln>
                <a:solidFill>
                  <a:srgbClr val="CF7600"/>
                </a:solidFill>
                <a:effectLst/>
                <a:uLnTx/>
                <a:uFillTx/>
                <a:latin typeface="+mn-lt"/>
                <a:ea typeface="+mn-ea"/>
                <a:cs typeface="Arial" pitchFamily="34" charset="0"/>
              </a:rPr>
              <a:t>Changeability</a:t>
            </a:r>
            <a:r>
              <a:rPr kumimoji="0" lang="en-US" sz="1200" b="0" i="0" u="none" strike="noStrike" kern="1200" cap="none" spc="0" normalizeH="0" baseline="0" noProof="0" dirty="0">
                <a:ln>
                  <a:noFill/>
                </a:ln>
                <a:solidFill>
                  <a:srgbClr val="CF7600"/>
                </a:solidFill>
                <a:effectLst/>
                <a:uLnTx/>
                <a:uFillTx/>
                <a:latin typeface="+mn-lt"/>
                <a:ea typeface="+mn-ea"/>
                <a:cs typeface="Arial" pitchFamily="34" charset="0"/>
              </a:rPr>
              <a:t> – </a:t>
            </a:r>
            <a:r>
              <a:rPr kumimoji="0" lang="en-US" sz="1200" b="0" i="0" u="none" strike="noStrike" kern="1200" cap="none" spc="0" normalizeH="0" baseline="0" noProof="0" dirty="0">
                <a:ln>
                  <a:noFill/>
                </a:ln>
                <a:solidFill>
                  <a:srgbClr val="000000">
                    <a:lumMod val="65000"/>
                    <a:lumOff val="35000"/>
                  </a:srgbClr>
                </a:solidFill>
                <a:effectLst/>
                <a:uLnTx/>
                <a:uFillTx/>
                <a:latin typeface="+mn-lt"/>
                <a:ea typeface="+mn-ea"/>
                <a:cs typeface="Arial" pitchFamily="34" charset="0"/>
              </a:rPr>
              <a:t>unclear boundaries or conventions can hinder reuse of utility classes. </a:t>
            </a:r>
          </a:p>
        </p:txBody>
      </p:sp>
      <p:sp>
        <p:nvSpPr>
          <p:cNvPr id="20" name="Rounded Rectangle 8">
            <a:extLst>
              <a:ext uri="{FF2B5EF4-FFF2-40B4-BE49-F238E27FC236}">
                <a16:creationId xmlns:a16="http://schemas.microsoft.com/office/drawing/2014/main" id="{1CD741A7-C74D-4B32-A2B5-570AC1CB6A0F}"/>
              </a:ext>
            </a:extLst>
          </p:cNvPr>
          <p:cNvSpPr/>
          <p:nvPr userDrawn="1"/>
        </p:nvSpPr>
        <p:spPr bwMode="auto">
          <a:xfrm>
            <a:off x="616442" y="4394273"/>
            <a:ext cx="3452475" cy="1779235"/>
          </a:xfrm>
          <a:prstGeom prst="roundRect">
            <a:avLst/>
          </a:prstGeom>
          <a:solidFill>
            <a:schemeClr val="bg1"/>
          </a:solidFill>
          <a:ln>
            <a:solidFill>
              <a:srgbClr val="293C47"/>
            </a:solidFill>
          </a:ln>
          <a:effectLst/>
        </p:spPr>
        <p:txBody>
          <a:bodyPr vert="horz" wrap="square" lIns="45720" tIns="45720" rIns="45720" bIns="45720" rtlCol="0" anchor="t">
            <a:noAutofit/>
          </a:bodyPr>
          <a:lstStyle/>
          <a:p>
            <a:pPr marL="0" marR="0" lvl="0" indent="0" algn="l" defTabSz="914400" rtl="0" eaLnBrk="1" fontAlgn="auto" latinLnBrk="0" hangingPunct="1">
              <a:lnSpc>
                <a:spcPct val="100000"/>
              </a:lnSpc>
              <a:spcBef>
                <a:spcPts val="300"/>
              </a:spcBef>
              <a:spcAft>
                <a:spcPts val="400"/>
              </a:spcAft>
              <a:buClr>
                <a:srgbClr val="12223A">
                  <a:lumMod val="50000"/>
                </a:srgbClr>
              </a:buClr>
              <a:buSzTx/>
              <a:buFontTx/>
              <a:buNone/>
              <a:tabLst/>
              <a:defRPr/>
            </a:pPr>
            <a:r>
              <a:rPr kumimoji="0" lang="en-US" sz="1400" b="1" i="0" u="none" strike="noStrike" kern="1200" cap="none" spc="0" normalizeH="0" baseline="0" noProof="0" dirty="0">
                <a:ln>
                  <a:noFill/>
                </a:ln>
                <a:solidFill>
                  <a:srgbClr val="000000">
                    <a:lumMod val="65000"/>
                    <a:lumOff val="35000"/>
                  </a:srgbClr>
                </a:solidFill>
                <a:effectLst/>
                <a:uLnTx/>
                <a:uFillTx/>
                <a:latin typeface="+mn-lt"/>
                <a:ea typeface="+mn-ea"/>
                <a:cs typeface="Arial" pitchFamily="34" charset="0"/>
              </a:rPr>
              <a:t>Recommendation</a:t>
            </a:r>
            <a:r>
              <a:rPr kumimoji="0" lang="fr-FR" sz="1400" b="1" i="0" u="none" strike="noStrike" kern="1200" cap="none" spc="0" normalizeH="0" baseline="0" noProof="0" dirty="0">
                <a:ln>
                  <a:noFill/>
                </a:ln>
                <a:solidFill>
                  <a:srgbClr val="000000">
                    <a:lumMod val="65000"/>
                    <a:lumOff val="35000"/>
                  </a:srgbClr>
                </a:solidFill>
                <a:effectLst/>
                <a:uLnTx/>
                <a:uFillTx/>
                <a:latin typeface="+mn-lt"/>
                <a:ea typeface="+mn-ea"/>
                <a:cs typeface="Arial" pitchFamily="34" charset="0"/>
              </a:rPr>
              <a:t>:</a:t>
            </a:r>
          </a:p>
          <a:p>
            <a:pPr marL="0" marR="0" lvl="0" indent="0" algn="l" defTabSz="914400" rtl="0" eaLnBrk="1" fontAlgn="auto" latinLnBrk="0" hangingPunct="1">
              <a:lnSpc>
                <a:spcPct val="100000"/>
              </a:lnSpc>
              <a:spcBef>
                <a:spcPts val="300"/>
              </a:spcBef>
              <a:spcAft>
                <a:spcPts val="400"/>
              </a:spcAft>
              <a:buClr>
                <a:srgbClr val="12223A">
                  <a:lumMod val="50000"/>
                </a:srgbClr>
              </a:buClr>
              <a:buSzTx/>
              <a:buFontTx/>
              <a:buNone/>
              <a:tabLst/>
              <a:defRPr/>
            </a:pPr>
            <a:r>
              <a:rPr kumimoji="0" lang="en-US" sz="1200" b="0" i="1" u="sng" strike="noStrike" kern="1200" cap="none" spc="0" normalizeH="0" baseline="0" noProof="0" dirty="0">
                <a:ln>
                  <a:noFill/>
                </a:ln>
                <a:solidFill>
                  <a:srgbClr val="CF7600"/>
                </a:solidFill>
                <a:effectLst/>
                <a:uLnTx/>
                <a:uFillTx/>
                <a:latin typeface="+mn-lt"/>
                <a:ea typeface="+mn-ea"/>
                <a:cs typeface="Arial" pitchFamily="34" charset="0"/>
              </a:rPr>
              <a:t>Quick-win</a:t>
            </a:r>
            <a:r>
              <a:rPr kumimoji="0" lang="en-US" sz="1200" b="0" i="0" u="none" strike="noStrike" kern="1200" cap="none" spc="0" normalizeH="0" baseline="0" noProof="0" dirty="0">
                <a:ln>
                  <a:noFill/>
                </a:ln>
                <a:solidFill>
                  <a:srgbClr val="CF7600"/>
                </a:solidFill>
                <a:effectLst/>
                <a:uLnTx/>
                <a:uFillTx/>
                <a:latin typeface="+mn-lt"/>
                <a:ea typeface="+mn-ea"/>
                <a:cs typeface="Arial" pitchFamily="34" charset="0"/>
              </a:rPr>
              <a:t> – </a:t>
            </a:r>
            <a:r>
              <a:rPr kumimoji="0" lang="en-US" sz="1200" b="0" i="0" u="none" strike="noStrike" kern="1200" cap="none" spc="0" normalizeH="0" baseline="0" noProof="0" dirty="0">
                <a:ln>
                  <a:noFill/>
                </a:ln>
                <a:solidFill>
                  <a:srgbClr val="000000">
                    <a:lumMod val="65000"/>
                    <a:lumOff val="35000"/>
                  </a:srgbClr>
                </a:solidFill>
                <a:effectLst/>
                <a:uLnTx/>
                <a:uFillTx/>
                <a:latin typeface="+mn-lt"/>
                <a:ea typeface="+mn-ea"/>
                <a:cs typeface="Arial" pitchFamily="34" charset="0"/>
              </a:rPr>
              <a:t>provide a private default constructor for utility classes to ensure that the class can’t be instantiated.</a:t>
            </a:r>
          </a:p>
          <a:p>
            <a:pPr marL="0" marR="0" lvl="0" indent="0" algn="l" defTabSz="914400" rtl="0" eaLnBrk="1" fontAlgn="auto" latinLnBrk="0" hangingPunct="1">
              <a:lnSpc>
                <a:spcPct val="100000"/>
              </a:lnSpc>
              <a:spcBef>
                <a:spcPts val="300"/>
              </a:spcBef>
              <a:spcAft>
                <a:spcPts val="400"/>
              </a:spcAft>
              <a:buClr>
                <a:srgbClr val="12223A">
                  <a:lumMod val="50000"/>
                </a:srgbClr>
              </a:buClr>
              <a:buSzTx/>
              <a:buFontTx/>
              <a:buNone/>
              <a:tabLst/>
              <a:defRPr/>
            </a:pPr>
            <a:r>
              <a:rPr kumimoji="0" lang="en-US" sz="1200" b="0" i="0" u="none" strike="noStrike" kern="1200" cap="none" spc="0" normalizeH="0" baseline="0" noProof="0" dirty="0">
                <a:ln>
                  <a:noFill/>
                </a:ln>
                <a:solidFill>
                  <a:srgbClr val="000000">
                    <a:lumMod val="65000"/>
                    <a:lumOff val="35000"/>
                  </a:srgbClr>
                </a:solidFill>
                <a:effectLst/>
                <a:uLnTx/>
                <a:uFillTx/>
                <a:latin typeface="+mn-lt"/>
                <a:ea typeface="+mn-ea"/>
                <a:cs typeface="Arial" pitchFamily="34" charset="0"/>
              </a:rPr>
              <a:t>The scope is small, with only 7 violations, so the time estimate is very low.</a:t>
            </a:r>
          </a:p>
        </p:txBody>
      </p:sp>
      <p:sp>
        <p:nvSpPr>
          <p:cNvPr id="21" name="Isosceles Triangle 20">
            <a:extLst>
              <a:ext uri="{FF2B5EF4-FFF2-40B4-BE49-F238E27FC236}">
                <a16:creationId xmlns:a16="http://schemas.microsoft.com/office/drawing/2014/main" id="{A60297C8-7C8B-4DE0-A115-BE13FCF20343}"/>
              </a:ext>
            </a:extLst>
          </p:cNvPr>
          <p:cNvSpPr/>
          <p:nvPr userDrawn="1"/>
        </p:nvSpPr>
        <p:spPr bwMode="auto">
          <a:xfrm flipV="1">
            <a:off x="1036036" y="2174011"/>
            <a:ext cx="508092" cy="127949"/>
          </a:xfrm>
          <a:prstGeom prst="triangle">
            <a:avLst/>
          </a:prstGeom>
          <a:solidFill>
            <a:srgbClr val="293C47"/>
          </a:solidFill>
          <a:ln>
            <a:solidFill>
              <a:srgbClr val="293C47"/>
            </a:solidFill>
          </a:ln>
        </p:spPr>
        <p:txBody>
          <a:bodyPr vert="horz" wrap="square" lIns="45720" tIns="45720" rIns="45720" bIns="45720" rtlCol="0" anchor="ctr">
            <a:noAutofit/>
          </a:bodyPr>
          <a:lstStyle/>
          <a:p>
            <a:pPr algn="ctr">
              <a:spcBef>
                <a:spcPts val="300"/>
              </a:spcBef>
              <a:spcAft>
                <a:spcPts val="400"/>
              </a:spcAft>
              <a:buClr>
                <a:schemeClr val="accent5">
                  <a:lumMod val="50000"/>
                </a:schemeClr>
              </a:buClr>
              <a:buFont typeface="Webdings" pitchFamily="18" charset="2"/>
              <a:buNone/>
            </a:pPr>
            <a:endParaRPr lang="fr-FR" sz="2200" dirty="0" err="1">
              <a:solidFill>
                <a:schemeClr val="tx2">
                  <a:lumMod val="65000"/>
                  <a:lumOff val="35000"/>
                </a:schemeClr>
              </a:solidFill>
              <a:latin typeface="+mn-lt"/>
              <a:cs typeface="Arial" pitchFamily="34" charset="0"/>
            </a:endParaRPr>
          </a:p>
        </p:txBody>
      </p:sp>
      <p:sp>
        <p:nvSpPr>
          <p:cNvPr id="22" name="Isosceles Triangle 21">
            <a:extLst>
              <a:ext uri="{FF2B5EF4-FFF2-40B4-BE49-F238E27FC236}">
                <a16:creationId xmlns:a16="http://schemas.microsoft.com/office/drawing/2014/main" id="{FB09807F-4CE0-4940-A906-E4B6F1AF5C1E}"/>
              </a:ext>
            </a:extLst>
          </p:cNvPr>
          <p:cNvSpPr/>
          <p:nvPr userDrawn="1"/>
        </p:nvSpPr>
        <p:spPr bwMode="auto">
          <a:xfrm flipV="1">
            <a:off x="1036036" y="4248195"/>
            <a:ext cx="508092" cy="127949"/>
          </a:xfrm>
          <a:prstGeom prst="triangle">
            <a:avLst/>
          </a:prstGeom>
          <a:solidFill>
            <a:srgbClr val="293C47"/>
          </a:solidFill>
          <a:ln>
            <a:solidFill>
              <a:srgbClr val="293C47"/>
            </a:solidFill>
          </a:ln>
        </p:spPr>
        <p:txBody>
          <a:bodyPr vert="horz" wrap="square" lIns="45720" tIns="45720" rIns="45720" bIns="45720" rtlCol="0" anchor="ctr">
            <a:noAutofit/>
          </a:bodyPr>
          <a:lstStyle/>
          <a:p>
            <a:pPr algn="ctr">
              <a:spcBef>
                <a:spcPts val="300"/>
              </a:spcBef>
              <a:spcAft>
                <a:spcPts val="400"/>
              </a:spcAft>
              <a:buClr>
                <a:schemeClr val="accent5">
                  <a:lumMod val="50000"/>
                </a:schemeClr>
              </a:buClr>
              <a:buFont typeface="Webdings" pitchFamily="18" charset="2"/>
              <a:buNone/>
            </a:pPr>
            <a:endParaRPr lang="fr-FR" sz="2200" dirty="0" err="1">
              <a:solidFill>
                <a:schemeClr val="tx2">
                  <a:lumMod val="65000"/>
                  <a:lumOff val="35000"/>
                </a:schemeClr>
              </a:solidFill>
              <a:latin typeface="+mn-lt"/>
              <a:cs typeface="Arial" pitchFamily="34" charset="0"/>
            </a:endParaRPr>
          </a:p>
        </p:txBody>
      </p:sp>
      <p:pic>
        <p:nvPicPr>
          <p:cNvPr id="4" name="Picture 3">
            <a:extLst>
              <a:ext uri="{FF2B5EF4-FFF2-40B4-BE49-F238E27FC236}">
                <a16:creationId xmlns:a16="http://schemas.microsoft.com/office/drawing/2014/main" id="{33870EA4-09E0-7658-0C8F-D6F897AB825A}"/>
              </a:ext>
            </a:extLst>
          </p:cNvPr>
          <p:cNvPicPr>
            <a:picLocks noChangeAspect="1"/>
          </p:cNvPicPr>
          <p:nvPr userDrawn="1"/>
        </p:nvPicPr>
        <p:blipFill>
          <a:blip r:embed="rId3"/>
          <a:stretch>
            <a:fillRect/>
          </a:stretch>
        </p:blipFill>
        <p:spPr>
          <a:xfrm>
            <a:off x="10564611" y="266724"/>
            <a:ext cx="1079365" cy="380952"/>
          </a:xfrm>
          <a:prstGeom prst="rect">
            <a:avLst/>
          </a:prstGeom>
        </p:spPr>
      </p:pic>
    </p:spTree>
    <p:extLst>
      <p:ext uri="{BB962C8B-B14F-4D97-AF65-F5344CB8AC3E}">
        <p14:creationId xmlns:p14="http://schemas.microsoft.com/office/powerpoint/2010/main" val="3768597161"/>
      </p:ext>
    </p:extLst>
  </p:cSld>
  <p:clrMapOvr>
    <a:masterClrMapping/>
  </p:clrMapOvr>
  <p:extLst>
    <p:ext uri="{DCECCB84-F9BA-43D5-87BE-67443E8EF086}">
      <p15:sldGuideLst xmlns:p15="http://schemas.microsoft.com/office/powerpoint/2012/main">
        <p15:guide id="2" pos="384">
          <p15:clr>
            <a:srgbClr val="FBAE40"/>
          </p15:clr>
        </p15:guide>
        <p15:guide id="3" pos="7296">
          <p15:clr>
            <a:srgbClr val="FBAE40"/>
          </p15:clr>
        </p15:guide>
        <p15:guide id="4" pos="2520">
          <p15:clr>
            <a:srgbClr val="FBAE40"/>
          </p15:clr>
        </p15:guide>
        <p15:guide id="5" pos="2784">
          <p15:clr>
            <a:srgbClr val="FBAE40"/>
          </p15:clr>
        </p15:guide>
        <p15:guide id="6" pos="4896">
          <p15:clr>
            <a:srgbClr val="FBAE40"/>
          </p15:clr>
        </p15:guide>
        <p15:guide id="7" pos="5160">
          <p15:clr>
            <a:srgbClr val="FBAE40"/>
          </p15:clr>
        </p15:guide>
        <p15:guide id="9" orient="horz" pos="720">
          <p15:clr>
            <a:srgbClr val="FBAE40"/>
          </p15:clr>
        </p15:guide>
        <p15:guide id="10" orient="horz" pos="840">
          <p15:clr>
            <a:srgbClr val="FBAE40"/>
          </p15:clr>
        </p15:guide>
        <p15:guide id="11" orient="horz" pos="288">
          <p15:clr>
            <a:srgbClr val="FBAE40"/>
          </p15:clr>
        </p15:guide>
        <p15:guide id="12" orient="horz" pos="3888">
          <p15:clr>
            <a:srgbClr val="FBAE40"/>
          </p15:clr>
        </p15:guide>
        <p15:guide id="13" pos="9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a:defRPr/>
            </a:lvl1pPr>
          </a:lstStyle>
          <a:p>
            <a:pPr>
              <a:buClr>
                <a:prstClr val="black"/>
              </a:buClr>
            </a:pPr>
            <a:fld id="{F71C7896-8E11-4384-BFC5-C0974CDBC83D}" type="slidenum">
              <a:rPr lang="en-US">
                <a:solidFill>
                  <a:srgbClr val="000000">
                    <a:lumMod val="65000"/>
                    <a:lumOff val="35000"/>
                  </a:srgbClr>
                </a:solidFill>
              </a:rPr>
              <a:pPr>
                <a:buClr>
                  <a:prstClr val="black"/>
                </a:buClr>
              </a:pPr>
              <a:t>‹#›</a:t>
            </a:fld>
            <a:endParaRPr lang="en-US" dirty="0">
              <a:solidFill>
                <a:srgbClr val="000000">
                  <a:lumMod val="65000"/>
                  <a:lumOff val="35000"/>
                </a:srgbClr>
              </a:solidFill>
            </a:endParaRPr>
          </a:p>
        </p:txBody>
      </p:sp>
      <p:sp>
        <p:nvSpPr>
          <p:cNvPr id="5" name="Title 4"/>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1"/>
          </p:nvPr>
        </p:nvSpPr>
        <p:spPr>
          <a:xfrm>
            <a:off x="433918" y="907126"/>
            <a:ext cx="11338983" cy="183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51733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bg1"/>
        </a:solidFill>
        <a:effectLst/>
      </p:bgPr>
    </p:bg>
    <p:spTree>
      <p:nvGrpSpPr>
        <p:cNvPr id="1" name=""/>
        <p:cNvGrpSpPr/>
        <p:nvPr/>
      </p:nvGrpSpPr>
      <p:grpSpPr>
        <a:xfrm>
          <a:off x="0" y="0"/>
          <a:ext cx="0" cy="0"/>
          <a:chOff x="0" y="0"/>
          <a:chExt cx="0" cy="0"/>
        </a:xfrm>
      </p:grpSpPr>
      <p:grpSp>
        <p:nvGrpSpPr>
          <p:cNvPr id="5" name="Group 4"/>
          <p:cNvGrpSpPr/>
          <p:nvPr userDrawn="1"/>
        </p:nvGrpSpPr>
        <p:grpSpPr>
          <a:xfrm>
            <a:off x="0" y="0"/>
            <a:ext cx="12192000" cy="6736360"/>
            <a:chOff x="0" y="0"/>
            <a:chExt cx="9144000" cy="6736360"/>
          </a:xfrm>
        </p:grpSpPr>
        <p:grpSp>
          <p:nvGrpSpPr>
            <p:cNvPr id="7" name="Group 6"/>
            <p:cNvGrpSpPr/>
            <p:nvPr userDrawn="1"/>
          </p:nvGrpSpPr>
          <p:grpSpPr>
            <a:xfrm>
              <a:off x="0" y="0"/>
              <a:ext cx="9144000" cy="6736360"/>
              <a:chOff x="0" y="0"/>
              <a:chExt cx="9144000" cy="6736360"/>
            </a:xfrm>
          </p:grpSpPr>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9144000" cy="6736360"/>
              </a:xfrm>
              <a:prstGeom prst="rect">
                <a:avLst/>
              </a:prstGeom>
            </p:spPr>
          </p:pic>
          <p:sp>
            <p:nvSpPr>
              <p:cNvPr id="10" name="Rectangle 9"/>
              <p:cNvSpPr/>
              <p:nvPr userDrawn="1"/>
            </p:nvSpPr>
            <p:spPr bwMode="auto">
              <a:xfrm>
                <a:off x="5603846" y="629174"/>
                <a:ext cx="3254928" cy="763398"/>
              </a:xfrm>
              <a:prstGeom prst="rect">
                <a:avLst/>
              </a:prstGeom>
              <a:solidFill>
                <a:schemeClr val="bg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sz="2400" dirty="0">
                  <a:solidFill>
                    <a:prstClr val="black"/>
                  </a:solidFill>
                  <a:latin typeface="Times New Roman" pitchFamily="18" charset="0"/>
                  <a:cs typeface="+mn-cs"/>
                </a:endParaRPr>
              </a:p>
            </p:txBody>
          </p:sp>
        </p:grpSp>
        <p:pic>
          <p:nvPicPr>
            <p:cNvPr id="8" name="Picture 7" descr="Cover_Cast_IceBerg_3-JSP9.jpg"/>
            <p:cNvPicPr>
              <a:picLocks noChangeAspect="1"/>
            </p:cNvPicPr>
            <p:nvPr userDrawn="1"/>
          </p:nvPicPr>
          <p:blipFill>
            <a:blip r:embed="rId3" cstate="screen">
              <a:extLst>
                <a:ext uri="{BEBA8EAE-BF5A-486C-A8C5-ECC9F3942E4B}">
                  <a14:imgProps xmlns:a14="http://schemas.microsoft.com/office/drawing/2010/main">
                    <a14:imgLayer r:embed="rId4">
                      <a14:imgEffect>
                        <a14:sharpenSoften amount="25000"/>
                      </a14:imgEffect>
                    </a14:imgLayer>
                  </a14:imgProps>
                </a:ext>
              </a:extLst>
            </a:blip>
            <a:srcRect/>
            <a:stretch>
              <a:fillRect/>
            </a:stretch>
          </p:blipFill>
          <p:spPr>
            <a:xfrm>
              <a:off x="0" y="1524000"/>
              <a:ext cx="9144000" cy="3048000"/>
            </a:xfrm>
            <a:prstGeom prst="rect">
              <a:avLst/>
            </a:prstGeom>
          </p:spPr>
        </p:pic>
      </p:grpSp>
      <p:sp>
        <p:nvSpPr>
          <p:cNvPr id="200706" name="Rectangle 2"/>
          <p:cNvSpPr>
            <a:spLocks noGrp="1" noChangeArrowheads="1"/>
          </p:cNvSpPr>
          <p:nvPr>
            <p:ph type="subTitle" idx="1"/>
          </p:nvPr>
        </p:nvSpPr>
        <p:spPr>
          <a:xfrm>
            <a:off x="609600" y="5477259"/>
            <a:ext cx="10972800" cy="353943"/>
          </a:xfrm>
          <a:prstGeom prst="rect">
            <a:avLst/>
          </a:prstGeom>
        </p:spPr>
        <p:txBody>
          <a:bodyPr vert="horz" lIns="45720" tIns="45720" rIns="45720" bIns="0" rtlCol="0">
            <a:spAutoFit/>
          </a:bodyPr>
          <a:lstStyle>
            <a:lvl1pPr marL="0" indent="0">
              <a:buNone/>
              <a:defRPr lang="en-US" sz="2000" b="0" i="0" dirty="0">
                <a:solidFill>
                  <a:schemeClr val="accent2"/>
                </a:solidFill>
              </a:defRPr>
            </a:lvl1pPr>
          </a:lstStyle>
          <a:p>
            <a:pPr lvl="0">
              <a:tabLst>
                <a:tab pos="1025525" algn="l"/>
              </a:tabLst>
            </a:pPr>
            <a:r>
              <a:rPr lang="en-US"/>
              <a:t>Click to edit Master subtitle style</a:t>
            </a:r>
            <a:endParaRPr lang="en-US" dirty="0"/>
          </a:p>
        </p:txBody>
      </p:sp>
      <p:sp>
        <p:nvSpPr>
          <p:cNvPr id="200707" name="Rectangle 3"/>
          <p:cNvSpPr>
            <a:spLocks noGrp="1" noChangeArrowheads="1"/>
          </p:cNvSpPr>
          <p:nvPr>
            <p:ph type="ctrTitle" sz="quarter"/>
          </p:nvPr>
        </p:nvSpPr>
        <p:spPr>
          <a:xfrm>
            <a:off x="621792" y="5034686"/>
            <a:ext cx="10972800" cy="378565"/>
          </a:xfrm>
          <a:noFill/>
          <a:ln w="9525">
            <a:noFill/>
            <a:miter lim="800000"/>
            <a:headEnd/>
            <a:tailEnd/>
          </a:ln>
          <a:effectLst/>
        </p:spPr>
        <p:txBody>
          <a:bodyPr vert="horz" wrap="square" lIns="45720" tIns="45720" rIns="45720" bIns="0" numCol="1" anchor="b" anchorCtr="0" compatLnSpc="1">
            <a:prstTxWarp prst="textNoShape">
              <a:avLst/>
            </a:prstTxWarp>
          </a:bodyPr>
          <a:lstStyle>
            <a:lvl1pPr>
              <a:defRPr lang="en-US" sz="2400" b="1" dirty="0"/>
            </a:lvl1pPr>
          </a:lstStyle>
          <a:p>
            <a:pPr lvl="0"/>
            <a:r>
              <a:rPr lang="en-US"/>
              <a:t>Click to edit Master title style</a:t>
            </a:r>
            <a:endParaRPr lang="en-US" dirty="0"/>
          </a:p>
        </p:txBody>
      </p:sp>
      <p:pic>
        <p:nvPicPr>
          <p:cNvPr id="2" name="Picture 1">
            <a:extLst>
              <a:ext uri="{FF2B5EF4-FFF2-40B4-BE49-F238E27FC236}">
                <a16:creationId xmlns:a16="http://schemas.microsoft.com/office/drawing/2014/main" id="{CAD5D679-0400-9B49-AA59-B3889C3259F4}"/>
              </a:ext>
            </a:extLst>
          </p:cNvPr>
          <p:cNvPicPr>
            <a:picLocks noChangeAspect="1"/>
          </p:cNvPicPr>
          <p:nvPr userDrawn="1"/>
        </p:nvPicPr>
        <p:blipFill>
          <a:blip r:embed="rId5"/>
          <a:stretch>
            <a:fillRect/>
          </a:stretch>
        </p:blipFill>
        <p:spPr>
          <a:xfrm>
            <a:off x="10564611" y="286570"/>
            <a:ext cx="1079365" cy="380952"/>
          </a:xfrm>
          <a:prstGeom prst="rect">
            <a:avLst/>
          </a:prstGeom>
        </p:spPr>
      </p:pic>
    </p:spTree>
    <p:extLst>
      <p:ext uri="{BB962C8B-B14F-4D97-AF65-F5344CB8AC3E}">
        <p14:creationId xmlns:p14="http://schemas.microsoft.com/office/powerpoint/2010/main" val="2524143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2730" y="257146"/>
            <a:ext cx="10515600" cy="40011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4" name="Date Placeholder 3"/>
          <p:cNvSpPr>
            <a:spLocks noGrp="1"/>
          </p:cNvSpPr>
          <p:nvPr>
            <p:ph type="dt" sz="half" idx="2"/>
          </p:nvPr>
        </p:nvSpPr>
        <p:spPr>
          <a:xfrm>
            <a:off x="64273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A741BF-3B2B-D247-8C55-2CB6AFEF6FBF}" type="slidenum">
              <a:rPr lang="en-US" smtClean="0"/>
              <a:t>‹#›</a:t>
            </a:fld>
            <a:endParaRPr lang="en-US"/>
          </a:p>
        </p:txBody>
      </p:sp>
      <p:sp>
        <p:nvSpPr>
          <p:cNvPr id="8" name="Text Placeholder 7"/>
          <p:cNvSpPr>
            <a:spLocks noGrp="1"/>
          </p:cNvSpPr>
          <p:nvPr>
            <p:ph type="body" idx="1"/>
          </p:nvPr>
        </p:nvSpPr>
        <p:spPr>
          <a:xfrm>
            <a:off x="642730" y="1331134"/>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965204145"/>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Lst>
  <p:hf hdr="0" ftr="0" dt="0"/>
  <p:txStyles>
    <p:titleStyle>
      <a:lvl1pPr algn="l" defTabSz="914400" rtl="0" eaLnBrk="1" latinLnBrk="0" hangingPunct="1">
        <a:lnSpc>
          <a:spcPct val="90000"/>
        </a:lnSpc>
        <a:spcBef>
          <a:spcPct val="0"/>
        </a:spcBef>
        <a:buNone/>
        <a:defRPr sz="2800" b="1" kern="1200">
          <a:solidFill>
            <a:schemeClr val="tx1">
              <a:lumMod val="50000"/>
              <a:lumOff val="50000"/>
            </a:schemeClr>
          </a:solidFill>
          <a:latin typeface="+mn-lt"/>
          <a:ea typeface="+mj-ea"/>
          <a:cs typeface="+mj-cs"/>
        </a:defRPr>
      </a:lvl1pPr>
    </p:titleStyle>
    <p:bodyStyle>
      <a:lvl1pPr marL="285750" indent="-285750" algn="l" defTabSz="457200" rtl="0" eaLnBrk="1" latinLnBrk="0" hangingPunct="1">
        <a:lnSpc>
          <a:spcPct val="100000"/>
        </a:lnSpc>
        <a:spcBef>
          <a:spcPts val="1200"/>
        </a:spcBef>
        <a:buFont typeface="Arial" panose="020B0604020202020204" pitchFamily="34" charset="0"/>
        <a:buChar char="•"/>
        <a:defRPr sz="1800" kern="1200">
          <a:solidFill>
            <a:schemeClr val="tx1"/>
          </a:solidFill>
          <a:latin typeface="+mn-lt"/>
          <a:ea typeface="+mn-ea"/>
          <a:cs typeface="+mn-cs"/>
        </a:defRPr>
      </a:lvl1pPr>
      <a:lvl2pPr marL="685800" indent="-228600" algn="l" defTabSz="457200"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2pPr>
      <a:lvl3pPr marL="1143000" indent="-228600" algn="l" defTabSz="457200" rtl="0" eaLnBrk="1" latinLnBrk="0" hangingPunct="1">
        <a:lnSpc>
          <a:spcPct val="100000"/>
        </a:lnSpc>
        <a:spcBef>
          <a:spcPts val="600"/>
        </a:spcBef>
        <a:buFont typeface="Courier New" panose="02070309020205020404" pitchFamily="49" charset="0"/>
        <a:buChar char="o"/>
        <a:defRPr sz="1800" kern="1200">
          <a:solidFill>
            <a:schemeClr val="tx1"/>
          </a:solidFill>
          <a:latin typeface="+mn-lt"/>
          <a:ea typeface="+mn-ea"/>
          <a:cs typeface="+mn-cs"/>
        </a:defRPr>
      </a:lvl3pPr>
      <a:lvl4pPr marL="1600200" indent="-228600" algn="l" defTabSz="457200" rtl="0" eaLnBrk="1" latinLnBrk="0" hangingPunct="1">
        <a:lnSpc>
          <a:spcPct val="100000"/>
        </a:lnSpc>
        <a:spcBef>
          <a:spcPts val="6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457200" rtl="0" eaLnBrk="1" latinLnBrk="0" hangingPunct="1">
        <a:lnSpc>
          <a:spcPct val="100000"/>
        </a:lnSpc>
        <a:spcBef>
          <a:spcPts val="600"/>
        </a:spcBef>
        <a:buFont typeface="Wingdings"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4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10.em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 Target="slide37.xml"/><Relationship Id="rId5" Type="http://schemas.openxmlformats.org/officeDocument/2006/relationships/slide" Target="slide22.xml"/><Relationship Id="rId4"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10.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 Target="slide37.xml"/><Relationship Id="rId5" Type="http://schemas.openxmlformats.org/officeDocument/2006/relationships/slide" Target="slide22.xml"/><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10.e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slide" Target="slide37.xml"/><Relationship Id="rId5" Type="http://schemas.openxmlformats.org/officeDocument/2006/relationships/slide" Target="slide9.xml"/><Relationship Id="rId4"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8.xml"/><Relationship Id="rId4" Type="http://schemas.openxmlformats.org/officeDocument/2006/relationships/chart" Target="../charts/chart3.xml"/></Relationships>
</file>

<file path=ppt/slides/_rels/slide2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hyperlink" Target="http://doc.castsoftware.com/help/index.jsp?topic=/current/How+Complexity+metrics+are+calculated+by+CAST.html" TargetMode="External"/><Relationship Id="rId2" Type="http://schemas.openxmlformats.org/officeDocument/2006/relationships/chart" Target="../charts/chart1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10.emf"/><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 Target="slide22.xml"/><Relationship Id="rId5" Type="http://schemas.openxmlformats.org/officeDocument/2006/relationships/slide" Target="slide9.xml"/><Relationship Id="rId4" Type="http://schemas.openxmlformats.org/officeDocument/2006/relationships/slide" Target="slid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US" sz="3200" dirty="0"/>
              <a:t>PowerPoint Templates</a:t>
            </a:r>
            <a:endParaRPr lang="en-US" sz="2800" dirty="0">
              <a:latin typeface="Bahnschrift Light" panose="020B0502040204020203"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0656208B-F98C-4F79-981C-600DD8CFB6D4}"/>
              </a:ext>
            </a:extLst>
          </p:cNvPr>
          <p:cNvSpPr>
            <a:spLocks noGrp="1"/>
          </p:cNvSpPr>
          <p:nvPr>
            <p:ph type="body" sz="quarter" idx="16"/>
          </p:nvPr>
        </p:nvSpPr>
        <p:spPr/>
        <p:txBody>
          <a:bodyPr/>
          <a:lstStyle/>
          <a:p>
            <a:r>
              <a:rPr lang="en-US" dirty="0"/>
              <a:t>Components Library</a:t>
            </a:r>
          </a:p>
        </p:txBody>
      </p:sp>
    </p:spTree>
    <p:extLst>
      <p:ext uri="{BB962C8B-B14F-4D97-AF65-F5344CB8AC3E}">
        <p14:creationId xmlns:p14="http://schemas.microsoft.com/office/powerpoint/2010/main" val="562926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E7847-D523-41DF-9902-A4B7A1A03480}"/>
              </a:ext>
            </a:extLst>
          </p:cNvPr>
          <p:cNvSpPr>
            <a:spLocks noGrp="1"/>
          </p:cNvSpPr>
          <p:nvPr>
            <p:ph type="title"/>
          </p:nvPr>
        </p:nvSpPr>
        <p:spPr>
          <a:xfrm>
            <a:off x="312126" y="1037493"/>
            <a:ext cx="4132385" cy="4783014"/>
          </a:xfrm>
        </p:spPr>
        <p:txBody>
          <a:bodyPr/>
          <a:lstStyle/>
          <a:p>
            <a:r>
              <a:rPr lang="en-US" dirty="0"/>
              <a:t>Agenda</a:t>
            </a:r>
          </a:p>
        </p:txBody>
      </p:sp>
      <p:sp>
        <p:nvSpPr>
          <p:cNvPr id="6" name="Rectangle 5">
            <a:extLst>
              <a:ext uri="{FF2B5EF4-FFF2-40B4-BE49-F238E27FC236}">
                <a16:creationId xmlns:a16="http://schemas.microsoft.com/office/drawing/2014/main" id="{284D760A-01BF-465C-A579-B43EA35E1AAC}"/>
              </a:ext>
            </a:extLst>
          </p:cNvPr>
          <p:cNvSpPr/>
          <p:nvPr/>
        </p:nvSpPr>
        <p:spPr>
          <a:xfrm>
            <a:off x="5961185" y="1037493"/>
            <a:ext cx="5618285" cy="47830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rPr>
              <a:t>Introduction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hlinkClick r:id="rId4" action="ppaction://hlinksldjump"/>
              </a:rPr>
              <a:t>Text templates</a:t>
            </a:r>
            <a:endParaRPr kumimoji="0" lang="en-US" sz="1800" b="0" i="0" u="none" strike="noStrike" kern="1200" cap="none" spc="0" normalizeH="0" baseline="0" noProof="0" dirty="0">
              <a:ln>
                <a:noFill/>
              </a:ln>
              <a:solidFill>
                <a:srgbClr val="293C47"/>
              </a:solidFill>
              <a:effectLst/>
              <a:uLnTx/>
              <a:uFillTx/>
              <a:latin typeface="Gotham Book"/>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dirty="0">
                <a:solidFill>
                  <a:srgbClr val="293C47"/>
                </a:solidFill>
                <a:latin typeface="Gotham Book"/>
                <a:hlinkClick r:id="rId5" action="ppaction://hlinksldjump"/>
              </a:rPr>
              <a:t>Graph templates</a:t>
            </a:r>
            <a:endParaRPr lang="en-US" dirty="0">
              <a:solidFill>
                <a:srgbClr val="293C47"/>
              </a:solidFill>
              <a:latin typeface="Gotham Book"/>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hlinkClick r:id="rId6" action="ppaction://hlinksldjump"/>
              </a:rPr>
              <a:t>Table templates</a:t>
            </a:r>
            <a:endParaRPr kumimoji="0" lang="en-US" sz="1800" b="0" i="0" u="none" strike="noStrike" kern="1200" cap="none" spc="0" normalizeH="0" baseline="0" noProof="0" dirty="0">
              <a:ln>
                <a:noFill/>
              </a:ln>
              <a:solidFill>
                <a:srgbClr val="293C47"/>
              </a:solidFill>
              <a:effectLst/>
              <a:uLnTx/>
              <a:uFillTx/>
              <a:latin typeface="Gotham Book"/>
              <a:ea typeface="+mn-ea"/>
              <a:cs typeface="+mn-cs"/>
            </a:endParaRPr>
          </a:p>
        </p:txBody>
      </p:sp>
      <p:grpSp>
        <p:nvGrpSpPr>
          <p:cNvPr id="21" name="Group 20">
            <a:extLst>
              <a:ext uri="{FF2B5EF4-FFF2-40B4-BE49-F238E27FC236}">
                <a16:creationId xmlns:a16="http://schemas.microsoft.com/office/drawing/2014/main" id="{FEA12E05-8311-4CD7-B7CD-7BCAC7220F99}"/>
              </a:ext>
            </a:extLst>
          </p:cNvPr>
          <p:cNvGrpSpPr/>
          <p:nvPr/>
        </p:nvGrpSpPr>
        <p:grpSpPr>
          <a:xfrm>
            <a:off x="5668038" y="2716611"/>
            <a:ext cx="293147" cy="292608"/>
            <a:chOff x="5460023" y="1240987"/>
            <a:chExt cx="293147" cy="292608"/>
          </a:xfrm>
        </p:grpSpPr>
        <p:sp>
          <p:nvSpPr>
            <p:cNvPr id="19" name="Oval 18">
              <a:extLst>
                <a:ext uri="{FF2B5EF4-FFF2-40B4-BE49-F238E27FC236}">
                  <a16:creationId xmlns:a16="http://schemas.microsoft.com/office/drawing/2014/main" id="{1C865A03-5C12-487D-8AD0-984F3E390F63}"/>
                </a:ext>
              </a:extLst>
            </p:cNvPr>
            <p:cNvSpPr/>
            <p:nvPr>
              <p:custDataLst>
                <p:tags r:id="rId1"/>
              </p:custDataLst>
            </p:nvPr>
          </p:nvSpPr>
          <p:spPr>
            <a:xfrm>
              <a:off x="5460023" y="1240987"/>
              <a:ext cx="293147" cy="292608"/>
            </a:xfrm>
            <a:prstGeom prst="ellipse">
              <a:avLst/>
            </a:prstGeom>
            <a:solidFill>
              <a:srgbClr val="CF7600"/>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lumMod val="100000"/>
                  </a:srgbClr>
                </a:solidFill>
                <a:effectLst/>
                <a:uLnTx/>
                <a:uFillTx/>
                <a:latin typeface="Trebuchet MS" panose="020B0603020202020204" pitchFamily="34" charset="0"/>
                <a:ea typeface="+mn-ea"/>
                <a:cs typeface="+mn-cs"/>
              </a:endParaRPr>
            </a:p>
          </p:txBody>
        </p:sp>
        <p:pic>
          <p:nvPicPr>
            <p:cNvPr id="20" name="Picture 19">
              <a:extLst>
                <a:ext uri="{FF2B5EF4-FFF2-40B4-BE49-F238E27FC236}">
                  <a16:creationId xmlns:a16="http://schemas.microsoft.com/office/drawing/2014/main" id="{21847F0C-EE1B-430C-8B70-BA79E7CF96AE}"/>
                </a:ext>
              </a:extLst>
            </p:cNvPr>
            <p:cNvPicPr>
              <a:picLocks/>
            </p:cNvPicPr>
            <p:nvPr>
              <p:custDataLst>
                <p:tags r:id="rId2"/>
              </p:custDataLst>
            </p:nvPr>
          </p:nvPicPr>
          <p:blipFill>
            <a:blip r:embed="rId7" cstate="screen">
              <a:extLst>
                <a:ext uri="{28A0092B-C50C-407E-A947-70E740481C1C}">
                  <a14:useLocalDpi xmlns:a14="http://schemas.microsoft.com/office/drawing/2010/main"/>
                </a:ext>
              </a:extLst>
            </a:blip>
            <a:stretch>
              <a:fillRect/>
            </a:stretch>
          </p:blipFill>
          <p:spPr>
            <a:xfrm>
              <a:off x="5460023" y="1240987"/>
              <a:ext cx="293147" cy="292608"/>
            </a:xfrm>
            <a:prstGeom prst="rect">
              <a:avLst/>
            </a:prstGeom>
          </p:spPr>
        </p:pic>
      </p:grpSp>
      <p:sp>
        <p:nvSpPr>
          <p:cNvPr id="2" name="Slide Number Placeholder 1">
            <a:extLst>
              <a:ext uri="{FF2B5EF4-FFF2-40B4-BE49-F238E27FC236}">
                <a16:creationId xmlns:a16="http://schemas.microsoft.com/office/drawing/2014/main" id="{3FB36BC2-F00A-4354-B343-F17659BF6D2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EFED013-66E8-448A-B953-99801F824AF7}" type="slidenum">
              <a:rPr kumimoji="0" lang="en-US" sz="1050" b="0" i="0" u="none" strike="noStrike" kern="1200" cap="none" spc="0" normalizeH="0" baseline="0" noProof="0" smtClean="0">
                <a:ln>
                  <a:noFill/>
                </a:ln>
                <a:solidFill>
                  <a:srgbClr val="FFFFFF"/>
                </a:solidFill>
                <a:effectLst/>
                <a:uLnTx/>
                <a:uFillTx/>
                <a:latin typeface="Gotham Book" pitchFamily="50" charset="0"/>
                <a:ea typeface="+mn-ea"/>
                <a:cs typeface="Gotham Book"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050" b="0" i="0" u="none" strike="noStrike" kern="1200" cap="none" spc="0" normalizeH="0" baseline="0" noProof="0" dirty="0">
              <a:ln>
                <a:noFill/>
              </a:ln>
              <a:solidFill>
                <a:srgbClr val="FFFFFF"/>
              </a:solidFill>
              <a:effectLst/>
              <a:uLnTx/>
              <a:uFillTx/>
              <a:latin typeface="Gotham Book" pitchFamily="50" charset="0"/>
              <a:ea typeface="+mn-ea"/>
              <a:cs typeface="Gotham Book" pitchFamily="50" charset="0"/>
            </a:endParaRPr>
          </a:p>
        </p:txBody>
      </p:sp>
    </p:spTree>
    <p:extLst>
      <p:ext uri="{BB962C8B-B14F-4D97-AF65-F5344CB8AC3E}">
        <p14:creationId xmlns:p14="http://schemas.microsoft.com/office/powerpoint/2010/main" val="216798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pPr algn="just"/>
            <a:r>
              <a:rPr lang="en-US"/>
              <a:t>When Word uses placeholders to target a customizable component, PowerPoint uses alternative text property of TextBox, Table or ChartArea</a:t>
            </a:r>
          </a:p>
          <a:p>
            <a:pPr algn="just"/>
            <a:endParaRPr lang="en-US"/>
          </a:p>
          <a:p>
            <a:pPr algn="just"/>
            <a:r>
              <a:rPr lang="en-US"/>
              <a:t>To see alternative text property of all component, you should activate « Size and Position »  button in Powerpoint properties</a:t>
            </a:r>
          </a:p>
        </p:txBody>
      </p:sp>
      <p:sp>
        <p:nvSpPr>
          <p:cNvPr id="2" name="Title 1"/>
          <p:cNvSpPr>
            <a:spLocks noGrp="1"/>
          </p:cNvSpPr>
          <p:nvPr>
            <p:ph type="title"/>
          </p:nvPr>
        </p:nvSpPr>
        <p:spPr/>
        <p:txBody>
          <a:bodyPr/>
          <a:lstStyle/>
          <a:p>
            <a:r>
              <a:rPr lang="fr-FR" dirty="0"/>
              <a:t>Powerpoint Templates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Powerpoint Templates</a:t>
            </a:r>
          </a:p>
        </p:txBody>
      </p:sp>
      <p:pic>
        <p:nvPicPr>
          <p:cNvPr id="1026" name="Picture 2"/>
          <p:cNvPicPr>
            <a:picLocks noChangeAspect="1" noChangeArrowheads="1"/>
          </p:cNvPicPr>
          <p:nvPr/>
        </p:nvPicPr>
        <p:blipFill>
          <a:blip r:embed="rId2" cstate="print"/>
          <a:srcRect/>
          <a:stretch>
            <a:fillRect/>
          </a:stretch>
        </p:blipFill>
        <p:spPr bwMode="auto">
          <a:xfrm>
            <a:off x="3182041" y="1266647"/>
            <a:ext cx="5827918" cy="475252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t>Powerpoint Templates</a:t>
            </a:r>
          </a:p>
        </p:txBody>
      </p:sp>
      <p:pic>
        <p:nvPicPr>
          <p:cNvPr id="2050" name="Picture 2"/>
          <p:cNvPicPr>
            <a:picLocks noChangeAspect="1" noChangeArrowheads="1"/>
          </p:cNvPicPr>
          <p:nvPr/>
        </p:nvPicPr>
        <p:blipFill>
          <a:blip r:embed="rId2" cstate="print"/>
          <a:srcRect/>
          <a:stretch>
            <a:fillRect/>
          </a:stretch>
        </p:blipFill>
        <p:spPr bwMode="auto">
          <a:xfrm>
            <a:off x="3182042" y="1266649"/>
            <a:ext cx="5827916" cy="4752527"/>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normAutofit/>
          </a:bodyPr>
          <a:lstStyle/>
          <a:p>
            <a:pPr algn="just"/>
            <a:r>
              <a:rPr lang="fr-FR" dirty="0"/>
              <a:t>A new enabled button is now available on the top head of Powerpoint application</a:t>
            </a:r>
          </a:p>
          <a:p>
            <a:endParaRPr lang="fr-FR" dirty="0"/>
          </a:p>
          <a:p>
            <a:endParaRPr lang="fr-FR" dirty="0"/>
          </a:p>
          <a:p>
            <a:endParaRPr lang="fr-FR" dirty="0"/>
          </a:p>
          <a:p>
            <a:pPr algn="just"/>
            <a:r>
              <a:rPr lang="fr-FR" dirty="0"/>
              <a:t>This button gives you the possibility to access to the alternative text property of all components</a:t>
            </a:r>
          </a:p>
        </p:txBody>
      </p:sp>
      <p:sp>
        <p:nvSpPr>
          <p:cNvPr id="2" name="Title 1"/>
          <p:cNvSpPr>
            <a:spLocks noGrp="1"/>
          </p:cNvSpPr>
          <p:nvPr>
            <p:ph type="title"/>
          </p:nvPr>
        </p:nvSpPr>
        <p:spPr/>
        <p:txBody>
          <a:bodyPr/>
          <a:lstStyle/>
          <a:p>
            <a:r>
              <a:rPr lang="fr-FR" dirty="0"/>
              <a:t>Powerpoint Templates</a:t>
            </a:r>
          </a:p>
        </p:txBody>
      </p:sp>
      <p:grpSp>
        <p:nvGrpSpPr>
          <p:cNvPr id="7" name="Group 6"/>
          <p:cNvGrpSpPr/>
          <p:nvPr/>
        </p:nvGrpSpPr>
        <p:grpSpPr>
          <a:xfrm>
            <a:off x="4762500" y="4374630"/>
            <a:ext cx="2667000" cy="1358627"/>
            <a:chOff x="3238500" y="3078485"/>
            <a:chExt cx="2667000" cy="1358627"/>
          </a:xfrm>
        </p:grpSpPr>
        <p:pic>
          <p:nvPicPr>
            <p:cNvPr id="3075" name="Picture 3"/>
            <p:cNvPicPr>
              <a:picLocks noChangeAspect="1" noChangeArrowheads="1"/>
            </p:cNvPicPr>
            <p:nvPr/>
          </p:nvPicPr>
          <p:blipFill>
            <a:blip r:embed="rId2" cstate="print"/>
            <a:srcRect/>
            <a:stretch>
              <a:fillRect/>
            </a:stretch>
          </p:blipFill>
          <p:spPr bwMode="auto">
            <a:xfrm>
              <a:off x="3238500" y="3094087"/>
              <a:ext cx="2667000" cy="1343025"/>
            </a:xfrm>
            <a:prstGeom prst="rect">
              <a:avLst/>
            </a:prstGeom>
            <a:noFill/>
            <a:ln w="9525">
              <a:noFill/>
              <a:miter lim="800000"/>
              <a:headEnd/>
              <a:tailEnd/>
            </a:ln>
          </p:spPr>
        </p:pic>
        <p:sp>
          <p:nvSpPr>
            <p:cNvPr id="6" name="Rectangle 5"/>
            <p:cNvSpPr/>
            <p:nvPr/>
          </p:nvSpPr>
          <p:spPr>
            <a:xfrm>
              <a:off x="4394077" y="3078485"/>
              <a:ext cx="268982" cy="288032"/>
            </a:xfrm>
            <a:prstGeom prst="rect">
              <a:avLst/>
            </a:prstGeom>
            <a:noFill/>
            <a:ln w="28575">
              <a:solidFill>
                <a:srgbClr val="293C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fr-FR" dirty="0"/>
              <a:t>Now you can select a Shape and edit the alternative text property value</a:t>
            </a:r>
          </a:p>
        </p:txBody>
      </p:sp>
      <p:sp>
        <p:nvSpPr>
          <p:cNvPr id="2" name="Title 1"/>
          <p:cNvSpPr>
            <a:spLocks noGrp="1"/>
          </p:cNvSpPr>
          <p:nvPr>
            <p:ph type="title"/>
          </p:nvPr>
        </p:nvSpPr>
        <p:spPr/>
        <p:txBody>
          <a:bodyPr/>
          <a:lstStyle/>
          <a:p>
            <a:r>
              <a:rPr lang="fr-FR" dirty="0"/>
              <a:t>Powerpoint Templates</a:t>
            </a:r>
          </a:p>
        </p:txBody>
      </p:sp>
      <p:pic>
        <p:nvPicPr>
          <p:cNvPr id="4099" name="Picture 3"/>
          <p:cNvPicPr>
            <a:picLocks noChangeAspect="1" noChangeArrowheads="1"/>
          </p:cNvPicPr>
          <p:nvPr/>
        </p:nvPicPr>
        <p:blipFill>
          <a:blip r:embed="rId2" cstate="print"/>
          <a:srcRect/>
          <a:stretch>
            <a:fillRect/>
          </a:stretch>
        </p:blipFill>
        <p:spPr bwMode="auto">
          <a:xfrm>
            <a:off x="2890453" y="2060849"/>
            <a:ext cx="6411094" cy="368240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pPr algn="just"/>
            <a:r>
              <a:rPr lang="fr-FR" dirty="0" err="1"/>
              <a:t>Then</a:t>
            </a:r>
            <a:r>
              <a:rPr lang="fr-FR" dirty="0"/>
              <a:t>, type and </a:t>
            </a:r>
            <a:r>
              <a:rPr lang="fr-FR" dirty="0" err="1"/>
              <a:t>name</a:t>
            </a:r>
            <a:r>
              <a:rPr lang="fr-FR" dirty="0"/>
              <a:t> of component and </a:t>
            </a:r>
            <a:r>
              <a:rPr lang="fr-FR" dirty="0" err="1"/>
              <a:t>then</a:t>
            </a:r>
            <a:r>
              <a:rPr lang="fr-FR" dirty="0"/>
              <a:t> options </a:t>
            </a:r>
            <a:r>
              <a:rPr lang="fr-FR" dirty="0" err="1"/>
              <a:t>can</a:t>
            </a:r>
            <a:r>
              <a:rPr lang="fr-FR" dirty="0"/>
              <a:t> </a:t>
            </a:r>
            <a:r>
              <a:rPr lang="fr-FR" dirty="0" err="1"/>
              <a:t>be</a:t>
            </a:r>
            <a:r>
              <a:rPr lang="fr-FR" dirty="0"/>
              <a:t> </a:t>
            </a:r>
            <a:r>
              <a:rPr lang="fr-FR" dirty="0" err="1"/>
              <a:t>configured</a:t>
            </a:r>
            <a:r>
              <a:rPr lang="fr-FR" dirty="0"/>
              <a:t> in the area </a:t>
            </a:r>
            <a:r>
              <a:rPr lang="fr-FR" dirty="0" err="1"/>
              <a:t>below</a:t>
            </a:r>
            <a:r>
              <a:rPr lang="fr-FR" dirty="0"/>
              <a:t>. </a:t>
            </a:r>
          </a:p>
        </p:txBody>
      </p:sp>
      <p:sp>
        <p:nvSpPr>
          <p:cNvPr id="2" name="Title 1"/>
          <p:cNvSpPr>
            <a:spLocks noGrp="1"/>
          </p:cNvSpPr>
          <p:nvPr>
            <p:ph type="title"/>
          </p:nvPr>
        </p:nvSpPr>
        <p:spPr/>
        <p:txBody>
          <a:bodyPr/>
          <a:lstStyle/>
          <a:p>
            <a:r>
              <a:rPr lang="fr-FR" dirty="0"/>
              <a:t>Powerpoint Templates</a:t>
            </a:r>
          </a:p>
        </p:txBody>
      </p:sp>
      <p:pic>
        <p:nvPicPr>
          <p:cNvPr id="1026" name="Picture 2" descr="C:\Users\dch\AppData\Local\Temp\SNAGHTML20554c2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736" y="1795178"/>
            <a:ext cx="4743450" cy="45529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E7847-D523-41DF-9902-A4B7A1A03480}"/>
              </a:ext>
            </a:extLst>
          </p:cNvPr>
          <p:cNvSpPr>
            <a:spLocks noGrp="1"/>
          </p:cNvSpPr>
          <p:nvPr>
            <p:ph type="title"/>
          </p:nvPr>
        </p:nvSpPr>
        <p:spPr>
          <a:xfrm>
            <a:off x="312126" y="1037493"/>
            <a:ext cx="4132385" cy="4783014"/>
          </a:xfrm>
        </p:spPr>
        <p:txBody>
          <a:bodyPr/>
          <a:lstStyle/>
          <a:p>
            <a:r>
              <a:rPr lang="en-US" dirty="0"/>
              <a:t>Agenda</a:t>
            </a:r>
          </a:p>
        </p:txBody>
      </p:sp>
      <p:sp>
        <p:nvSpPr>
          <p:cNvPr id="6" name="Rectangle 5">
            <a:extLst>
              <a:ext uri="{FF2B5EF4-FFF2-40B4-BE49-F238E27FC236}">
                <a16:creationId xmlns:a16="http://schemas.microsoft.com/office/drawing/2014/main" id="{284D760A-01BF-465C-A579-B43EA35E1AAC}"/>
              </a:ext>
            </a:extLst>
          </p:cNvPr>
          <p:cNvSpPr/>
          <p:nvPr/>
        </p:nvSpPr>
        <p:spPr>
          <a:xfrm>
            <a:off x="5961185" y="1037493"/>
            <a:ext cx="5618285" cy="47830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hlinkClick r:id="rId4" action="ppaction://hlinksldjump"/>
              </a:rPr>
              <a:t>Introduction</a:t>
            </a:r>
            <a:endParaRPr kumimoji="0" lang="en-US" sz="1800" b="0" i="0" u="none" strike="noStrike" kern="1200" cap="none" spc="0" normalizeH="0" baseline="0" noProof="0" dirty="0">
              <a:ln>
                <a:noFill/>
              </a:ln>
              <a:solidFill>
                <a:srgbClr val="293C47"/>
              </a:solidFill>
              <a:effectLst/>
              <a:uLnTx/>
              <a:uFillTx/>
              <a:latin typeface="Gotham Book"/>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rPr>
              <a:t>Text templates</a:t>
            </a:r>
          </a:p>
          <a:p>
            <a:pPr marL="0" marR="0" lvl="0" indent="0" algn="l" defTabSz="914400" rtl="0" eaLnBrk="1" fontAlgn="auto" latinLnBrk="0" hangingPunct="1">
              <a:lnSpc>
                <a:spcPct val="150000"/>
              </a:lnSpc>
              <a:spcBef>
                <a:spcPts val="0"/>
              </a:spcBef>
              <a:spcAft>
                <a:spcPts val="0"/>
              </a:spcAft>
              <a:buClrTx/>
              <a:buSzTx/>
              <a:buFontTx/>
              <a:buNone/>
              <a:tabLst/>
              <a:defRPr/>
            </a:pPr>
            <a:r>
              <a:rPr lang="en-US" dirty="0">
                <a:solidFill>
                  <a:srgbClr val="293C47"/>
                </a:solidFill>
                <a:latin typeface="Gotham Book"/>
                <a:hlinkClick r:id="rId5" action="ppaction://hlinksldjump"/>
              </a:rPr>
              <a:t>Graph templates</a:t>
            </a:r>
            <a:endParaRPr lang="en-US" dirty="0">
              <a:solidFill>
                <a:srgbClr val="293C47"/>
              </a:solidFill>
              <a:latin typeface="Gotham Book"/>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hlinkClick r:id="rId6" action="ppaction://hlinksldjump"/>
              </a:rPr>
              <a:t>Table templates</a:t>
            </a:r>
            <a:endParaRPr kumimoji="0" lang="en-US" sz="1800" b="0" i="0" u="none" strike="noStrike" kern="1200" cap="none" spc="0" normalizeH="0" baseline="0" noProof="0" dirty="0">
              <a:ln>
                <a:noFill/>
              </a:ln>
              <a:solidFill>
                <a:srgbClr val="293C47"/>
              </a:solidFill>
              <a:effectLst/>
              <a:uLnTx/>
              <a:uFillTx/>
              <a:latin typeface="Gotham Book"/>
              <a:ea typeface="+mn-ea"/>
              <a:cs typeface="+mn-cs"/>
            </a:endParaRPr>
          </a:p>
        </p:txBody>
      </p:sp>
      <p:grpSp>
        <p:nvGrpSpPr>
          <p:cNvPr id="21" name="Group 20">
            <a:extLst>
              <a:ext uri="{FF2B5EF4-FFF2-40B4-BE49-F238E27FC236}">
                <a16:creationId xmlns:a16="http://schemas.microsoft.com/office/drawing/2014/main" id="{FEA12E05-8311-4CD7-B7CD-7BCAC7220F99}"/>
              </a:ext>
            </a:extLst>
          </p:cNvPr>
          <p:cNvGrpSpPr/>
          <p:nvPr/>
        </p:nvGrpSpPr>
        <p:grpSpPr>
          <a:xfrm>
            <a:off x="5668038" y="3136392"/>
            <a:ext cx="293147" cy="292608"/>
            <a:chOff x="5460023" y="1240987"/>
            <a:chExt cx="293147" cy="292608"/>
          </a:xfrm>
        </p:grpSpPr>
        <p:sp>
          <p:nvSpPr>
            <p:cNvPr id="19" name="Oval 18">
              <a:extLst>
                <a:ext uri="{FF2B5EF4-FFF2-40B4-BE49-F238E27FC236}">
                  <a16:creationId xmlns:a16="http://schemas.microsoft.com/office/drawing/2014/main" id="{1C865A03-5C12-487D-8AD0-984F3E390F63}"/>
                </a:ext>
              </a:extLst>
            </p:cNvPr>
            <p:cNvSpPr/>
            <p:nvPr>
              <p:custDataLst>
                <p:tags r:id="rId1"/>
              </p:custDataLst>
            </p:nvPr>
          </p:nvSpPr>
          <p:spPr>
            <a:xfrm>
              <a:off x="5460023" y="1240987"/>
              <a:ext cx="293147" cy="292608"/>
            </a:xfrm>
            <a:prstGeom prst="ellipse">
              <a:avLst/>
            </a:prstGeom>
            <a:solidFill>
              <a:srgbClr val="CF7600"/>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lumMod val="100000"/>
                  </a:srgbClr>
                </a:solidFill>
                <a:effectLst/>
                <a:uLnTx/>
                <a:uFillTx/>
                <a:latin typeface="Trebuchet MS" panose="020B0603020202020204" pitchFamily="34" charset="0"/>
                <a:ea typeface="+mn-ea"/>
                <a:cs typeface="+mn-cs"/>
              </a:endParaRPr>
            </a:p>
          </p:txBody>
        </p:sp>
        <p:pic>
          <p:nvPicPr>
            <p:cNvPr id="20" name="Picture 19">
              <a:extLst>
                <a:ext uri="{FF2B5EF4-FFF2-40B4-BE49-F238E27FC236}">
                  <a16:creationId xmlns:a16="http://schemas.microsoft.com/office/drawing/2014/main" id="{21847F0C-EE1B-430C-8B70-BA79E7CF96AE}"/>
                </a:ext>
              </a:extLst>
            </p:cNvPr>
            <p:cNvPicPr>
              <a:picLocks/>
            </p:cNvPicPr>
            <p:nvPr>
              <p:custDataLst>
                <p:tags r:id="rId2"/>
              </p:custDataLst>
            </p:nvPr>
          </p:nvPicPr>
          <p:blipFill>
            <a:blip r:embed="rId7" cstate="screen">
              <a:extLst>
                <a:ext uri="{28A0092B-C50C-407E-A947-70E740481C1C}">
                  <a14:useLocalDpi xmlns:a14="http://schemas.microsoft.com/office/drawing/2010/main"/>
                </a:ext>
              </a:extLst>
            </a:blip>
            <a:stretch>
              <a:fillRect/>
            </a:stretch>
          </p:blipFill>
          <p:spPr>
            <a:xfrm>
              <a:off x="5460023" y="1240987"/>
              <a:ext cx="293147" cy="292608"/>
            </a:xfrm>
            <a:prstGeom prst="rect">
              <a:avLst/>
            </a:prstGeom>
          </p:spPr>
        </p:pic>
      </p:grpSp>
      <p:sp>
        <p:nvSpPr>
          <p:cNvPr id="2" name="Slide Number Placeholder 1">
            <a:extLst>
              <a:ext uri="{FF2B5EF4-FFF2-40B4-BE49-F238E27FC236}">
                <a16:creationId xmlns:a16="http://schemas.microsoft.com/office/drawing/2014/main" id="{3FB36BC2-F00A-4354-B343-F17659BF6D2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EFED013-66E8-448A-B953-99801F824AF7}" type="slidenum">
              <a:rPr kumimoji="0" lang="en-US" sz="1050" b="0" i="0" u="none" strike="noStrike" kern="1200" cap="none" spc="0" normalizeH="0" baseline="0" noProof="0" smtClean="0">
                <a:ln>
                  <a:noFill/>
                </a:ln>
                <a:solidFill>
                  <a:srgbClr val="FFFFFF"/>
                </a:solidFill>
                <a:effectLst/>
                <a:uLnTx/>
                <a:uFillTx/>
                <a:latin typeface="Gotham Book" pitchFamily="50" charset="0"/>
                <a:ea typeface="+mn-ea"/>
                <a:cs typeface="Gotham Book"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050" b="0" i="0" u="none" strike="noStrike" kern="1200" cap="none" spc="0" normalizeH="0" baseline="0" noProof="0" dirty="0">
              <a:ln>
                <a:noFill/>
              </a:ln>
              <a:solidFill>
                <a:srgbClr val="FFFFFF"/>
              </a:solidFill>
              <a:effectLst/>
              <a:uLnTx/>
              <a:uFillTx/>
              <a:latin typeface="Gotham Book" pitchFamily="50" charset="0"/>
              <a:ea typeface="+mn-ea"/>
              <a:cs typeface="Gotham Book" pitchFamily="50" charset="0"/>
            </a:endParaRPr>
          </a:p>
        </p:txBody>
      </p:sp>
    </p:spTree>
    <p:extLst>
      <p:ext uri="{BB962C8B-B14F-4D97-AF65-F5344CB8AC3E}">
        <p14:creationId xmlns:p14="http://schemas.microsoft.com/office/powerpoint/2010/main" val="1634244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Content Placeholder 77"/>
          <p:cNvSpPr>
            <a:spLocks noGrp="1"/>
          </p:cNvSpPr>
          <p:nvPr>
            <p:ph type="body" sz="quarter" idx="13"/>
          </p:nvPr>
        </p:nvSpPr>
        <p:spPr/>
        <p:txBody>
          <a:bodyPr/>
          <a:lstStyle/>
          <a:p>
            <a:r>
              <a:rPr lang="fr-FR" dirty="0"/>
              <a:t>This kind of template is identified by a type value as</a:t>
            </a:r>
            <a:br>
              <a:rPr lang="fr-FR" dirty="0"/>
            </a:br>
            <a:r>
              <a:rPr lang="fr-FR" dirty="0"/>
              <a:t>			</a:t>
            </a:r>
          </a:p>
          <a:p>
            <a:pPr marL="0" indent="0">
              <a:buNone/>
            </a:pPr>
            <a:r>
              <a:rPr lang="fr-FR" dirty="0"/>
              <a:t>			Type = </a:t>
            </a:r>
            <a:r>
              <a:rPr lang="fr-FR" b="1" dirty="0"/>
              <a:t>TEXT</a:t>
            </a:r>
          </a:p>
          <a:p>
            <a:endParaRPr lang="fr-FR" b="1" dirty="0"/>
          </a:p>
        </p:txBody>
      </p:sp>
      <p:sp>
        <p:nvSpPr>
          <p:cNvPr id="2" name="Title 1"/>
          <p:cNvSpPr>
            <a:spLocks noGrp="1"/>
          </p:cNvSpPr>
          <p:nvPr>
            <p:ph type="title"/>
          </p:nvPr>
        </p:nvSpPr>
        <p:spPr/>
        <p:txBody>
          <a:bodyPr/>
          <a:lstStyle/>
          <a:p>
            <a:r>
              <a:rPr lang="fr-FR" dirty="0"/>
              <a:t>PowerPoint Templates – </a:t>
            </a:r>
            <a:r>
              <a:rPr lang="fr-FR" dirty="0" err="1"/>
              <a:t>Text</a:t>
            </a:r>
            <a:endParaRPr lang="fr-F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PowerPoint Templates – </a:t>
            </a:r>
            <a:r>
              <a:rPr lang="fr-FR" dirty="0" err="1"/>
              <a:t>Text</a:t>
            </a:r>
            <a:endParaRPr lang="fr-FR" dirty="0"/>
          </a:p>
        </p:txBody>
      </p:sp>
      <p:grpSp>
        <p:nvGrpSpPr>
          <p:cNvPr id="10" name="Group 9">
            <a:extLst>
              <a:ext uri="{FF2B5EF4-FFF2-40B4-BE49-F238E27FC236}">
                <a16:creationId xmlns:a16="http://schemas.microsoft.com/office/drawing/2014/main" id="{FD26AC27-6487-4177-B5E5-E88154F7FEAF}"/>
              </a:ext>
            </a:extLst>
          </p:cNvPr>
          <p:cNvGrpSpPr/>
          <p:nvPr/>
        </p:nvGrpSpPr>
        <p:grpSpPr>
          <a:xfrm>
            <a:off x="1819813" y="2938076"/>
            <a:ext cx="5040560" cy="1728016"/>
            <a:chOff x="1819813" y="2745557"/>
            <a:chExt cx="5040560" cy="1728016"/>
          </a:xfrm>
        </p:grpSpPr>
        <p:sp>
          <p:nvSpPr>
            <p:cNvPr id="86" name="Rounded Rectangle 85"/>
            <p:cNvSpPr/>
            <p:nvPr/>
          </p:nvSpPr>
          <p:spPr>
            <a:xfrm>
              <a:off x="1819814" y="2745557"/>
              <a:ext cx="4204179" cy="1728016"/>
            </a:xfrm>
            <a:prstGeom prst="roundRect">
              <a:avLst>
                <a:gd name="adj" fmla="val 263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87" name="TextBox 86"/>
            <p:cNvSpPr txBox="1"/>
            <p:nvPr/>
          </p:nvSpPr>
          <p:spPr>
            <a:xfrm>
              <a:off x="1819813" y="2745557"/>
              <a:ext cx="4326958"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Last Snapshot Version Name</a:t>
              </a:r>
            </a:p>
          </p:txBody>
        </p:sp>
        <p:sp>
          <p:nvSpPr>
            <p:cNvPr id="89" name="TextBox 88"/>
            <p:cNvSpPr txBox="1"/>
            <p:nvPr/>
          </p:nvSpPr>
          <p:spPr>
            <a:xfrm>
              <a:off x="2159142" y="4007617"/>
              <a:ext cx="385042"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sym typeface="Wingdings" pitchFamily="2" charset="2"/>
                </a:rPr>
                <a:t></a:t>
              </a:r>
              <a:endParaRPr lang="fr-FR" sz="1600" dirty="0"/>
            </a:p>
          </p:txBody>
        </p:sp>
        <p:sp>
          <p:nvSpPr>
            <p:cNvPr id="90" name="TextBox 89"/>
            <p:cNvSpPr txBox="1"/>
            <p:nvPr/>
          </p:nvSpPr>
          <p:spPr>
            <a:xfrm>
              <a:off x="2059881" y="3111759"/>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1" name="TextBox 90"/>
            <p:cNvSpPr txBox="1"/>
            <p:nvPr/>
          </p:nvSpPr>
          <p:spPr>
            <a:xfrm>
              <a:off x="3507045" y="3431729"/>
              <a:ext cx="2770786"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none</a:t>
              </a:r>
            </a:p>
          </p:txBody>
        </p:sp>
        <p:sp>
          <p:nvSpPr>
            <p:cNvPr id="92" name="TextBox 91"/>
            <p:cNvSpPr txBox="1"/>
            <p:nvPr/>
          </p:nvSpPr>
          <p:spPr>
            <a:xfrm>
              <a:off x="2476662" y="3431729"/>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01" name="Rounded Rectangle 100"/>
            <p:cNvSpPr/>
            <p:nvPr/>
          </p:nvSpPr>
          <p:spPr>
            <a:xfrm>
              <a:off x="2683909" y="3989271"/>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02" name="TextBox 101" descr="TEXT;LAST_SNAPSHOT_VERSION"/>
            <p:cNvSpPr txBox="1"/>
            <p:nvPr/>
          </p:nvSpPr>
          <p:spPr>
            <a:xfrm>
              <a:off x="2708417" y="3971992"/>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versionNumber</a:t>
              </a:r>
            </a:p>
          </p:txBody>
        </p:sp>
        <p:sp>
          <p:nvSpPr>
            <p:cNvPr id="88" name="TextBox 87"/>
            <p:cNvSpPr txBox="1"/>
            <p:nvPr/>
          </p:nvSpPr>
          <p:spPr>
            <a:xfrm>
              <a:off x="3507045" y="3143698"/>
              <a:ext cx="3353328" cy="276999"/>
            </a:xfrm>
            <a:prstGeom prst="rect">
              <a:avLst/>
            </a:prstGeom>
            <a:noFill/>
          </p:spPr>
          <p:txBody>
            <a:bodyPr wrap="square" rtlCol="0">
              <a:spAutoFit/>
            </a:bodyPr>
            <a:lstStyle>
              <a:defPPr>
                <a:defRPr lang="fr-FR"/>
              </a:defPPr>
              <a:lvl1pPr>
                <a:defRPr sz="2000" b="1">
                  <a:solidFill>
                    <a:srgbClr val="5E5E5E"/>
                  </a:solidFill>
                </a:defRPr>
              </a:lvl1pPr>
            </a:lstStyle>
            <a:p>
              <a:r>
                <a:rPr lang="en-GB" sz="1200" dirty="0"/>
                <a:t>LAST_SNAPSHOT_VERSION</a:t>
              </a:r>
              <a:endParaRPr lang="fr-FR" sz="1200" dirty="0"/>
            </a:p>
          </p:txBody>
        </p:sp>
      </p:grpSp>
      <p:grpSp>
        <p:nvGrpSpPr>
          <p:cNvPr id="4" name="Group 3">
            <a:extLst>
              <a:ext uri="{FF2B5EF4-FFF2-40B4-BE49-F238E27FC236}">
                <a16:creationId xmlns:a16="http://schemas.microsoft.com/office/drawing/2014/main" id="{A64D0193-EDDA-46BC-8251-7BD1A6AC5BAF}"/>
              </a:ext>
            </a:extLst>
          </p:cNvPr>
          <p:cNvGrpSpPr/>
          <p:nvPr/>
        </p:nvGrpSpPr>
        <p:grpSpPr>
          <a:xfrm>
            <a:off x="6179214" y="1035244"/>
            <a:ext cx="4608512" cy="1758707"/>
            <a:chOff x="6179214" y="842725"/>
            <a:chExt cx="4608512" cy="1758707"/>
          </a:xfrm>
        </p:grpSpPr>
        <p:sp>
          <p:nvSpPr>
            <p:cNvPr id="68" name="Rounded Rectangle 67"/>
            <p:cNvSpPr/>
            <p:nvPr/>
          </p:nvSpPr>
          <p:spPr>
            <a:xfrm>
              <a:off x="6235904" y="867254"/>
              <a:ext cx="4204178" cy="1734178"/>
            </a:xfrm>
            <a:prstGeom prst="roundRect">
              <a:avLst>
                <a:gd name="adj" fmla="val 488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69" name="Rounded Rectangle 68"/>
            <p:cNvSpPr/>
            <p:nvPr/>
          </p:nvSpPr>
          <p:spPr>
            <a:xfrm>
              <a:off x="7108633" y="2091391"/>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72" name="TextBox 71"/>
            <p:cNvSpPr txBox="1"/>
            <p:nvPr/>
          </p:nvSpPr>
          <p:spPr>
            <a:xfrm>
              <a:off x="6179214" y="842725"/>
              <a:ext cx="4320480" cy="338554"/>
            </a:xfrm>
            <a:prstGeom prst="rect">
              <a:avLst/>
            </a:prstGeom>
            <a:noFill/>
          </p:spPr>
          <p:txBody>
            <a:bodyPr wrap="square" lIns="180000" rIns="180000" rtlCol="0">
              <a:spAutoFit/>
            </a:bodyPr>
            <a:lstStyle/>
            <a:p>
              <a:r>
                <a:rPr lang="fr-FR" sz="1600" b="1" dirty="0">
                  <a:solidFill>
                    <a:schemeClr val="tx1">
                      <a:lumMod val="75000"/>
                      <a:lumOff val="25000"/>
                    </a:schemeClr>
                  </a:solidFill>
                </a:rPr>
                <a:t>Today date</a:t>
              </a:r>
            </a:p>
          </p:txBody>
        </p:sp>
        <p:sp>
          <p:nvSpPr>
            <p:cNvPr id="73" name="TextBox 72"/>
            <p:cNvSpPr txBox="1"/>
            <p:nvPr/>
          </p:nvSpPr>
          <p:spPr>
            <a:xfrm>
              <a:off x="8016940" y="1329882"/>
              <a:ext cx="2770786" cy="307777"/>
            </a:xfrm>
            <a:prstGeom prst="rect">
              <a:avLst/>
            </a:prstGeom>
            <a:noFill/>
          </p:spPr>
          <p:txBody>
            <a:bodyPr wrap="square" rtlCol="0">
              <a:spAutoFit/>
            </a:bodyPr>
            <a:lstStyle/>
            <a:p>
              <a:r>
                <a:rPr lang="fr-FR" sz="1400" b="1" dirty="0">
                  <a:solidFill>
                    <a:srgbClr val="5E5E5E"/>
                  </a:solidFill>
                </a:rPr>
                <a:t>TODAY_DATE</a:t>
              </a:r>
            </a:p>
          </p:txBody>
        </p:sp>
        <p:sp>
          <p:nvSpPr>
            <p:cNvPr id="74" name="TextBox 73"/>
            <p:cNvSpPr txBox="1"/>
            <p:nvPr/>
          </p:nvSpPr>
          <p:spPr>
            <a:xfrm>
              <a:off x="6583866" y="2091390"/>
              <a:ext cx="385042" cy="338554"/>
            </a:xfrm>
            <a:prstGeom prst="rect">
              <a:avLst/>
            </a:prstGeom>
            <a:noFill/>
          </p:spPr>
          <p:txBody>
            <a:bodyPr wrap="none" rtlCol="0">
              <a:spAutoFit/>
            </a:bodyPr>
            <a:lstStyle/>
            <a:p>
              <a:pPr algn="r"/>
              <a:r>
                <a:rPr lang="fr-FR" sz="1600" dirty="0">
                  <a:solidFill>
                    <a:schemeClr val="bg1">
                      <a:lumMod val="50000"/>
                    </a:schemeClr>
                  </a:solidFill>
                  <a:sym typeface="Wingdings" pitchFamily="2" charset="2"/>
                </a:rPr>
                <a:t></a:t>
              </a:r>
              <a:endParaRPr lang="fr-FR" sz="1600" dirty="0">
                <a:solidFill>
                  <a:schemeClr val="bg1">
                    <a:lumMod val="50000"/>
                  </a:schemeClr>
                </a:solidFill>
              </a:endParaRPr>
            </a:p>
          </p:txBody>
        </p:sp>
        <p:sp>
          <p:nvSpPr>
            <p:cNvPr id="75" name="TextBox 74"/>
            <p:cNvSpPr txBox="1"/>
            <p:nvPr/>
          </p:nvSpPr>
          <p:spPr>
            <a:xfrm>
              <a:off x="6491083" y="1305464"/>
              <a:ext cx="1526380" cy="338554"/>
            </a:xfrm>
            <a:prstGeom prst="rect">
              <a:avLst/>
            </a:prstGeom>
            <a:noFill/>
          </p:spPr>
          <p:txBody>
            <a:bodyPr wrap="none" rtlCol="0">
              <a:spAutoFit/>
            </a:bodyPr>
            <a:lstStyle/>
            <a:p>
              <a:pPr algn="r"/>
              <a:r>
                <a:rPr lang="fr-FR" sz="1600" dirty="0">
                  <a:solidFill>
                    <a:schemeClr val="bg1">
                      <a:lumMod val="50000"/>
                    </a:schemeClr>
                  </a:solidFill>
                </a:rPr>
                <a:t>Block Name :</a:t>
              </a:r>
            </a:p>
          </p:txBody>
        </p:sp>
        <p:sp>
          <p:nvSpPr>
            <p:cNvPr id="76" name="TextBox 75"/>
            <p:cNvSpPr txBox="1"/>
            <p:nvPr/>
          </p:nvSpPr>
          <p:spPr>
            <a:xfrm>
              <a:off x="8016940" y="1614684"/>
              <a:ext cx="2770786" cy="338554"/>
            </a:xfrm>
            <a:prstGeom prst="rect">
              <a:avLst/>
            </a:prstGeom>
            <a:noFill/>
          </p:spPr>
          <p:txBody>
            <a:bodyPr wrap="square" rtlCol="0">
              <a:spAutoFit/>
            </a:bodyPr>
            <a:lstStyle/>
            <a:p>
              <a:r>
                <a:rPr lang="fr-FR" sz="1600" i="1" dirty="0">
                  <a:solidFill>
                    <a:schemeClr val="bg1">
                      <a:lumMod val="50000"/>
                    </a:schemeClr>
                  </a:solidFill>
                </a:rPr>
                <a:t>none</a:t>
              </a:r>
            </a:p>
          </p:txBody>
        </p:sp>
        <p:sp>
          <p:nvSpPr>
            <p:cNvPr id="77" name="TextBox 76"/>
            <p:cNvSpPr txBox="1"/>
            <p:nvPr/>
          </p:nvSpPr>
          <p:spPr>
            <a:xfrm>
              <a:off x="6907864" y="1625434"/>
              <a:ext cx="1109599" cy="338554"/>
            </a:xfrm>
            <a:prstGeom prst="rect">
              <a:avLst/>
            </a:prstGeom>
            <a:noFill/>
          </p:spPr>
          <p:txBody>
            <a:bodyPr wrap="none" rtlCol="0">
              <a:spAutoFit/>
            </a:bodyPr>
            <a:lstStyle/>
            <a:p>
              <a:pPr algn="r"/>
              <a:r>
                <a:rPr lang="fr-FR" sz="1600" dirty="0">
                  <a:solidFill>
                    <a:schemeClr val="bg1">
                      <a:lumMod val="50000"/>
                    </a:schemeClr>
                  </a:solidFill>
                </a:rPr>
                <a:t>Options :</a:t>
              </a:r>
            </a:p>
          </p:txBody>
        </p:sp>
        <p:sp>
          <p:nvSpPr>
            <p:cNvPr id="100" name="TextBox 99" descr="TEXT;TODAY_DATE"/>
            <p:cNvSpPr txBox="1"/>
            <p:nvPr/>
          </p:nvSpPr>
          <p:spPr>
            <a:xfrm>
              <a:off x="7180642" y="2078616"/>
              <a:ext cx="2142999"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TodayDate</a:t>
              </a:r>
            </a:p>
          </p:txBody>
        </p:sp>
      </p:grpSp>
      <p:grpSp>
        <p:nvGrpSpPr>
          <p:cNvPr id="8" name="Group 7">
            <a:extLst>
              <a:ext uri="{FF2B5EF4-FFF2-40B4-BE49-F238E27FC236}">
                <a16:creationId xmlns:a16="http://schemas.microsoft.com/office/drawing/2014/main" id="{7342890C-8CB4-413C-B4A9-A324778CC631}"/>
              </a:ext>
            </a:extLst>
          </p:cNvPr>
          <p:cNvGrpSpPr/>
          <p:nvPr/>
        </p:nvGrpSpPr>
        <p:grpSpPr>
          <a:xfrm>
            <a:off x="1813335" y="4810284"/>
            <a:ext cx="5341548" cy="1590162"/>
            <a:chOff x="1813335" y="4617765"/>
            <a:chExt cx="5341548" cy="1590162"/>
          </a:xfrm>
        </p:grpSpPr>
        <p:sp>
          <p:nvSpPr>
            <p:cNvPr id="93" name="Rounded Rectangle 92"/>
            <p:cNvSpPr/>
            <p:nvPr/>
          </p:nvSpPr>
          <p:spPr>
            <a:xfrm>
              <a:off x="1819813" y="4623927"/>
              <a:ext cx="4204178" cy="1584000"/>
            </a:xfrm>
            <a:prstGeom prst="roundRect">
              <a:avLst>
                <a:gd name="adj" fmla="val 413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94" name="TextBox 93"/>
            <p:cNvSpPr txBox="1"/>
            <p:nvPr/>
          </p:nvSpPr>
          <p:spPr>
            <a:xfrm>
              <a:off x="1813335" y="4617765"/>
              <a:ext cx="4326958"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Previous</a:t>
              </a:r>
              <a:r>
                <a:rPr lang="fr-FR" sz="1600" dirty="0"/>
                <a:t> </a:t>
              </a:r>
              <a:r>
                <a:rPr lang="fr-FR" sz="1600" dirty="0" err="1"/>
                <a:t>Snapshot</a:t>
              </a:r>
              <a:r>
                <a:rPr lang="fr-FR" sz="1600" dirty="0"/>
                <a:t> Version Name</a:t>
              </a:r>
            </a:p>
          </p:txBody>
        </p:sp>
        <p:sp>
          <p:nvSpPr>
            <p:cNvPr id="95" name="TextBox 94"/>
            <p:cNvSpPr txBox="1"/>
            <p:nvPr/>
          </p:nvSpPr>
          <p:spPr>
            <a:xfrm>
              <a:off x="3441515" y="4999027"/>
              <a:ext cx="3713368" cy="261610"/>
            </a:xfrm>
            <a:prstGeom prst="rect">
              <a:avLst/>
            </a:prstGeom>
            <a:noFill/>
          </p:spPr>
          <p:txBody>
            <a:bodyPr wrap="square" rtlCol="0">
              <a:spAutoFit/>
            </a:bodyPr>
            <a:lstStyle>
              <a:defPPr>
                <a:defRPr lang="fr-FR"/>
              </a:defPPr>
              <a:lvl1pPr>
                <a:defRPr sz="2000" b="1">
                  <a:solidFill>
                    <a:srgbClr val="5E5E5E"/>
                  </a:solidFill>
                </a:defRPr>
              </a:lvl1pPr>
            </a:lstStyle>
            <a:p>
              <a:r>
                <a:rPr lang="en-GB" sz="1100" dirty="0"/>
                <a:t>PREVIOUS_SNAPSHOT_VERSION</a:t>
              </a:r>
              <a:endParaRPr lang="fr-FR" sz="1100" dirty="0"/>
            </a:p>
          </p:txBody>
        </p:sp>
        <p:sp>
          <p:nvSpPr>
            <p:cNvPr id="96" name="TextBox 95"/>
            <p:cNvSpPr txBox="1"/>
            <p:nvPr/>
          </p:nvSpPr>
          <p:spPr>
            <a:xfrm>
              <a:off x="2159142" y="5697885"/>
              <a:ext cx="385042"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sym typeface="Wingdings" pitchFamily="2" charset="2"/>
                </a:rPr>
                <a:t></a:t>
              </a:r>
              <a:endParaRPr lang="fr-FR" sz="1600" dirty="0"/>
            </a:p>
          </p:txBody>
        </p:sp>
        <p:sp>
          <p:nvSpPr>
            <p:cNvPr id="97" name="TextBox 96"/>
            <p:cNvSpPr txBox="1"/>
            <p:nvPr/>
          </p:nvSpPr>
          <p:spPr>
            <a:xfrm>
              <a:off x="1987873" y="4983967"/>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8" name="TextBox 97"/>
            <p:cNvSpPr txBox="1"/>
            <p:nvPr/>
          </p:nvSpPr>
          <p:spPr>
            <a:xfrm>
              <a:off x="3441515" y="5303937"/>
              <a:ext cx="2770786"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none</a:t>
              </a:r>
            </a:p>
          </p:txBody>
        </p:sp>
        <p:sp>
          <p:nvSpPr>
            <p:cNvPr id="99" name="TextBox 98"/>
            <p:cNvSpPr txBox="1"/>
            <p:nvPr/>
          </p:nvSpPr>
          <p:spPr>
            <a:xfrm>
              <a:off x="2411132" y="5303937"/>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03" name="Rounded Rectangle 102"/>
            <p:cNvSpPr/>
            <p:nvPr/>
          </p:nvSpPr>
          <p:spPr>
            <a:xfrm>
              <a:off x="2683909" y="5717463"/>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04" name="TextBox 103" descr="TEXT;PREVIOUS_SNAPSHOT_VERSION"/>
            <p:cNvSpPr txBox="1"/>
            <p:nvPr/>
          </p:nvSpPr>
          <p:spPr>
            <a:xfrm>
              <a:off x="2755917" y="5697885"/>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versionNumber</a:t>
              </a:r>
            </a:p>
          </p:txBody>
        </p:sp>
      </p:grpSp>
      <p:grpSp>
        <p:nvGrpSpPr>
          <p:cNvPr id="11" name="Group 10">
            <a:extLst>
              <a:ext uri="{FF2B5EF4-FFF2-40B4-BE49-F238E27FC236}">
                <a16:creationId xmlns:a16="http://schemas.microsoft.com/office/drawing/2014/main" id="{E7690844-CD6B-467E-B65A-C66DBB396A72}"/>
              </a:ext>
            </a:extLst>
          </p:cNvPr>
          <p:cNvGrpSpPr/>
          <p:nvPr/>
        </p:nvGrpSpPr>
        <p:grpSpPr>
          <a:xfrm>
            <a:off x="1821305" y="1059773"/>
            <a:ext cx="4462339" cy="1734178"/>
            <a:chOff x="1821305" y="867254"/>
            <a:chExt cx="4462339" cy="1734178"/>
          </a:xfrm>
        </p:grpSpPr>
        <p:sp>
          <p:nvSpPr>
            <p:cNvPr id="70" name="Rounded Rectangle 69"/>
            <p:cNvSpPr/>
            <p:nvPr/>
          </p:nvSpPr>
          <p:spPr>
            <a:xfrm>
              <a:off x="1821305" y="867254"/>
              <a:ext cx="4202687" cy="1734178"/>
            </a:xfrm>
            <a:prstGeom prst="roundRect">
              <a:avLst>
                <a:gd name="adj" fmla="val 488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71" name="Rounded Rectangle 70"/>
            <p:cNvSpPr/>
            <p:nvPr/>
          </p:nvSpPr>
          <p:spPr>
            <a:xfrm>
              <a:off x="2710776" y="2063468"/>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05" name="TextBox 104"/>
            <p:cNvSpPr txBox="1"/>
            <p:nvPr/>
          </p:nvSpPr>
          <p:spPr>
            <a:xfrm>
              <a:off x="1882928" y="902048"/>
              <a:ext cx="1640706" cy="338554"/>
            </a:xfrm>
            <a:prstGeom prst="rect">
              <a:avLst/>
            </a:prstGeom>
            <a:noFill/>
          </p:spPr>
          <p:txBody>
            <a:bodyPr wrap="none" rtlCol="0">
              <a:spAutoFit/>
            </a:bodyPr>
            <a:lstStyle/>
            <a:p>
              <a:r>
                <a:rPr lang="fr-FR" sz="1600" b="1" dirty="0">
                  <a:solidFill>
                    <a:schemeClr val="tx1">
                      <a:lumMod val="75000"/>
                      <a:lumOff val="25000"/>
                    </a:schemeClr>
                  </a:solidFill>
                </a:rPr>
                <a:t>CAST Version</a:t>
              </a:r>
            </a:p>
          </p:txBody>
        </p:sp>
        <p:sp>
          <p:nvSpPr>
            <p:cNvPr id="106" name="TextBox 105" descr="TEXT;CAST_VERSION"/>
            <p:cNvSpPr txBox="1"/>
            <p:nvPr/>
          </p:nvSpPr>
          <p:spPr>
            <a:xfrm>
              <a:off x="2808433" y="2066312"/>
              <a:ext cx="1584176" cy="369332"/>
            </a:xfrm>
            <a:prstGeom prst="rect">
              <a:avLst/>
            </a:prstGeom>
            <a:noFill/>
          </p:spPr>
          <p:txBody>
            <a:bodyPr wrap="square" rtlCol="0">
              <a:normAutofit/>
            </a:bodyPr>
            <a:lstStyle>
              <a:defPPr>
                <a:defRPr lang="fr-FR"/>
              </a:defPPr>
              <a:lvl1pPr>
                <a:defRPr b="1">
                  <a:solidFill>
                    <a:schemeClr val="bg1">
                      <a:lumMod val="50000"/>
                    </a:schemeClr>
                  </a:solidFill>
                </a:defRPr>
              </a:lvl1pPr>
            </a:lstStyle>
            <a:p>
              <a:r>
                <a:rPr lang="fr-FR" sz="1600" dirty="0" err="1"/>
                <a:t>castVersion</a:t>
              </a:r>
              <a:endParaRPr lang="fr-FR" sz="1600" dirty="0"/>
            </a:p>
          </p:txBody>
        </p:sp>
        <p:sp>
          <p:nvSpPr>
            <p:cNvPr id="107" name="TextBox 106"/>
            <p:cNvSpPr txBox="1"/>
            <p:nvPr/>
          </p:nvSpPr>
          <p:spPr>
            <a:xfrm>
              <a:off x="1975035" y="1279289"/>
              <a:ext cx="1526380" cy="338554"/>
            </a:xfrm>
            <a:prstGeom prst="rect">
              <a:avLst/>
            </a:prstGeom>
            <a:noFill/>
          </p:spPr>
          <p:txBody>
            <a:bodyPr wrap="none" rtlCol="0">
              <a:spAutoFit/>
            </a:bodyPr>
            <a:lstStyle/>
            <a:p>
              <a:pPr algn="r"/>
              <a:r>
                <a:rPr lang="fr-FR" sz="1600" dirty="0">
                  <a:solidFill>
                    <a:schemeClr val="bg1">
                      <a:lumMod val="50000"/>
                    </a:schemeClr>
                  </a:solidFill>
                </a:rPr>
                <a:t>Block Name :</a:t>
              </a:r>
            </a:p>
          </p:txBody>
        </p:sp>
        <p:sp>
          <p:nvSpPr>
            <p:cNvPr id="108" name="TextBox 107"/>
            <p:cNvSpPr txBox="1"/>
            <p:nvPr/>
          </p:nvSpPr>
          <p:spPr>
            <a:xfrm>
              <a:off x="2391816" y="1599259"/>
              <a:ext cx="1109599" cy="338554"/>
            </a:xfrm>
            <a:prstGeom prst="rect">
              <a:avLst/>
            </a:prstGeom>
            <a:noFill/>
          </p:spPr>
          <p:txBody>
            <a:bodyPr wrap="none" rtlCol="0">
              <a:spAutoFit/>
            </a:bodyPr>
            <a:lstStyle/>
            <a:p>
              <a:pPr algn="r"/>
              <a:r>
                <a:rPr lang="fr-FR" sz="1600" dirty="0">
                  <a:solidFill>
                    <a:schemeClr val="bg1">
                      <a:lumMod val="50000"/>
                    </a:schemeClr>
                  </a:solidFill>
                </a:rPr>
                <a:t>Options :</a:t>
              </a:r>
            </a:p>
          </p:txBody>
        </p:sp>
        <p:sp>
          <p:nvSpPr>
            <p:cNvPr id="109" name="TextBox 108"/>
            <p:cNvSpPr txBox="1"/>
            <p:nvPr/>
          </p:nvSpPr>
          <p:spPr>
            <a:xfrm>
              <a:off x="2186009" y="2063467"/>
              <a:ext cx="385042" cy="338554"/>
            </a:xfrm>
            <a:prstGeom prst="rect">
              <a:avLst/>
            </a:prstGeom>
            <a:noFill/>
          </p:spPr>
          <p:txBody>
            <a:bodyPr wrap="none" rtlCol="0">
              <a:spAutoFit/>
            </a:bodyPr>
            <a:lstStyle/>
            <a:p>
              <a:pPr algn="r"/>
              <a:r>
                <a:rPr lang="fr-FR" sz="1600" dirty="0">
                  <a:solidFill>
                    <a:schemeClr val="bg1">
                      <a:lumMod val="50000"/>
                    </a:schemeClr>
                  </a:solidFill>
                  <a:sym typeface="Wingdings" pitchFamily="2" charset="2"/>
                </a:rPr>
                <a:t></a:t>
              </a:r>
              <a:endParaRPr lang="fr-FR" sz="1600" dirty="0">
                <a:solidFill>
                  <a:schemeClr val="bg1">
                    <a:lumMod val="50000"/>
                  </a:schemeClr>
                </a:solidFill>
              </a:endParaRPr>
            </a:p>
          </p:txBody>
        </p:sp>
        <p:sp>
          <p:nvSpPr>
            <p:cNvPr id="111" name="TextBox 110"/>
            <p:cNvSpPr txBox="1"/>
            <p:nvPr/>
          </p:nvSpPr>
          <p:spPr>
            <a:xfrm>
              <a:off x="3501415" y="1589252"/>
              <a:ext cx="2770786" cy="338554"/>
            </a:xfrm>
            <a:prstGeom prst="rect">
              <a:avLst/>
            </a:prstGeom>
            <a:noFill/>
          </p:spPr>
          <p:txBody>
            <a:bodyPr wrap="square" rtlCol="0">
              <a:spAutoFit/>
            </a:bodyPr>
            <a:lstStyle/>
            <a:p>
              <a:r>
                <a:rPr lang="fr-FR" sz="1600" i="1" dirty="0">
                  <a:solidFill>
                    <a:schemeClr val="bg1">
                      <a:lumMod val="50000"/>
                    </a:schemeClr>
                  </a:solidFill>
                </a:rPr>
                <a:t>none</a:t>
              </a:r>
            </a:p>
          </p:txBody>
        </p:sp>
        <p:sp>
          <p:nvSpPr>
            <p:cNvPr id="110" name="TextBox 109"/>
            <p:cNvSpPr txBox="1"/>
            <p:nvPr/>
          </p:nvSpPr>
          <p:spPr>
            <a:xfrm>
              <a:off x="3512858" y="1306033"/>
              <a:ext cx="2770786" cy="307777"/>
            </a:xfrm>
            <a:prstGeom prst="rect">
              <a:avLst/>
            </a:prstGeom>
            <a:noFill/>
          </p:spPr>
          <p:txBody>
            <a:bodyPr wrap="square" rtlCol="0">
              <a:spAutoFit/>
            </a:bodyPr>
            <a:lstStyle/>
            <a:p>
              <a:r>
                <a:rPr lang="fr-FR" sz="1400" b="1" dirty="0">
                  <a:solidFill>
                    <a:srgbClr val="5E5E5E"/>
                  </a:solidFill>
                </a:rPr>
                <a:t>CAST_VERSION</a:t>
              </a:r>
            </a:p>
          </p:txBody>
        </p:sp>
      </p:grpSp>
      <p:grpSp>
        <p:nvGrpSpPr>
          <p:cNvPr id="9" name="Group 8">
            <a:extLst>
              <a:ext uri="{FF2B5EF4-FFF2-40B4-BE49-F238E27FC236}">
                <a16:creationId xmlns:a16="http://schemas.microsoft.com/office/drawing/2014/main" id="{172D0F5E-7E22-4108-BF59-667AC8513942}"/>
              </a:ext>
            </a:extLst>
          </p:cNvPr>
          <p:cNvGrpSpPr/>
          <p:nvPr/>
        </p:nvGrpSpPr>
        <p:grpSpPr>
          <a:xfrm>
            <a:off x="6233681" y="4794441"/>
            <a:ext cx="5501474" cy="1590162"/>
            <a:chOff x="6233681" y="4601922"/>
            <a:chExt cx="5501474" cy="1590162"/>
          </a:xfrm>
        </p:grpSpPr>
        <p:sp>
          <p:nvSpPr>
            <p:cNvPr id="120" name="Rounded Rectangle 119"/>
            <p:cNvSpPr/>
            <p:nvPr/>
          </p:nvSpPr>
          <p:spPr>
            <a:xfrm>
              <a:off x="6240159" y="4608084"/>
              <a:ext cx="4204178" cy="1584000"/>
            </a:xfrm>
            <a:prstGeom prst="roundRect">
              <a:avLst>
                <a:gd name="adj" fmla="val 413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21" name="TextBox 120"/>
            <p:cNvSpPr txBox="1"/>
            <p:nvPr/>
          </p:nvSpPr>
          <p:spPr>
            <a:xfrm>
              <a:off x="6233681" y="4601922"/>
              <a:ext cx="4326958"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Previous</a:t>
              </a:r>
              <a:r>
                <a:rPr lang="fr-FR" sz="1600" dirty="0"/>
                <a:t> </a:t>
              </a:r>
              <a:r>
                <a:rPr lang="fr-FR" sz="1600" dirty="0" err="1"/>
                <a:t>Snapshot</a:t>
              </a:r>
              <a:r>
                <a:rPr lang="fr-FR" sz="1600" dirty="0"/>
                <a:t> Date</a:t>
              </a:r>
            </a:p>
          </p:txBody>
        </p:sp>
        <p:sp>
          <p:nvSpPr>
            <p:cNvPr id="122" name="TextBox 121"/>
            <p:cNvSpPr txBox="1"/>
            <p:nvPr/>
          </p:nvSpPr>
          <p:spPr>
            <a:xfrm>
              <a:off x="6579488" y="5682042"/>
              <a:ext cx="385042"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sym typeface="Wingdings" pitchFamily="2" charset="2"/>
                </a:rPr>
                <a:t></a:t>
              </a:r>
              <a:endParaRPr lang="fr-FR" sz="1600" dirty="0"/>
            </a:p>
          </p:txBody>
        </p:sp>
        <p:sp>
          <p:nvSpPr>
            <p:cNvPr id="123" name="TextBox 122"/>
            <p:cNvSpPr txBox="1"/>
            <p:nvPr/>
          </p:nvSpPr>
          <p:spPr>
            <a:xfrm>
              <a:off x="6408219" y="496812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24" name="TextBox 123"/>
            <p:cNvSpPr txBox="1"/>
            <p:nvPr/>
          </p:nvSpPr>
          <p:spPr>
            <a:xfrm>
              <a:off x="8021787" y="5288094"/>
              <a:ext cx="2770786"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none</a:t>
              </a:r>
            </a:p>
          </p:txBody>
        </p:sp>
        <p:sp>
          <p:nvSpPr>
            <p:cNvPr id="125" name="TextBox 124"/>
            <p:cNvSpPr txBox="1"/>
            <p:nvPr/>
          </p:nvSpPr>
          <p:spPr>
            <a:xfrm>
              <a:off x="6831478" y="528809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26" name="Rounded Rectangle 125"/>
            <p:cNvSpPr/>
            <p:nvPr/>
          </p:nvSpPr>
          <p:spPr>
            <a:xfrm>
              <a:off x="7104255" y="5701620"/>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27" name="TextBox 126" descr="TEXT;PREVIOUS_SNAPSHOT_DATE"/>
            <p:cNvSpPr txBox="1"/>
            <p:nvPr/>
          </p:nvSpPr>
          <p:spPr>
            <a:xfrm>
              <a:off x="7176263" y="5682042"/>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err="1"/>
                <a:t>snapshotDate</a:t>
              </a:r>
              <a:endParaRPr lang="fr-FR" sz="1600" dirty="0"/>
            </a:p>
          </p:txBody>
        </p:sp>
        <p:sp>
          <p:nvSpPr>
            <p:cNvPr id="128" name="TextBox 127"/>
            <p:cNvSpPr txBox="1"/>
            <p:nvPr/>
          </p:nvSpPr>
          <p:spPr>
            <a:xfrm>
              <a:off x="8021787" y="4999027"/>
              <a:ext cx="3713368" cy="261610"/>
            </a:xfrm>
            <a:prstGeom prst="rect">
              <a:avLst/>
            </a:prstGeom>
            <a:noFill/>
          </p:spPr>
          <p:txBody>
            <a:bodyPr wrap="square" rtlCol="0">
              <a:spAutoFit/>
            </a:bodyPr>
            <a:lstStyle>
              <a:defPPr>
                <a:defRPr lang="fr-FR"/>
              </a:defPPr>
              <a:lvl1pPr>
                <a:defRPr sz="2000" b="1">
                  <a:solidFill>
                    <a:srgbClr val="5E5E5E"/>
                  </a:solidFill>
                </a:defRPr>
              </a:lvl1pPr>
            </a:lstStyle>
            <a:p>
              <a:r>
                <a:rPr lang="en-GB" sz="1100" dirty="0"/>
                <a:t>PREVIOUS_SNAPSHOT_DATE</a:t>
              </a:r>
              <a:endParaRPr lang="fr-FR" sz="1100" dirty="0"/>
            </a:p>
          </p:txBody>
        </p:sp>
      </p:grpSp>
      <p:grpSp>
        <p:nvGrpSpPr>
          <p:cNvPr id="12" name="Group 11">
            <a:extLst>
              <a:ext uri="{FF2B5EF4-FFF2-40B4-BE49-F238E27FC236}">
                <a16:creationId xmlns:a16="http://schemas.microsoft.com/office/drawing/2014/main" id="{9EBE7A2A-4898-4232-A66D-D97EBF91DFE3}"/>
              </a:ext>
            </a:extLst>
          </p:cNvPr>
          <p:cNvGrpSpPr/>
          <p:nvPr/>
        </p:nvGrpSpPr>
        <p:grpSpPr>
          <a:xfrm>
            <a:off x="6235903" y="2933269"/>
            <a:ext cx="5494405" cy="1728016"/>
            <a:chOff x="6235903" y="2740750"/>
            <a:chExt cx="5494405" cy="1728016"/>
          </a:xfrm>
        </p:grpSpPr>
        <p:sp>
          <p:nvSpPr>
            <p:cNvPr id="112" name="Rounded Rectangle 111"/>
            <p:cNvSpPr/>
            <p:nvPr/>
          </p:nvSpPr>
          <p:spPr>
            <a:xfrm>
              <a:off x="6235904" y="2740750"/>
              <a:ext cx="4204179" cy="1728016"/>
            </a:xfrm>
            <a:prstGeom prst="roundRect">
              <a:avLst>
                <a:gd name="adj" fmla="val 263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13" name="TextBox 112"/>
            <p:cNvSpPr txBox="1"/>
            <p:nvPr/>
          </p:nvSpPr>
          <p:spPr>
            <a:xfrm>
              <a:off x="6235903" y="2740750"/>
              <a:ext cx="4326958"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Last </a:t>
              </a:r>
              <a:r>
                <a:rPr lang="fr-FR" sz="1600" dirty="0" err="1"/>
                <a:t>Snapshot</a:t>
              </a:r>
              <a:r>
                <a:rPr lang="fr-FR" sz="1600" dirty="0"/>
                <a:t> Date</a:t>
              </a:r>
            </a:p>
          </p:txBody>
        </p:sp>
        <p:sp>
          <p:nvSpPr>
            <p:cNvPr id="114" name="TextBox 113"/>
            <p:cNvSpPr txBox="1"/>
            <p:nvPr/>
          </p:nvSpPr>
          <p:spPr>
            <a:xfrm>
              <a:off x="6575232" y="4002810"/>
              <a:ext cx="385042"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sym typeface="Wingdings" pitchFamily="2" charset="2"/>
                </a:rPr>
                <a:t></a:t>
              </a:r>
              <a:endParaRPr lang="fr-FR" sz="1600" dirty="0"/>
            </a:p>
          </p:txBody>
        </p:sp>
        <p:sp>
          <p:nvSpPr>
            <p:cNvPr id="115" name="TextBox 114"/>
            <p:cNvSpPr txBox="1"/>
            <p:nvPr/>
          </p:nvSpPr>
          <p:spPr>
            <a:xfrm>
              <a:off x="6475971" y="310695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16" name="TextBox 115"/>
            <p:cNvSpPr txBox="1"/>
            <p:nvPr/>
          </p:nvSpPr>
          <p:spPr>
            <a:xfrm>
              <a:off x="8016940" y="3431729"/>
              <a:ext cx="2770786"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none</a:t>
              </a:r>
            </a:p>
          </p:txBody>
        </p:sp>
        <p:sp>
          <p:nvSpPr>
            <p:cNvPr id="117" name="TextBox 116"/>
            <p:cNvSpPr txBox="1"/>
            <p:nvPr/>
          </p:nvSpPr>
          <p:spPr>
            <a:xfrm>
              <a:off x="6892752" y="3426922"/>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18" name="Rounded Rectangle 117"/>
            <p:cNvSpPr/>
            <p:nvPr/>
          </p:nvSpPr>
          <p:spPr>
            <a:xfrm>
              <a:off x="7099999" y="3984464"/>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19" name="TextBox 118" descr="TEXT;LAST_SNAPSHOT_DATE"/>
            <p:cNvSpPr txBox="1"/>
            <p:nvPr/>
          </p:nvSpPr>
          <p:spPr>
            <a:xfrm>
              <a:off x="7124507" y="3967185"/>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err="1"/>
                <a:t>snapshotDate</a:t>
              </a:r>
              <a:endParaRPr lang="fr-FR" sz="1600" dirty="0"/>
            </a:p>
          </p:txBody>
        </p:sp>
        <p:sp>
          <p:nvSpPr>
            <p:cNvPr id="129" name="TextBox 128"/>
            <p:cNvSpPr txBox="1"/>
            <p:nvPr/>
          </p:nvSpPr>
          <p:spPr>
            <a:xfrm>
              <a:off x="8016940" y="3125820"/>
              <a:ext cx="3713368" cy="276999"/>
            </a:xfrm>
            <a:prstGeom prst="rect">
              <a:avLst/>
            </a:prstGeom>
            <a:noFill/>
          </p:spPr>
          <p:txBody>
            <a:bodyPr wrap="square" rtlCol="0">
              <a:spAutoFit/>
            </a:bodyPr>
            <a:lstStyle>
              <a:defPPr>
                <a:defRPr lang="fr-FR"/>
              </a:defPPr>
              <a:lvl1pPr>
                <a:defRPr sz="2000" b="1">
                  <a:solidFill>
                    <a:srgbClr val="5E5E5E"/>
                  </a:solidFill>
                </a:defRPr>
              </a:lvl1pPr>
            </a:lstStyle>
            <a:p>
              <a:r>
                <a:rPr lang="en-GB" sz="1200" dirty="0"/>
                <a:t>LAST_SNAPSHOT_DATE</a:t>
              </a:r>
              <a:endParaRPr lang="fr-FR" sz="1200" dirty="0"/>
            </a:p>
          </p:txBody>
        </p:sp>
      </p:grpSp>
    </p:spTree>
    <p:extLst>
      <p:ext uri="{BB962C8B-B14F-4D97-AF65-F5344CB8AC3E}">
        <p14:creationId xmlns:p14="http://schemas.microsoft.com/office/powerpoint/2010/main" val="1325510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buClr>
                <a:prstClr val="black"/>
              </a:buClr>
            </a:pPr>
            <a:fld id="{F71C7896-8E11-4384-BFC5-C0974CDBC83D}" type="slidenum">
              <a:rPr lang="en-US" smtClean="0">
                <a:solidFill>
                  <a:srgbClr val="000000">
                    <a:lumMod val="65000"/>
                    <a:lumOff val="35000"/>
                  </a:srgbClr>
                </a:solidFill>
              </a:rPr>
              <a:pPr>
                <a:buClr>
                  <a:prstClr val="black"/>
                </a:buClr>
              </a:pPr>
              <a:t>12</a:t>
            </a:fld>
            <a:endParaRPr lang="en-US" dirty="0">
              <a:solidFill>
                <a:srgbClr val="000000">
                  <a:lumMod val="65000"/>
                  <a:lumOff val="35000"/>
                </a:srgbClr>
              </a:solidFill>
            </a:endParaRPr>
          </a:p>
        </p:txBody>
      </p:sp>
      <p:sp>
        <p:nvSpPr>
          <p:cNvPr id="5" name="Title 1"/>
          <p:cNvSpPr>
            <a:spLocks noGrp="1"/>
          </p:cNvSpPr>
          <p:nvPr>
            <p:ph type="title"/>
          </p:nvPr>
        </p:nvSpPr>
        <p:spPr/>
        <p:txBody>
          <a:bodyPr/>
          <a:lstStyle/>
          <a:p>
            <a:r>
              <a:rPr lang="fr-FR" dirty="0"/>
              <a:t>PowerPoint Templates – </a:t>
            </a:r>
            <a:r>
              <a:rPr lang="fr-FR" dirty="0" err="1"/>
              <a:t>Text</a:t>
            </a:r>
            <a:endParaRPr lang="fr-FR" dirty="0"/>
          </a:p>
        </p:txBody>
      </p:sp>
      <p:grpSp>
        <p:nvGrpSpPr>
          <p:cNvPr id="3" name="Group 2">
            <a:extLst>
              <a:ext uri="{FF2B5EF4-FFF2-40B4-BE49-F238E27FC236}">
                <a16:creationId xmlns:a16="http://schemas.microsoft.com/office/drawing/2014/main" id="{C8BD3D9D-9A32-4B55-8E4F-09B0E4C24112}"/>
              </a:ext>
            </a:extLst>
          </p:cNvPr>
          <p:cNvGrpSpPr/>
          <p:nvPr/>
        </p:nvGrpSpPr>
        <p:grpSpPr>
          <a:xfrm>
            <a:off x="108722" y="1898283"/>
            <a:ext cx="5772510" cy="2955553"/>
            <a:chOff x="3156938" y="842779"/>
            <a:chExt cx="5772510" cy="2955553"/>
          </a:xfrm>
        </p:grpSpPr>
        <p:sp>
          <p:nvSpPr>
            <p:cNvPr id="6" name="Rounded Rectangle 5"/>
            <p:cNvSpPr/>
            <p:nvPr/>
          </p:nvSpPr>
          <p:spPr>
            <a:xfrm>
              <a:off x="3300954" y="848941"/>
              <a:ext cx="5628494" cy="2949391"/>
            </a:xfrm>
            <a:prstGeom prst="roundRect">
              <a:avLst>
                <a:gd name="adj" fmla="val 488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7" name="TextBox 6"/>
            <p:cNvSpPr txBox="1"/>
            <p:nvPr/>
          </p:nvSpPr>
          <p:spPr>
            <a:xfrm>
              <a:off x="3156938" y="842779"/>
              <a:ext cx="4314002" cy="369332"/>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800" dirty="0"/>
                <a:t>Dashboard </a:t>
              </a:r>
              <a:r>
                <a:rPr lang="fr-FR" sz="1800" dirty="0" err="1"/>
                <a:t>Website</a:t>
              </a:r>
              <a:r>
                <a:rPr lang="fr-FR" sz="1800" dirty="0"/>
                <a:t> Url</a:t>
              </a:r>
            </a:p>
          </p:txBody>
        </p:sp>
        <p:sp>
          <p:nvSpPr>
            <p:cNvPr id="8" name="TextBox 7"/>
            <p:cNvSpPr txBox="1"/>
            <p:nvPr/>
          </p:nvSpPr>
          <p:spPr>
            <a:xfrm>
              <a:off x="4831470" y="1208981"/>
              <a:ext cx="4097978"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DASHBOARD_SERVICE_URL</a:t>
              </a:r>
            </a:p>
          </p:txBody>
        </p:sp>
        <p:sp>
          <p:nvSpPr>
            <p:cNvPr id="9" name="TextBox 8"/>
            <p:cNvSpPr txBox="1"/>
            <p:nvPr/>
          </p:nvSpPr>
          <p:spPr>
            <a:xfrm>
              <a:off x="4184223" y="3172906"/>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a:sym typeface="Wingdings" pitchFamily="2" charset="2"/>
                </a:rPr>
                <a:t></a:t>
              </a:r>
              <a:endParaRPr lang="fr-FR" sz="1800" dirty="0"/>
            </a:p>
          </p:txBody>
        </p:sp>
        <p:sp>
          <p:nvSpPr>
            <p:cNvPr id="10" name="TextBox 9"/>
            <p:cNvSpPr txBox="1"/>
            <p:nvPr/>
          </p:nvSpPr>
          <p:spPr>
            <a:xfrm>
              <a:off x="3230294" y="1208981"/>
              <a:ext cx="169309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Block Name :</a:t>
              </a:r>
            </a:p>
          </p:txBody>
        </p:sp>
        <p:sp>
          <p:nvSpPr>
            <p:cNvPr id="11" name="TextBox 10"/>
            <p:cNvSpPr txBox="1"/>
            <p:nvPr/>
          </p:nvSpPr>
          <p:spPr>
            <a:xfrm>
              <a:off x="4844170" y="1528951"/>
              <a:ext cx="2770786" cy="369332"/>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800" dirty="0"/>
                <a:t>none</a:t>
              </a:r>
            </a:p>
          </p:txBody>
        </p:sp>
        <p:sp>
          <p:nvSpPr>
            <p:cNvPr id="12" name="TextBox 11"/>
            <p:cNvSpPr txBox="1"/>
            <p:nvPr/>
          </p:nvSpPr>
          <p:spPr>
            <a:xfrm>
              <a:off x="3699975" y="1528951"/>
              <a:ext cx="122341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Options :</a:t>
              </a:r>
            </a:p>
          </p:txBody>
        </p:sp>
        <p:sp>
          <p:nvSpPr>
            <p:cNvPr id="13" name="Rounded Rectangle 12"/>
            <p:cNvSpPr/>
            <p:nvPr/>
          </p:nvSpPr>
          <p:spPr>
            <a:xfrm>
              <a:off x="4693676" y="3179068"/>
              <a:ext cx="3634572"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14" name="TextBox 13" descr="TEXT;MEASUREMENT_ADG_WEBSITE"/>
            <p:cNvSpPr txBox="1"/>
            <p:nvPr/>
          </p:nvSpPr>
          <p:spPr>
            <a:xfrm>
              <a:off x="4700154" y="3143385"/>
              <a:ext cx="384411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a:t>http://host/AED</a:t>
              </a:r>
            </a:p>
          </p:txBody>
        </p:sp>
        <p:sp>
          <p:nvSpPr>
            <p:cNvPr id="26" name="TextBox 25"/>
            <p:cNvSpPr txBox="1"/>
            <p:nvPr/>
          </p:nvSpPr>
          <p:spPr>
            <a:xfrm>
              <a:off x="4799786" y="1929061"/>
              <a:ext cx="3960511" cy="954107"/>
            </a:xfrm>
            <a:prstGeom prst="rect">
              <a:avLst/>
            </a:prstGeom>
          </p:spPr>
          <p:txBody>
            <a:bodyPr vert="horz" wrap="square" lIns="45720" tIns="45720" rIns="45720" bIns="45720" rtlCol="0">
              <a:spAutoFit/>
            </a:bodyPr>
            <a:lstStyle/>
            <a:p>
              <a:pPr marL="1587">
                <a:spcBef>
                  <a:spcPts val="300"/>
                </a:spcBef>
                <a:spcAft>
                  <a:spcPts val="400"/>
                </a:spcAft>
                <a:buClr>
                  <a:schemeClr val="tx2">
                    <a:lumMod val="65000"/>
                    <a:lumOff val="35000"/>
                  </a:schemeClr>
                </a:buClr>
                <a:buSzPct val="95000"/>
              </a:pPr>
              <a:r>
                <a:rPr lang="fr-FR" sz="1400" i="1" dirty="0">
                  <a:solidFill>
                    <a:schemeClr val="bg1">
                      <a:lumMod val="50000"/>
                    </a:schemeClr>
                  </a:solidFill>
                </a:rPr>
                <a:t>This </a:t>
              </a:r>
              <a:r>
                <a:rPr lang="en-US" sz="1400" i="1" dirty="0">
                  <a:solidFill>
                    <a:schemeClr val="bg1">
                      <a:lumMod val="50000"/>
                    </a:schemeClr>
                  </a:solidFill>
                </a:rPr>
                <a:t>Text block might be empty and will only work on an analytics database. Engineering databases do not contain this information.</a:t>
              </a:r>
              <a:endParaRPr lang="fr-FR" sz="1400" i="1" dirty="0" err="1">
                <a:solidFill>
                  <a:schemeClr val="bg1">
                    <a:lumMod val="50000"/>
                  </a:schemeClr>
                </a:solidFill>
              </a:endParaRPr>
            </a:p>
          </p:txBody>
        </p:sp>
        <p:sp>
          <p:nvSpPr>
            <p:cNvPr id="27" name="TextBox 26"/>
            <p:cNvSpPr txBox="1"/>
            <p:nvPr/>
          </p:nvSpPr>
          <p:spPr>
            <a:xfrm>
              <a:off x="4188504" y="1920819"/>
              <a:ext cx="662874" cy="307777"/>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400" dirty="0"/>
                <a:t>Note:</a:t>
              </a:r>
            </a:p>
          </p:txBody>
        </p:sp>
      </p:grpSp>
      <p:grpSp>
        <p:nvGrpSpPr>
          <p:cNvPr id="4" name="Group 3">
            <a:extLst>
              <a:ext uri="{FF2B5EF4-FFF2-40B4-BE49-F238E27FC236}">
                <a16:creationId xmlns:a16="http://schemas.microsoft.com/office/drawing/2014/main" id="{A0BAD299-7A8A-460F-AC8B-61F2C851D729}"/>
              </a:ext>
            </a:extLst>
          </p:cNvPr>
          <p:cNvGrpSpPr/>
          <p:nvPr/>
        </p:nvGrpSpPr>
        <p:grpSpPr>
          <a:xfrm>
            <a:off x="6096000" y="2102680"/>
            <a:ext cx="5772510" cy="2655029"/>
            <a:chOff x="3156938" y="3861048"/>
            <a:chExt cx="5772510" cy="2655029"/>
          </a:xfrm>
        </p:grpSpPr>
        <p:sp>
          <p:nvSpPr>
            <p:cNvPr id="15" name="Rounded Rectangle 14"/>
            <p:cNvSpPr/>
            <p:nvPr/>
          </p:nvSpPr>
          <p:spPr>
            <a:xfrm>
              <a:off x="3300954" y="3867210"/>
              <a:ext cx="5628494" cy="2648867"/>
            </a:xfrm>
            <a:prstGeom prst="roundRect">
              <a:avLst>
                <a:gd name="adj" fmla="val 488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16" name="TextBox 15"/>
            <p:cNvSpPr txBox="1"/>
            <p:nvPr/>
          </p:nvSpPr>
          <p:spPr>
            <a:xfrm>
              <a:off x="3156938" y="3861048"/>
              <a:ext cx="4314002" cy="369332"/>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800" dirty="0"/>
                <a:t>System Name</a:t>
              </a:r>
            </a:p>
          </p:txBody>
        </p:sp>
        <p:sp>
          <p:nvSpPr>
            <p:cNvPr id="17" name="TextBox 16"/>
            <p:cNvSpPr txBox="1"/>
            <p:nvPr/>
          </p:nvSpPr>
          <p:spPr>
            <a:xfrm>
              <a:off x="4831470" y="4227250"/>
              <a:ext cx="4097978"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SYSTEM_NAME</a:t>
              </a:r>
            </a:p>
          </p:txBody>
        </p:sp>
        <p:sp>
          <p:nvSpPr>
            <p:cNvPr id="18" name="TextBox 17"/>
            <p:cNvSpPr txBox="1"/>
            <p:nvPr/>
          </p:nvSpPr>
          <p:spPr>
            <a:xfrm>
              <a:off x="4184223" y="5981218"/>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a:sym typeface="Wingdings" pitchFamily="2" charset="2"/>
                </a:rPr>
                <a:t></a:t>
              </a:r>
              <a:endParaRPr lang="fr-FR" sz="1800" dirty="0"/>
            </a:p>
          </p:txBody>
        </p:sp>
        <p:sp>
          <p:nvSpPr>
            <p:cNvPr id="19" name="TextBox 18"/>
            <p:cNvSpPr txBox="1"/>
            <p:nvPr/>
          </p:nvSpPr>
          <p:spPr>
            <a:xfrm>
              <a:off x="3230294" y="4227250"/>
              <a:ext cx="169309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Block Name :</a:t>
              </a:r>
            </a:p>
          </p:txBody>
        </p:sp>
        <p:sp>
          <p:nvSpPr>
            <p:cNvPr id="20" name="TextBox 19"/>
            <p:cNvSpPr txBox="1"/>
            <p:nvPr/>
          </p:nvSpPr>
          <p:spPr>
            <a:xfrm>
              <a:off x="4844170" y="4547220"/>
              <a:ext cx="2770786" cy="369332"/>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800" dirty="0"/>
                <a:t>none</a:t>
              </a:r>
            </a:p>
          </p:txBody>
        </p:sp>
        <p:sp>
          <p:nvSpPr>
            <p:cNvPr id="21" name="TextBox 20"/>
            <p:cNvSpPr txBox="1"/>
            <p:nvPr/>
          </p:nvSpPr>
          <p:spPr>
            <a:xfrm>
              <a:off x="3699975" y="4547220"/>
              <a:ext cx="122341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Options :</a:t>
              </a:r>
            </a:p>
          </p:txBody>
        </p:sp>
        <p:sp>
          <p:nvSpPr>
            <p:cNvPr id="22" name="Rounded Rectangle 21"/>
            <p:cNvSpPr/>
            <p:nvPr/>
          </p:nvSpPr>
          <p:spPr>
            <a:xfrm>
              <a:off x="4693676" y="5987380"/>
              <a:ext cx="3634572"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23" name="TextBox 22" descr="TEXT;SYSTEM_NAME"/>
            <p:cNvSpPr txBox="1"/>
            <p:nvPr/>
          </p:nvSpPr>
          <p:spPr>
            <a:xfrm>
              <a:off x="4700154" y="5951697"/>
              <a:ext cx="384411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err="1"/>
                <a:t>My</a:t>
              </a:r>
              <a:r>
                <a:rPr lang="fr-FR" sz="1800" dirty="0"/>
                <a:t> System Name</a:t>
              </a:r>
            </a:p>
          </p:txBody>
        </p:sp>
        <p:sp>
          <p:nvSpPr>
            <p:cNvPr id="24" name="TextBox 23">
              <a:extLst>
                <a:ext uri="{FF2B5EF4-FFF2-40B4-BE49-F238E27FC236}">
                  <a16:creationId xmlns:a16="http://schemas.microsoft.com/office/drawing/2014/main" id="{62A04968-EA12-422A-ABDE-9A104390E818}"/>
                </a:ext>
              </a:extLst>
            </p:cNvPr>
            <p:cNvSpPr txBox="1"/>
            <p:nvPr/>
          </p:nvSpPr>
          <p:spPr>
            <a:xfrm>
              <a:off x="4847386" y="4944071"/>
              <a:ext cx="3960511" cy="646331"/>
            </a:xfrm>
            <a:prstGeom prst="rect">
              <a:avLst/>
            </a:prstGeom>
          </p:spPr>
          <p:txBody>
            <a:bodyPr vert="horz" wrap="square" lIns="45720" tIns="45720" rIns="45720" bIns="45720" rtlCol="0">
              <a:spAutoFit/>
            </a:bodyPr>
            <a:lstStyle/>
            <a:p>
              <a:pPr marL="1587">
                <a:spcBef>
                  <a:spcPts val="300"/>
                </a:spcBef>
                <a:spcAft>
                  <a:spcPts val="400"/>
                </a:spcAft>
                <a:buClr>
                  <a:schemeClr val="tx2">
                    <a:lumMod val="65000"/>
                    <a:lumOff val="35000"/>
                  </a:schemeClr>
                </a:buClr>
                <a:buSzPct val="95000"/>
              </a:pPr>
              <a:r>
                <a:rPr lang="fr-FR" sz="1200" i="1" dirty="0">
                  <a:solidFill>
                    <a:schemeClr val="bg1">
                      <a:lumMod val="50000"/>
                    </a:schemeClr>
                  </a:solidFill>
                </a:rPr>
                <a:t>This </a:t>
              </a:r>
              <a:r>
                <a:rPr lang="en-US" sz="1200" i="1" dirty="0">
                  <a:solidFill>
                    <a:schemeClr val="bg1">
                      <a:lumMod val="50000"/>
                    </a:schemeClr>
                  </a:solidFill>
                </a:rPr>
                <a:t>Text block is only relevant on engineering databases. There is no real system on analytics database, just a fake one called “All Applications”.</a:t>
              </a:r>
              <a:endParaRPr lang="fr-FR" sz="1200" i="1" dirty="0" err="1">
                <a:solidFill>
                  <a:schemeClr val="bg1">
                    <a:lumMod val="50000"/>
                  </a:schemeClr>
                </a:solidFill>
              </a:endParaRPr>
            </a:p>
          </p:txBody>
        </p:sp>
        <p:sp>
          <p:nvSpPr>
            <p:cNvPr id="25" name="TextBox 24">
              <a:extLst>
                <a:ext uri="{FF2B5EF4-FFF2-40B4-BE49-F238E27FC236}">
                  <a16:creationId xmlns:a16="http://schemas.microsoft.com/office/drawing/2014/main" id="{5A5911CD-DF05-4F1D-BED1-722431A9F443}"/>
                </a:ext>
              </a:extLst>
            </p:cNvPr>
            <p:cNvSpPr txBox="1"/>
            <p:nvPr/>
          </p:nvSpPr>
          <p:spPr>
            <a:xfrm>
              <a:off x="4236104" y="4935828"/>
              <a:ext cx="662874" cy="307777"/>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400" dirty="0"/>
                <a:t>Note:</a:t>
              </a:r>
            </a:p>
          </p:txBody>
        </p:sp>
      </p:grpSp>
    </p:spTree>
    <p:extLst>
      <p:ext uri="{BB962C8B-B14F-4D97-AF65-F5344CB8AC3E}">
        <p14:creationId xmlns:p14="http://schemas.microsoft.com/office/powerpoint/2010/main" val="1512311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PowerPoint Templates – </a:t>
            </a:r>
            <a:r>
              <a:rPr lang="fr-FR" dirty="0" err="1"/>
              <a:t>Text</a:t>
            </a:r>
            <a:endParaRPr lang="fr-FR" dirty="0"/>
          </a:p>
        </p:txBody>
      </p:sp>
      <p:grpSp>
        <p:nvGrpSpPr>
          <p:cNvPr id="3" name="Group 2">
            <a:extLst>
              <a:ext uri="{FF2B5EF4-FFF2-40B4-BE49-F238E27FC236}">
                <a16:creationId xmlns:a16="http://schemas.microsoft.com/office/drawing/2014/main" id="{1B25A25C-4280-4F74-8046-1B22F9E8FD84}"/>
              </a:ext>
            </a:extLst>
          </p:cNvPr>
          <p:cNvGrpSpPr/>
          <p:nvPr/>
        </p:nvGrpSpPr>
        <p:grpSpPr>
          <a:xfrm>
            <a:off x="1559496" y="1556792"/>
            <a:ext cx="4464496" cy="1800200"/>
            <a:chOff x="1559496" y="1556792"/>
            <a:chExt cx="4464496" cy="1800200"/>
          </a:xfrm>
        </p:grpSpPr>
        <p:sp>
          <p:nvSpPr>
            <p:cNvPr id="54" name="Rounded Rectangle 53"/>
            <p:cNvSpPr/>
            <p:nvPr/>
          </p:nvSpPr>
          <p:spPr>
            <a:xfrm>
              <a:off x="1703512" y="1562954"/>
              <a:ext cx="4320480" cy="1794038"/>
            </a:xfrm>
            <a:prstGeom prst="roundRect">
              <a:avLst>
                <a:gd name="adj" fmla="val 488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55" name="TextBox 54"/>
            <p:cNvSpPr txBox="1"/>
            <p:nvPr/>
          </p:nvSpPr>
          <p:spPr>
            <a:xfrm>
              <a:off x="1559496" y="1556792"/>
              <a:ext cx="4314002" cy="369332"/>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800" dirty="0"/>
                <a:t>Application Name</a:t>
              </a:r>
            </a:p>
          </p:txBody>
        </p:sp>
        <p:sp>
          <p:nvSpPr>
            <p:cNvPr id="56" name="TextBox 55"/>
            <p:cNvSpPr txBox="1"/>
            <p:nvPr/>
          </p:nvSpPr>
          <p:spPr>
            <a:xfrm>
              <a:off x="3234028" y="1922994"/>
              <a:ext cx="2770786"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APPLICATION_NAME</a:t>
              </a:r>
            </a:p>
          </p:txBody>
        </p:sp>
        <p:sp>
          <p:nvSpPr>
            <p:cNvPr id="58" name="TextBox 57"/>
            <p:cNvSpPr txBox="1"/>
            <p:nvPr/>
          </p:nvSpPr>
          <p:spPr>
            <a:xfrm>
              <a:off x="2586781" y="2738441"/>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a:sym typeface="Wingdings" pitchFamily="2" charset="2"/>
                </a:rPr>
                <a:t></a:t>
              </a:r>
              <a:endParaRPr lang="fr-FR" sz="1800" dirty="0"/>
            </a:p>
          </p:txBody>
        </p:sp>
        <p:sp>
          <p:nvSpPr>
            <p:cNvPr id="59" name="TextBox 58"/>
            <p:cNvSpPr txBox="1"/>
            <p:nvPr/>
          </p:nvSpPr>
          <p:spPr>
            <a:xfrm>
              <a:off x="1632852" y="1922994"/>
              <a:ext cx="169309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Block Name :</a:t>
              </a:r>
            </a:p>
          </p:txBody>
        </p:sp>
        <p:sp>
          <p:nvSpPr>
            <p:cNvPr id="60" name="TextBox 59"/>
            <p:cNvSpPr txBox="1"/>
            <p:nvPr/>
          </p:nvSpPr>
          <p:spPr>
            <a:xfrm>
              <a:off x="3246728" y="2242964"/>
              <a:ext cx="2770786" cy="369332"/>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800" dirty="0"/>
                <a:t>none</a:t>
              </a:r>
            </a:p>
          </p:txBody>
        </p:sp>
        <p:sp>
          <p:nvSpPr>
            <p:cNvPr id="61" name="TextBox 60"/>
            <p:cNvSpPr txBox="1"/>
            <p:nvPr/>
          </p:nvSpPr>
          <p:spPr>
            <a:xfrm>
              <a:off x="2102533" y="2242964"/>
              <a:ext cx="122341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Options :</a:t>
              </a:r>
            </a:p>
          </p:txBody>
        </p:sp>
        <p:sp>
          <p:nvSpPr>
            <p:cNvPr id="35" name="Rounded Rectangle 34"/>
            <p:cNvSpPr/>
            <p:nvPr/>
          </p:nvSpPr>
          <p:spPr>
            <a:xfrm>
              <a:off x="3096234" y="2747020"/>
              <a:ext cx="2207678"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57" name="TextBox 56" descr="TEXT;APPLICATION_NAME"/>
            <p:cNvSpPr txBox="1"/>
            <p:nvPr/>
          </p:nvSpPr>
          <p:spPr>
            <a:xfrm>
              <a:off x="3102712" y="2708920"/>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a:t>myAppName</a:t>
              </a:r>
            </a:p>
          </p:txBody>
        </p:sp>
      </p:grpSp>
      <p:grpSp>
        <p:nvGrpSpPr>
          <p:cNvPr id="4" name="Group 3">
            <a:extLst>
              <a:ext uri="{FF2B5EF4-FFF2-40B4-BE49-F238E27FC236}">
                <a16:creationId xmlns:a16="http://schemas.microsoft.com/office/drawing/2014/main" id="{182B0009-15BF-41AB-B94E-88A716CB310D}"/>
              </a:ext>
            </a:extLst>
          </p:cNvPr>
          <p:cNvGrpSpPr/>
          <p:nvPr/>
        </p:nvGrpSpPr>
        <p:grpSpPr>
          <a:xfrm>
            <a:off x="6023992" y="1556792"/>
            <a:ext cx="4536504" cy="1800200"/>
            <a:chOff x="6023992" y="1556792"/>
            <a:chExt cx="4536504" cy="1800200"/>
          </a:xfrm>
        </p:grpSpPr>
        <p:sp>
          <p:nvSpPr>
            <p:cNvPr id="62" name="Rounded Rectangle 61"/>
            <p:cNvSpPr/>
            <p:nvPr/>
          </p:nvSpPr>
          <p:spPr>
            <a:xfrm>
              <a:off x="6168008" y="1562954"/>
              <a:ext cx="4320480" cy="1794038"/>
            </a:xfrm>
            <a:prstGeom prst="roundRect">
              <a:avLst>
                <a:gd name="adj" fmla="val 413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63" name="TextBox 62"/>
            <p:cNvSpPr txBox="1"/>
            <p:nvPr/>
          </p:nvSpPr>
          <p:spPr>
            <a:xfrm>
              <a:off x="6023992" y="1556792"/>
              <a:ext cx="4320480" cy="369332"/>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800" dirty="0"/>
                <a:t>Size Application Category</a:t>
              </a:r>
            </a:p>
          </p:txBody>
        </p:sp>
        <p:sp>
          <p:nvSpPr>
            <p:cNvPr id="64" name="TextBox 63"/>
            <p:cNvSpPr txBox="1"/>
            <p:nvPr/>
          </p:nvSpPr>
          <p:spPr>
            <a:xfrm>
              <a:off x="7711224" y="1948395"/>
              <a:ext cx="2770786"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APPLICATION_SIZE_TYPE</a:t>
              </a:r>
              <a:endParaRPr lang="fr-FR" sz="1600" dirty="0"/>
            </a:p>
          </p:txBody>
        </p:sp>
        <p:sp>
          <p:nvSpPr>
            <p:cNvPr id="66" name="TextBox 65"/>
            <p:cNvSpPr txBox="1"/>
            <p:nvPr/>
          </p:nvSpPr>
          <p:spPr>
            <a:xfrm>
              <a:off x="7020229" y="2728225"/>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a:sym typeface="Wingdings" pitchFamily="2" charset="2"/>
                </a:rPr>
                <a:t></a:t>
              </a:r>
              <a:endParaRPr lang="fr-FR" sz="1800" dirty="0"/>
            </a:p>
          </p:txBody>
        </p:sp>
        <p:sp>
          <p:nvSpPr>
            <p:cNvPr id="67" name="TextBox 66"/>
            <p:cNvSpPr txBox="1"/>
            <p:nvPr/>
          </p:nvSpPr>
          <p:spPr>
            <a:xfrm>
              <a:off x="6097348" y="1922994"/>
              <a:ext cx="169309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Block Name :</a:t>
              </a:r>
            </a:p>
          </p:txBody>
        </p:sp>
        <p:sp>
          <p:nvSpPr>
            <p:cNvPr id="68" name="TextBox 67"/>
            <p:cNvSpPr txBox="1"/>
            <p:nvPr/>
          </p:nvSpPr>
          <p:spPr>
            <a:xfrm>
              <a:off x="7711224" y="2242964"/>
              <a:ext cx="2770786" cy="369332"/>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800" dirty="0"/>
                <a:t>none</a:t>
              </a:r>
            </a:p>
          </p:txBody>
        </p:sp>
        <p:sp>
          <p:nvSpPr>
            <p:cNvPr id="69" name="TextBox 68"/>
            <p:cNvSpPr txBox="1"/>
            <p:nvPr/>
          </p:nvSpPr>
          <p:spPr>
            <a:xfrm>
              <a:off x="6567029" y="2242964"/>
              <a:ext cx="122341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Options :</a:t>
              </a:r>
            </a:p>
          </p:txBody>
        </p:sp>
        <p:sp>
          <p:nvSpPr>
            <p:cNvPr id="36" name="Rounded Rectangle 35"/>
            <p:cNvSpPr/>
            <p:nvPr/>
          </p:nvSpPr>
          <p:spPr>
            <a:xfrm>
              <a:off x="7560730" y="2732671"/>
              <a:ext cx="2207678"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65" name="TextBox 64" descr="TEXT;APPLICATION_SIZE_TYPE"/>
            <p:cNvSpPr txBox="1"/>
            <p:nvPr/>
          </p:nvSpPr>
          <p:spPr>
            <a:xfrm>
              <a:off x="7824192" y="2741607"/>
              <a:ext cx="2736304" cy="363736"/>
            </a:xfrm>
            <a:prstGeom prst="rect">
              <a:avLst/>
            </a:prstGeom>
            <a:noFill/>
          </p:spPr>
          <p:txBody>
            <a:bodyPr wrap="square" rtlCol="0">
              <a:noAutofit/>
            </a:bodyPr>
            <a:lstStyle>
              <a:defPPr>
                <a:defRPr lang="fr-FR"/>
              </a:defPPr>
              <a:lvl1pPr>
                <a:defRPr sz="2000" b="1">
                  <a:solidFill>
                    <a:schemeClr val="bg1">
                      <a:lumMod val="50000"/>
                    </a:schemeClr>
                  </a:solidFill>
                </a:defRPr>
              </a:lvl1pPr>
            </a:lstStyle>
            <a:p>
              <a:r>
                <a:rPr lang="fr-FR" sz="1800" dirty="0"/>
                <a:t>SizeType</a:t>
              </a:r>
            </a:p>
          </p:txBody>
        </p:sp>
      </p:grpSp>
      <p:grpSp>
        <p:nvGrpSpPr>
          <p:cNvPr id="5" name="Group 4">
            <a:extLst>
              <a:ext uri="{FF2B5EF4-FFF2-40B4-BE49-F238E27FC236}">
                <a16:creationId xmlns:a16="http://schemas.microsoft.com/office/drawing/2014/main" id="{C4F62F64-D18F-4308-AEDD-FEE705EBFD95}"/>
              </a:ext>
            </a:extLst>
          </p:cNvPr>
          <p:cNvGrpSpPr/>
          <p:nvPr/>
        </p:nvGrpSpPr>
        <p:grpSpPr>
          <a:xfrm>
            <a:off x="3863752" y="3836947"/>
            <a:ext cx="4477762" cy="1944216"/>
            <a:chOff x="3863752" y="3836947"/>
            <a:chExt cx="4477762" cy="1944216"/>
          </a:xfrm>
        </p:grpSpPr>
        <p:sp>
          <p:nvSpPr>
            <p:cNvPr id="46" name="Rounded Rectangle 45"/>
            <p:cNvSpPr/>
            <p:nvPr/>
          </p:nvSpPr>
          <p:spPr>
            <a:xfrm>
              <a:off x="4001290" y="3843109"/>
              <a:ext cx="4320480" cy="1938054"/>
            </a:xfrm>
            <a:prstGeom prst="roundRect">
              <a:avLst>
                <a:gd name="adj" fmla="val 488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47" name="TextBox 46"/>
            <p:cNvSpPr txBox="1"/>
            <p:nvPr/>
          </p:nvSpPr>
          <p:spPr>
            <a:xfrm>
              <a:off x="3863752" y="3836947"/>
              <a:ext cx="4320480" cy="369332"/>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800" dirty="0"/>
                <a:t>Quality Application Category</a:t>
              </a:r>
            </a:p>
          </p:txBody>
        </p:sp>
        <p:sp>
          <p:nvSpPr>
            <p:cNvPr id="48" name="TextBox 47"/>
            <p:cNvSpPr txBox="1"/>
            <p:nvPr/>
          </p:nvSpPr>
          <p:spPr>
            <a:xfrm>
              <a:off x="5544506" y="4324390"/>
              <a:ext cx="2770786" cy="261610"/>
            </a:xfrm>
            <a:prstGeom prst="rect">
              <a:avLst/>
            </a:prstGeom>
            <a:noFill/>
          </p:spPr>
          <p:txBody>
            <a:bodyPr wrap="square" rtlCol="0">
              <a:spAutoFit/>
            </a:bodyPr>
            <a:lstStyle>
              <a:defPPr>
                <a:defRPr lang="fr-FR"/>
              </a:defPPr>
              <a:lvl1pPr>
                <a:defRPr sz="2000" b="1">
                  <a:solidFill>
                    <a:srgbClr val="5E5E5E"/>
                  </a:solidFill>
                </a:defRPr>
              </a:lvl1pPr>
            </a:lstStyle>
            <a:p>
              <a:r>
                <a:rPr lang="fr-FR" sz="1100" dirty="0"/>
                <a:t>APPLICATION_QUALITY_TYPE</a:t>
              </a:r>
              <a:endParaRPr lang="fr-FR" sz="1400" dirty="0"/>
            </a:p>
          </p:txBody>
        </p:sp>
        <p:sp>
          <p:nvSpPr>
            <p:cNvPr id="50" name="TextBox 49"/>
            <p:cNvSpPr txBox="1"/>
            <p:nvPr/>
          </p:nvSpPr>
          <p:spPr>
            <a:xfrm>
              <a:off x="4896434" y="5237037"/>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a:sym typeface="Wingdings" pitchFamily="2" charset="2"/>
                </a:rPr>
                <a:t></a:t>
              </a:r>
              <a:endParaRPr lang="fr-FR" sz="1800" dirty="0"/>
            </a:p>
          </p:txBody>
        </p:sp>
        <p:sp>
          <p:nvSpPr>
            <p:cNvPr id="51" name="TextBox 50"/>
            <p:cNvSpPr txBox="1"/>
            <p:nvPr/>
          </p:nvSpPr>
          <p:spPr>
            <a:xfrm>
              <a:off x="3930630" y="4232612"/>
              <a:ext cx="169309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Block Name :</a:t>
              </a:r>
            </a:p>
          </p:txBody>
        </p:sp>
        <p:sp>
          <p:nvSpPr>
            <p:cNvPr id="52" name="TextBox 51"/>
            <p:cNvSpPr txBox="1"/>
            <p:nvPr/>
          </p:nvSpPr>
          <p:spPr>
            <a:xfrm>
              <a:off x="5544506" y="4557027"/>
              <a:ext cx="2770786" cy="369332"/>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800" dirty="0"/>
                <a:t>none</a:t>
              </a:r>
            </a:p>
          </p:txBody>
        </p:sp>
        <p:sp>
          <p:nvSpPr>
            <p:cNvPr id="53" name="TextBox 52"/>
            <p:cNvSpPr txBox="1"/>
            <p:nvPr/>
          </p:nvSpPr>
          <p:spPr>
            <a:xfrm>
              <a:off x="4400311" y="4557027"/>
              <a:ext cx="122341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Options :</a:t>
              </a:r>
            </a:p>
          </p:txBody>
        </p:sp>
        <p:sp>
          <p:nvSpPr>
            <p:cNvPr id="38" name="Rounded Rectangle 37"/>
            <p:cNvSpPr/>
            <p:nvPr/>
          </p:nvSpPr>
          <p:spPr>
            <a:xfrm>
              <a:off x="5447928" y="5243199"/>
              <a:ext cx="2207678"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49" name="TextBox 48" descr="TEXT;APPLICATION_QUALITY_TYPE"/>
            <p:cNvSpPr txBox="1"/>
            <p:nvPr/>
          </p:nvSpPr>
          <p:spPr>
            <a:xfrm>
              <a:off x="5605210" y="5237037"/>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err="1"/>
                <a:t>QualityType</a:t>
              </a:r>
              <a:endParaRPr lang="fr-FR" sz="180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PowerPoint Templates – </a:t>
            </a:r>
            <a:r>
              <a:rPr lang="fr-FR" dirty="0" err="1"/>
              <a:t>Text</a:t>
            </a:r>
            <a:endParaRPr lang="fr-FR" dirty="0"/>
          </a:p>
        </p:txBody>
      </p:sp>
      <p:grpSp>
        <p:nvGrpSpPr>
          <p:cNvPr id="23" name="Group 22">
            <a:extLst>
              <a:ext uri="{FF2B5EF4-FFF2-40B4-BE49-F238E27FC236}">
                <a16:creationId xmlns:a16="http://schemas.microsoft.com/office/drawing/2014/main" id="{32F66CB1-FA29-46F1-BD3C-D6EC7EAF32E8}"/>
              </a:ext>
            </a:extLst>
          </p:cNvPr>
          <p:cNvGrpSpPr/>
          <p:nvPr/>
        </p:nvGrpSpPr>
        <p:grpSpPr>
          <a:xfrm>
            <a:off x="1765620" y="1026851"/>
            <a:ext cx="8212400" cy="5197779"/>
            <a:chOff x="1844040" y="3479800"/>
            <a:chExt cx="8212400" cy="2007702"/>
          </a:xfrm>
        </p:grpSpPr>
        <p:sp>
          <p:nvSpPr>
            <p:cNvPr id="24" name="Rounded Rectangle 11">
              <a:extLst>
                <a:ext uri="{FF2B5EF4-FFF2-40B4-BE49-F238E27FC236}">
                  <a16:creationId xmlns:a16="http://schemas.microsoft.com/office/drawing/2014/main" id="{C7B514A5-5D09-4FB2-83F7-0FE97DC02B12}"/>
                </a:ext>
              </a:extLst>
            </p:cNvPr>
            <p:cNvSpPr/>
            <p:nvPr/>
          </p:nvSpPr>
          <p:spPr>
            <a:xfrm>
              <a:off x="1988056" y="3479800"/>
              <a:ext cx="8068384" cy="2007702"/>
            </a:xfrm>
            <a:prstGeom prst="roundRect">
              <a:avLst>
                <a:gd name="adj" fmla="val 338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25" name="TextBox 24">
              <a:extLst>
                <a:ext uri="{FF2B5EF4-FFF2-40B4-BE49-F238E27FC236}">
                  <a16:creationId xmlns:a16="http://schemas.microsoft.com/office/drawing/2014/main" id="{48228C9C-85B4-4F66-BBC6-2F2AB61EB7A5}"/>
                </a:ext>
              </a:extLst>
            </p:cNvPr>
            <p:cNvSpPr txBox="1"/>
            <p:nvPr/>
          </p:nvSpPr>
          <p:spPr>
            <a:xfrm>
              <a:off x="1844040" y="3479800"/>
              <a:ext cx="4314002" cy="369332"/>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800" dirty="0" err="1"/>
                <a:t>Result</a:t>
              </a:r>
              <a:r>
                <a:rPr lang="fr-FR" sz="1800" dirty="0"/>
                <a:t> for a </a:t>
              </a:r>
              <a:r>
                <a:rPr lang="fr-FR" sz="1800" dirty="0" err="1"/>
                <a:t>metric</a:t>
              </a:r>
              <a:r>
                <a:rPr lang="fr-FR" sz="1800" dirty="0"/>
                <a:t> id</a:t>
              </a:r>
            </a:p>
          </p:txBody>
        </p:sp>
        <p:sp>
          <p:nvSpPr>
            <p:cNvPr id="26" name="TextBox 25">
              <a:extLst>
                <a:ext uri="{FF2B5EF4-FFF2-40B4-BE49-F238E27FC236}">
                  <a16:creationId xmlns:a16="http://schemas.microsoft.com/office/drawing/2014/main" id="{E93A9CC9-2FDE-4F80-AA6D-B50CAF19823A}"/>
                </a:ext>
              </a:extLst>
            </p:cNvPr>
            <p:cNvSpPr txBox="1"/>
            <p:nvPr/>
          </p:nvSpPr>
          <p:spPr>
            <a:xfrm>
              <a:off x="3531272" y="3622508"/>
              <a:ext cx="5657116"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APPLICATION_METRIC (or APPLICATION_RULE)</a:t>
              </a:r>
            </a:p>
          </p:txBody>
        </p:sp>
        <p:sp>
          <p:nvSpPr>
            <p:cNvPr id="27" name="TextBox 26">
              <a:extLst>
                <a:ext uri="{FF2B5EF4-FFF2-40B4-BE49-F238E27FC236}">
                  <a16:creationId xmlns:a16="http://schemas.microsoft.com/office/drawing/2014/main" id="{C55996D0-67D9-4C16-8265-F22D09E9AD90}"/>
                </a:ext>
              </a:extLst>
            </p:cNvPr>
            <p:cNvSpPr txBox="1"/>
            <p:nvPr/>
          </p:nvSpPr>
          <p:spPr>
            <a:xfrm>
              <a:off x="3873102" y="5120063"/>
              <a:ext cx="436338" cy="158637"/>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a:sym typeface="Wingdings" pitchFamily="2" charset="2"/>
                </a:rPr>
                <a:t></a:t>
              </a:r>
              <a:endParaRPr lang="fr-FR" sz="1800" dirty="0"/>
            </a:p>
          </p:txBody>
        </p:sp>
        <p:sp>
          <p:nvSpPr>
            <p:cNvPr id="28" name="TextBox 27">
              <a:extLst>
                <a:ext uri="{FF2B5EF4-FFF2-40B4-BE49-F238E27FC236}">
                  <a16:creationId xmlns:a16="http://schemas.microsoft.com/office/drawing/2014/main" id="{BC82B2E6-0AE6-4EF5-951C-455D00995D33}"/>
                </a:ext>
              </a:extLst>
            </p:cNvPr>
            <p:cNvSpPr txBox="1"/>
            <p:nvPr/>
          </p:nvSpPr>
          <p:spPr>
            <a:xfrm>
              <a:off x="1917396" y="3613454"/>
              <a:ext cx="169309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Block Name :</a:t>
              </a:r>
            </a:p>
          </p:txBody>
        </p:sp>
        <p:sp>
          <p:nvSpPr>
            <p:cNvPr id="29" name="TextBox 28">
              <a:extLst>
                <a:ext uri="{FF2B5EF4-FFF2-40B4-BE49-F238E27FC236}">
                  <a16:creationId xmlns:a16="http://schemas.microsoft.com/office/drawing/2014/main" id="{8F024D34-2989-497B-BDE8-D4FDB324906A}"/>
                </a:ext>
              </a:extLst>
            </p:cNvPr>
            <p:cNvSpPr txBox="1"/>
            <p:nvPr/>
          </p:nvSpPr>
          <p:spPr>
            <a:xfrm>
              <a:off x="3531272" y="3767187"/>
              <a:ext cx="6381152" cy="1319593"/>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200" b="1" dirty="0"/>
                <a:t>ID</a:t>
              </a:r>
              <a:r>
                <a:rPr lang="fr-FR" sz="1200" dirty="0"/>
                <a:t> = </a:t>
              </a:r>
              <a:r>
                <a:rPr lang="fr-FR" sz="1200" dirty="0" err="1"/>
                <a:t>Quality</a:t>
              </a:r>
              <a:r>
                <a:rPr lang="fr-FR" sz="1200" dirty="0"/>
                <a:t> Rule Id, </a:t>
              </a:r>
              <a:r>
                <a:rPr lang="fr-FR" sz="1200" dirty="0" err="1"/>
                <a:t>Technical</a:t>
              </a:r>
              <a:r>
                <a:rPr lang="fr-FR" sz="1200" dirty="0"/>
                <a:t> </a:t>
              </a:r>
              <a:r>
                <a:rPr lang="fr-FR" sz="1200" dirty="0" err="1"/>
                <a:t>criterion</a:t>
              </a:r>
              <a:r>
                <a:rPr lang="fr-FR" sz="1200" dirty="0"/>
                <a:t> ID, Business </a:t>
              </a:r>
              <a:r>
                <a:rPr lang="fr-FR" sz="1200" dirty="0" err="1"/>
                <a:t>Criterion</a:t>
              </a:r>
              <a:r>
                <a:rPr lang="fr-FR" sz="1200" dirty="0"/>
                <a:t> ID, </a:t>
              </a:r>
              <a:r>
                <a:rPr lang="fr-FR" sz="1200" dirty="0" err="1"/>
                <a:t>Sizing</a:t>
              </a:r>
              <a:r>
                <a:rPr lang="fr-FR" sz="1200" dirty="0"/>
                <a:t> </a:t>
              </a:r>
              <a:r>
                <a:rPr lang="fr-FR" sz="1200" dirty="0" err="1"/>
                <a:t>Measure</a:t>
              </a:r>
              <a:r>
                <a:rPr lang="fr-FR" sz="1200" dirty="0"/>
                <a:t> Id, Background </a:t>
              </a:r>
              <a:r>
                <a:rPr lang="fr-FR" sz="1200" dirty="0" err="1"/>
                <a:t>fact</a:t>
              </a:r>
              <a:r>
                <a:rPr lang="fr-FR" sz="1200" dirty="0"/>
                <a:t> Id or </a:t>
              </a:r>
              <a:r>
                <a:rPr lang="fr-FR" sz="1200" dirty="0" err="1"/>
                <a:t>Category</a:t>
              </a:r>
              <a:r>
                <a:rPr lang="fr-FR" sz="1200" dirty="0"/>
                <a:t> Id</a:t>
              </a:r>
            </a:p>
            <a:p>
              <a:r>
                <a:rPr lang="fr-FR" sz="1200" b="1" dirty="0"/>
                <a:t>SNAPSHOT</a:t>
              </a:r>
              <a:r>
                <a:rPr lang="fr-FR" sz="1200" dirty="0"/>
                <a:t> = CURRENT | PREVIOUS (by default CURRENT)</a:t>
              </a:r>
            </a:p>
            <a:p>
              <a:r>
                <a:rPr lang="fr-FR" sz="1200" b="1" dirty="0"/>
                <a:t>FORMAT</a:t>
              </a:r>
              <a:r>
                <a:rPr lang="fr-FR" sz="1200" dirty="0"/>
                <a:t> = N0 | N1 | N2</a:t>
              </a:r>
            </a:p>
            <a:p>
              <a:pPr algn="l"/>
              <a:r>
                <a:rPr lang="en-US" sz="1200" b="1" dirty="0"/>
                <a:t>MODULE</a:t>
              </a:r>
              <a:r>
                <a:rPr lang="en-US" sz="1200" dirty="0"/>
                <a:t>=name of the module for which you want the metric evolution (optional)</a:t>
              </a:r>
            </a:p>
            <a:p>
              <a:pPr algn="l"/>
              <a:r>
                <a:rPr lang="en-US" sz="1200" b="1" dirty="0"/>
                <a:t>TECHNO</a:t>
              </a:r>
              <a:r>
                <a:rPr lang="en-US" sz="1200" dirty="0"/>
                <a:t>=name of the technology for which you want the metric evolution (optional)</a:t>
              </a:r>
            </a:p>
            <a:p>
              <a:pPr algn="l"/>
              <a:r>
                <a:rPr lang="en-US" sz="1200" b="1" dirty="0"/>
                <a:t>PARAMS</a:t>
              </a:r>
              <a:r>
                <a:rPr lang="en-US" sz="1200" dirty="0"/>
                <a:t>=SZ a SZ b, (SZ for sizing measure or category, QR for quality rule, BF for background fact)</a:t>
              </a:r>
              <a:br>
                <a:rPr lang="en-US" sz="1200" dirty="0"/>
              </a:br>
              <a:r>
                <a:rPr lang="en-US" sz="1200" b="1" dirty="0"/>
                <a:t>EXPR</a:t>
              </a:r>
              <a:r>
                <a:rPr lang="en-US" sz="1200" dirty="0"/>
                <a:t>=a/b, (operators can be +, -, *, / , (, ) )</a:t>
              </a:r>
            </a:p>
            <a:p>
              <a:pPr algn="l"/>
              <a:r>
                <a:rPr lang="en-US" sz="1200" i="1" dirty="0">
                  <a:solidFill>
                    <a:schemeClr val="bg1">
                      <a:lumMod val="50000"/>
                    </a:schemeClr>
                  </a:solidFill>
                </a:rPr>
                <a:t>    a=</a:t>
              </a:r>
              <a:r>
                <a:rPr lang="en-US" sz="1200" i="1" dirty="0" err="1">
                  <a:solidFill>
                    <a:schemeClr val="bg1">
                      <a:lumMod val="50000"/>
                    </a:schemeClr>
                  </a:solidFill>
                </a:rPr>
                <a:t>MetricId</a:t>
              </a:r>
              <a:r>
                <a:rPr lang="en-US" sz="1200" i="1" dirty="0">
                  <a:solidFill>
                    <a:schemeClr val="bg1">
                      <a:lumMod val="50000"/>
                    </a:schemeClr>
                  </a:solidFill>
                </a:rPr>
                <a:t>, (sample 67011 – all critical violations)</a:t>
              </a:r>
            </a:p>
            <a:p>
              <a:pPr algn="l"/>
              <a:r>
                <a:rPr lang="en-US" sz="1200" dirty="0"/>
                <a:t>    </a:t>
              </a:r>
              <a:r>
                <a:rPr lang="en-US" sz="1200" i="1" dirty="0">
                  <a:solidFill>
                    <a:schemeClr val="bg1">
                      <a:lumMod val="50000"/>
                    </a:schemeClr>
                  </a:solidFill>
                </a:rPr>
                <a:t>b=</a:t>
              </a:r>
              <a:r>
                <a:rPr lang="en-US" sz="1200" i="1" dirty="0" err="1">
                  <a:solidFill>
                    <a:schemeClr val="bg1">
                      <a:lumMod val="50000"/>
                    </a:schemeClr>
                  </a:solidFill>
                </a:rPr>
                <a:t>MetricId</a:t>
              </a:r>
              <a:r>
                <a:rPr lang="en-US" sz="1200" i="1" dirty="0">
                  <a:solidFill>
                    <a:schemeClr val="bg1">
                      <a:lumMod val="50000"/>
                    </a:schemeClr>
                  </a:solidFill>
                </a:rPr>
                <a:t>, (sample 10202 – Total AFP)</a:t>
              </a:r>
            </a:p>
            <a:p>
              <a:pPr algn="l"/>
              <a:r>
                <a:rPr lang="en-US" sz="1200" b="1" dirty="0"/>
                <a:t>COMPLIANCE</a:t>
              </a:r>
              <a:r>
                <a:rPr lang="en-US" sz="1200" dirty="0"/>
                <a:t>=true/false (by default false), work only for BC or TC, to display the compliance score instead of the grade</a:t>
              </a:r>
            </a:p>
            <a:p>
              <a:pPr algn="l"/>
              <a:endParaRPr lang="en-US" sz="1200" dirty="0"/>
            </a:p>
            <a:p>
              <a:pPr algn="l"/>
              <a:r>
                <a:rPr lang="en-US" sz="1200" dirty="0"/>
                <a:t>Either ID, either PARAMS and EXPR for custom expression should be specified.</a:t>
              </a:r>
            </a:p>
            <a:p>
              <a:r>
                <a:rPr lang="en-US" sz="1200" dirty="0"/>
                <a:t>If no module and no technology this is the value for the application that is taken.</a:t>
              </a:r>
              <a:endParaRPr lang="fr-FR" sz="1200" dirty="0"/>
            </a:p>
            <a:p>
              <a:endParaRPr lang="fr-FR" sz="1200" dirty="0"/>
            </a:p>
          </p:txBody>
        </p:sp>
        <p:sp>
          <p:nvSpPr>
            <p:cNvPr id="30" name="TextBox 29">
              <a:extLst>
                <a:ext uri="{FF2B5EF4-FFF2-40B4-BE49-F238E27FC236}">
                  <a16:creationId xmlns:a16="http://schemas.microsoft.com/office/drawing/2014/main" id="{2E7949E8-7F35-4962-9BC5-8EA701140648}"/>
                </a:ext>
              </a:extLst>
            </p:cNvPr>
            <p:cNvSpPr txBox="1"/>
            <p:nvPr/>
          </p:nvSpPr>
          <p:spPr>
            <a:xfrm>
              <a:off x="2387077" y="3767185"/>
              <a:ext cx="122341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Options :</a:t>
              </a:r>
            </a:p>
          </p:txBody>
        </p:sp>
        <p:sp>
          <p:nvSpPr>
            <p:cNvPr id="31" name="Rounded Rectangle 18">
              <a:extLst>
                <a:ext uri="{FF2B5EF4-FFF2-40B4-BE49-F238E27FC236}">
                  <a16:creationId xmlns:a16="http://schemas.microsoft.com/office/drawing/2014/main" id="{22E28D8B-FC77-4674-8EE9-3070148C5136}"/>
                </a:ext>
              </a:extLst>
            </p:cNvPr>
            <p:cNvSpPr/>
            <p:nvPr/>
          </p:nvSpPr>
          <p:spPr>
            <a:xfrm>
              <a:off x="4370680" y="5126227"/>
              <a:ext cx="2567718" cy="152475"/>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32" name="TextBox 31" descr="TEXT;APPLICATION_METRIC;ID=10151,FORMAT=N0,SNAPSHOT=PREVIOUS">
              <a:extLst>
                <a:ext uri="{FF2B5EF4-FFF2-40B4-BE49-F238E27FC236}">
                  <a16:creationId xmlns:a16="http://schemas.microsoft.com/office/drawing/2014/main" id="{2311B9A8-10BF-44C1-8025-65EF2A1D594A}"/>
                </a:ext>
              </a:extLst>
            </p:cNvPr>
            <p:cNvSpPr txBox="1"/>
            <p:nvPr/>
          </p:nvSpPr>
          <p:spPr>
            <a:xfrm>
              <a:off x="4450717" y="5118503"/>
              <a:ext cx="2736304" cy="218033"/>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err="1"/>
                <a:t>MetricId</a:t>
              </a:r>
              <a:r>
                <a:rPr lang="fr-FR" sz="1800" dirty="0"/>
                <a:t> </a:t>
              </a:r>
              <a:r>
                <a:rPr lang="fr-FR" sz="1800" dirty="0" err="1"/>
                <a:t>Results</a:t>
              </a:r>
              <a:endParaRPr lang="fr-FR" sz="1800" dirty="0"/>
            </a:p>
          </p:txBody>
        </p:sp>
      </p:grpSp>
    </p:spTree>
    <p:extLst>
      <p:ext uri="{BB962C8B-B14F-4D97-AF65-F5344CB8AC3E}">
        <p14:creationId xmlns:p14="http://schemas.microsoft.com/office/powerpoint/2010/main" val="413064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PowerPoint Templates – </a:t>
            </a:r>
            <a:r>
              <a:rPr lang="fr-FR" dirty="0" err="1"/>
              <a:t>Text</a:t>
            </a:r>
            <a:endParaRPr lang="fr-FR" dirty="0"/>
          </a:p>
        </p:txBody>
      </p:sp>
      <p:grpSp>
        <p:nvGrpSpPr>
          <p:cNvPr id="3" name="Group 2">
            <a:extLst>
              <a:ext uri="{FF2B5EF4-FFF2-40B4-BE49-F238E27FC236}">
                <a16:creationId xmlns:a16="http://schemas.microsoft.com/office/drawing/2014/main" id="{2894444A-F303-4138-9936-B92B50ABB5FD}"/>
              </a:ext>
            </a:extLst>
          </p:cNvPr>
          <p:cNvGrpSpPr/>
          <p:nvPr/>
        </p:nvGrpSpPr>
        <p:grpSpPr>
          <a:xfrm>
            <a:off x="3014622" y="1028065"/>
            <a:ext cx="5472608" cy="1728192"/>
            <a:chOff x="3262422" y="764705"/>
            <a:chExt cx="5472608" cy="1728192"/>
          </a:xfrm>
        </p:grpSpPr>
        <p:sp>
          <p:nvSpPr>
            <p:cNvPr id="26" name="Rounded Rectangle 25"/>
            <p:cNvSpPr/>
            <p:nvPr/>
          </p:nvSpPr>
          <p:spPr>
            <a:xfrm>
              <a:off x="3262422" y="764705"/>
              <a:ext cx="5472608" cy="1728192"/>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4" name="TextBox 13"/>
            <p:cNvSpPr txBox="1"/>
            <p:nvPr/>
          </p:nvSpPr>
          <p:spPr>
            <a:xfrm>
              <a:off x="3414109" y="769090"/>
              <a:ext cx="4398966"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Rule</a:t>
              </a:r>
              <a:r>
                <a:rPr lang="fr-FR" sz="1600" dirty="0"/>
                <a:t> Total </a:t>
              </a:r>
              <a:r>
                <a:rPr lang="fr-FR" sz="1600" dirty="0" err="1"/>
                <a:t>Checks</a:t>
              </a:r>
              <a:endParaRPr lang="fr-FR" sz="1600" dirty="0"/>
            </a:p>
          </p:txBody>
        </p:sp>
        <p:sp>
          <p:nvSpPr>
            <p:cNvPr id="15" name="TextBox 14"/>
            <p:cNvSpPr txBox="1"/>
            <p:nvPr/>
          </p:nvSpPr>
          <p:spPr>
            <a:xfrm>
              <a:off x="5118936" y="1100614"/>
              <a:ext cx="2993288" cy="276999"/>
            </a:xfrm>
            <a:prstGeom prst="rect">
              <a:avLst/>
            </a:prstGeom>
            <a:noFill/>
          </p:spPr>
          <p:txBody>
            <a:bodyPr wrap="square" rtlCol="0">
              <a:spAutoFit/>
            </a:bodyPr>
            <a:lstStyle>
              <a:defPPr>
                <a:defRPr lang="fr-FR"/>
              </a:defPPr>
              <a:lvl1pPr>
                <a:defRPr sz="2000" b="1">
                  <a:solidFill>
                    <a:srgbClr val="5E5E5E"/>
                  </a:solidFill>
                </a:defRPr>
              </a:lvl1pPr>
            </a:lstStyle>
            <a:p>
              <a:r>
                <a:rPr lang="fr-FR" sz="1200" dirty="0"/>
                <a:t>RULE_TOTAL_CHECKS</a:t>
              </a:r>
            </a:p>
          </p:txBody>
        </p:sp>
        <p:sp>
          <p:nvSpPr>
            <p:cNvPr id="25" name="TextBox 24"/>
            <p:cNvSpPr txBox="1"/>
            <p:nvPr/>
          </p:nvSpPr>
          <p:spPr>
            <a:xfrm>
              <a:off x="4439816" y="2020112"/>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sym typeface="Wingdings" pitchFamily="2" charset="2"/>
                </a:rPr>
                <a:t></a:t>
              </a:r>
              <a:endParaRPr lang="fr-FR" sz="1600" dirty="0"/>
            </a:p>
          </p:txBody>
        </p:sp>
        <p:sp>
          <p:nvSpPr>
            <p:cNvPr id="27" name="TextBox 26"/>
            <p:cNvSpPr txBox="1"/>
            <p:nvPr/>
          </p:nvSpPr>
          <p:spPr>
            <a:xfrm>
              <a:off x="3671772" y="105273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28" name="TextBox 27"/>
            <p:cNvSpPr txBox="1"/>
            <p:nvPr/>
          </p:nvSpPr>
          <p:spPr>
            <a:xfrm>
              <a:off x="5118936" y="1340769"/>
              <a:ext cx="3569352" cy="60016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100" dirty="0"/>
                <a:t>RULID=quality rule Id</a:t>
              </a:r>
            </a:p>
            <a:p>
              <a:r>
                <a:rPr lang="en-US" sz="1100" dirty="0"/>
                <a:t>SNAPSHOT = CURRENT | PREVIOUS (CURRENT by default)</a:t>
              </a:r>
            </a:p>
          </p:txBody>
        </p:sp>
        <p:sp>
          <p:nvSpPr>
            <p:cNvPr id="29" name="TextBox 28"/>
            <p:cNvSpPr txBox="1"/>
            <p:nvPr/>
          </p:nvSpPr>
          <p:spPr>
            <a:xfrm>
              <a:off x="4088553" y="134076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33" name="Rounded Rectangle 32"/>
            <p:cNvSpPr/>
            <p:nvPr/>
          </p:nvSpPr>
          <p:spPr>
            <a:xfrm>
              <a:off x="4974920" y="1988841"/>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24" name="TextBox 23" descr="TEXT;RULE_TOTAL_CHECKS;RULID=7126"/>
            <p:cNvSpPr txBox="1"/>
            <p:nvPr/>
          </p:nvSpPr>
          <p:spPr>
            <a:xfrm>
              <a:off x="4943872" y="2013500"/>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result</a:t>
              </a:r>
            </a:p>
          </p:txBody>
        </p:sp>
      </p:grpSp>
      <p:grpSp>
        <p:nvGrpSpPr>
          <p:cNvPr id="4" name="Group 3">
            <a:extLst>
              <a:ext uri="{FF2B5EF4-FFF2-40B4-BE49-F238E27FC236}">
                <a16:creationId xmlns:a16="http://schemas.microsoft.com/office/drawing/2014/main" id="{3429335D-C9D0-4166-AC7E-2DFCED0C8535}"/>
              </a:ext>
            </a:extLst>
          </p:cNvPr>
          <p:cNvGrpSpPr/>
          <p:nvPr/>
        </p:nvGrpSpPr>
        <p:grpSpPr>
          <a:xfrm>
            <a:off x="3014622" y="4578132"/>
            <a:ext cx="5472608" cy="1800200"/>
            <a:chOff x="3232078" y="2564904"/>
            <a:chExt cx="5472608" cy="1800200"/>
          </a:xfrm>
        </p:grpSpPr>
        <p:sp>
          <p:nvSpPr>
            <p:cNvPr id="30" name="Rounded Rectangle 29"/>
            <p:cNvSpPr/>
            <p:nvPr/>
          </p:nvSpPr>
          <p:spPr>
            <a:xfrm>
              <a:off x="3232078" y="2564904"/>
              <a:ext cx="5472608" cy="1800200"/>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1" name="TextBox 30"/>
            <p:cNvSpPr txBox="1"/>
            <p:nvPr/>
          </p:nvSpPr>
          <p:spPr>
            <a:xfrm>
              <a:off x="3383765" y="2564904"/>
              <a:ext cx="4398966"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Rule</a:t>
              </a:r>
              <a:r>
                <a:rPr lang="fr-FR" sz="1600" dirty="0"/>
                <a:t> </a:t>
              </a:r>
              <a:r>
                <a:rPr lang="fr-FR" sz="1600" dirty="0" err="1"/>
                <a:t>Failed</a:t>
              </a:r>
              <a:r>
                <a:rPr lang="fr-FR" sz="1600" dirty="0"/>
                <a:t> </a:t>
              </a:r>
              <a:r>
                <a:rPr lang="fr-FR" sz="1600" dirty="0" err="1"/>
                <a:t>Checks</a:t>
              </a:r>
              <a:endParaRPr lang="fr-FR" sz="1600" dirty="0"/>
            </a:p>
          </p:txBody>
        </p:sp>
        <p:sp>
          <p:nvSpPr>
            <p:cNvPr id="32" name="TextBox 31"/>
            <p:cNvSpPr txBox="1"/>
            <p:nvPr/>
          </p:nvSpPr>
          <p:spPr>
            <a:xfrm>
              <a:off x="5088592" y="2905200"/>
              <a:ext cx="2993288" cy="276999"/>
            </a:xfrm>
            <a:prstGeom prst="rect">
              <a:avLst/>
            </a:prstGeom>
            <a:noFill/>
          </p:spPr>
          <p:txBody>
            <a:bodyPr wrap="square" rtlCol="0">
              <a:spAutoFit/>
            </a:bodyPr>
            <a:lstStyle>
              <a:defPPr>
                <a:defRPr lang="fr-FR"/>
              </a:defPPr>
              <a:lvl1pPr>
                <a:defRPr sz="2000" b="1">
                  <a:solidFill>
                    <a:srgbClr val="5E5E5E"/>
                  </a:solidFill>
                </a:defRPr>
              </a:lvl1pPr>
            </a:lstStyle>
            <a:p>
              <a:r>
                <a:rPr lang="fr-FR" sz="1200" dirty="0"/>
                <a:t>RULE_FAILED_CHECKS</a:t>
              </a:r>
            </a:p>
          </p:txBody>
        </p:sp>
        <p:sp>
          <p:nvSpPr>
            <p:cNvPr id="36" name="TextBox 35"/>
            <p:cNvSpPr txBox="1"/>
            <p:nvPr/>
          </p:nvSpPr>
          <p:spPr>
            <a:xfrm>
              <a:off x="4409472" y="3892986"/>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sym typeface="Wingdings" pitchFamily="2" charset="2"/>
                </a:rPr>
                <a:t></a:t>
              </a:r>
              <a:endParaRPr lang="fr-FR" sz="1600" dirty="0"/>
            </a:p>
          </p:txBody>
        </p:sp>
        <p:sp>
          <p:nvSpPr>
            <p:cNvPr id="37" name="TextBox 36"/>
            <p:cNvSpPr txBox="1"/>
            <p:nvPr/>
          </p:nvSpPr>
          <p:spPr>
            <a:xfrm>
              <a:off x="3641428" y="285293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55" name="TextBox 54"/>
            <p:cNvSpPr txBox="1"/>
            <p:nvPr/>
          </p:nvSpPr>
          <p:spPr>
            <a:xfrm>
              <a:off x="4058209" y="3159279"/>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56" name="Rounded Rectangle 55"/>
            <p:cNvSpPr/>
            <p:nvPr/>
          </p:nvSpPr>
          <p:spPr>
            <a:xfrm>
              <a:off x="4944576" y="3861715"/>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57" name="TextBox 56" descr="TEXT;RULE_FAILED_CHECKS;RULID=7126"/>
            <p:cNvSpPr txBox="1"/>
            <p:nvPr/>
          </p:nvSpPr>
          <p:spPr>
            <a:xfrm>
              <a:off x="4913528" y="3886374"/>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result</a:t>
              </a:r>
            </a:p>
          </p:txBody>
        </p:sp>
        <p:sp>
          <p:nvSpPr>
            <p:cNvPr id="21" name="TextBox 20"/>
            <p:cNvSpPr txBox="1"/>
            <p:nvPr/>
          </p:nvSpPr>
          <p:spPr>
            <a:xfrm>
              <a:off x="5118936" y="3214718"/>
              <a:ext cx="3569352" cy="60016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100" dirty="0"/>
                <a:t>RULID=quality rule Id</a:t>
              </a:r>
            </a:p>
            <a:p>
              <a:r>
                <a:rPr lang="en-US" sz="1100" dirty="0"/>
                <a:t>SNAPSHOT = CURRENT | PREVIOUS (CURRENT by default)</a:t>
              </a:r>
            </a:p>
          </p:txBody>
        </p:sp>
      </p:grpSp>
      <p:grpSp>
        <p:nvGrpSpPr>
          <p:cNvPr id="5" name="Group 4">
            <a:extLst>
              <a:ext uri="{FF2B5EF4-FFF2-40B4-BE49-F238E27FC236}">
                <a16:creationId xmlns:a16="http://schemas.microsoft.com/office/drawing/2014/main" id="{A8DD1A66-039B-477B-889B-736BB8CC2C64}"/>
              </a:ext>
            </a:extLst>
          </p:cNvPr>
          <p:cNvGrpSpPr/>
          <p:nvPr/>
        </p:nvGrpSpPr>
        <p:grpSpPr>
          <a:xfrm>
            <a:off x="3014622" y="2842118"/>
            <a:ext cx="5616622" cy="1656184"/>
            <a:chOff x="3232080" y="4495388"/>
            <a:chExt cx="5616622" cy="1656184"/>
          </a:xfrm>
        </p:grpSpPr>
        <p:sp>
          <p:nvSpPr>
            <p:cNvPr id="43" name="Rounded Rectangle 42"/>
            <p:cNvSpPr/>
            <p:nvPr/>
          </p:nvSpPr>
          <p:spPr>
            <a:xfrm>
              <a:off x="3232080" y="4495388"/>
              <a:ext cx="5472607" cy="1656184"/>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200" dirty="0"/>
            </a:p>
          </p:txBody>
        </p:sp>
        <p:sp>
          <p:nvSpPr>
            <p:cNvPr id="44" name="TextBox 43"/>
            <p:cNvSpPr txBox="1"/>
            <p:nvPr/>
          </p:nvSpPr>
          <p:spPr>
            <a:xfrm>
              <a:off x="3383766" y="4495388"/>
              <a:ext cx="5320921" cy="307777"/>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400" dirty="0" err="1"/>
                <a:t>Rule</a:t>
              </a:r>
              <a:r>
                <a:rPr lang="fr-FR" sz="1400" dirty="0"/>
                <a:t> </a:t>
              </a:r>
              <a:r>
                <a:rPr lang="fr-FR" sz="1400" dirty="0" err="1"/>
                <a:t>Failed</a:t>
              </a:r>
              <a:r>
                <a:rPr lang="fr-FR" sz="1400" dirty="0"/>
                <a:t> </a:t>
              </a:r>
              <a:r>
                <a:rPr lang="fr-FR" sz="1400" dirty="0" err="1"/>
                <a:t>checks</a:t>
              </a:r>
              <a:r>
                <a:rPr lang="fr-FR" sz="1400" dirty="0"/>
                <a:t> on Total </a:t>
              </a:r>
              <a:r>
                <a:rPr lang="fr-FR" sz="1400" dirty="0" err="1"/>
                <a:t>Checks</a:t>
              </a:r>
              <a:endParaRPr lang="fr-FR" sz="1400" dirty="0"/>
            </a:p>
          </p:txBody>
        </p:sp>
        <p:sp>
          <p:nvSpPr>
            <p:cNvPr id="45" name="TextBox 44"/>
            <p:cNvSpPr txBox="1"/>
            <p:nvPr/>
          </p:nvSpPr>
          <p:spPr>
            <a:xfrm>
              <a:off x="5088592" y="4755556"/>
              <a:ext cx="3760110" cy="261610"/>
            </a:xfrm>
            <a:prstGeom prst="rect">
              <a:avLst/>
            </a:prstGeom>
            <a:noFill/>
          </p:spPr>
          <p:txBody>
            <a:bodyPr wrap="square" rtlCol="0">
              <a:spAutoFit/>
            </a:bodyPr>
            <a:lstStyle>
              <a:defPPr>
                <a:defRPr lang="fr-FR"/>
              </a:defPPr>
              <a:lvl1pPr>
                <a:defRPr sz="2000" b="1">
                  <a:solidFill>
                    <a:srgbClr val="5E5E5E"/>
                  </a:solidFill>
                </a:defRPr>
              </a:lvl1pPr>
            </a:lstStyle>
            <a:p>
              <a:r>
                <a:rPr lang="en-US" sz="1100" dirty="0"/>
                <a:t>RULE_FAILED_ON_TOTAL_CHECKS</a:t>
              </a:r>
              <a:endParaRPr lang="fr-FR" sz="1100" dirty="0"/>
            </a:p>
          </p:txBody>
        </p:sp>
        <p:sp>
          <p:nvSpPr>
            <p:cNvPr id="46" name="TextBox 45"/>
            <p:cNvSpPr txBox="1"/>
            <p:nvPr/>
          </p:nvSpPr>
          <p:spPr>
            <a:xfrm>
              <a:off x="4409473" y="5678788"/>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400" dirty="0">
                  <a:sym typeface="Wingdings" pitchFamily="2" charset="2"/>
                </a:rPr>
                <a:t></a:t>
              </a:r>
              <a:endParaRPr lang="fr-FR" sz="1400" dirty="0"/>
            </a:p>
          </p:txBody>
        </p:sp>
        <p:sp>
          <p:nvSpPr>
            <p:cNvPr id="47" name="TextBox 46"/>
            <p:cNvSpPr txBox="1"/>
            <p:nvPr/>
          </p:nvSpPr>
          <p:spPr>
            <a:xfrm>
              <a:off x="3808142" y="4732898"/>
              <a:ext cx="1359667" cy="307777"/>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400" dirty="0"/>
                <a:t>Block Name :</a:t>
              </a:r>
            </a:p>
          </p:txBody>
        </p:sp>
        <p:sp>
          <p:nvSpPr>
            <p:cNvPr id="48" name="TextBox 47"/>
            <p:cNvSpPr txBox="1"/>
            <p:nvPr/>
          </p:nvSpPr>
          <p:spPr>
            <a:xfrm>
              <a:off x="4176833" y="4960558"/>
              <a:ext cx="990977" cy="307777"/>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400" dirty="0"/>
                <a:t>Options :</a:t>
              </a:r>
            </a:p>
          </p:txBody>
        </p:sp>
        <p:sp>
          <p:nvSpPr>
            <p:cNvPr id="49" name="Rounded Rectangle 48"/>
            <p:cNvSpPr/>
            <p:nvPr/>
          </p:nvSpPr>
          <p:spPr>
            <a:xfrm>
              <a:off x="4944577" y="5647517"/>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200" dirty="0"/>
            </a:p>
          </p:txBody>
        </p:sp>
        <p:sp>
          <p:nvSpPr>
            <p:cNvPr id="50" name="TextBox 49" descr="TEXT;RULE_FAILED_ON_TOTAL_CHECKS;RULID=7126"/>
            <p:cNvSpPr txBox="1"/>
            <p:nvPr/>
          </p:nvSpPr>
          <p:spPr>
            <a:xfrm>
              <a:off x="4913529" y="5672176"/>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400" dirty="0"/>
                <a:t>result</a:t>
              </a:r>
            </a:p>
          </p:txBody>
        </p:sp>
        <p:sp>
          <p:nvSpPr>
            <p:cNvPr id="51" name="TextBox 50"/>
            <p:cNvSpPr txBox="1"/>
            <p:nvPr/>
          </p:nvSpPr>
          <p:spPr>
            <a:xfrm>
              <a:off x="5088592" y="5001186"/>
              <a:ext cx="3569352" cy="60016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100" dirty="0"/>
                <a:t>RULID=quality rule Id</a:t>
              </a:r>
            </a:p>
            <a:p>
              <a:r>
                <a:rPr lang="en-US" sz="1100" dirty="0"/>
                <a:t>SNAPSHOT = CURRENT | PREVIOUS (CURRENT by default)</a:t>
              </a:r>
            </a:p>
          </p:txBody>
        </p:sp>
      </p:grpSp>
    </p:spTree>
    <p:extLst>
      <p:ext uri="{BB962C8B-B14F-4D97-AF65-F5344CB8AC3E}">
        <p14:creationId xmlns:p14="http://schemas.microsoft.com/office/powerpoint/2010/main" val="2893049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PowerPoint Templates – </a:t>
            </a:r>
            <a:r>
              <a:rPr lang="fr-FR" dirty="0" err="1"/>
              <a:t>Text</a:t>
            </a:r>
            <a:endParaRPr lang="fr-FR" dirty="0"/>
          </a:p>
        </p:txBody>
      </p:sp>
      <p:grpSp>
        <p:nvGrpSpPr>
          <p:cNvPr id="4" name="Group 3">
            <a:extLst>
              <a:ext uri="{FF2B5EF4-FFF2-40B4-BE49-F238E27FC236}">
                <a16:creationId xmlns:a16="http://schemas.microsoft.com/office/drawing/2014/main" id="{5ED2A230-DD7B-40AE-8DF5-16B650632619}"/>
              </a:ext>
            </a:extLst>
          </p:cNvPr>
          <p:cNvGrpSpPr/>
          <p:nvPr/>
        </p:nvGrpSpPr>
        <p:grpSpPr>
          <a:xfrm>
            <a:off x="3262422" y="2959059"/>
            <a:ext cx="5472608" cy="1590162"/>
            <a:chOff x="3262422" y="2846774"/>
            <a:chExt cx="5472608" cy="1590162"/>
          </a:xfrm>
        </p:grpSpPr>
        <p:sp>
          <p:nvSpPr>
            <p:cNvPr id="38" name="Rounded Rectangle 37"/>
            <p:cNvSpPr/>
            <p:nvPr/>
          </p:nvSpPr>
          <p:spPr>
            <a:xfrm>
              <a:off x="3262422" y="2852936"/>
              <a:ext cx="5472608" cy="1584000"/>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9" name="TextBox 38"/>
            <p:cNvSpPr txBox="1"/>
            <p:nvPr/>
          </p:nvSpPr>
          <p:spPr>
            <a:xfrm>
              <a:off x="3450492" y="2846774"/>
              <a:ext cx="5191055"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Unajusted Data Function Metric Value</a:t>
              </a:r>
            </a:p>
          </p:txBody>
        </p:sp>
        <p:sp>
          <p:nvSpPr>
            <p:cNvPr id="40" name="TextBox 39"/>
            <p:cNvSpPr txBox="1"/>
            <p:nvPr/>
          </p:nvSpPr>
          <p:spPr>
            <a:xfrm>
              <a:off x="5118936" y="3219515"/>
              <a:ext cx="1991654" cy="276999"/>
            </a:xfrm>
            <a:prstGeom prst="rect">
              <a:avLst/>
            </a:prstGeom>
            <a:noFill/>
          </p:spPr>
          <p:txBody>
            <a:bodyPr wrap="square" rtlCol="0">
              <a:spAutoFit/>
            </a:bodyPr>
            <a:lstStyle>
              <a:defPPr>
                <a:defRPr lang="fr-FR"/>
              </a:defPPr>
              <a:lvl1pPr>
                <a:defRPr sz="2000" b="1">
                  <a:solidFill>
                    <a:srgbClr val="5E5E5E"/>
                  </a:solidFill>
                </a:defRPr>
              </a:lvl1pPr>
            </a:lstStyle>
            <a:p>
              <a:r>
                <a:rPr lang="en-GB" sz="1200" dirty="0"/>
                <a:t>METRIC_AFP_DF</a:t>
              </a:r>
              <a:endParaRPr lang="fr-FR" sz="1200" dirty="0"/>
            </a:p>
          </p:txBody>
        </p:sp>
        <p:sp>
          <p:nvSpPr>
            <p:cNvPr id="42" name="TextBox 41"/>
            <p:cNvSpPr txBox="1"/>
            <p:nvPr/>
          </p:nvSpPr>
          <p:spPr>
            <a:xfrm>
              <a:off x="4470864" y="3926894"/>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sym typeface="Wingdings" pitchFamily="2" charset="2"/>
                </a:rPr>
                <a:t></a:t>
              </a:r>
              <a:endParaRPr lang="fr-FR" sz="1600" dirty="0"/>
            </a:p>
          </p:txBody>
        </p:sp>
        <p:sp>
          <p:nvSpPr>
            <p:cNvPr id="43" name="TextBox 42"/>
            <p:cNvSpPr txBox="1"/>
            <p:nvPr/>
          </p:nvSpPr>
          <p:spPr>
            <a:xfrm>
              <a:off x="3671772" y="32129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44" name="TextBox 43"/>
            <p:cNvSpPr txBox="1"/>
            <p:nvPr/>
          </p:nvSpPr>
          <p:spPr>
            <a:xfrm>
              <a:off x="5118936" y="3532946"/>
              <a:ext cx="911534"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none</a:t>
              </a:r>
            </a:p>
          </p:txBody>
        </p:sp>
        <p:sp>
          <p:nvSpPr>
            <p:cNvPr id="45" name="TextBox 44"/>
            <p:cNvSpPr txBox="1"/>
            <p:nvPr/>
          </p:nvSpPr>
          <p:spPr>
            <a:xfrm>
              <a:off x="4088554" y="35329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34" name="Rounded Rectangle 33"/>
            <p:cNvSpPr/>
            <p:nvPr/>
          </p:nvSpPr>
          <p:spPr>
            <a:xfrm>
              <a:off x="4943872" y="3930212"/>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41" name="TextBox 40" descr="TEXT;METRIC_AFP_DF"/>
            <p:cNvSpPr txBox="1"/>
            <p:nvPr/>
          </p:nvSpPr>
          <p:spPr>
            <a:xfrm>
              <a:off x="4974920" y="3937698"/>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metricValue</a:t>
              </a:r>
            </a:p>
          </p:txBody>
        </p:sp>
      </p:grpSp>
      <p:grpSp>
        <p:nvGrpSpPr>
          <p:cNvPr id="3" name="Group 2">
            <a:extLst>
              <a:ext uri="{FF2B5EF4-FFF2-40B4-BE49-F238E27FC236}">
                <a16:creationId xmlns:a16="http://schemas.microsoft.com/office/drawing/2014/main" id="{4C0AD16B-B245-4D2C-8B13-9E65DBB4FBE4}"/>
              </a:ext>
            </a:extLst>
          </p:cNvPr>
          <p:cNvGrpSpPr/>
          <p:nvPr/>
        </p:nvGrpSpPr>
        <p:grpSpPr>
          <a:xfrm>
            <a:off x="3262422" y="1093013"/>
            <a:ext cx="5472608" cy="1656008"/>
            <a:chOff x="3262422" y="980728"/>
            <a:chExt cx="5472608" cy="1656008"/>
          </a:xfrm>
        </p:grpSpPr>
        <p:sp>
          <p:nvSpPr>
            <p:cNvPr id="26" name="Rounded Rectangle 25"/>
            <p:cNvSpPr/>
            <p:nvPr/>
          </p:nvSpPr>
          <p:spPr>
            <a:xfrm>
              <a:off x="3262422" y="980728"/>
              <a:ext cx="5472608" cy="1656008"/>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4" name="TextBox 13"/>
            <p:cNvSpPr txBox="1"/>
            <p:nvPr/>
          </p:nvSpPr>
          <p:spPr>
            <a:xfrm>
              <a:off x="3414109" y="1052736"/>
              <a:ext cx="5227438" cy="4770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400" dirty="0" err="1"/>
                <a:t>Technical</a:t>
              </a:r>
              <a:r>
                <a:rPr lang="fr-FR" sz="1400" dirty="0"/>
                <a:t> </a:t>
              </a:r>
              <a:r>
                <a:rPr lang="fr-FR" sz="1400" dirty="0" err="1"/>
                <a:t>Debt</a:t>
              </a:r>
              <a:r>
                <a:rPr lang="fr-FR" sz="1400" dirty="0"/>
                <a:t> </a:t>
              </a:r>
              <a:r>
                <a:rPr lang="fr-FR" sz="1400" dirty="0" err="1"/>
                <a:t>Result</a:t>
              </a:r>
              <a:r>
                <a:rPr lang="fr-FR" sz="1400" dirty="0"/>
                <a:t> </a:t>
              </a:r>
              <a:r>
                <a:rPr lang="en-US" sz="1100" dirty="0">
                  <a:solidFill>
                    <a:schemeClr val="accent1"/>
                  </a:solidFill>
                </a:rPr>
                <a:t>DEPRECATED (old CAST formula)</a:t>
              </a:r>
            </a:p>
            <a:p>
              <a:r>
                <a:rPr lang="en-US" sz="1100" dirty="0"/>
                <a:t>- new component visible on next slide </a:t>
              </a:r>
              <a:endParaRPr lang="fr-FR" sz="1400" dirty="0"/>
            </a:p>
          </p:txBody>
        </p:sp>
        <p:sp>
          <p:nvSpPr>
            <p:cNvPr id="15" name="TextBox 14"/>
            <p:cNvSpPr txBox="1"/>
            <p:nvPr/>
          </p:nvSpPr>
          <p:spPr>
            <a:xfrm>
              <a:off x="5118936" y="1412777"/>
              <a:ext cx="2993288" cy="276999"/>
            </a:xfrm>
            <a:prstGeom prst="rect">
              <a:avLst/>
            </a:prstGeom>
            <a:noFill/>
          </p:spPr>
          <p:txBody>
            <a:bodyPr wrap="square" rtlCol="0">
              <a:spAutoFit/>
            </a:bodyPr>
            <a:lstStyle>
              <a:defPPr>
                <a:defRPr lang="fr-FR"/>
              </a:defPPr>
              <a:lvl1pPr>
                <a:defRPr sz="2000" b="1">
                  <a:solidFill>
                    <a:srgbClr val="5E5E5E"/>
                  </a:solidFill>
                </a:defRPr>
              </a:lvl1pPr>
            </a:lstStyle>
            <a:p>
              <a:r>
                <a:rPr lang="fr-FR" sz="1200" dirty="0"/>
                <a:t>METRIC_TECHNICAL_DEBT</a:t>
              </a:r>
            </a:p>
          </p:txBody>
        </p:sp>
        <p:sp>
          <p:nvSpPr>
            <p:cNvPr id="25" name="TextBox 24"/>
            <p:cNvSpPr txBox="1"/>
            <p:nvPr/>
          </p:nvSpPr>
          <p:spPr>
            <a:xfrm>
              <a:off x="4470864" y="2126694"/>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sym typeface="Wingdings" pitchFamily="2" charset="2"/>
                </a:rPr>
                <a:t></a:t>
              </a:r>
              <a:endParaRPr lang="fr-FR" sz="1600" dirty="0"/>
            </a:p>
          </p:txBody>
        </p:sp>
        <p:sp>
          <p:nvSpPr>
            <p:cNvPr id="27" name="TextBox 26"/>
            <p:cNvSpPr txBox="1"/>
            <p:nvPr/>
          </p:nvSpPr>
          <p:spPr>
            <a:xfrm>
              <a:off x="3671772" y="14127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28" name="TextBox 27"/>
            <p:cNvSpPr txBox="1"/>
            <p:nvPr/>
          </p:nvSpPr>
          <p:spPr>
            <a:xfrm>
              <a:off x="5118936" y="1732746"/>
              <a:ext cx="2770786"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none</a:t>
              </a:r>
            </a:p>
          </p:txBody>
        </p:sp>
        <p:sp>
          <p:nvSpPr>
            <p:cNvPr id="29" name="TextBox 28"/>
            <p:cNvSpPr txBox="1"/>
            <p:nvPr/>
          </p:nvSpPr>
          <p:spPr>
            <a:xfrm>
              <a:off x="4088554"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33" name="Rounded Rectangle 32"/>
            <p:cNvSpPr/>
            <p:nvPr/>
          </p:nvSpPr>
          <p:spPr>
            <a:xfrm>
              <a:off x="4943872" y="2132857"/>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24" name="TextBox 23" descr="TEXT;METRIC_TECHNICAL_DEBT"/>
            <p:cNvSpPr txBox="1"/>
            <p:nvPr/>
          </p:nvSpPr>
          <p:spPr>
            <a:xfrm>
              <a:off x="4974920" y="2120082"/>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result</a:t>
              </a:r>
            </a:p>
          </p:txBody>
        </p:sp>
      </p:grpSp>
      <p:grpSp>
        <p:nvGrpSpPr>
          <p:cNvPr id="5" name="Group 4">
            <a:extLst>
              <a:ext uri="{FF2B5EF4-FFF2-40B4-BE49-F238E27FC236}">
                <a16:creationId xmlns:a16="http://schemas.microsoft.com/office/drawing/2014/main" id="{690847FA-B970-4E50-92D2-D37E348AAEC5}"/>
              </a:ext>
            </a:extLst>
          </p:cNvPr>
          <p:cNvGrpSpPr/>
          <p:nvPr/>
        </p:nvGrpSpPr>
        <p:grpSpPr>
          <a:xfrm>
            <a:off x="3262422" y="4687251"/>
            <a:ext cx="5667156" cy="1590162"/>
            <a:chOff x="3262422" y="4574966"/>
            <a:chExt cx="5667156" cy="1590162"/>
          </a:xfrm>
        </p:grpSpPr>
        <p:sp>
          <p:nvSpPr>
            <p:cNvPr id="46" name="Rounded Rectangle 45"/>
            <p:cNvSpPr/>
            <p:nvPr/>
          </p:nvSpPr>
          <p:spPr>
            <a:xfrm>
              <a:off x="3262422" y="4581128"/>
              <a:ext cx="5472608" cy="1584000"/>
            </a:xfrm>
            <a:prstGeom prst="roundRect">
              <a:avLst>
                <a:gd name="adj" fmla="val 413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47" name="TextBox 46"/>
            <p:cNvSpPr txBox="1"/>
            <p:nvPr/>
          </p:nvSpPr>
          <p:spPr>
            <a:xfrm>
              <a:off x="3450492" y="4574966"/>
              <a:ext cx="5479086"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Unajusted Transactional Function Metric</a:t>
              </a:r>
            </a:p>
          </p:txBody>
        </p:sp>
        <p:sp>
          <p:nvSpPr>
            <p:cNvPr id="48" name="TextBox 47"/>
            <p:cNvSpPr txBox="1"/>
            <p:nvPr/>
          </p:nvSpPr>
          <p:spPr>
            <a:xfrm>
              <a:off x="5118936" y="4952300"/>
              <a:ext cx="2777264" cy="307777"/>
            </a:xfrm>
            <a:prstGeom prst="rect">
              <a:avLst/>
            </a:prstGeom>
            <a:noFill/>
          </p:spPr>
          <p:txBody>
            <a:bodyPr wrap="square" rtlCol="0">
              <a:spAutoFit/>
            </a:bodyPr>
            <a:lstStyle>
              <a:defPPr>
                <a:defRPr lang="fr-FR"/>
              </a:defPPr>
              <a:lvl1pPr>
                <a:defRPr sz="2000" b="1">
                  <a:solidFill>
                    <a:srgbClr val="5E5E5E"/>
                  </a:solidFill>
                </a:defRPr>
              </a:lvl1pPr>
            </a:lstStyle>
            <a:p>
              <a:r>
                <a:rPr lang="en-GB" sz="1400" dirty="0"/>
                <a:t>METRIC_AFP_TF</a:t>
              </a:r>
              <a:endParaRPr lang="fr-FR" sz="1400" dirty="0"/>
            </a:p>
          </p:txBody>
        </p:sp>
        <p:sp>
          <p:nvSpPr>
            <p:cNvPr id="50" name="TextBox 49"/>
            <p:cNvSpPr txBox="1"/>
            <p:nvPr/>
          </p:nvSpPr>
          <p:spPr>
            <a:xfrm>
              <a:off x="4470864" y="5655086"/>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sym typeface="Wingdings" pitchFamily="2" charset="2"/>
                </a:rPr>
                <a:t></a:t>
              </a:r>
              <a:endParaRPr lang="fr-FR" sz="1600" dirty="0"/>
            </a:p>
          </p:txBody>
        </p:sp>
        <p:sp>
          <p:nvSpPr>
            <p:cNvPr id="51" name="TextBox 50"/>
            <p:cNvSpPr txBox="1"/>
            <p:nvPr/>
          </p:nvSpPr>
          <p:spPr>
            <a:xfrm>
              <a:off x="3671772" y="494116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52" name="TextBox 51"/>
            <p:cNvSpPr txBox="1"/>
            <p:nvPr/>
          </p:nvSpPr>
          <p:spPr>
            <a:xfrm>
              <a:off x="5118936" y="5261138"/>
              <a:ext cx="2770786"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none</a:t>
              </a:r>
            </a:p>
          </p:txBody>
        </p:sp>
        <p:sp>
          <p:nvSpPr>
            <p:cNvPr id="53" name="TextBox 52"/>
            <p:cNvSpPr txBox="1"/>
            <p:nvPr/>
          </p:nvSpPr>
          <p:spPr>
            <a:xfrm>
              <a:off x="4088554" y="526113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35" name="Rounded Rectangle 34"/>
            <p:cNvSpPr/>
            <p:nvPr/>
          </p:nvSpPr>
          <p:spPr>
            <a:xfrm>
              <a:off x="4943872" y="5668284"/>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49" name="TextBox 48" descr="TEXT;METRIC_AFP_TF"/>
            <p:cNvSpPr txBox="1"/>
            <p:nvPr/>
          </p:nvSpPr>
          <p:spPr>
            <a:xfrm>
              <a:off x="4974920" y="5662122"/>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metricValue</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0D95E0-E737-4808-84AF-92C3ED01C262}"/>
              </a:ext>
            </a:extLst>
          </p:cNvPr>
          <p:cNvSpPr>
            <a:spLocks noGrp="1"/>
          </p:cNvSpPr>
          <p:nvPr>
            <p:ph type="sldNum" sz="quarter" idx="12"/>
          </p:nvPr>
        </p:nvSpPr>
        <p:spPr/>
        <p:txBody>
          <a:bodyPr/>
          <a:lstStyle/>
          <a:p>
            <a:fld id="{EEFED013-66E8-448A-B953-99801F824AF7}" type="slidenum">
              <a:rPr lang="en-US" smtClean="0"/>
              <a:pPr/>
              <a:t>17</a:t>
            </a:fld>
            <a:endParaRPr lang="en-US" dirty="0"/>
          </a:p>
        </p:txBody>
      </p:sp>
      <p:sp>
        <p:nvSpPr>
          <p:cNvPr id="3" name="Title 2">
            <a:extLst>
              <a:ext uri="{FF2B5EF4-FFF2-40B4-BE49-F238E27FC236}">
                <a16:creationId xmlns:a16="http://schemas.microsoft.com/office/drawing/2014/main" id="{139AAA96-90EE-4F53-84A4-595711B2B1C2}"/>
              </a:ext>
            </a:extLst>
          </p:cNvPr>
          <p:cNvSpPr>
            <a:spLocks noGrp="1"/>
          </p:cNvSpPr>
          <p:nvPr>
            <p:ph type="title"/>
          </p:nvPr>
        </p:nvSpPr>
        <p:spPr/>
        <p:txBody>
          <a:bodyPr/>
          <a:lstStyle/>
          <a:p>
            <a:r>
              <a:rPr lang="fr-FR" dirty="0"/>
              <a:t>PowerPoint </a:t>
            </a:r>
            <a:r>
              <a:rPr lang="fr-FR" dirty="0" err="1"/>
              <a:t>Templates</a:t>
            </a:r>
            <a:r>
              <a:rPr lang="fr-FR" dirty="0"/>
              <a:t> – </a:t>
            </a:r>
            <a:r>
              <a:rPr lang="fr-FR" dirty="0" err="1"/>
              <a:t>Text</a:t>
            </a:r>
            <a:r>
              <a:rPr lang="fr-FR" dirty="0"/>
              <a:t> - </a:t>
            </a:r>
            <a:r>
              <a:rPr lang="fr-FR" dirty="0" err="1"/>
              <a:t>Technical</a:t>
            </a:r>
            <a:r>
              <a:rPr lang="fr-FR" dirty="0"/>
              <a:t> </a:t>
            </a:r>
            <a:r>
              <a:rPr lang="fr-FR" dirty="0" err="1"/>
              <a:t>Debt</a:t>
            </a:r>
            <a:r>
              <a:rPr lang="fr-FR" dirty="0"/>
              <a:t> (OMG)</a:t>
            </a:r>
            <a:endParaRPr lang="en-US" dirty="0"/>
          </a:p>
        </p:txBody>
      </p:sp>
      <p:grpSp>
        <p:nvGrpSpPr>
          <p:cNvPr id="14" name="Group 13">
            <a:extLst>
              <a:ext uri="{FF2B5EF4-FFF2-40B4-BE49-F238E27FC236}">
                <a16:creationId xmlns:a16="http://schemas.microsoft.com/office/drawing/2014/main" id="{07CF760C-F46F-4621-8561-5A89F465631E}"/>
              </a:ext>
            </a:extLst>
          </p:cNvPr>
          <p:cNvGrpSpPr/>
          <p:nvPr/>
        </p:nvGrpSpPr>
        <p:grpSpPr>
          <a:xfrm>
            <a:off x="3092093" y="1519832"/>
            <a:ext cx="6684011" cy="2535747"/>
            <a:chOff x="3262422" y="980727"/>
            <a:chExt cx="6684011" cy="2535747"/>
          </a:xfrm>
        </p:grpSpPr>
        <p:sp>
          <p:nvSpPr>
            <p:cNvPr id="15" name="Rounded Rectangle 25">
              <a:extLst>
                <a:ext uri="{FF2B5EF4-FFF2-40B4-BE49-F238E27FC236}">
                  <a16:creationId xmlns:a16="http://schemas.microsoft.com/office/drawing/2014/main" id="{21233957-FF0F-4AC6-8F06-E36DAB70ABB8}"/>
                </a:ext>
              </a:extLst>
            </p:cNvPr>
            <p:cNvSpPr/>
            <p:nvPr/>
          </p:nvSpPr>
          <p:spPr>
            <a:xfrm>
              <a:off x="3262422" y="980727"/>
              <a:ext cx="5946892" cy="2535747"/>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6" name="TextBox 15">
              <a:extLst>
                <a:ext uri="{FF2B5EF4-FFF2-40B4-BE49-F238E27FC236}">
                  <a16:creationId xmlns:a16="http://schemas.microsoft.com/office/drawing/2014/main" id="{FA589F94-2E86-43F4-9B06-FEDE843D0DD5}"/>
                </a:ext>
              </a:extLst>
            </p:cNvPr>
            <p:cNvSpPr txBox="1"/>
            <p:nvPr/>
          </p:nvSpPr>
          <p:spPr>
            <a:xfrm>
              <a:off x="3414109" y="1052736"/>
              <a:ext cx="6532324"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OMG </a:t>
              </a:r>
              <a:r>
                <a:rPr lang="fr-FR" sz="1600" dirty="0" err="1"/>
                <a:t>Technical</a:t>
              </a:r>
              <a:r>
                <a:rPr lang="fr-FR" sz="1600" dirty="0"/>
                <a:t> </a:t>
              </a:r>
              <a:r>
                <a:rPr lang="fr-FR" sz="1600" dirty="0" err="1"/>
                <a:t>Debt</a:t>
              </a:r>
              <a:r>
                <a:rPr lang="fr-FR" sz="1600" dirty="0"/>
                <a:t> </a:t>
              </a:r>
              <a:r>
                <a:rPr lang="fr-FR" sz="1600" dirty="0" err="1"/>
                <a:t>Result</a:t>
              </a:r>
              <a:r>
                <a:rPr lang="fr-FR" sz="1600" dirty="0"/>
                <a:t> </a:t>
              </a:r>
              <a:r>
                <a:rPr lang="fr-FR" sz="1400" dirty="0"/>
                <a:t>(</a:t>
              </a:r>
              <a:r>
                <a:rPr lang="fr-FR" sz="1400" dirty="0" err="1"/>
                <a:t>based</a:t>
              </a:r>
              <a:r>
                <a:rPr lang="fr-FR" sz="1400" dirty="0"/>
                <a:t> on a scope of </a:t>
              </a:r>
              <a:r>
                <a:rPr lang="fr-FR" sz="1400" dirty="0" err="1"/>
                <a:t>rules</a:t>
              </a:r>
              <a:r>
                <a:rPr lang="fr-FR" sz="1400" dirty="0"/>
                <a:t>)</a:t>
              </a:r>
            </a:p>
          </p:txBody>
        </p:sp>
        <p:sp>
          <p:nvSpPr>
            <p:cNvPr id="17" name="TextBox 16">
              <a:extLst>
                <a:ext uri="{FF2B5EF4-FFF2-40B4-BE49-F238E27FC236}">
                  <a16:creationId xmlns:a16="http://schemas.microsoft.com/office/drawing/2014/main" id="{5D5B2FE6-97B2-46A2-87B1-E292E424A3F2}"/>
                </a:ext>
              </a:extLst>
            </p:cNvPr>
            <p:cNvSpPr txBox="1"/>
            <p:nvPr/>
          </p:nvSpPr>
          <p:spPr>
            <a:xfrm>
              <a:off x="5118936" y="1412777"/>
              <a:ext cx="3287946" cy="276999"/>
            </a:xfrm>
            <a:prstGeom prst="rect">
              <a:avLst/>
            </a:prstGeom>
            <a:noFill/>
          </p:spPr>
          <p:txBody>
            <a:bodyPr wrap="square" rtlCol="0">
              <a:spAutoFit/>
            </a:bodyPr>
            <a:lstStyle>
              <a:defPPr>
                <a:defRPr lang="fr-FR"/>
              </a:defPPr>
              <a:lvl1pPr>
                <a:defRPr sz="2000" b="1">
                  <a:solidFill>
                    <a:srgbClr val="5E5E5E"/>
                  </a:solidFill>
                </a:defRPr>
              </a:lvl1pPr>
            </a:lstStyle>
            <a:p>
              <a:r>
                <a:rPr lang="fr-FR" sz="1200" dirty="0"/>
                <a:t>OMG_TECHNICAL_DEBT</a:t>
              </a:r>
            </a:p>
          </p:txBody>
        </p:sp>
        <p:sp>
          <p:nvSpPr>
            <p:cNvPr id="18" name="TextBox 17">
              <a:extLst>
                <a:ext uri="{FF2B5EF4-FFF2-40B4-BE49-F238E27FC236}">
                  <a16:creationId xmlns:a16="http://schemas.microsoft.com/office/drawing/2014/main" id="{E10295E7-5B75-45FA-AD10-45175AA02EA4}"/>
                </a:ext>
              </a:extLst>
            </p:cNvPr>
            <p:cNvSpPr txBox="1"/>
            <p:nvPr/>
          </p:nvSpPr>
          <p:spPr>
            <a:xfrm>
              <a:off x="4470864" y="2906871"/>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sym typeface="Wingdings" pitchFamily="2" charset="2"/>
                </a:rPr>
                <a:t></a:t>
              </a:r>
              <a:endParaRPr lang="fr-FR" sz="1600" dirty="0"/>
            </a:p>
          </p:txBody>
        </p:sp>
        <p:sp>
          <p:nvSpPr>
            <p:cNvPr id="19" name="TextBox 18">
              <a:extLst>
                <a:ext uri="{FF2B5EF4-FFF2-40B4-BE49-F238E27FC236}">
                  <a16:creationId xmlns:a16="http://schemas.microsoft.com/office/drawing/2014/main" id="{12AD7DB9-5468-4990-B6AE-2322892CACE6}"/>
                </a:ext>
              </a:extLst>
            </p:cNvPr>
            <p:cNvSpPr txBox="1"/>
            <p:nvPr/>
          </p:nvSpPr>
          <p:spPr>
            <a:xfrm>
              <a:off x="3671772" y="14127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20" name="TextBox 19">
              <a:extLst>
                <a:ext uri="{FF2B5EF4-FFF2-40B4-BE49-F238E27FC236}">
                  <a16:creationId xmlns:a16="http://schemas.microsoft.com/office/drawing/2014/main" id="{6A1A6ED3-FFC3-4F82-B497-8643874A9801}"/>
                </a:ext>
              </a:extLst>
            </p:cNvPr>
            <p:cNvSpPr txBox="1"/>
            <p:nvPr/>
          </p:nvSpPr>
          <p:spPr>
            <a:xfrm>
              <a:off x="5118936" y="1732746"/>
              <a:ext cx="3706282" cy="830997"/>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algn="l"/>
              <a:r>
                <a:rPr lang="en-US" sz="1200" b="1" dirty="0">
                  <a:solidFill>
                    <a:schemeClr val="tx1">
                      <a:lumMod val="50000"/>
                      <a:lumOff val="50000"/>
                    </a:schemeClr>
                  </a:solidFill>
                  <a:effectLst/>
                </a:rPr>
                <a:t>I</a:t>
              </a:r>
              <a:r>
                <a:rPr lang="en-US" sz="1200" b="1" dirty="0">
                  <a:solidFill>
                    <a:schemeClr val="tx1">
                      <a:lumMod val="65000"/>
                      <a:lumOff val="35000"/>
                    </a:schemeClr>
                  </a:solidFill>
                  <a:effectLst/>
                </a:rPr>
                <a:t>D</a:t>
              </a:r>
              <a:r>
                <a:rPr lang="en-US" sz="1200" b="0" dirty="0">
                  <a:solidFill>
                    <a:schemeClr val="tx1">
                      <a:lumMod val="50000"/>
                      <a:lumOff val="50000"/>
                    </a:schemeClr>
                  </a:solidFill>
                  <a:effectLst/>
                </a:rPr>
                <a:t>:AIP|CISQ|ISO (by default or if nothing selected, ISO)</a:t>
              </a:r>
            </a:p>
            <a:p>
              <a:pPr algn="l"/>
              <a:r>
                <a:rPr lang="en-US" sz="1200" b="1" dirty="0">
                  <a:solidFill>
                    <a:schemeClr val="tx1">
                      <a:lumMod val="65000"/>
                      <a:lumOff val="35000"/>
                    </a:schemeClr>
                  </a:solidFill>
                  <a:effectLst/>
                </a:rPr>
                <a:t>SNAPSHOT</a:t>
              </a:r>
              <a:r>
                <a:rPr lang="en-US" sz="1200" b="0" dirty="0">
                  <a:solidFill>
                    <a:schemeClr val="tx1">
                      <a:lumMod val="50000"/>
                      <a:lumOff val="50000"/>
                    </a:schemeClr>
                  </a:solidFill>
                  <a:effectLst/>
                </a:rPr>
                <a:t>:CURRENT|PREVIOUS (by default or if nothing, CURRENT)</a:t>
              </a:r>
            </a:p>
          </p:txBody>
        </p:sp>
        <p:sp>
          <p:nvSpPr>
            <p:cNvPr id="21" name="TextBox 20">
              <a:extLst>
                <a:ext uri="{FF2B5EF4-FFF2-40B4-BE49-F238E27FC236}">
                  <a16:creationId xmlns:a16="http://schemas.microsoft.com/office/drawing/2014/main" id="{A1D09011-C8C1-4842-98F1-426EB0AAC7E6}"/>
                </a:ext>
              </a:extLst>
            </p:cNvPr>
            <p:cNvSpPr txBox="1"/>
            <p:nvPr/>
          </p:nvSpPr>
          <p:spPr>
            <a:xfrm>
              <a:off x="4088554"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22" name="Rounded Rectangle 32">
              <a:extLst>
                <a:ext uri="{FF2B5EF4-FFF2-40B4-BE49-F238E27FC236}">
                  <a16:creationId xmlns:a16="http://schemas.microsoft.com/office/drawing/2014/main" id="{E19A1DC5-C2EA-464B-8084-87792B111AAA}"/>
                </a:ext>
              </a:extLst>
            </p:cNvPr>
            <p:cNvSpPr/>
            <p:nvPr/>
          </p:nvSpPr>
          <p:spPr>
            <a:xfrm>
              <a:off x="4943872" y="2913034"/>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23" name="TextBox 22" descr="TEXT;OMG_TECHNICAL_DEBT">
              <a:extLst>
                <a:ext uri="{FF2B5EF4-FFF2-40B4-BE49-F238E27FC236}">
                  <a16:creationId xmlns:a16="http://schemas.microsoft.com/office/drawing/2014/main" id="{3246F072-F619-48A6-BCD3-823293741C84}"/>
                </a:ext>
              </a:extLst>
            </p:cNvPr>
            <p:cNvSpPr txBox="1"/>
            <p:nvPr/>
          </p:nvSpPr>
          <p:spPr>
            <a:xfrm>
              <a:off x="4974920" y="2900259"/>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err="1"/>
                <a:t>Result</a:t>
              </a:r>
              <a:r>
                <a:rPr lang="fr-FR" sz="1600" dirty="0"/>
                <a:t> (Days)</a:t>
              </a:r>
            </a:p>
          </p:txBody>
        </p:sp>
      </p:grpSp>
      <p:sp>
        <p:nvSpPr>
          <p:cNvPr id="44" name="TextBox 43">
            <a:extLst>
              <a:ext uri="{FF2B5EF4-FFF2-40B4-BE49-F238E27FC236}">
                <a16:creationId xmlns:a16="http://schemas.microsoft.com/office/drawing/2014/main" id="{B653A343-608D-46BC-89F1-32709AC8FB17}"/>
              </a:ext>
            </a:extLst>
          </p:cNvPr>
          <p:cNvSpPr txBox="1"/>
          <p:nvPr/>
        </p:nvSpPr>
        <p:spPr>
          <a:xfrm>
            <a:off x="86631" y="5299290"/>
            <a:ext cx="11940527" cy="851516"/>
          </a:xfrm>
          <a:prstGeom prst="rect">
            <a:avLst/>
          </a:prstGeom>
        </p:spPr>
        <p:txBody>
          <a:bodyPr vert="horz" wrap="square" lIns="91440" tIns="45720" rIns="91440" bIns="45720" rtlCol="0" anchor="t">
            <a:noAutofit/>
          </a:bodyPr>
          <a:lstStyle/>
          <a:p>
            <a:r>
              <a:rPr lang="en-US" sz="1400" dirty="0">
                <a:solidFill>
                  <a:srgbClr val="0070C0"/>
                </a:solidFill>
              </a:rPr>
              <a:t>* ISO option is the recommended technical debt to be used. Requires installation of OMG Technical Debt Measure (&gt;2.0.0 </a:t>
            </a:r>
            <a:r>
              <a:rPr lang="en-US" sz="1400" dirty="0" err="1">
                <a:solidFill>
                  <a:srgbClr val="0070C0"/>
                </a:solidFill>
              </a:rPr>
              <a:t>funcrel</a:t>
            </a:r>
            <a:r>
              <a:rPr lang="en-US" sz="1400" dirty="0">
                <a:solidFill>
                  <a:srgbClr val="0070C0"/>
                </a:solidFill>
              </a:rPr>
              <a:t>) and ISO-5055 Index extensions during analysis </a:t>
            </a:r>
          </a:p>
          <a:p>
            <a:pPr marL="285750" indent="-285750">
              <a:buFont typeface="Arial" panose="020B0604020202020204" pitchFamily="34" charset="0"/>
              <a:buChar char="•"/>
            </a:pPr>
            <a:endParaRPr lang="en-US" sz="1400" dirty="0">
              <a:solidFill>
                <a:srgbClr val="0070C0"/>
              </a:solidFill>
            </a:endParaRPr>
          </a:p>
          <a:p>
            <a:r>
              <a:rPr lang="en-US" sz="1400" dirty="0">
                <a:solidFill>
                  <a:srgbClr val="0070C0"/>
                </a:solidFill>
              </a:rPr>
              <a:t>** CISQ option required installation of OMG Technical Debt Measure and CISQ Index extensions during analysis. Scope of rules is reduced</a:t>
            </a:r>
          </a:p>
        </p:txBody>
      </p:sp>
    </p:spTree>
    <p:extLst>
      <p:ext uri="{BB962C8B-B14F-4D97-AF65-F5344CB8AC3E}">
        <p14:creationId xmlns:p14="http://schemas.microsoft.com/office/powerpoint/2010/main" val="2347138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PowerPoint Templates – </a:t>
            </a:r>
            <a:r>
              <a:rPr lang="fr-FR" dirty="0" err="1"/>
              <a:t>Text</a:t>
            </a:r>
            <a:endParaRPr lang="fr-FR" dirty="0"/>
          </a:p>
        </p:txBody>
      </p:sp>
      <p:grpSp>
        <p:nvGrpSpPr>
          <p:cNvPr id="7" name="Group 6">
            <a:extLst>
              <a:ext uri="{FF2B5EF4-FFF2-40B4-BE49-F238E27FC236}">
                <a16:creationId xmlns:a16="http://schemas.microsoft.com/office/drawing/2014/main" id="{9DEAF52E-CE20-4760-A37A-52AB8C347592}"/>
              </a:ext>
            </a:extLst>
          </p:cNvPr>
          <p:cNvGrpSpPr/>
          <p:nvPr/>
        </p:nvGrpSpPr>
        <p:grpSpPr>
          <a:xfrm>
            <a:off x="1615526" y="1046045"/>
            <a:ext cx="4504144" cy="1593510"/>
            <a:chOff x="1615526" y="905372"/>
            <a:chExt cx="4504144" cy="1593510"/>
          </a:xfrm>
        </p:grpSpPr>
        <p:sp>
          <p:nvSpPr>
            <p:cNvPr id="12" name="Rounded Rectangle 11"/>
            <p:cNvSpPr/>
            <p:nvPr/>
          </p:nvSpPr>
          <p:spPr>
            <a:xfrm>
              <a:off x="1615526" y="914882"/>
              <a:ext cx="4439230" cy="1584000"/>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13" name="TextBox 12"/>
            <p:cNvSpPr txBox="1"/>
            <p:nvPr/>
          </p:nvSpPr>
          <p:spPr>
            <a:xfrm>
              <a:off x="1861100" y="905372"/>
              <a:ext cx="3135391"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Added EFP Metric Value</a:t>
              </a:r>
            </a:p>
          </p:txBody>
        </p:sp>
        <p:sp>
          <p:nvSpPr>
            <p:cNvPr id="16" name="TextBox 15"/>
            <p:cNvSpPr txBox="1"/>
            <p:nvPr/>
          </p:nvSpPr>
          <p:spPr>
            <a:xfrm>
              <a:off x="3283970" y="1278112"/>
              <a:ext cx="2835700" cy="276999"/>
            </a:xfrm>
            <a:prstGeom prst="rect">
              <a:avLst/>
            </a:prstGeom>
            <a:noFill/>
          </p:spPr>
          <p:txBody>
            <a:bodyPr wrap="square" rtlCol="0">
              <a:spAutoFit/>
            </a:bodyPr>
            <a:lstStyle>
              <a:defPPr>
                <a:defRPr lang="fr-FR"/>
              </a:defPPr>
              <a:lvl1pPr>
                <a:defRPr sz="2000" b="1">
                  <a:solidFill>
                    <a:srgbClr val="5E5E5E"/>
                  </a:solidFill>
                </a:defRPr>
              </a:lvl1pPr>
            </a:lstStyle>
            <a:p>
              <a:r>
                <a:rPr lang="en-US" sz="1200" dirty="0"/>
                <a:t>METRIC_EFP_ADDED</a:t>
              </a:r>
            </a:p>
          </p:txBody>
        </p:sp>
        <p:sp>
          <p:nvSpPr>
            <p:cNvPr id="17" name="TextBox 16"/>
            <p:cNvSpPr txBox="1"/>
            <p:nvPr/>
          </p:nvSpPr>
          <p:spPr>
            <a:xfrm>
              <a:off x="2635898" y="1985492"/>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sym typeface="Wingdings" pitchFamily="2" charset="2"/>
                </a:rPr>
                <a:t></a:t>
              </a:r>
              <a:endParaRPr lang="en-US" sz="1600"/>
            </a:p>
          </p:txBody>
        </p:sp>
        <p:sp>
          <p:nvSpPr>
            <p:cNvPr id="18" name="TextBox 17"/>
            <p:cNvSpPr txBox="1"/>
            <p:nvPr/>
          </p:nvSpPr>
          <p:spPr>
            <a:xfrm>
              <a:off x="1836806" y="127157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Block Name :</a:t>
              </a:r>
            </a:p>
          </p:txBody>
        </p:sp>
        <p:sp>
          <p:nvSpPr>
            <p:cNvPr id="19" name="TextBox 18"/>
            <p:cNvSpPr txBox="1"/>
            <p:nvPr/>
          </p:nvSpPr>
          <p:spPr>
            <a:xfrm>
              <a:off x="3283970" y="1591544"/>
              <a:ext cx="911534"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600"/>
                <a:t>none</a:t>
              </a:r>
            </a:p>
          </p:txBody>
        </p:sp>
        <p:sp>
          <p:nvSpPr>
            <p:cNvPr id="20" name="TextBox 19"/>
            <p:cNvSpPr txBox="1"/>
            <p:nvPr/>
          </p:nvSpPr>
          <p:spPr>
            <a:xfrm>
              <a:off x="2253588" y="159154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Options :</a:t>
              </a:r>
            </a:p>
          </p:txBody>
        </p:sp>
        <p:sp>
          <p:nvSpPr>
            <p:cNvPr id="35" name="Rounded Rectangle 34"/>
            <p:cNvSpPr/>
            <p:nvPr/>
          </p:nvSpPr>
          <p:spPr>
            <a:xfrm>
              <a:off x="3108906" y="1988810"/>
              <a:ext cx="2166718"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37" name="TextBox 36" descr="TEXT;METRIC_EFP_ADDED"/>
            <p:cNvSpPr txBox="1"/>
            <p:nvPr/>
          </p:nvSpPr>
          <p:spPr>
            <a:xfrm>
              <a:off x="3139954" y="1996296"/>
              <a:ext cx="2058382"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t>metricValue</a:t>
              </a:r>
            </a:p>
          </p:txBody>
        </p:sp>
      </p:grpSp>
      <p:grpSp>
        <p:nvGrpSpPr>
          <p:cNvPr id="5" name="Group 4">
            <a:extLst>
              <a:ext uri="{FF2B5EF4-FFF2-40B4-BE49-F238E27FC236}">
                <a16:creationId xmlns:a16="http://schemas.microsoft.com/office/drawing/2014/main" id="{B6FF129D-2517-4586-B359-D4E91683908D}"/>
              </a:ext>
            </a:extLst>
          </p:cNvPr>
          <p:cNvGrpSpPr/>
          <p:nvPr/>
        </p:nvGrpSpPr>
        <p:grpSpPr>
          <a:xfrm>
            <a:off x="1615526" y="2774237"/>
            <a:ext cx="4504144" cy="1593510"/>
            <a:chOff x="1615526" y="2633564"/>
            <a:chExt cx="4504144" cy="1593510"/>
          </a:xfrm>
        </p:grpSpPr>
        <p:sp>
          <p:nvSpPr>
            <p:cNvPr id="21" name="Rounded Rectangle 20"/>
            <p:cNvSpPr/>
            <p:nvPr/>
          </p:nvSpPr>
          <p:spPr>
            <a:xfrm>
              <a:off x="1615526" y="2643074"/>
              <a:ext cx="4439230" cy="1584000"/>
            </a:xfrm>
            <a:prstGeom prst="roundRect">
              <a:avLst>
                <a:gd name="adj" fmla="val 413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22" name="TextBox 21"/>
            <p:cNvSpPr txBox="1"/>
            <p:nvPr/>
          </p:nvSpPr>
          <p:spPr>
            <a:xfrm>
              <a:off x="1861100" y="2633564"/>
              <a:ext cx="3880277"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a:t>Deleted EFP Metric Value</a:t>
              </a:r>
            </a:p>
          </p:txBody>
        </p:sp>
        <p:sp>
          <p:nvSpPr>
            <p:cNvPr id="23" name="TextBox 22"/>
            <p:cNvSpPr txBox="1"/>
            <p:nvPr/>
          </p:nvSpPr>
          <p:spPr>
            <a:xfrm>
              <a:off x="3283970" y="3010899"/>
              <a:ext cx="2835700" cy="307777"/>
            </a:xfrm>
            <a:prstGeom prst="rect">
              <a:avLst/>
            </a:prstGeom>
            <a:noFill/>
          </p:spPr>
          <p:txBody>
            <a:bodyPr wrap="square" rtlCol="0">
              <a:spAutoFit/>
            </a:bodyPr>
            <a:lstStyle>
              <a:defPPr>
                <a:defRPr lang="fr-FR"/>
              </a:defPPr>
              <a:lvl1pPr>
                <a:defRPr sz="2000" b="1">
                  <a:solidFill>
                    <a:srgbClr val="5E5E5E"/>
                  </a:solidFill>
                </a:defRPr>
              </a:lvl1pPr>
            </a:lstStyle>
            <a:p>
              <a:r>
                <a:rPr lang="en-US" sz="1400"/>
                <a:t>METRIC_EFP_DELETED</a:t>
              </a:r>
            </a:p>
          </p:txBody>
        </p:sp>
        <p:sp>
          <p:nvSpPr>
            <p:cNvPr id="30" name="TextBox 29"/>
            <p:cNvSpPr txBox="1"/>
            <p:nvPr/>
          </p:nvSpPr>
          <p:spPr>
            <a:xfrm>
              <a:off x="2635898" y="3713684"/>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sym typeface="Wingdings" pitchFamily="2" charset="2"/>
                </a:rPr>
                <a:t></a:t>
              </a:r>
              <a:endParaRPr lang="en-US" sz="1600"/>
            </a:p>
          </p:txBody>
        </p:sp>
        <p:sp>
          <p:nvSpPr>
            <p:cNvPr id="31" name="TextBox 30"/>
            <p:cNvSpPr txBox="1"/>
            <p:nvPr/>
          </p:nvSpPr>
          <p:spPr>
            <a:xfrm>
              <a:off x="1836806" y="299976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Block Name :</a:t>
              </a:r>
            </a:p>
          </p:txBody>
        </p:sp>
        <p:sp>
          <p:nvSpPr>
            <p:cNvPr id="32" name="TextBox 31"/>
            <p:cNvSpPr txBox="1"/>
            <p:nvPr/>
          </p:nvSpPr>
          <p:spPr>
            <a:xfrm>
              <a:off x="3283970" y="3319736"/>
              <a:ext cx="2770786"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600"/>
                <a:t>none</a:t>
              </a:r>
            </a:p>
          </p:txBody>
        </p:sp>
        <p:sp>
          <p:nvSpPr>
            <p:cNvPr id="34" name="TextBox 33"/>
            <p:cNvSpPr txBox="1"/>
            <p:nvPr/>
          </p:nvSpPr>
          <p:spPr>
            <a:xfrm>
              <a:off x="2253588" y="331973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Options :</a:t>
              </a:r>
            </a:p>
          </p:txBody>
        </p:sp>
        <p:sp>
          <p:nvSpPr>
            <p:cNvPr id="36" name="Rounded Rectangle 35"/>
            <p:cNvSpPr/>
            <p:nvPr/>
          </p:nvSpPr>
          <p:spPr>
            <a:xfrm>
              <a:off x="3108906" y="3726882"/>
              <a:ext cx="2166718"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38" name="TextBox 37" descr="TEXT;METRIC_EFP_DELETED"/>
            <p:cNvSpPr txBox="1"/>
            <p:nvPr/>
          </p:nvSpPr>
          <p:spPr>
            <a:xfrm>
              <a:off x="3139954" y="3720720"/>
              <a:ext cx="2058382"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t>metricValue</a:t>
              </a:r>
            </a:p>
          </p:txBody>
        </p:sp>
      </p:grpSp>
      <p:grpSp>
        <p:nvGrpSpPr>
          <p:cNvPr id="8" name="Group 7">
            <a:extLst>
              <a:ext uri="{FF2B5EF4-FFF2-40B4-BE49-F238E27FC236}">
                <a16:creationId xmlns:a16="http://schemas.microsoft.com/office/drawing/2014/main" id="{E95AD02B-0C97-42B0-95BC-168E76739C1C}"/>
              </a:ext>
            </a:extLst>
          </p:cNvPr>
          <p:cNvGrpSpPr/>
          <p:nvPr/>
        </p:nvGrpSpPr>
        <p:grpSpPr>
          <a:xfrm>
            <a:off x="6140943" y="1046045"/>
            <a:ext cx="4504144" cy="1593510"/>
            <a:chOff x="6140943" y="905372"/>
            <a:chExt cx="4504144" cy="1593510"/>
          </a:xfrm>
        </p:grpSpPr>
        <p:sp>
          <p:nvSpPr>
            <p:cNvPr id="39" name="Rounded Rectangle 38"/>
            <p:cNvSpPr/>
            <p:nvPr/>
          </p:nvSpPr>
          <p:spPr>
            <a:xfrm>
              <a:off x="6140943" y="914882"/>
              <a:ext cx="4439230" cy="1584000"/>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40" name="TextBox 39"/>
            <p:cNvSpPr txBox="1"/>
            <p:nvPr/>
          </p:nvSpPr>
          <p:spPr>
            <a:xfrm>
              <a:off x="6140944" y="905372"/>
              <a:ext cx="4049342"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a:t>Modified EFP Metric Value</a:t>
              </a:r>
            </a:p>
          </p:txBody>
        </p:sp>
        <p:sp>
          <p:nvSpPr>
            <p:cNvPr id="41" name="TextBox 40"/>
            <p:cNvSpPr txBox="1"/>
            <p:nvPr/>
          </p:nvSpPr>
          <p:spPr>
            <a:xfrm>
              <a:off x="7809387" y="1278112"/>
              <a:ext cx="2835700" cy="276999"/>
            </a:xfrm>
            <a:prstGeom prst="rect">
              <a:avLst/>
            </a:prstGeom>
            <a:noFill/>
          </p:spPr>
          <p:txBody>
            <a:bodyPr wrap="square" rtlCol="0">
              <a:spAutoFit/>
            </a:bodyPr>
            <a:lstStyle>
              <a:defPPr>
                <a:defRPr lang="fr-FR"/>
              </a:defPPr>
              <a:lvl1pPr>
                <a:defRPr sz="2000" b="1">
                  <a:solidFill>
                    <a:srgbClr val="5E5E5E"/>
                  </a:solidFill>
                </a:defRPr>
              </a:lvl1pPr>
            </a:lstStyle>
            <a:p>
              <a:r>
                <a:rPr lang="en-US" sz="1200"/>
                <a:t>METRIC_EFP_MODIFIED</a:t>
              </a:r>
            </a:p>
          </p:txBody>
        </p:sp>
        <p:sp>
          <p:nvSpPr>
            <p:cNvPr id="42" name="TextBox 41"/>
            <p:cNvSpPr txBox="1"/>
            <p:nvPr/>
          </p:nvSpPr>
          <p:spPr>
            <a:xfrm>
              <a:off x="7161315" y="1985492"/>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sym typeface="Wingdings" pitchFamily="2" charset="2"/>
                </a:rPr>
                <a:t></a:t>
              </a:r>
              <a:endParaRPr lang="en-US" sz="1600"/>
            </a:p>
          </p:txBody>
        </p:sp>
        <p:sp>
          <p:nvSpPr>
            <p:cNvPr id="43" name="TextBox 42"/>
            <p:cNvSpPr txBox="1"/>
            <p:nvPr/>
          </p:nvSpPr>
          <p:spPr>
            <a:xfrm>
              <a:off x="6362223" y="127157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Block Name :</a:t>
              </a:r>
            </a:p>
          </p:txBody>
        </p:sp>
        <p:sp>
          <p:nvSpPr>
            <p:cNvPr id="44" name="TextBox 43"/>
            <p:cNvSpPr txBox="1"/>
            <p:nvPr/>
          </p:nvSpPr>
          <p:spPr>
            <a:xfrm>
              <a:off x="7809387" y="1591544"/>
              <a:ext cx="911534"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600"/>
                <a:t>none</a:t>
              </a:r>
            </a:p>
          </p:txBody>
        </p:sp>
        <p:sp>
          <p:nvSpPr>
            <p:cNvPr id="45" name="TextBox 44"/>
            <p:cNvSpPr txBox="1"/>
            <p:nvPr/>
          </p:nvSpPr>
          <p:spPr>
            <a:xfrm>
              <a:off x="6779005" y="159154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Options :</a:t>
              </a:r>
            </a:p>
          </p:txBody>
        </p:sp>
        <p:sp>
          <p:nvSpPr>
            <p:cNvPr id="53" name="Rounded Rectangle 52"/>
            <p:cNvSpPr/>
            <p:nvPr/>
          </p:nvSpPr>
          <p:spPr>
            <a:xfrm>
              <a:off x="7634323" y="1988810"/>
              <a:ext cx="2166718"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55" name="TextBox 54" descr="TEXT;METRIC_EFP_MODIFIED"/>
            <p:cNvSpPr txBox="1"/>
            <p:nvPr/>
          </p:nvSpPr>
          <p:spPr>
            <a:xfrm>
              <a:off x="7665371" y="1996296"/>
              <a:ext cx="2058382"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t>metricValue</a:t>
              </a:r>
            </a:p>
          </p:txBody>
        </p:sp>
      </p:grpSp>
      <p:grpSp>
        <p:nvGrpSpPr>
          <p:cNvPr id="6" name="Group 5">
            <a:extLst>
              <a:ext uri="{FF2B5EF4-FFF2-40B4-BE49-F238E27FC236}">
                <a16:creationId xmlns:a16="http://schemas.microsoft.com/office/drawing/2014/main" id="{F64BDD86-717E-4D80-9455-B8FEE4E3817C}"/>
              </a:ext>
            </a:extLst>
          </p:cNvPr>
          <p:cNvGrpSpPr/>
          <p:nvPr/>
        </p:nvGrpSpPr>
        <p:grpSpPr>
          <a:xfrm>
            <a:off x="6140943" y="2774237"/>
            <a:ext cx="4504144" cy="1593510"/>
            <a:chOff x="6140943" y="2633564"/>
            <a:chExt cx="4504144" cy="1593510"/>
          </a:xfrm>
        </p:grpSpPr>
        <p:sp>
          <p:nvSpPr>
            <p:cNvPr id="46" name="Rounded Rectangle 45"/>
            <p:cNvSpPr/>
            <p:nvPr/>
          </p:nvSpPr>
          <p:spPr>
            <a:xfrm>
              <a:off x="6140943" y="2643074"/>
              <a:ext cx="4439230" cy="1584000"/>
            </a:xfrm>
            <a:prstGeom prst="roundRect">
              <a:avLst>
                <a:gd name="adj" fmla="val 413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47" name="TextBox 46"/>
            <p:cNvSpPr txBox="1"/>
            <p:nvPr/>
          </p:nvSpPr>
          <p:spPr>
            <a:xfrm>
              <a:off x="6140943" y="2633564"/>
              <a:ext cx="4189957"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a:t>Aggregated EFP Metric Value</a:t>
              </a:r>
            </a:p>
          </p:txBody>
        </p:sp>
        <p:sp>
          <p:nvSpPr>
            <p:cNvPr id="48" name="TextBox 47"/>
            <p:cNvSpPr txBox="1"/>
            <p:nvPr/>
          </p:nvSpPr>
          <p:spPr>
            <a:xfrm>
              <a:off x="7809387" y="3010898"/>
              <a:ext cx="2835700" cy="307777"/>
            </a:xfrm>
            <a:prstGeom prst="rect">
              <a:avLst/>
            </a:prstGeom>
            <a:noFill/>
          </p:spPr>
          <p:txBody>
            <a:bodyPr wrap="square" rtlCol="0">
              <a:spAutoFit/>
            </a:bodyPr>
            <a:lstStyle>
              <a:defPPr>
                <a:defRPr lang="fr-FR"/>
              </a:defPPr>
              <a:lvl1pPr>
                <a:defRPr sz="2000" b="1">
                  <a:solidFill>
                    <a:srgbClr val="5E5E5E"/>
                  </a:solidFill>
                </a:defRPr>
              </a:lvl1pPr>
            </a:lstStyle>
            <a:p>
              <a:r>
                <a:rPr lang="en-US" sz="1400"/>
                <a:t>METRIC_EFP</a:t>
              </a:r>
            </a:p>
          </p:txBody>
        </p:sp>
        <p:sp>
          <p:nvSpPr>
            <p:cNvPr id="49" name="TextBox 48"/>
            <p:cNvSpPr txBox="1"/>
            <p:nvPr/>
          </p:nvSpPr>
          <p:spPr>
            <a:xfrm>
              <a:off x="7161315" y="3713684"/>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sym typeface="Wingdings" pitchFamily="2" charset="2"/>
                </a:rPr>
                <a:t></a:t>
              </a:r>
              <a:endParaRPr lang="en-US" sz="1600"/>
            </a:p>
          </p:txBody>
        </p:sp>
        <p:sp>
          <p:nvSpPr>
            <p:cNvPr id="50" name="TextBox 49"/>
            <p:cNvSpPr txBox="1"/>
            <p:nvPr/>
          </p:nvSpPr>
          <p:spPr>
            <a:xfrm>
              <a:off x="6362223" y="299976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Block Name :</a:t>
              </a:r>
            </a:p>
          </p:txBody>
        </p:sp>
        <p:sp>
          <p:nvSpPr>
            <p:cNvPr id="51" name="TextBox 50"/>
            <p:cNvSpPr txBox="1"/>
            <p:nvPr/>
          </p:nvSpPr>
          <p:spPr>
            <a:xfrm>
              <a:off x="7809387" y="3319736"/>
              <a:ext cx="2770786"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600"/>
                <a:t>none</a:t>
              </a:r>
            </a:p>
          </p:txBody>
        </p:sp>
        <p:sp>
          <p:nvSpPr>
            <p:cNvPr id="52" name="TextBox 51"/>
            <p:cNvSpPr txBox="1"/>
            <p:nvPr/>
          </p:nvSpPr>
          <p:spPr>
            <a:xfrm>
              <a:off x="6779005" y="331973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Options :</a:t>
              </a:r>
            </a:p>
          </p:txBody>
        </p:sp>
        <p:sp>
          <p:nvSpPr>
            <p:cNvPr id="54" name="Rounded Rectangle 53"/>
            <p:cNvSpPr/>
            <p:nvPr/>
          </p:nvSpPr>
          <p:spPr>
            <a:xfrm>
              <a:off x="7634323" y="3726882"/>
              <a:ext cx="2166718"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56" name="TextBox 55" descr="TEXT;METRIC_EFP"/>
            <p:cNvSpPr txBox="1"/>
            <p:nvPr/>
          </p:nvSpPr>
          <p:spPr>
            <a:xfrm>
              <a:off x="7665371" y="3720720"/>
              <a:ext cx="2058382"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t>metricValue</a:t>
              </a:r>
            </a:p>
          </p:txBody>
        </p:sp>
      </p:grpSp>
      <p:grpSp>
        <p:nvGrpSpPr>
          <p:cNvPr id="3" name="Group 2">
            <a:extLst>
              <a:ext uri="{FF2B5EF4-FFF2-40B4-BE49-F238E27FC236}">
                <a16:creationId xmlns:a16="http://schemas.microsoft.com/office/drawing/2014/main" id="{5A24DE69-151F-4C40-9A9F-63E1162A8FEA}"/>
              </a:ext>
            </a:extLst>
          </p:cNvPr>
          <p:cNvGrpSpPr/>
          <p:nvPr/>
        </p:nvGrpSpPr>
        <p:grpSpPr>
          <a:xfrm>
            <a:off x="3283993" y="4511939"/>
            <a:ext cx="5713898" cy="1800200"/>
            <a:chOff x="3283993" y="4371266"/>
            <a:chExt cx="5713898" cy="1800200"/>
          </a:xfrm>
        </p:grpSpPr>
        <p:sp>
          <p:nvSpPr>
            <p:cNvPr id="57" name="Rounded Rectangle 56"/>
            <p:cNvSpPr/>
            <p:nvPr/>
          </p:nvSpPr>
          <p:spPr>
            <a:xfrm>
              <a:off x="3283993" y="4371266"/>
              <a:ext cx="5713898" cy="1800200"/>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58" name="TextBox 57"/>
            <p:cNvSpPr txBox="1"/>
            <p:nvPr/>
          </p:nvSpPr>
          <p:spPr>
            <a:xfrm>
              <a:off x="3435680" y="4443274"/>
              <a:ext cx="5320921"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a:t>Report Generator Version</a:t>
              </a:r>
            </a:p>
          </p:txBody>
        </p:sp>
        <p:sp>
          <p:nvSpPr>
            <p:cNvPr id="59" name="TextBox 58"/>
            <p:cNvSpPr txBox="1"/>
            <p:nvPr/>
          </p:nvSpPr>
          <p:spPr>
            <a:xfrm>
              <a:off x="5140506" y="4803315"/>
              <a:ext cx="3760110" cy="276999"/>
            </a:xfrm>
            <a:prstGeom prst="rect">
              <a:avLst/>
            </a:prstGeom>
            <a:noFill/>
          </p:spPr>
          <p:txBody>
            <a:bodyPr wrap="square" rtlCol="0">
              <a:spAutoFit/>
            </a:bodyPr>
            <a:lstStyle>
              <a:defPPr>
                <a:defRPr lang="fr-FR"/>
              </a:defPPr>
              <a:lvl1pPr>
                <a:defRPr sz="2000" b="1">
                  <a:solidFill>
                    <a:srgbClr val="5E5E5E"/>
                  </a:solidFill>
                </a:defRPr>
              </a:lvl1pPr>
            </a:lstStyle>
            <a:p>
              <a:r>
                <a:rPr lang="en-US" sz="1200"/>
                <a:t>REPGEN_VERSION</a:t>
              </a:r>
            </a:p>
          </p:txBody>
        </p:sp>
        <p:sp>
          <p:nvSpPr>
            <p:cNvPr id="60" name="TextBox 59"/>
            <p:cNvSpPr txBox="1"/>
            <p:nvPr/>
          </p:nvSpPr>
          <p:spPr>
            <a:xfrm>
              <a:off x="4461387" y="5626674"/>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sym typeface="Wingdings" pitchFamily="2" charset="2"/>
                </a:rPr>
                <a:t></a:t>
              </a:r>
              <a:endParaRPr lang="en-US" sz="1600"/>
            </a:p>
          </p:txBody>
        </p:sp>
        <p:sp>
          <p:nvSpPr>
            <p:cNvPr id="61" name="TextBox 60"/>
            <p:cNvSpPr txBox="1"/>
            <p:nvPr/>
          </p:nvSpPr>
          <p:spPr>
            <a:xfrm>
              <a:off x="3693343" y="480331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Block Name :</a:t>
              </a:r>
            </a:p>
          </p:txBody>
        </p:sp>
        <p:sp>
          <p:nvSpPr>
            <p:cNvPr id="62" name="TextBox 61"/>
            <p:cNvSpPr txBox="1"/>
            <p:nvPr/>
          </p:nvSpPr>
          <p:spPr>
            <a:xfrm>
              <a:off x="5140507" y="5123284"/>
              <a:ext cx="2770786"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600"/>
                <a:t>none</a:t>
              </a:r>
            </a:p>
          </p:txBody>
        </p:sp>
        <p:sp>
          <p:nvSpPr>
            <p:cNvPr id="63" name="TextBox 62"/>
            <p:cNvSpPr txBox="1"/>
            <p:nvPr/>
          </p:nvSpPr>
          <p:spPr>
            <a:xfrm>
              <a:off x="4110125" y="512328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a:t>Options :</a:t>
              </a:r>
            </a:p>
          </p:txBody>
        </p:sp>
        <p:sp>
          <p:nvSpPr>
            <p:cNvPr id="64" name="Rounded Rectangle 63"/>
            <p:cNvSpPr/>
            <p:nvPr/>
          </p:nvSpPr>
          <p:spPr>
            <a:xfrm>
              <a:off x="4996491" y="5595403"/>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400"/>
            </a:p>
          </p:txBody>
        </p:sp>
        <p:sp>
          <p:nvSpPr>
            <p:cNvPr id="65" name="TextBox 64" descr="TEXT;REPGEN_VERSION"/>
            <p:cNvSpPr txBox="1"/>
            <p:nvPr/>
          </p:nvSpPr>
          <p:spPr>
            <a:xfrm>
              <a:off x="4965443" y="5620062"/>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600"/>
                <a:t>result</a:t>
              </a:r>
            </a:p>
          </p:txBody>
        </p:sp>
      </p:grpSp>
    </p:spTree>
    <p:extLst>
      <p:ext uri="{BB962C8B-B14F-4D97-AF65-F5344CB8AC3E}">
        <p14:creationId xmlns:p14="http://schemas.microsoft.com/office/powerpoint/2010/main" val="595162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PowerPoint Templates – </a:t>
            </a:r>
            <a:r>
              <a:rPr lang="fr-FR" dirty="0" err="1"/>
              <a:t>Text</a:t>
            </a:r>
            <a:endParaRPr lang="fr-FR" dirty="0"/>
          </a:p>
        </p:txBody>
      </p:sp>
      <p:grpSp>
        <p:nvGrpSpPr>
          <p:cNvPr id="3" name="Group 2">
            <a:extLst>
              <a:ext uri="{FF2B5EF4-FFF2-40B4-BE49-F238E27FC236}">
                <a16:creationId xmlns:a16="http://schemas.microsoft.com/office/drawing/2014/main" id="{344EC741-213A-4A61-A434-B847B3A2EABF}"/>
              </a:ext>
            </a:extLst>
          </p:cNvPr>
          <p:cNvGrpSpPr/>
          <p:nvPr/>
        </p:nvGrpSpPr>
        <p:grpSpPr>
          <a:xfrm>
            <a:off x="2639616" y="1296056"/>
            <a:ext cx="6696744" cy="4420330"/>
            <a:chOff x="2639616" y="848940"/>
            <a:chExt cx="6696744" cy="4420330"/>
          </a:xfrm>
        </p:grpSpPr>
        <p:sp>
          <p:nvSpPr>
            <p:cNvPr id="12" name="Rounded Rectangle 11"/>
            <p:cNvSpPr/>
            <p:nvPr/>
          </p:nvSpPr>
          <p:spPr>
            <a:xfrm>
              <a:off x="2711624" y="848940"/>
              <a:ext cx="6624736" cy="4420330"/>
            </a:xfrm>
            <a:prstGeom prst="roundRect">
              <a:avLst>
                <a:gd name="adj" fmla="val 488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600" dirty="0"/>
            </a:p>
          </p:txBody>
        </p:sp>
        <p:sp>
          <p:nvSpPr>
            <p:cNvPr id="13" name="TextBox 12"/>
            <p:cNvSpPr txBox="1"/>
            <p:nvPr/>
          </p:nvSpPr>
          <p:spPr>
            <a:xfrm>
              <a:off x="2639616" y="899428"/>
              <a:ext cx="4314002"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Custom Expression</a:t>
              </a:r>
            </a:p>
          </p:txBody>
        </p:sp>
        <p:sp>
          <p:nvSpPr>
            <p:cNvPr id="16" name="TextBox 15"/>
            <p:cNvSpPr txBox="1"/>
            <p:nvPr/>
          </p:nvSpPr>
          <p:spPr>
            <a:xfrm>
              <a:off x="4295800" y="1296056"/>
              <a:ext cx="4097978" cy="307777"/>
            </a:xfrm>
            <a:prstGeom prst="rect">
              <a:avLst/>
            </a:prstGeom>
            <a:noFill/>
          </p:spPr>
          <p:txBody>
            <a:bodyPr wrap="square" rtlCol="0">
              <a:spAutoFit/>
            </a:bodyPr>
            <a:lstStyle>
              <a:defPPr>
                <a:defRPr lang="fr-FR"/>
              </a:defPPr>
              <a:lvl1pPr>
                <a:defRPr sz="2000" b="1">
                  <a:solidFill>
                    <a:srgbClr val="5E5E5E"/>
                  </a:solidFill>
                </a:defRPr>
              </a:lvl1pPr>
            </a:lstStyle>
            <a:p>
              <a:r>
                <a:rPr lang="en-US" sz="1400" dirty="0"/>
                <a:t>CUSTOM_EXPRESSION</a:t>
              </a:r>
            </a:p>
          </p:txBody>
        </p:sp>
        <p:sp>
          <p:nvSpPr>
            <p:cNvPr id="17" name="TextBox 16"/>
            <p:cNvSpPr txBox="1"/>
            <p:nvPr/>
          </p:nvSpPr>
          <p:spPr>
            <a:xfrm>
              <a:off x="3824183" y="3296044"/>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800" dirty="0">
                  <a:sym typeface="Wingdings" pitchFamily="2" charset="2"/>
                </a:rPr>
                <a:t></a:t>
              </a:r>
              <a:endParaRPr lang="en-US" sz="1800" dirty="0"/>
            </a:p>
          </p:txBody>
        </p:sp>
        <p:sp>
          <p:nvSpPr>
            <p:cNvPr id="18" name="TextBox 17"/>
            <p:cNvSpPr txBox="1"/>
            <p:nvPr/>
          </p:nvSpPr>
          <p:spPr>
            <a:xfrm>
              <a:off x="2769420" y="125946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dirty="0"/>
                <a:t>Block Name :</a:t>
              </a:r>
            </a:p>
          </p:txBody>
        </p:sp>
        <p:sp>
          <p:nvSpPr>
            <p:cNvPr id="19" name="TextBox 18"/>
            <p:cNvSpPr txBox="1"/>
            <p:nvPr/>
          </p:nvSpPr>
          <p:spPr>
            <a:xfrm>
              <a:off x="4295800" y="1588730"/>
              <a:ext cx="4824536" cy="1546577"/>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050" dirty="0"/>
                <a:t>- PARAMS=SZ a SZ b, (SZ for sizing measure or </a:t>
              </a:r>
              <a:r>
                <a:rPr lang="en-US" sz="1050" dirty="0" err="1"/>
                <a:t>category,QR</a:t>
              </a:r>
              <a:r>
                <a:rPr lang="en-US" sz="1050" dirty="0"/>
                <a:t> for quality rule, BF for background fact)</a:t>
              </a:r>
            </a:p>
            <a:p>
              <a:r>
                <a:rPr lang="en-US" sz="1050" dirty="0"/>
                <a:t>- EXPR=a/b, (operators can be +, -, *, / , (, ) )</a:t>
              </a:r>
            </a:p>
            <a:p>
              <a:r>
                <a:rPr lang="en-US" sz="1050" dirty="0"/>
                <a:t>- a=</a:t>
              </a:r>
              <a:r>
                <a:rPr lang="en-US" sz="1050" dirty="0" err="1"/>
                <a:t>MetricId</a:t>
              </a:r>
              <a:r>
                <a:rPr lang="en-US" sz="1050" dirty="0"/>
                <a:t> (sample 67011 – all critical violations),</a:t>
              </a:r>
            </a:p>
            <a:p>
              <a:r>
                <a:rPr lang="en-US" sz="1050" dirty="0"/>
                <a:t>- b=</a:t>
              </a:r>
              <a:r>
                <a:rPr lang="en-US" sz="1050" dirty="0" err="1"/>
                <a:t>MetricID</a:t>
              </a:r>
              <a:r>
                <a:rPr lang="en-US" sz="1050" dirty="0"/>
                <a:t> (sample 10202 – Total AFP),</a:t>
              </a:r>
            </a:p>
            <a:p>
              <a:r>
                <a:rPr lang="en-US" sz="1050" dirty="0"/>
                <a:t>- FORMAT=N0 (N2 by default, if nothing or erroneous format is set),</a:t>
              </a:r>
            </a:p>
            <a:p>
              <a:r>
                <a:rPr lang="en-US" sz="1050" dirty="0"/>
                <a:t>- SNAPSHOT = CURRENT|PREVIOUS with CURRENT by default (or if erroneous or nothing is set) to get the custom expression for the current snapshot or the previous one</a:t>
              </a:r>
            </a:p>
          </p:txBody>
        </p:sp>
        <p:sp>
          <p:nvSpPr>
            <p:cNvPr id="20" name="TextBox 19"/>
            <p:cNvSpPr txBox="1"/>
            <p:nvPr/>
          </p:nvSpPr>
          <p:spPr>
            <a:xfrm>
              <a:off x="3186201" y="161950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dirty="0"/>
                <a:t>Options :</a:t>
              </a:r>
            </a:p>
          </p:txBody>
        </p:sp>
        <p:sp>
          <p:nvSpPr>
            <p:cNvPr id="21" name="Rounded Rectangle 20"/>
            <p:cNvSpPr/>
            <p:nvPr/>
          </p:nvSpPr>
          <p:spPr>
            <a:xfrm>
              <a:off x="4333636" y="3302206"/>
              <a:ext cx="3634572"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sz="1600" dirty="0"/>
            </a:p>
          </p:txBody>
        </p:sp>
        <p:sp>
          <p:nvSpPr>
            <p:cNvPr id="22" name="TextBox 21" descr="TEXT;CUSTOM_EXPRESSION;PARAMS=SZ a SZ b,EXPR=a/b,a=67011,b=10202,FORMAT=N2"/>
            <p:cNvSpPr txBox="1"/>
            <p:nvPr/>
          </p:nvSpPr>
          <p:spPr>
            <a:xfrm>
              <a:off x="4332529" y="3284984"/>
              <a:ext cx="384411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en-US" sz="1800" dirty="0"/>
                <a:t>Value</a:t>
              </a:r>
            </a:p>
          </p:txBody>
        </p:sp>
        <p:sp>
          <p:nvSpPr>
            <p:cNvPr id="23" name="TextBox 22"/>
            <p:cNvSpPr txBox="1"/>
            <p:nvPr/>
          </p:nvSpPr>
          <p:spPr>
            <a:xfrm>
              <a:off x="3099111" y="3891416"/>
              <a:ext cx="5832648" cy="1223412"/>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GB" sz="1050" dirty="0"/>
                <a:t>Note: </a:t>
              </a:r>
            </a:p>
            <a:p>
              <a:r>
                <a:rPr lang="en-GB" sz="1050" dirty="0"/>
                <a:t>You are not limited in the number of parameters to be used in your expression (a, b, c, d…)</a:t>
              </a:r>
            </a:p>
            <a:p>
              <a:r>
                <a:rPr lang="en-GB" sz="1050" dirty="0"/>
                <a:t>/!\ don’t put blank char in the definition of parameters (,a=67011,b=67010,c=…)</a:t>
              </a:r>
            </a:p>
            <a:p>
              <a:endParaRPr lang="en-GB" sz="1050" dirty="0"/>
            </a:p>
            <a:p>
              <a:r>
                <a:rPr lang="en-GB" sz="1050" dirty="0"/>
                <a:t>You can put a category id instead of a sizing measure, for example 65104 for  very large size artifact.</a:t>
              </a:r>
            </a:p>
          </p:txBody>
        </p:sp>
      </p:grpSp>
    </p:spTree>
    <p:extLst>
      <p:ext uri="{BB962C8B-B14F-4D97-AF65-F5344CB8AC3E}">
        <p14:creationId xmlns:p14="http://schemas.microsoft.com/office/powerpoint/2010/main" val="4093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PowerPoint Templates – </a:t>
            </a:r>
            <a:r>
              <a:rPr lang="fr-FR" dirty="0" err="1"/>
              <a:t>Text</a:t>
            </a:r>
            <a:endParaRPr lang="fr-FR" dirty="0"/>
          </a:p>
        </p:txBody>
      </p:sp>
      <p:grpSp>
        <p:nvGrpSpPr>
          <p:cNvPr id="4" name="Group 3">
            <a:extLst>
              <a:ext uri="{FF2B5EF4-FFF2-40B4-BE49-F238E27FC236}">
                <a16:creationId xmlns:a16="http://schemas.microsoft.com/office/drawing/2014/main" id="{00EB5962-2B00-48E2-900D-40C040D9FABF}"/>
              </a:ext>
            </a:extLst>
          </p:cNvPr>
          <p:cNvGrpSpPr/>
          <p:nvPr/>
        </p:nvGrpSpPr>
        <p:grpSpPr>
          <a:xfrm>
            <a:off x="1646495" y="1441127"/>
            <a:ext cx="8212400" cy="4389221"/>
            <a:chOff x="1844040" y="3479800"/>
            <a:chExt cx="8212400" cy="2945225"/>
          </a:xfrm>
        </p:grpSpPr>
        <p:sp>
          <p:nvSpPr>
            <p:cNvPr id="12" name="Rounded Rectangle 11"/>
            <p:cNvSpPr/>
            <p:nvPr/>
          </p:nvSpPr>
          <p:spPr>
            <a:xfrm>
              <a:off x="1988056" y="3479800"/>
              <a:ext cx="8068384" cy="2945225"/>
            </a:xfrm>
            <a:prstGeom prst="roundRect">
              <a:avLst>
                <a:gd name="adj" fmla="val 338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13" name="TextBox 12"/>
            <p:cNvSpPr txBox="1"/>
            <p:nvPr/>
          </p:nvSpPr>
          <p:spPr>
            <a:xfrm>
              <a:off x="1844040" y="3479800"/>
              <a:ext cx="4314002" cy="369332"/>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800" dirty="0"/>
                <a:t>Evolution for a </a:t>
              </a:r>
              <a:r>
                <a:rPr lang="fr-FR" sz="1800" dirty="0" err="1"/>
                <a:t>metric</a:t>
              </a:r>
              <a:r>
                <a:rPr lang="fr-FR" sz="1800" dirty="0"/>
                <a:t> id</a:t>
              </a:r>
            </a:p>
          </p:txBody>
        </p:sp>
        <p:sp>
          <p:nvSpPr>
            <p:cNvPr id="14" name="TextBox 13"/>
            <p:cNvSpPr txBox="1"/>
            <p:nvPr/>
          </p:nvSpPr>
          <p:spPr>
            <a:xfrm>
              <a:off x="3531272" y="3832313"/>
              <a:ext cx="5657116"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METRIC_EVOLUTION</a:t>
              </a:r>
            </a:p>
          </p:txBody>
        </p:sp>
        <p:sp>
          <p:nvSpPr>
            <p:cNvPr id="15" name="TextBox 14"/>
            <p:cNvSpPr txBox="1"/>
            <p:nvPr/>
          </p:nvSpPr>
          <p:spPr>
            <a:xfrm>
              <a:off x="2883200" y="6002954"/>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a:sym typeface="Wingdings" pitchFamily="2" charset="2"/>
                </a:rPr>
                <a:t></a:t>
              </a:r>
              <a:endParaRPr lang="fr-FR" sz="1800" dirty="0"/>
            </a:p>
          </p:txBody>
        </p:sp>
        <p:sp>
          <p:nvSpPr>
            <p:cNvPr id="16" name="TextBox 15"/>
            <p:cNvSpPr txBox="1"/>
            <p:nvPr/>
          </p:nvSpPr>
          <p:spPr>
            <a:xfrm>
              <a:off x="1917396" y="3823257"/>
              <a:ext cx="169309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Block Name :</a:t>
              </a:r>
            </a:p>
          </p:txBody>
        </p:sp>
        <p:sp>
          <p:nvSpPr>
            <p:cNvPr id="17" name="TextBox 16"/>
            <p:cNvSpPr txBox="1"/>
            <p:nvPr/>
          </p:nvSpPr>
          <p:spPr>
            <a:xfrm>
              <a:off x="3531272" y="4154393"/>
              <a:ext cx="6381152" cy="1879351"/>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100" b="1" dirty="0"/>
                <a:t>ID</a:t>
              </a:r>
              <a:r>
                <a:rPr lang="fr-FR" sz="1100" dirty="0"/>
                <a:t>= </a:t>
              </a:r>
              <a:r>
                <a:rPr lang="fr-FR" sz="1100" dirty="0" err="1"/>
                <a:t>Quality</a:t>
              </a:r>
              <a:r>
                <a:rPr lang="fr-FR" sz="1100" dirty="0"/>
                <a:t> Rule Id or </a:t>
              </a:r>
              <a:r>
                <a:rPr lang="fr-FR" sz="1100" dirty="0" err="1"/>
                <a:t>Technical</a:t>
              </a:r>
              <a:r>
                <a:rPr lang="fr-FR" sz="1100" dirty="0"/>
                <a:t> </a:t>
              </a:r>
              <a:r>
                <a:rPr lang="fr-FR" sz="1100" dirty="0" err="1"/>
                <a:t>criterion</a:t>
              </a:r>
              <a:r>
                <a:rPr lang="fr-FR" sz="1100" dirty="0"/>
                <a:t> ID or Business </a:t>
              </a:r>
              <a:r>
                <a:rPr lang="fr-FR" sz="1100" dirty="0" err="1"/>
                <a:t>Criterion</a:t>
              </a:r>
              <a:r>
                <a:rPr lang="fr-FR" sz="1100" dirty="0"/>
                <a:t> ID</a:t>
              </a:r>
            </a:p>
            <a:p>
              <a:r>
                <a:rPr lang="fr-FR" sz="1100" dirty="0"/>
                <a:t>Or </a:t>
              </a:r>
              <a:r>
                <a:rPr lang="fr-FR" sz="1100" dirty="0" err="1"/>
                <a:t>Sizing</a:t>
              </a:r>
              <a:r>
                <a:rPr lang="fr-FR" sz="1100" dirty="0"/>
                <a:t> </a:t>
              </a:r>
              <a:r>
                <a:rPr lang="fr-FR" sz="1100" dirty="0" err="1"/>
                <a:t>Measure</a:t>
              </a:r>
              <a:r>
                <a:rPr lang="fr-FR" sz="1100" dirty="0"/>
                <a:t> Id or Background </a:t>
              </a:r>
              <a:r>
                <a:rPr lang="fr-FR" sz="1100" dirty="0" err="1"/>
                <a:t>fact</a:t>
              </a:r>
              <a:r>
                <a:rPr lang="fr-FR" sz="1100" dirty="0"/>
                <a:t> Id , or </a:t>
              </a:r>
              <a:r>
                <a:rPr lang="fr-FR" sz="1100" dirty="0" err="1"/>
                <a:t>category</a:t>
              </a:r>
              <a:endParaRPr lang="fr-FR" sz="1100" dirty="0"/>
            </a:p>
            <a:p>
              <a:r>
                <a:rPr lang="fr-FR" sz="1100" b="1" dirty="0"/>
                <a:t>FORMAT</a:t>
              </a:r>
              <a:r>
                <a:rPr lang="fr-FR" sz="1100" dirty="0"/>
                <a:t>= ABSOLUTE or PERCENT (by default PERCENT)</a:t>
              </a:r>
            </a:p>
            <a:p>
              <a:r>
                <a:rPr lang="fr-FR" sz="1100" b="1" dirty="0"/>
                <a:t>MODULE</a:t>
              </a:r>
              <a:r>
                <a:rPr lang="fr-FR" sz="1100" dirty="0"/>
                <a:t>= </a:t>
              </a:r>
              <a:r>
                <a:rPr lang="fr-FR" sz="1100" dirty="0" err="1"/>
                <a:t>name</a:t>
              </a:r>
              <a:r>
                <a:rPr lang="fr-FR" sz="1100" dirty="0"/>
                <a:t> of the module if </a:t>
              </a:r>
              <a:r>
                <a:rPr lang="fr-FR" sz="1100" dirty="0" err="1"/>
                <a:t>needed</a:t>
              </a:r>
              <a:r>
                <a:rPr lang="fr-FR" sz="1100" dirty="0"/>
                <a:t> (</a:t>
              </a:r>
              <a:r>
                <a:rPr lang="fr-FR" sz="1100" dirty="0" err="1"/>
                <a:t>optional</a:t>
              </a:r>
              <a:r>
                <a:rPr lang="fr-FR" sz="1100" dirty="0"/>
                <a:t>)</a:t>
              </a:r>
            </a:p>
            <a:p>
              <a:r>
                <a:rPr lang="fr-FR" sz="1100" b="1" dirty="0"/>
                <a:t>TECHNO</a:t>
              </a:r>
              <a:r>
                <a:rPr lang="fr-FR" sz="1100" dirty="0"/>
                <a:t>=</a:t>
              </a:r>
              <a:r>
                <a:rPr lang="fr-FR" sz="1100" dirty="0" err="1"/>
                <a:t>name</a:t>
              </a:r>
              <a:r>
                <a:rPr lang="fr-FR" sz="1100" dirty="0"/>
                <a:t> of the </a:t>
              </a:r>
              <a:r>
                <a:rPr lang="fr-FR" sz="1100" dirty="0" err="1"/>
                <a:t>technology</a:t>
              </a:r>
              <a:r>
                <a:rPr lang="fr-FR" sz="1100" dirty="0"/>
                <a:t> if </a:t>
              </a:r>
              <a:r>
                <a:rPr lang="fr-FR" sz="1100" dirty="0" err="1"/>
                <a:t>needed</a:t>
              </a:r>
              <a:r>
                <a:rPr lang="fr-FR" sz="1100" dirty="0"/>
                <a:t> (</a:t>
              </a:r>
              <a:r>
                <a:rPr lang="fr-FR" sz="1100" dirty="0" err="1"/>
                <a:t>optional</a:t>
              </a:r>
              <a:r>
                <a:rPr lang="fr-FR" sz="1100" dirty="0"/>
                <a:t>)</a:t>
              </a:r>
            </a:p>
            <a:p>
              <a:r>
                <a:rPr lang="en-US" sz="1100" b="1" dirty="0"/>
                <a:t>PARAMS</a:t>
              </a:r>
              <a:r>
                <a:rPr lang="en-US" sz="1100" dirty="0"/>
                <a:t>=SZ a SZ b, (SZ for sizing measure or category (new), QR for quality rule, BF for background fact)</a:t>
              </a:r>
            </a:p>
            <a:p>
              <a:r>
                <a:rPr lang="en-US" sz="1100" b="1" dirty="0"/>
                <a:t>EXPR</a:t>
              </a:r>
              <a:r>
                <a:rPr lang="en-US" sz="1100" dirty="0"/>
                <a:t>=a/b, (operators can be +, -, *, / , (, ) )</a:t>
              </a:r>
            </a:p>
            <a:p>
              <a:r>
                <a:rPr lang="en-US" sz="1100" dirty="0"/>
                <a:t>- a=</a:t>
              </a:r>
              <a:r>
                <a:rPr lang="en-US" sz="1100" dirty="0" err="1"/>
                <a:t>MetricId</a:t>
              </a:r>
              <a:r>
                <a:rPr lang="en-US" sz="1100" dirty="0"/>
                <a:t> (sample 67011 – all critical violations),</a:t>
              </a:r>
            </a:p>
            <a:p>
              <a:r>
                <a:rPr lang="en-US" sz="1100" dirty="0"/>
                <a:t>- b=</a:t>
              </a:r>
              <a:r>
                <a:rPr lang="en-US" sz="1100" dirty="0" err="1"/>
                <a:t>MetricID</a:t>
              </a:r>
              <a:r>
                <a:rPr lang="en-US" sz="1100" dirty="0"/>
                <a:t> (sample 10202 – Total AFP),</a:t>
              </a:r>
            </a:p>
            <a:p>
              <a:r>
                <a:rPr lang="fr-FR" sz="1100" dirty="0" err="1"/>
                <a:t>Either</a:t>
              </a:r>
              <a:r>
                <a:rPr lang="fr-FR" sz="1100" dirty="0"/>
                <a:t> ID, </a:t>
              </a:r>
              <a:r>
                <a:rPr lang="fr-FR" sz="1100" dirty="0" err="1"/>
                <a:t>either</a:t>
              </a:r>
              <a:r>
                <a:rPr lang="fr-FR" sz="1100" dirty="0"/>
                <a:t> PARAMS and EXPR (for custom expression) </a:t>
              </a:r>
              <a:r>
                <a:rPr lang="fr-FR" sz="1100" dirty="0" err="1"/>
                <a:t>should</a:t>
              </a:r>
              <a:r>
                <a:rPr lang="fr-FR" sz="1100" dirty="0"/>
                <a:t> </a:t>
              </a:r>
              <a:r>
                <a:rPr lang="fr-FR" sz="1100" dirty="0" err="1"/>
                <a:t>be</a:t>
              </a:r>
              <a:r>
                <a:rPr lang="fr-FR" sz="1100" dirty="0"/>
                <a:t> </a:t>
              </a:r>
              <a:r>
                <a:rPr lang="fr-FR" sz="1100" dirty="0" err="1"/>
                <a:t>specified</a:t>
              </a:r>
              <a:endParaRPr lang="fr-FR" sz="1100" dirty="0"/>
            </a:p>
            <a:p>
              <a:r>
                <a:rPr lang="fr-FR" sz="1100" dirty="0"/>
                <a:t>By default, if MODULE or TECHNOLOGY not </a:t>
              </a:r>
              <a:r>
                <a:rPr lang="fr-FR" sz="1100" dirty="0" err="1"/>
                <a:t>specified</a:t>
              </a:r>
              <a:r>
                <a:rPr lang="fr-FR" sz="1100" dirty="0"/>
                <a:t>, the </a:t>
              </a:r>
              <a:r>
                <a:rPr lang="fr-FR" sz="1100" dirty="0" err="1"/>
                <a:t>evolution</a:t>
              </a:r>
              <a:r>
                <a:rPr lang="fr-FR" sz="1100" dirty="0"/>
                <a:t> </a:t>
              </a:r>
              <a:r>
                <a:rPr lang="fr-FR" sz="1100" dirty="0" err="1"/>
                <a:t>is</a:t>
              </a:r>
              <a:r>
                <a:rPr lang="fr-FR" sz="1100" dirty="0"/>
                <a:t> </a:t>
              </a:r>
              <a:r>
                <a:rPr lang="fr-FR" sz="1100" dirty="0" err="1"/>
                <a:t>given</a:t>
              </a:r>
              <a:r>
                <a:rPr lang="fr-FR" sz="1100" dirty="0"/>
                <a:t> for the application</a:t>
              </a:r>
            </a:p>
            <a:p>
              <a:r>
                <a:rPr lang="en-US" sz="1100" b="1" dirty="0"/>
                <a:t>COMPLIANCE</a:t>
              </a:r>
              <a:r>
                <a:rPr lang="en-US" sz="1100" dirty="0"/>
                <a:t>=true/false (by default false), work only for BC or TC, to display the compliance score evolution instead of the </a:t>
              </a:r>
              <a:r>
                <a:rPr lang="en-US" sz="1100"/>
                <a:t>grade evolution</a:t>
              </a:r>
              <a:endParaRPr lang="en-US" sz="1100" dirty="0"/>
            </a:p>
            <a:p>
              <a:endParaRPr lang="fr-FR" sz="1100" dirty="0"/>
            </a:p>
          </p:txBody>
        </p:sp>
        <p:sp>
          <p:nvSpPr>
            <p:cNvPr id="18" name="TextBox 17"/>
            <p:cNvSpPr txBox="1"/>
            <p:nvPr/>
          </p:nvSpPr>
          <p:spPr>
            <a:xfrm>
              <a:off x="2387077" y="4154392"/>
              <a:ext cx="122341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Options :</a:t>
              </a:r>
            </a:p>
          </p:txBody>
        </p:sp>
        <p:sp>
          <p:nvSpPr>
            <p:cNvPr id="19" name="Rounded Rectangle 18"/>
            <p:cNvSpPr/>
            <p:nvPr/>
          </p:nvSpPr>
          <p:spPr>
            <a:xfrm>
              <a:off x="3380778" y="6009116"/>
              <a:ext cx="2567718" cy="230147"/>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600" dirty="0"/>
            </a:p>
          </p:txBody>
        </p:sp>
        <p:sp>
          <p:nvSpPr>
            <p:cNvPr id="20" name="TextBox 19" descr="TEXT;METRIC_EVOLUTION;ID=60017,FORMAT=PERCENT"/>
            <p:cNvSpPr txBox="1"/>
            <p:nvPr/>
          </p:nvSpPr>
          <p:spPr>
            <a:xfrm>
              <a:off x="3460815" y="5988431"/>
              <a:ext cx="2736304" cy="250833"/>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800" dirty="0" err="1"/>
                <a:t>MetricId</a:t>
              </a:r>
              <a:r>
                <a:rPr lang="fr-FR" sz="1800" dirty="0"/>
                <a:t> Evolution</a:t>
              </a:r>
            </a:p>
          </p:txBody>
        </p:sp>
      </p:grpSp>
    </p:spTree>
    <p:extLst>
      <p:ext uri="{BB962C8B-B14F-4D97-AF65-F5344CB8AC3E}">
        <p14:creationId xmlns:p14="http://schemas.microsoft.com/office/powerpoint/2010/main" val="250062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275C9-69D7-B5AC-0886-83E596280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38AD3-16C8-9A9D-6496-6F542F2C3749}"/>
              </a:ext>
            </a:extLst>
          </p:cNvPr>
          <p:cNvSpPr>
            <a:spLocks noGrp="1"/>
          </p:cNvSpPr>
          <p:nvPr>
            <p:ph type="title"/>
          </p:nvPr>
        </p:nvSpPr>
        <p:spPr/>
        <p:txBody>
          <a:bodyPr/>
          <a:lstStyle/>
          <a:p>
            <a:r>
              <a:rPr lang="fr-FR" dirty="0"/>
              <a:t>PowerPoint Templates – </a:t>
            </a:r>
            <a:r>
              <a:rPr lang="fr-FR" dirty="0" err="1"/>
              <a:t>Text</a:t>
            </a:r>
            <a:endParaRPr lang="fr-FR" dirty="0"/>
          </a:p>
        </p:txBody>
      </p:sp>
      <p:grpSp>
        <p:nvGrpSpPr>
          <p:cNvPr id="6" name="Group 5">
            <a:extLst>
              <a:ext uri="{FF2B5EF4-FFF2-40B4-BE49-F238E27FC236}">
                <a16:creationId xmlns:a16="http://schemas.microsoft.com/office/drawing/2014/main" id="{5627C84E-91D4-B772-6503-3C1268858B15}"/>
              </a:ext>
            </a:extLst>
          </p:cNvPr>
          <p:cNvGrpSpPr/>
          <p:nvPr/>
        </p:nvGrpSpPr>
        <p:grpSpPr>
          <a:xfrm>
            <a:off x="2990172" y="1438595"/>
            <a:ext cx="5472608" cy="1800200"/>
            <a:chOff x="3232078" y="2564904"/>
            <a:chExt cx="5472608" cy="1800200"/>
          </a:xfrm>
        </p:grpSpPr>
        <p:sp>
          <p:nvSpPr>
            <p:cNvPr id="7" name="Rounded Rectangle 29">
              <a:extLst>
                <a:ext uri="{FF2B5EF4-FFF2-40B4-BE49-F238E27FC236}">
                  <a16:creationId xmlns:a16="http://schemas.microsoft.com/office/drawing/2014/main" id="{28A72CD3-25EC-4AB2-9877-659A6FD5AEDF}"/>
                </a:ext>
              </a:extLst>
            </p:cNvPr>
            <p:cNvSpPr/>
            <p:nvPr/>
          </p:nvSpPr>
          <p:spPr>
            <a:xfrm>
              <a:off x="3232078" y="2564904"/>
              <a:ext cx="5472608" cy="1800200"/>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8" name="TextBox 7">
              <a:extLst>
                <a:ext uri="{FF2B5EF4-FFF2-40B4-BE49-F238E27FC236}">
                  <a16:creationId xmlns:a16="http://schemas.microsoft.com/office/drawing/2014/main" id="{CFA90293-5341-5D4B-58F5-D17675ACDDDA}"/>
                </a:ext>
              </a:extLst>
            </p:cNvPr>
            <p:cNvSpPr txBox="1"/>
            <p:nvPr/>
          </p:nvSpPr>
          <p:spPr>
            <a:xfrm>
              <a:off x="3383765" y="2564904"/>
              <a:ext cx="4398966"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Metric</a:t>
              </a:r>
              <a:r>
                <a:rPr lang="fr-FR" sz="1600" dirty="0"/>
                <a:t> total violations</a:t>
              </a:r>
            </a:p>
          </p:txBody>
        </p:sp>
        <p:sp>
          <p:nvSpPr>
            <p:cNvPr id="9" name="TextBox 8">
              <a:extLst>
                <a:ext uri="{FF2B5EF4-FFF2-40B4-BE49-F238E27FC236}">
                  <a16:creationId xmlns:a16="http://schemas.microsoft.com/office/drawing/2014/main" id="{DC8952F8-C274-D4D9-C434-7D3B696E5C74}"/>
                </a:ext>
              </a:extLst>
            </p:cNvPr>
            <p:cNvSpPr txBox="1"/>
            <p:nvPr/>
          </p:nvSpPr>
          <p:spPr>
            <a:xfrm>
              <a:off x="5088592" y="2905200"/>
              <a:ext cx="2993288" cy="276999"/>
            </a:xfrm>
            <a:prstGeom prst="rect">
              <a:avLst/>
            </a:prstGeom>
            <a:noFill/>
          </p:spPr>
          <p:txBody>
            <a:bodyPr wrap="square" rtlCol="0">
              <a:spAutoFit/>
            </a:bodyPr>
            <a:lstStyle>
              <a:defPPr>
                <a:defRPr lang="fr-FR"/>
              </a:defPPr>
              <a:lvl1pPr>
                <a:defRPr sz="2000" b="1">
                  <a:solidFill>
                    <a:srgbClr val="5E5E5E"/>
                  </a:solidFill>
                </a:defRPr>
              </a:lvl1pPr>
            </a:lstStyle>
            <a:p>
              <a:r>
                <a:rPr lang="fr-FR" sz="1200" dirty="0"/>
                <a:t>TOTAL_VIOLATIONS</a:t>
              </a:r>
            </a:p>
          </p:txBody>
        </p:sp>
        <p:sp>
          <p:nvSpPr>
            <p:cNvPr id="10" name="TextBox 9">
              <a:extLst>
                <a:ext uri="{FF2B5EF4-FFF2-40B4-BE49-F238E27FC236}">
                  <a16:creationId xmlns:a16="http://schemas.microsoft.com/office/drawing/2014/main" id="{1F4A09A9-764D-D093-4BD3-9098F760B7EE}"/>
                </a:ext>
              </a:extLst>
            </p:cNvPr>
            <p:cNvSpPr txBox="1"/>
            <p:nvPr/>
          </p:nvSpPr>
          <p:spPr>
            <a:xfrm>
              <a:off x="4409472" y="3892986"/>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sym typeface="Wingdings" pitchFamily="2" charset="2"/>
                </a:rPr>
                <a:t></a:t>
              </a:r>
              <a:endParaRPr lang="fr-FR" sz="1600" dirty="0"/>
            </a:p>
          </p:txBody>
        </p:sp>
        <p:sp>
          <p:nvSpPr>
            <p:cNvPr id="11" name="TextBox 10">
              <a:extLst>
                <a:ext uri="{FF2B5EF4-FFF2-40B4-BE49-F238E27FC236}">
                  <a16:creationId xmlns:a16="http://schemas.microsoft.com/office/drawing/2014/main" id="{F50F165C-ACDB-7A3E-154E-DF73D06234E4}"/>
                </a:ext>
              </a:extLst>
            </p:cNvPr>
            <p:cNvSpPr txBox="1"/>
            <p:nvPr/>
          </p:nvSpPr>
          <p:spPr>
            <a:xfrm>
              <a:off x="3641428" y="285293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2" name="TextBox 11">
              <a:extLst>
                <a:ext uri="{FF2B5EF4-FFF2-40B4-BE49-F238E27FC236}">
                  <a16:creationId xmlns:a16="http://schemas.microsoft.com/office/drawing/2014/main" id="{8529BF91-6FEE-7FD6-2F83-9A8B0991246C}"/>
                </a:ext>
              </a:extLst>
            </p:cNvPr>
            <p:cNvSpPr txBox="1"/>
            <p:nvPr/>
          </p:nvSpPr>
          <p:spPr>
            <a:xfrm>
              <a:off x="4058209" y="3159279"/>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3" name="Rounded Rectangle 55">
              <a:extLst>
                <a:ext uri="{FF2B5EF4-FFF2-40B4-BE49-F238E27FC236}">
                  <a16:creationId xmlns:a16="http://schemas.microsoft.com/office/drawing/2014/main" id="{497BF72E-901C-F47F-FC6D-40AD3C35F2DC}"/>
                </a:ext>
              </a:extLst>
            </p:cNvPr>
            <p:cNvSpPr/>
            <p:nvPr/>
          </p:nvSpPr>
          <p:spPr>
            <a:xfrm>
              <a:off x="4944576" y="3861715"/>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6" name="TextBox 15" descr="TEXT;TOTAL_VIOLATIONS;ID=60017">
              <a:extLst>
                <a:ext uri="{FF2B5EF4-FFF2-40B4-BE49-F238E27FC236}">
                  <a16:creationId xmlns:a16="http://schemas.microsoft.com/office/drawing/2014/main" id="{7ACCB71F-8275-9931-314F-B405B6CDE6C2}"/>
                </a:ext>
              </a:extLst>
            </p:cNvPr>
            <p:cNvSpPr txBox="1"/>
            <p:nvPr/>
          </p:nvSpPr>
          <p:spPr>
            <a:xfrm>
              <a:off x="4913528" y="3886374"/>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result</a:t>
              </a:r>
            </a:p>
          </p:txBody>
        </p:sp>
        <p:sp>
          <p:nvSpPr>
            <p:cNvPr id="17" name="TextBox 16">
              <a:extLst>
                <a:ext uri="{FF2B5EF4-FFF2-40B4-BE49-F238E27FC236}">
                  <a16:creationId xmlns:a16="http://schemas.microsoft.com/office/drawing/2014/main" id="{80F84B79-B6E8-A86F-B2CB-F058090414DE}"/>
                </a:ext>
              </a:extLst>
            </p:cNvPr>
            <p:cNvSpPr txBox="1"/>
            <p:nvPr/>
          </p:nvSpPr>
          <p:spPr>
            <a:xfrm>
              <a:off x="5118936" y="3214718"/>
              <a:ext cx="3569352" cy="707886"/>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000" dirty="0"/>
                <a:t>ID=metric Id (BC/TC or QR)</a:t>
              </a:r>
            </a:p>
            <a:p>
              <a:r>
                <a:rPr lang="en-US" sz="1000" dirty="0"/>
                <a:t>SNAPSHOT = CURRENT | PREVIOUS (CURRENT by default)</a:t>
              </a:r>
            </a:p>
            <a:p>
              <a:r>
                <a:rPr lang="en-US" sz="1000" dirty="0"/>
                <a:t>CRITICAL=</a:t>
              </a:r>
              <a:r>
                <a:rPr lang="en-US" sz="1000" dirty="0" err="1"/>
                <a:t>true|false</a:t>
              </a:r>
              <a:r>
                <a:rPr lang="en-US" sz="1000" dirty="0"/>
                <a:t> to get the number of critical violations only (false by default)</a:t>
              </a:r>
            </a:p>
          </p:txBody>
        </p:sp>
      </p:grpSp>
      <p:grpSp>
        <p:nvGrpSpPr>
          <p:cNvPr id="18" name="Group 17">
            <a:extLst>
              <a:ext uri="{FF2B5EF4-FFF2-40B4-BE49-F238E27FC236}">
                <a16:creationId xmlns:a16="http://schemas.microsoft.com/office/drawing/2014/main" id="{32004C46-9177-CD24-6115-781DFBC54BFB}"/>
              </a:ext>
            </a:extLst>
          </p:cNvPr>
          <p:cNvGrpSpPr/>
          <p:nvPr/>
        </p:nvGrpSpPr>
        <p:grpSpPr>
          <a:xfrm>
            <a:off x="2973774" y="3602815"/>
            <a:ext cx="5472608" cy="1800200"/>
            <a:chOff x="3232078" y="2564904"/>
            <a:chExt cx="5472608" cy="1800200"/>
          </a:xfrm>
        </p:grpSpPr>
        <p:sp>
          <p:nvSpPr>
            <p:cNvPr id="19" name="Rounded Rectangle 29">
              <a:extLst>
                <a:ext uri="{FF2B5EF4-FFF2-40B4-BE49-F238E27FC236}">
                  <a16:creationId xmlns:a16="http://schemas.microsoft.com/office/drawing/2014/main" id="{1EBF3C5F-ACE6-816D-D17B-56763C327D52}"/>
                </a:ext>
              </a:extLst>
            </p:cNvPr>
            <p:cNvSpPr/>
            <p:nvPr/>
          </p:nvSpPr>
          <p:spPr>
            <a:xfrm>
              <a:off x="3232078" y="2564904"/>
              <a:ext cx="5472608" cy="1800200"/>
            </a:xfrm>
            <a:prstGeom prst="roundRect">
              <a:avLst>
                <a:gd name="adj" fmla="val 563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20" name="TextBox 19">
              <a:extLst>
                <a:ext uri="{FF2B5EF4-FFF2-40B4-BE49-F238E27FC236}">
                  <a16:creationId xmlns:a16="http://schemas.microsoft.com/office/drawing/2014/main" id="{869E7E98-498D-21F4-CFF5-9A761D4C1ACB}"/>
                </a:ext>
              </a:extLst>
            </p:cNvPr>
            <p:cNvSpPr txBox="1"/>
            <p:nvPr/>
          </p:nvSpPr>
          <p:spPr>
            <a:xfrm>
              <a:off x="3383765" y="2564904"/>
              <a:ext cx="4398966"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Metric</a:t>
              </a:r>
              <a:r>
                <a:rPr lang="fr-FR" sz="1600" dirty="0"/>
                <a:t> total violations </a:t>
              </a:r>
              <a:r>
                <a:rPr lang="fr-FR" sz="1600" dirty="0" err="1"/>
                <a:t>evolution</a:t>
              </a:r>
              <a:endParaRPr lang="fr-FR" sz="1600" dirty="0"/>
            </a:p>
          </p:txBody>
        </p:sp>
        <p:sp>
          <p:nvSpPr>
            <p:cNvPr id="22" name="TextBox 21">
              <a:extLst>
                <a:ext uri="{FF2B5EF4-FFF2-40B4-BE49-F238E27FC236}">
                  <a16:creationId xmlns:a16="http://schemas.microsoft.com/office/drawing/2014/main" id="{6CAAC476-9C63-E13E-783A-F0B3B1229A6A}"/>
                </a:ext>
              </a:extLst>
            </p:cNvPr>
            <p:cNvSpPr txBox="1"/>
            <p:nvPr/>
          </p:nvSpPr>
          <p:spPr>
            <a:xfrm>
              <a:off x="5088592" y="2905200"/>
              <a:ext cx="2993288" cy="276999"/>
            </a:xfrm>
            <a:prstGeom prst="rect">
              <a:avLst/>
            </a:prstGeom>
            <a:noFill/>
          </p:spPr>
          <p:txBody>
            <a:bodyPr wrap="square" rtlCol="0">
              <a:spAutoFit/>
            </a:bodyPr>
            <a:lstStyle>
              <a:defPPr>
                <a:defRPr lang="fr-FR"/>
              </a:defPPr>
              <a:lvl1pPr>
                <a:defRPr sz="2000" b="1">
                  <a:solidFill>
                    <a:srgbClr val="5E5E5E"/>
                  </a:solidFill>
                </a:defRPr>
              </a:lvl1pPr>
            </a:lstStyle>
            <a:p>
              <a:r>
                <a:rPr lang="fr-FR" sz="1200" dirty="0"/>
                <a:t>TOTAL_VIOLATIONS_EVOLUTION</a:t>
              </a:r>
            </a:p>
          </p:txBody>
        </p:sp>
        <p:sp>
          <p:nvSpPr>
            <p:cNvPr id="23" name="TextBox 22">
              <a:extLst>
                <a:ext uri="{FF2B5EF4-FFF2-40B4-BE49-F238E27FC236}">
                  <a16:creationId xmlns:a16="http://schemas.microsoft.com/office/drawing/2014/main" id="{439B76E8-8132-A194-C4F3-C699624A18E0}"/>
                </a:ext>
              </a:extLst>
            </p:cNvPr>
            <p:cNvSpPr txBox="1"/>
            <p:nvPr/>
          </p:nvSpPr>
          <p:spPr>
            <a:xfrm>
              <a:off x="4409472" y="3892986"/>
              <a:ext cx="436338"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sym typeface="Wingdings" pitchFamily="2" charset="2"/>
                </a:rPr>
                <a:t></a:t>
              </a:r>
              <a:endParaRPr lang="fr-FR" sz="1600" dirty="0"/>
            </a:p>
          </p:txBody>
        </p:sp>
        <p:sp>
          <p:nvSpPr>
            <p:cNvPr id="34" name="TextBox 33">
              <a:extLst>
                <a:ext uri="{FF2B5EF4-FFF2-40B4-BE49-F238E27FC236}">
                  <a16:creationId xmlns:a16="http://schemas.microsoft.com/office/drawing/2014/main" id="{3EBC0A5C-0C7D-9FEF-AFED-F90DFD00CB0C}"/>
                </a:ext>
              </a:extLst>
            </p:cNvPr>
            <p:cNvSpPr txBox="1"/>
            <p:nvPr/>
          </p:nvSpPr>
          <p:spPr>
            <a:xfrm>
              <a:off x="3641428" y="285293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5" name="TextBox 34">
              <a:extLst>
                <a:ext uri="{FF2B5EF4-FFF2-40B4-BE49-F238E27FC236}">
                  <a16:creationId xmlns:a16="http://schemas.microsoft.com/office/drawing/2014/main" id="{D4EEA811-AF43-F699-4F7F-4FFCECAD78D6}"/>
                </a:ext>
              </a:extLst>
            </p:cNvPr>
            <p:cNvSpPr txBox="1"/>
            <p:nvPr/>
          </p:nvSpPr>
          <p:spPr>
            <a:xfrm>
              <a:off x="4058209" y="3159279"/>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38" name="Rounded Rectangle 55">
              <a:extLst>
                <a:ext uri="{FF2B5EF4-FFF2-40B4-BE49-F238E27FC236}">
                  <a16:creationId xmlns:a16="http://schemas.microsoft.com/office/drawing/2014/main" id="{3CCC7379-8647-5FB1-6F37-B6DFAF8B6D74}"/>
                </a:ext>
              </a:extLst>
            </p:cNvPr>
            <p:cNvSpPr/>
            <p:nvPr/>
          </p:nvSpPr>
          <p:spPr>
            <a:xfrm>
              <a:off x="4944576" y="3861715"/>
              <a:ext cx="2880320" cy="393949"/>
            </a:xfrm>
            <a:prstGeom prst="roundRect">
              <a:avLst>
                <a:gd name="adj" fmla="val 4881"/>
              </a:avLst>
            </a:prstGeom>
            <a:solidFill>
              <a:schemeClr val="bg1">
                <a:lumMod val="75000"/>
                <a:alpha val="4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9" name="TextBox 38" descr="TEXT;TOTAL_VIOLATIONS_EVOLUTION;ID=60017">
              <a:extLst>
                <a:ext uri="{FF2B5EF4-FFF2-40B4-BE49-F238E27FC236}">
                  <a16:creationId xmlns:a16="http://schemas.microsoft.com/office/drawing/2014/main" id="{41954009-0093-C5B7-C1E9-6F2797CF8AB9}"/>
                </a:ext>
              </a:extLst>
            </p:cNvPr>
            <p:cNvSpPr txBox="1"/>
            <p:nvPr/>
          </p:nvSpPr>
          <p:spPr>
            <a:xfrm>
              <a:off x="4913528" y="3886374"/>
              <a:ext cx="2736304" cy="400110"/>
            </a:xfrm>
            <a:prstGeom prst="rect">
              <a:avLst/>
            </a:prstGeom>
            <a:noFill/>
          </p:spPr>
          <p:txBody>
            <a:bodyPr wrap="square" rtlCol="0">
              <a:normAutofit/>
            </a:bodyPr>
            <a:lstStyle>
              <a:defPPr>
                <a:defRPr lang="fr-FR"/>
              </a:defPPr>
              <a:lvl1pPr>
                <a:defRPr sz="2000" b="1">
                  <a:solidFill>
                    <a:schemeClr val="bg1">
                      <a:lumMod val="50000"/>
                    </a:schemeClr>
                  </a:solidFill>
                </a:defRPr>
              </a:lvl1pPr>
            </a:lstStyle>
            <a:p>
              <a:r>
                <a:rPr lang="fr-FR" sz="1600" dirty="0"/>
                <a:t>result</a:t>
              </a:r>
            </a:p>
          </p:txBody>
        </p:sp>
        <p:sp>
          <p:nvSpPr>
            <p:cNvPr id="40" name="TextBox 39">
              <a:extLst>
                <a:ext uri="{FF2B5EF4-FFF2-40B4-BE49-F238E27FC236}">
                  <a16:creationId xmlns:a16="http://schemas.microsoft.com/office/drawing/2014/main" id="{7762BB9E-6365-7FF6-9445-C3569C8C8B8D}"/>
                </a:ext>
              </a:extLst>
            </p:cNvPr>
            <p:cNvSpPr txBox="1"/>
            <p:nvPr/>
          </p:nvSpPr>
          <p:spPr>
            <a:xfrm>
              <a:off x="5118936" y="3214718"/>
              <a:ext cx="3569352" cy="707886"/>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000" dirty="0"/>
                <a:t>ID=metric Id (BC/TC or QR)</a:t>
              </a:r>
            </a:p>
            <a:p>
              <a:r>
                <a:rPr lang="en-US" sz="1000" dirty="0"/>
                <a:t>FORMAT = PERCENT (numbers by default)</a:t>
              </a:r>
            </a:p>
            <a:p>
              <a:r>
                <a:rPr lang="en-US" sz="1000" dirty="0"/>
                <a:t>CRITICAL=</a:t>
              </a:r>
              <a:r>
                <a:rPr lang="en-US" sz="1000" dirty="0" err="1"/>
                <a:t>true|false</a:t>
              </a:r>
              <a:r>
                <a:rPr lang="en-US" sz="1000" dirty="0"/>
                <a:t> to get the number of critical violations only (false by default)</a:t>
              </a:r>
            </a:p>
          </p:txBody>
        </p:sp>
      </p:grpSp>
    </p:spTree>
    <p:extLst>
      <p:ext uri="{BB962C8B-B14F-4D97-AF65-F5344CB8AC3E}">
        <p14:creationId xmlns:p14="http://schemas.microsoft.com/office/powerpoint/2010/main" val="4080945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E7847-D523-41DF-9902-A4B7A1A03480}"/>
              </a:ext>
            </a:extLst>
          </p:cNvPr>
          <p:cNvSpPr>
            <a:spLocks noGrp="1"/>
          </p:cNvSpPr>
          <p:nvPr>
            <p:ph type="title"/>
          </p:nvPr>
        </p:nvSpPr>
        <p:spPr>
          <a:xfrm>
            <a:off x="312126" y="1037493"/>
            <a:ext cx="4132385" cy="4783014"/>
          </a:xfrm>
        </p:spPr>
        <p:txBody>
          <a:bodyPr/>
          <a:lstStyle/>
          <a:p>
            <a:r>
              <a:rPr lang="en-US" dirty="0"/>
              <a:t>Agenda</a:t>
            </a:r>
          </a:p>
        </p:txBody>
      </p:sp>
      <p:sp>
        <p:nvSpPr>
          <p:cNvPr id="6" name="Rectangle 5">
            <a:extLst>
              <a:ext uri="{FF2B5EF4-FFF2-40B4-BE49-F238E27FC236}">
                <a16:creationId xmlns:a16="http://schemas.microsoft.com/office/drawing/2014/main" id="{284D760A-01BF-465C-A579-B43EA35E1AAC}"/>
              </a:ext>
            </a:extLst>
          </p:cNvPr>
          <p:cNvSpPr/>
          <p:nvPr/>
        </p:nvSpPr>
        <p:spPr>
          <a:xfrm>
            <a:off x="5961185" y="1037493"/>
            <a:ext cx="5618285" cy="47830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hlinkClick r:id="rId4" action="ppaction://hlinksldjump"/>
              </a:rPr>
              <a:t>Introduction</a:t>
            </a:r>
            <a:endParaRPr kumimoji="0" lang="en-US" sz="1800" b="0" i="0" u="none" strike="noStrike" kern="1200" cap="none" spc="0" normalizeH="0" baseline="0" noProof="0" dirty="0">
              <a:ln>
                <a:noFill/>
              </a:ln>
              <a:solidFill>
                <a:srgbClr val="293C47"/>
              </a:solidFill>
              <a:effectLst/>
              <a:uLnTx/>
              <a:uFillTx/>
              <a:latin typeface="Gotham Book"/>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hlinkClick r:id="rId5" action="ppaction://hlinksldjump"/>
              </a:rPr>
              <a:t>Text templates</a:t>
            </a:r>
            <a:endParaRPr kumimoji="0" lang="en-US" sz="1800" b="0" i="0" u="none" strike="noStrike" kern="1200" cap="none" spc="0" normalizeH="0" baseline="0" noProof="0" dirty="0">
              <a:ln>
                <a:noFill/>
              </a:ln>
              <a:solidFill>
                <a:srgbClr val="293C47"/>
              </a:solidFill>
              <a:effectLst/>
              <a:uLnTx/>
              <a:uFillTx/>
              <a:latin typeface="Gotham Book"/>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dirty="0">
                <a:solidFill>
                  <a:srgbClr val="293C47"/>
                </a:solidFill>
                <a:latin typeface="Gotham Book"/>
              </a:rPr>
              <a:t>Graph templates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hlinkClick r:id="rId6" action="ppaction://hlinksldjump"/>
              </a:rPr>
              <a:t>Table templates</a:t>
            </a:r>
            <a:endParaRPr kumimoji="0" lang="en-US" sz="1800" b="0" i="0" u="none" strike="noStrike" kern="1200" cap="none" spc="0" normalizeH="0" baseline="0" noProof="0" dirty="0">
              <a:ln>
                <a:noFill/>
              </a:ln>
              <a:solidFill>
                <a:srgbClr val="293C47"/>
              </a:solidFill>
              <a:effectLst/>
              <a:uLnTx/>
              <a:uFillTx/>
              <a:latin typeface="Gotham Book"/>
              <a:ea typeface="+mn-ea"/>
              <a:cs typeface="+mn-cs"/>
            </a:endParaRPr>
          </a:p>
        </p:txBody>
      </p:sp>
      <p:grpSp>
        <p:nvGrpSpPr>
          <p:cNvPr id="21" name="Group 20">
            <a:extLst>
              <a:ext uri="{FF2B5EF4-FFF2-40B4-BE49-F238E27FC236}">
                <a16:creationId xmlns:a16="http://schemas.microsoft.com/office/drawing/2014/main" id="{FEA12E05-8311-4CD7-B7CD-7BCAC7220F99}"/>
              </a:ext>
            </a:extLst>
          </p:cNvPr>
          <p:cNvGrpSpPr/>
          <p:nvPr/>
        </p:nvGrpSpPr>
        <p:grpSpPr>
          <a:xfrm>
            <a:off x="5668038" y="3534295"/>
            <a:ext cx="293147" cy="292608"/>
            <a:chOff x="5460023" y="1240987"/>
            <a:chExt cx="293147" cy="292608"/>
          </a:xfrm>
        </p:grpSpPr>
        <p:sp>
          <p:nvSpPr>
            <p:cNvPr id="19" name="Oval 18">
              <a:extLst>
                <a:ext uri="{FF2B5EF4-FFF2-40B4-BE49-F238E27FC236}">
                  <a16:creationId xmlns:a16="http://schemas.microsoft.com/office/drawing/2014/main" id="{1C865A03-5C12-487D-8AD0-984F3E390F63}"/>
                </a:ext>
              </a:extLst>
            </p:cNvPr>
            <p:cNvSpPr/>
            <p:nvPr>
              <p:custDataLst>
                <p:tags r:id="rId1"/>
              </p:custDataLst>
            </p:nvPr>
          </p:nvSpPr>
          <p:spPr>
            <a:xfrm>
              <a:off x="5460023" y="1240987"/>
              <a:ext cx="293147" cy="292608"/>
            </a:xfrm>
            <a:prstGeom prst="ellipse">
              <a:avLst/>
            </a:prstGeom>
            <a:solidFill>
              <a:srgbClr val="CF7600"/>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lumMod val="100000"/>
                  </a:srgbClr>
                </a:solidFill>
                <a:effectLst/>
                <a:uLnTx/>
                <a:uFillTx/>
                <a:latin typeface="Trebuchet MS" panose="020B0603020202020204" pitchFamily="34" charset="0"/>
                <a:ea typeface="+mn-ea"/>
                <a:cs typeface="+mn-cs"/>
              </a:endParaRPr>
            </a:p>
          </p:txBody>
        </p:sp>
        <p:pic>
          <p:nvPicPr>
            <p:cNvPr id="20" name="Picture 19">
              <a:extLst>
                <a:ext uri="{FF2B5EF4-FFF2-40B4-BE49-F238E27FC236}">
                  <a16:creationId xmlns:a16="http://schemas.microsoft.com/office/drawing/2014/main" id="{21847F0C-EE1B-430C-8B70-BA79E7CF96AE}"/>
                </a:ext>
              </a:extLst>
            </p:cNvPr>
            <p:cNvPicPr>
              <a:picLocks/>
            </p:cNvPicPr>
            <p:nvPr>
              <p:custDataLst>
                <p:tags r:id="rId2"/>
              </p:custDataLst>
            </p:nvPr>
          </p:nvPicPr>
          <p:blipFill>
            <a:blip r:embed="rId7" cstate="screen">
              <a:extLst>
                <a:ext uri="{28A0092B-C50C-407E-A947-70E740481C1C}">
                  <a14:useLocalDpi xmlns:a14="http://schemas.microsoft.com/office/drawing/2010/main"/>
                </a:ext>
              </a:extLst>
            </a:blip>
            <a:stretch>
              <a:fillRect/>
            </a:stretch>
          </p:blipFill>
          <p:spPr>
            <a:xfrm>
              <a:off x="5460023" y="1240987"/>
              <a:ext cx="293147" cy="292608"/>
            </a:xfrm>
            <a:prstGeom prst="rect">
              <a:avLst/>
            </a:prstGeom>
          </p:spPr>
        </p:pic>
      </p:grpSp>
      <p:sp>
        <p:nvSpPr>
          <p:cNvPr id="2" name="Slide Number Placeholder 1">
            <a:extLst>
              <a:ext uri="{FF2B5EF4-FFF2-40B4-BE49-F238E27FC236}">
                <a16:creationId xmlns:a16="http://schemas.microsoft.com/office/drawing/2014/main" id="{3FB36BC2-F00A-4354-B343-F17659BF6D2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EFED013-66E8-448A-B953-99801F824AF7}" type="slidenum">
              <a:rPr kumimoji="0" lang="en-US" sz="1050" b="0" i="0" u="none" strike="noStrike" kern="1200" cap="none" spc="0" normalizeH="0" baseline="0" noProof="0" smtClean="0">
                <a:ln>
                  <a:noFill/>
                </a:ln>
                <a:solidFill>
                  <a:srgbClr val="FFFFFF"/>
                </a:solidFill>
                <a:effectLst/>
                <a:uLnTx/>
                <a:uFillTx/>
                <a:latin typeface="Gotham Book" pitchFamily="50" charset="0"/>
                <a:ea typeface="+mn-ea"/>
                <a:cs typeface="Gotham Book"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050" b="0" i="0" u="none" strike="noStrike" kern="1200" cap="none" spc="0" normalizeH="0" baseline="0" noProof="0" dirty="0">
              <a:ln>
                <a:noFill/>
              </a:ln>
              <a:solidFill>
                <a:srgbClr val="FFFFFF"/>
              </a:solidFill>
              <a:effectLst/>
              <a:uLnTx/>
              <a:uFillTx/>
              <a:latin typeface="Gotham Book" pitchFamily="50" charset="0"/>
              <a:ea typeface="+mn-ea"/>
              <a:cs typeface="Gotham Book" pitchFamily="50" charset="0"/>
            </a:endParaRPr>
          </a:p>
        </p:txBody>
      </p:sp>
    </p:spTree>
    <p:extLst>
      <p:ext uri="{BB962C8B-B14F-4D97-AF65-F5344CB8AC3E}">
        <p14:creationId xmlns:p14="http://schemas.microsoft.com/office/powerpoint/2010/main" val="1692264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Content Placeholder 77"/>
          <p:cNvSpPr>
            <a:spLocks noGrp="1"/>
          </p:cNvSpPr>
          <p:nvPr>
            <p:ph type="body" sz="quarter" idx="13"/>
          </p:nvPr>
        </p:nvSpPr>
        <p:spPr/>
        <p:txBody>
          <a:bodyPr/>
          <a:lstStyle/>
          <a:p>
            <a:r>
              <a:rPr lang="fr-FR" sz="2400" dirty="0"/>
              <a:t>This kind of template is identified by a type value as</a:t>
            </a:r>
            <a:br>
              <a:rPr lang="fr-FR" sz="2400" dirty="0"/>
            </a:br>
            <a:r>
              <a:rPr lang="fr-FR" sz="2400" dirty="0"/>
              <a:t>			</a:t>
            </a:r>
          </a:p>
          <a:p>
            <a:pPr marL="0" indent="0">
              <a:buNone/>
            </a:pPr>
            <a:r>
              <a:rPr lang="fr-FR" sz="2400" dirty="0"/>
              <a:t>			Type = </a:t>
            </a:r>
            <a:r>
              <a:rPr lang="fr-FR" sz="2400" b="1" dirty="0"/>
              <a:t>GRAPH</a:t>
            </a:r>
          </a:p>
          <a:p>
            <a:endParaRPr lang="fr-FR" sz="2400" b="1" dirty="0"/>
          </a:p>
        </p:txBody>
      </p:sp>
      <p:sp>
        <p:nvSpPr>
          <p:cNvPr id="2" name="Title 1"/>
          <p:cNvSpPr>
            <a:spLocks noGrp="1"/>
          </p:cNvSpPr>
          <p:nvPr>
            <p:ph type="title"/>
          </p:nvPr>
        </p:nvSpPr>
        <p:spPr/>
        <p:txBody>
          <a:bodyPr>
            <a:normAutofit/>
          </a:bodyPr>
          <a:lstStyle/>
          <a:p>
            <a:r>
              <a:rPr lang="fr-FR" dirty="0"/>
              <a:t>PowerPoint Templates – Graphics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3" name="Group 2">
            <a:extLst>
              <a:ext uri="{FF2B5EF4-FFF2-40B4-BE49-F238E27FC236}">
                <a16:creationId xmlns:a16="http://schemas.microsoft.com/office/drawing/2014/main" id="{FA0C2DFC-02B9-4363-B3FC-2A91FAE51F44}"/>
              </a:ext>
            </a:extLst>
          </p:cNvPr>
          <p:cNvGrpSpPr/>
          <p:nvPr/>
        </p:nvGrpSpPr>
        <p:grpSpPr>
          <a:xfrm>
            <a:off x="1884206" y="1077193"/>
            <a:ext cx="8630897" cy="1800200"/>
            <a:chOff x="1884206" y="989273"/>
            <a:chExt cx="8630897" cy="1800200"/>
          </a:xfrm>
        </p:grpSpPr>
        <p:sp>
          <p:nvSpPr>
            <p:cNvPr id="1027" name="AutoShape 39"/>
            <p:cNvSpPr>
              <a:spLocks noChangeArrowheads="1"/>
            </p:cNvSpPr>
            <p:nvPr/>
          </p:nvSpPr>
          <p:spPr bwMode="auto">
            <a:xfrm>
              <a:off x="2044775" y="989273"/>
              <a:ext cx="8470328" cy="1800200"/>
            </a:xfrm>
            <a:prstGeom prst="roundRect">
              <a:avLst>
                <a:gd name="adj" fmla="val 304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aphicFrame>
          <p:nvGraphicFramePr>
            <p:cNvPr id="13" name="Chart 12" descr="GRAPH;TECHNO_LOC"/>
            <p:cNvGraphicFramePr/>
            <p:nvPr>
              <p:extLst>
                <p:ext uri="{D42A27DB-BD31-4B8C-83A1-F6EECF244321}">
                  <p14:modId xmlns:p14="http://schemas.microsoft.com/office/powerpoint/2010/main" val="1194497503"/>
                </p:ext>
              </p:extLst>
            </p:nvPr>
          </p:nvGraphicFramePr>
          <p:xfrm>
            <a:off x="7104112" y="1209471"/>
            <a:ext cx="3240360" cy="1446658"/>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p:cNvSpPr txBox="1"/>
            <p:nvPr/>
          </p:nvSpPr>
          <p:spPr>
            <a:xfrm>
              <a:off x="1884206" y="989273"/>
              <a:ext cx="8136904"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Distribution of Technology by Lines of Code</a:t>
              </a:r>
            </a:p>
          </p:txBody>
        </p:sp>
        <p:sp>
          <p:nvSpPr>
            <p:cNvPr id="17" name="TextBox 16"/>
            <p:cNvSpPr txBox="1"/>
            <p:nvPr/>
          </p:nvSpPr>
          <p:spPr>
            <a:xfrm>
              <a:off x="3630055" y="1412776"/>
              <a:ext cx="2840726" cy="276999"/>
            </a:xfrm>
            <a:prstGeom prst="rect">
              <a:avLst/>
            </a:prstGeom>
            <a:noFill/>
          </p:spPr>
          <p:txBody>
            <a:bodyPr wrap="square" rtlCol="0">
              <a:spAutoFit/>
            </a:bodyPr>
            <a:lstStyle>
              <a:defPPr>
                <a:defRPr lang="fr-FR"/>
              </a:defPPr>
              <a:lvl1pPr>
                <a:defRPr sz="2000" b="1">
                  <a:solidFill>
                    <a:srgbClr val="5E5E5E"/>
                  </a:solidFill>
                </a:defRPr>
              </a:lvl1pPr>
            </a:lstStyle>
            <a:p>
              <a:r>
                <a:rPr lang="fr-FR" sz="1200" dirty="0"/>
                <a:t>TECHNO_LOC</a:t>
              </a:r>
            </a:p>
          </p:txBody>
        </p:sp>
        <p:sp>
          <p:nvSpPr>
            <p:cNvPr id="18" name="TextBox 17"/>
            <p:cNvSpPr txBox="1"/>
            <p:nvPr/>
          </p:nvSpPr>
          <p:spPr>
            <a:xfrm>
              <a:off x="2016179" y="1412775"/>
              <a:ext cx="1693092" cy="369332"/>
            </a:xfrm>
            <a:prstGeom prst="rect">
              <a:avLst/>
            </a:prstGeom>
            <a:noFill/>
          </p:spPr>
          <p:txBody>
            <a:bodyPr wrap="none" rtlCol="0">
              <a:spAutoFit/>
            </a:bodyPr>
            <a:lstStyle/>
            <a:p>
              <a:pPr algn="r"/>
              <a:r>
                <a:rPr lang="fr-FR" dirty="0">
                  <a:solidFill>
                    <a:schemeClr val="bg1">
                      <a:lumMod val="50000"/>
                    </a:schemeClr>
                  </a:solidFill>
                </a:rPr>
                <a:t>Block Name :</a:t>
              </a:r>
            </a:p>
          </p:txBody>
        </p:sp>
        <p:sp>
          <p:nvSpPr>
            <p:cNvPr id="20" name="TextBox 19"/>
            <p:cNvSpPr txBox="1"/>
            <p:nvPr/>
          </p:nvSpPr>
          <p:spPr>
            <a:xfrm>
              <a:off x="3630055" y="1772817"/>
              <a:ext cx="3303426" cy="646331"/>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200" b="1" dirty="0"/>
                <a:t>COUNT=N</a:t>
              </a:r>
              <a:r>
                <a:rPr lang="fr-FR" sz="1200" dirty="0"/>
                <a:t> (by default COUNT </a:t>
              </a:r>
              <a:r>
                <a:rPr lang="fr-FR" sz="1200" dirty="0" err="1"/>
                <a:t>is</a:t>
              </a:r>
              <a:r>
                <a:rPr lang="fr-FR" sz="1200" dirty="0"/>
                <a:t> </a:t>
              </a:r>
              <a:r>
                <a:rPr lang="fr-FR" sz="1200" dirty="0" err="1"/>
                <a:t>null</a:t>
              </a:r>
              <a:r>
                <a:rPr lang="fr-FR" sz="1200" dirty="0"/>
                <a:t>)</a:t>
              </a:r>
            </a:p>
            <a:p>
              <a:r>
                <a:rPr lang="fr-FR" sz="1200" dirty="0" err="1"/>
                <a:t>where</a:t>
              </a:r>
              <a:r>
                <a:rPr lang="fr-FR" sz="1200" dirty="0"/>
                <a:t> N is the shown technology count (if </a:t>
              </a:r>
              <a:r>
                <a:rPr lang="fr-FR" sz="1200" dirty="0" err="1"/>
                <a:t>null</a:t>
              </a:r>
              <a:r>
                <a:rPr lang="fr-FR" sz="1200" dirty="0"/>
                <a:t>, default value = 5)</a:t>
              </a:r>
            </a:p>
          </p:txBody>
        </p:sp>
        <p:sp>
          <p:nvSpPr>
            <p:cNvPr id="22" name="TextBox 21"/>
            <p:cNvSpPr txBox="1"/>
            <p:nvPr/>
          </p:nvSpPr>
          <p:spPr>
            <a:xfrm>
              <a:off x="2485860" y="1732745"/>
              <a:ext cx="1223412" cy="369332"/>
            </a:xfrm>
            <a:prstGeom prst="rect">
              <a:avLst/>
            </a:prstGeom>
            <a:noFill/>
          </p:spPr>
          <p:txBody>
            <a:bodyPr wrap="none" rtlCol="0">
              <a:spAutoFit/>
            </a:bodyPr>
            <a:lstStyle/>
            <a:p>
              <a:pPr algn="r"/>
              <a:r>
                <a:rPr lang="fr-FR" dirty="0">
                  <a:solidFill>
                    <a:schemeClr val="bg1">
                      <a:lumMod val="50000"/>
                    </a:schemeClr>
                  </a:solidFill>
                </a:rPr>
                <a:t>Options :</a:t>
              </a:r>
            </a:p>
          </p:txBody>
        </p:sp>
      </p:grpSp>
      <p:grpSp>
        <p:nvGrpSpPr>
          <p:cNvPr id="2" name="Group 1">
            <a:extLst>
              <a:ext uri="{FF2B5EF4-FFF2-40B4-BE49-F238E27FC236}">
                <a16:creationId xmlns:a16="http://schemas.microsoft.com/office/drawing/2014/main" id="{EF7D055A-A6E6-44B5-96ED-4EEEFE56C2C1}"/>
              </a:ext>
            </a:extLst>
          </p:cNvPr>
          <p:cNvGrpSpPr/>
          <p:nvPr/>
        </p:nvGrpSpPr>
        <p:grpSpPr>
          <a:xfrm>
            <a:off x="1907956" y="3012864"/>
            <a:ext cx="8782154" cy="1584176"/>
            <a:chOff x="1907956" y="2924944"/>
            <a:chExt cx="8782154" cy="1584176"/>
          </a:xfrm>
        </p:grpSpPr>
        <p:sp>
          <p:nvSpPr>
            <p:cNvPr id="23" name="AutoShape 39"/>
            <p:cNvSpPr>
              <a:spLocks noChangeArrowheads="1"/>
            </p:cNvSpPr>
            <p:nvPr/>
          </p:nvSpPr>
          <p:spPr bwMode="auto">
            <a:xfrm>
              <a:off x="2018160" y="2924944"/>
              <a:ext cx="8470328" cy="1584176"/>
            </a:xfrm>
            <a:prstGeom prst="roundRect">
              <a:avLst>
                <a:gd name="adj" fmla="val 478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p>
          </p:txBody>
        </p:sp>
        <p:sp>
          <p:nvSpPr>
            <p:cNvPr id="27" name="TextBox 26"/>
            <p:cNvSpPr txBox="1"/>
            <p:nvPr/>
          </p:nvSpPr>
          <p:spPr>
            <a:xfrm>
              <a:off x="1907956" y="2933489"/>
              <a:ext cx="8136904"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Health Factor Radar</a:t>
              </a:r>
            </a:p>
          </p:txBody>
        </p:sp>
        <p:sp>
          <p:nvSpPr>
            <p:cNvPr id="28" name="TextBox 27"/>
            <p:cNvSpPr txBox="1"/>
            <p:nvPr/>
          </p:nvSpPr>
          <p:spPr>
            <a:xfrm>
              <a:off x="3581797" y="3408269"/>
              <a:ext cx="5190374" cy="261610"/>
            </a:xfrm>
            <a:prstGeom prst="rect">
              <a:avLst/>
            </a:prstGeom>
            <a:noFill/>
          </p:spPr>
          <p:txBody>
            <a:bodyPr wrap="square" rtlCol="0">
              <a:spAutoFit/>
            </a:bodyPr>
            <a:lstStyle>
              <a:defPPr>
                <a:defRPr lang="fr-FR"/>
              </a:defPPr>
              <a:lvl1pPr>
                <a:defRPr sz="2000" b="1">
                  <a:solidFill>
                    <a:srgbClr val="5E5E5E"/>
                  </a:solidFill>
                </a:defRPr>
              </a:lvl1pPr>
            </a:lstStyle>
            <a:p>
              <a:r>
                <a:rPr lang="fr-FR" sz="1100" dirty="0"/>
                <a:t>RADAR_HEALTH_FACTOR_2_LAST_SNAPSHOTS</a:t>
              </a:r>
              <a:endParaRPr lang="fr-FR" sz="1400" dirty="0"/>
            </a:p>
          </p:txBody>
        </p:sp>
        <p:sp>
          <p:nvSpPr>
            <p:cNvPr id="29" name="TextBox 28"/>
            <p:cNvSpPr txBox="1"/>
            <p:nvPr/>
          </p:nvSpPr>
          <p:spPr>
            <a:xfrm>
              <a:off x="1967921" y="3356991"/>
              <a:ext cx="169309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Block Name :</a:t>
              </a:r>
            </a:p>
          </p:txBody>
        </p:sp>
        <p:sp>
          <p:nvSpPr>
            <p:cNvPr id="30" name="TextBox 29"/>
            <p:cNvSpPr txBox="1"/>
            <p:nvPr/>
          </p:nvSpPr>
          <p:spPr>
            <a:xfrm>
              <a:off x="3581797" y="3717033"/>
              <a:ext cx="4064862" cy="276999"/>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200" dirty="0"/>
                <a:t>none</a:t>
              </a:r>
            </a:p>
          </p:txBody>
        </p:sp>
        <p:sp>
          <p:nvSpPr>
            <p:cNvPr id="31" name="TextBox 30"/>
            <p:cNvSpPr txBox="1"/>
            <p:nvPr/>
          </p:nvSpPr>
          <p:spPr>
            <a:xfrm>
              <a:off x="2437602" y="3676961"/>
              <a:ext cx="122341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Options :</a:t>
              </a:r>
            </a:p>
          </p:txBody>
        </p:sp>
        <p:graphicFrame>
          <p:nvGraphicFramePr>
            <p:cNvPr id="7" name="Chart 6" descr="GRAPH;RADAR_HEALTH_FACTOR_2_LAST_SNAPSHOTS"/>
            <p:cNvGraphicFramePr/>
            <p:nvPr>
              <p:extLst>
                <p:ext uri="{D42A27DB-BD31-4B8C-83A1-F6EECF244321}">
                  <p14:modId xmlns:p14="http://schemas.microsoft.com/office/powerpoint/2010/main" val="292896765"/>
                </p:ext>
              </p:extLst>
            </p:nvPr>
          </p:nvGraphicFramePr>
          <p:xfrm>
            <a:off x="7104112" y="2995965"/>
            <a:ext cx="3585998" cy="1440160"/>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4" name="Group 3">
            <a:extLst>
              <a:ext uri="{FF2B5EF4-FFF2-40B4-BE49-F238E27FC236}">
                <a16:creationId xmlns:a16="http://schemas.microsoft.com/office/drawing/2014/main" id="{39D2BB91-3756-4908-ADD2-4012F2B6EABE}"/>
              </a:ext>
            </a:extLst>
          </p:cNvPr>
          <p:cNvGrpSpPr/>
          <p:nvPr/>
        </p:nvGrpSpPr>
        <p:grpSpPr>
          <a:xfrm>
            <a:off x="1896081" y="4741056"/>
            <a:ext cx="8709597" cy="1584176"/>
            <a:chOff x="1896081" y="4653136"/>
            <a:chExt cx="8709597" cy="1584176"/>
          </a:xfrm>
        </p:grpSpPr>
        <p:sp>
          <p:nvSpPr>
            <p:cNvPr id="25" name="AutoShape 39"/>
            <p:cNvSpPr>
              <a:spLocks noChangeArrowheads="1"/>
            </p:cNvSpPr>
            <p:nvPr/>
          </p:nvSpPr>
          <p:spPr bwMode="auto">
            <a:xfrm>
              <a:off x="2044776" y="4653136"/>
              <a:ext cx="8443713" cy="1584176"/>
            </a:xfrm>
            <a:prstGeom prst="roundRect">
              <a:avLst>
                <a:gd name="adj" fmla="val 478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3" name="TextBox 42"/>
            <p:cNvSpPr txBox="1"/>
            <p:nvPr/>
          </p:nvSpPr>
          <p:spPr>
            <a:xfrm>
              <a:off x="1896081" y="4661681"/>
              <a:ext cx="8136904"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Compliance Radar</a:t>
              </a:r>
            </a:p>
          </p:txBody>
        </p:sp>
        <p:sp>
          <p:nvSpPr>
            <p:cNvPr id="44" name="TextBox 43"/>
            <p:cNvSpPr txBox="1"/>
            <p:nvPr/>
          </p:nvSpPr>
          <p:spPr>
            <a:xfrm>
              <a:off x="3581039" y="5136461"/>
              <a:ext cx="4758326" cy="261610"/>
            </a:xfrm>
            <a:prstGeom prst="rect">
              <a:avLst/>
            </a:prstGeom>
            <a:noFill/>
          </p:spPr>
          <p:txBody>
            <a:bodyPr wrap="square" rtlCol="0">
              <a:spAutoFit/>
            </a:bodyPr>
            <a:lstStyle>
              <a:defPPr>
                <a:defRPr lang="fr-FR"/>
              </a:defPPr>
              <a:lvl1pPr>
                <a:defRPr sz="2000" b="1">
                  <a:solidFill>
                    <a:srgbClr val="5E5E5E"/>
                  </a:solidFill>
                </a:defRPr>
              </a:lvl1pPr>
            </a:lstStyle>
            <a:p>
              <a:r>
                <a:rPr lang="fr-FR" sz="1100" dirty="0"/>
                <a:t>RADAR_COMPLIANCE_2_LAST_SNAPSHOTS</a:t>
              </a:r>
              <a:endParaRPr lang="fr-FR" sz="1200" dirty="0"/>
            </a:p>
          </p:txBody>
        </p:sp>
        <p:sp>
          <p:nvSpPr>
            <p:cNvPr id="45" name="TextBox 44"/>
            <p:cNvSpPr txBox="1"/>
            <p:nvPr/>
          </p:nvSpPr>
          <p:spPr>
            <a:xfrm>
              <a:off x="1967163" y="5085183"/>
              <a:ext cx="169309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Block Name :</a:t>
              </a:r>
            </a:p>
          </p:txBody>
        </p:sp>
        <p:sp>
          <p:nvSpPr>
            <p:cNvPr id="46" name="TextBox 45"/>
            <p:cNvSpPr txBox="1"/>
            <p:nvPr/>
          </p:nvSpPr>
          <p:spPr>
            <a:xfrm>
              <a:off x="3581039" y="5445225"/>
              <a:ext cx="2984742" cy="276999"/>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200" dirty="0"/>
                <a:t>none</a:t>
              </a:r>
            </a:p>
          </p:txBody>
        </p:sp>
        <p:sp>
          <p:nvSpPr>
            <p:cNvPr id="47" name="TextBox 46"/>
            <p:cNvSpPr txBox="1"/>
            <p:nvPr/>
          </p:nvSpPr>
          <p:spPr>
            <a:xfrm>
              <a:off x="2436844" y="5405153"/>
              <a:ext cx="1223412" cy="3693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800" dirty="0"/>
                <a:t>Options :</a:t>
              </a:r>
            </a:p>
          </p:txBody>
        </p:sp>
        <p:graphicFrame>
          <p:nvGraphicFramePr>
            <p:cNvPr id="48" name="Chart 47" descr="GRAPH;RADAR_COMPLIANCE_2_LAST_SNAPSHOTS"/>
            <p:cNvGraphicFramePr/>
            <p:nvPr>
              <p:extLst>
                <p:ext uri="{D42A27DB-BD31-4B8C-83A1-F6EECF244321}">
                  <p14:modId xmlns:p14="http://schemas.microsoft.com/office/powerpoint/2010/main" val="1911138798"/>
                </p:ext>
              </p:extLst>
            </p:nvPr>
          </p:nvGraphicFramePr>
          <p:xfrm>
            <a:off x="7320137" y="4725144"/>
            <a:ext cx="3285541" cy="1440160"/>
          </p:xfrm>
          <a:graphic>
            <a:graphicData uri="http://schemas.openxmlformats.org/drawingml/2006/chart">
              <c:chart xmlns:c="http://schemas.openxmlformats.org/drawingml/2006/chart" xmlns:r="http://schemas.openxmlformats.org/officeDocument/2006/relationships" r:id="rId4"/>
            </a:graphicData>
          </a:graphic>
        </p:graphicFrame>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2" name="Group 1">
            <a:extLst>
              <a:ext uri="{FF2B5EF4-FFF2-40B4-BE49-F238E27FC236}">
                <a16:creationId xmlns:a16="http://schemas.microsoft.com/office/drawing/2014/main" id="{E1D256AC-F05A-4590-8C89-4D5DFF0D518B}"/>
              </a:ext>
            </a:extLst>
          </p:cNvPr>
          <p:cNvGrpSpPr/>
          <p:nvPr/>
        </p:nvGrpSpPr>
        <p:grpSpPr>
          <a:xfrm>
            <a:off x="1800028" y="1334087"/>
            <a:ext cx="8374772" cy="4647695"/>
            <a:chOff x="1800028" y="1052736"/>
            <a:chExt cx="8374772" cy="4647695"/>
          </a:xfrm>
        </p:grpSpPr>
        <p:sp>
          <p:nvSpPr>
            <p:cNvPr id="33" name="Rounded Rectangle 32"/>
            <p:cNvSpPr/>
            <p:nvPr/>
          </p:nvSpPr>
          <p:spPr>
            <a:xfrm>
              <a:off x="1847528" y="1052736"/>
              <a:ext cx="8327272" cy="4594272"/>
            </a:xfrm>
            <a:prstGeom prst="roundRect">
              <a:avLst>
                <a:gd name="adj" fmla="val 1904"/>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800028"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Health Factor Trending</a:t>
              </a:r>
            </a:p>
          </p:txBody>
        </p:sp>
        <p:sp>
          <p:nvSpPr>
            <p:cNvPr id="36" name="TextBox 35"/>
            <p:cNvSpPr txBox="1"/>
            <p:nvPr/>
          </p:nvSpPr>
          <p:spPr>
            <a:xfrm>
              <a:off x="3497914" y="1412776"/>
              <a:ext cx="6630534" cy="307777"/>
            </a:xfrm>
            <a:prstGeom prst="rect">
              <a:avLst/>
            </a:prstGeom>
            <a:noFill/>
          </p:spPr>
          <p:txBody>
            <a:bodyPr wrap="square" rtlCol="0">
              <a:spAutoFit/>
            </a:bodyPr>
            <a:lstStyle>
              <a:defPPr>
                <a:defRPr lang="fr-FR"/>
              </a:defPPr>
              <a:lvl1pPr>
                <a:defRPr b="1">
                  <a:solidFill>
                    <a:srgbClr val="5E5E5E"/>
                  </a:solidFill>
                </a:defRPr>
              </a:lvl1pPr>
            </a:lstStyle>
            <a:p>
              <a:r>
                <a:rPr lang="fr-FR" sz="1400" dirty="0"/>
                <a:t>TREND_HEALTH_FACTOR</a:t>
              </a:r>
            </a:p>
          </p:txBody>
        </p:sp>
        <p:sp>
          <p:nvSpPr>
            <p:cNvPr id="37" name="TextBox 36"/>
            <p:cNvSpPr txBox="1"/>
            <p:nvPr/>
          </p:nvSpPr>
          <p:spPr>
            <a:xfrm>
              <a:off x="2050750" y="14127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497914" y="1734993"/>
              <a:ext cx="6630534" cy="892552"/>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ZOOM=N.N (by default ZOOM=0.2)</a:t>
              </a:r>
            </a:p>
            <a:p>
              <a:r>
                <a:rPr lang="fr-FR" sz="1200" dirty="0" err="1"/>
                <a:t>where</a:t>
              </a:r>
              <a:r>
                <a:rPr lang="fr-FR" sz="1200" dirty="0"/>
                <a:t> N.N is the added value to the max value of the graph as superior border and removed value to the min value of the graph as inferior border ; no zoom is applied by default</a:t>
              </a:r>
            </a:p>
          </p:txBody>
        </p:sp>
        <p:sp>
          <p:nvSpPr>
            <p:cNvPr id="39" name="TextBox 38"/>
            <p:cNvSpPr txBox="1"/>
            <p:nvPr/>
          </p:nvSpPr>
          <p:spPr>
            <a:xfrm>
              <a:off x="2467532"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aphicFrame>
          <p:nvGraphicFramePr>
            <p:cNvPr id="13" name="Chart 12" descr="GRAPH;TREND_HEALTH_FACTOR;ZOOM=0.2"/>
            <p:cNvGraphicFramePr/>
            <p:nvPr>
              <p:extLst>
                <p:ext uri="{D42A27DB-BD31-4B8C-83A1-F6EECF244321}">
                  <p14:modId xmlns:p14="http://schemas.microsoft.com/office/powerpoint/2010/main" val="1378069444"/>
                </p:ext>
              </p:extLst>
            </p:nvPr>
          </p:nvGraphicFramePr>
          <p:xfrm>
            <a:off x="2801918" y="2627545"/>
            <a:ext cx="6984776" cy="3072886"/>
          </p:xfrm>
          <a:graphic>
            <a:graphicData uri="http://schemas.openxmlformats.org/drawingml/2006/chart">
              <c:chart xmlns:c="http://schemas.openxmlformats.org/drawingml/2006/chart" xmlns:r="http://schemas.openxmlformats.org/officeDocument/2006/relationships" r:id="rId2"/>
            </a:graphicData>
          </a:graphic>
        </p:graphicFrame>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2" name="Group 1">
            <a:extLst>
              <a:ext uri="{FF2B5EF4-FFF2-40B4-BE49-F238E27FC236}">
                <a16:creationId xmlns:a16="http://schemas.microsoft.com/office/drawing/2014/main" id="{0BD488C5-BFB0-4EDA-8295-8FF270F076AA}"/>
              </a:ext>
            </a:extLst>
          </p:cNvPr>
          <p:cNvGrpSpPr/>
          <p:nvPr/>
        </p:nvGrpSpPr>
        <p:grpSpPr>
          <a:xfrm>
            <a:off x="1775520" y="1347328"/>
            <a:ext cx="8399280" cy="4609269"/>
            <a:chOff x="1775520" y="1052736"/>
            <a:chExt cx="8399280" cy="4609269"/>
          </a:xfrm>
        </p:grpSpPr>
        <p:sp>
          <p:nvSpPr>
            <p:cNvPr id="33" name="Rounded Rectangle 32"/>
            <p:cNvSpPr/>
            <p:nvPr/>
          </p:nvSpPr>
          <p:spPr>
            <a:xfrm>
              <a:off x="1847528" y="1052736"/>
              <a:ext cx="8327272" cy="4609269"/>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775520"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Compliance Trending</a:t>
              </a:r>
            </a:p>
          </p:txBody>
        </p:sp>
        <p:sp>
          <p:nvSpPr>
            <p:cNvPr id="36" name="TextBox 35"/>
            <p:cNvSpPr txBox="1"/>
            <p:nvPr/>
          </p:nvSpPr>
          <p:spPr>
            <a:xfrm>
              <a:off x="3497914" y="1412776"/>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TREND_COMPLIANCE</a:t>
              </a:r>
            </a:p>
          </p:txBody>
        </p:sp>
        <p:sp>
          <p:nvSpPr>
            <p:cNvPr id="37" name="TextBox 36"/>
            <p:cNvSpPr txBox="1"/>
            <p:nvPr/>
          </p:nvSpPr>
          <p:spPr>
            <a:xfrm>
              <a:off x="2050750" y="14127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497914" y="1768334"/>
              <a:ext cx="6630534" cy="830997"/>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200" b="1" dirty="0"/>
                <a:t>ZOOM</a:t>
              </a:r>
              <a:r>
                <a:rPr lang="fr-FR" sz="1200" dirty="0"/>
                <a:t> (by default ZOOM </a:t>
              </a:r>
              <a:r>
                <a:rPr lang="fr-FR" sz="1200" dirty="0" err="1"/>
                <a:t>is</a:t>
              </a:r>
              <a:r>
                <a:rPr lang="fr-FR" sz="1200" dirty="0"/>
                <a:t> </a:t>
              </a:r>
              <a:r>
                <a:rPr lang="fr-FR" sz="1200" dirty="0" err="1"/>
                <a:t>present</a:t>
              </a:r>
              <a:r>
                <a:rPr lang="fr-FR" sz="1200" dirty="0"/>
                <a:t>)</a:t>
              </a:r>
            </a:p>
            <a:p>
              <a:r>
                <a:rPr lang="fr-FR" sz="1200" dirty="0"/>
                <a:t>if text « ZOOM » is present in options, it indicates that the min border value of the graph is the floor of the min value of the graph and the top border value is the ceiling of the max value (by default : min=1 and max=4)</a:t>
              </a:r>
            </a:p>
          </p:txBody>
        </p:sp>
        <p:sp>
          <p:nvSpPr>
            <p:cNvPr id="39" name="TextBox 38"/>
            <p:cNvSpPr txBox="1"/>
            <p:nvPr/>
          </p:nvSpPr>
          <p:spPr>
            <a:xfrm>
              <a:off x="2467532"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aphicFrame>
          <p:nvGraphicFramePr>
            <p:cNvPr id="10" name="Chart 9" descr="GRAPH;TREND_COMPLIANCE;ZOOM"/>
            <p:cNvGraphicFramePr/>
            <p:nvPr>
              <p:extLst>
                <p:ext uri="{D42A27DB-BD31-4B8C-83A1-F6EECF244321}">
                  <p14:modId xmlns:p14="http://schemas.microsoft.com/office/powerpoint/2010/main" val="3774080765"/>
                </p:ext>
              </p:extLst>
            </p:nvPr>
          </p:nvGraphicFramePr>
          <p:xfrm>
            <a:off x="2446243" y="2855335"/>
            <a:ext cx="7034133" cy="2806670"/>
          </p:xfrm>
          <a:graphic>
            <a:graphicData uri="http://schemas.openxmlformats.org/drawingml/2006/chart">
              <c:chart xmlns:c="http://schemas.openxmlformats.org/drawingml/2006/chart" xmlns:r="http://schemas.openxmlformats.org/officeDocument/2006/relationships" r:id="rId2"/>
            </a:graphicData>
          </a:graphic>
        </p:graphicFrame>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2" name="Group 1">
            <a:extLst>
              <a:ext uri="{FF2B5EF4-FFF2-40B4-BE49-F238E27FC236}">
                <a16:creationId xmlns:a16="http://schemas.microsoft.com/office/drawing/2014/main" id="{6260C55D-8416-4E5F-B028-469AD00E7327}"/>
              </a:ext>
            </a:extLst>
          </p:cNvPr>
          <p:cNvGrpSpPr/>
          <p:nvPr/>
        </p:nvGrpSpPr>
        <p:grpSpPr>
          <a:xfrm>
            <a:off x="1775520" y="1483559"/>
            <a:ext cx="8399280" cy="5024738"/>
            <a:chOff x="1775520" y="1052736"/>
            <a:chExt cx="8399280" cy="5024738"/>
          </a:xfrm>
        </p:grpSpPr>
        <p:sp>
          <p:nvSpPr>
            <p:cNvPr id="33" name="Rounded Rectangle 32"/>
            <p:cNvSpPr/>
            <p:nvPr/>
          </p:nvSpPr>
          <p:spPr>
            <a:xfrm>
              <a:off x="1847528" y="1052736"/>
              <a:ext cx="8327272" cy="4392488"/>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775520" y="1052736"/>
              <a:ext cx="8143200" cy="584775"/>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Technical</a:t>
              </a:r>
              <a:r>
                <a:rPr lang="fr-FR" sz="1600" dirty="0"/>
                <a:t> </a:t>
              </a:r>
              <a:r>
                <a:rPr lang="fr-FR" sz="1600" dirty="0" err="1"/>
                <a:t>Debt</a:t>
              </a:r>
              <a:r>
                <a:rPr lang="fr-FR" sz="1600" dirty="0"/>
                <a:t> </a:t>
              </a:r>
              <a:r>
                <a:rPr lang="fr-FR" sz="1600" dirty="0" err="1"/>
                <a:t>Trending</a:t>
              </a:r>
              <a:r>
                <a:rPr lang="fr-FR" sz="1600" dirty="0"/>
                <a:t> Progression - </a:t>
              </a:r>
              <a:r>
                <a:rPr lang="en-US" sz="1600" dirty="0">
                  <a:solidFill>
                    <a:schemeClr val="accent1"/>
                  </a:solidFill>
                </a:rPr>
                <a:t>DEPRECATED (old CAST formula) – see next slide) </a:t>
              </a:r>
              <a:endParaRPr lang="fr-FR" sz="1600" dirty="0">
                <a:solidFill>
                  <a:schemeClr val="accent1"/>
                </a:solidFill>
              </a:endParaRPr>
            </a:p>
          </p:txBody>
        </p:sp>
        <p:sp>
          <p:nvSpPr>
            <p:cNvPr id="36" name="TextBox 35"/>
            <p:cNvSpPr txBox="1"/>
            <p:nvPr/>
          </p:nvSpPr>
          <p:spPr>
            <a:xfrm>
              <a:off x="3497914" y="1556216"/>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TREND_TECH_DEBT</a:t>
              </a:r>
            </a:p>
          </p:txBody>
        </p:sp>
        <p:sp>
          <p:nvSpPr>
            <p:cNvPr id="37" name="TextBox 36"/>
            <p:cNvSpPr txBox="1"/>
            <p:nvPr/>
          </p:nvSpPr>
          <p:spPr>
            <a:xfrm>
              <a:off x="2050750" y="155621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497914" y="1878432"/>
              <a:ext cx="6630534"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none</a:t>
              </a:r>
            </a:p>
          </p:txBody>
        </p:sp>
        <p:sp>
          <p:nvSpPr>
            <p:cNvPr id="39" name="TextBox 38"/>
            <p:cNvSpPr txBox="1"/>
            <p:nvPr/>
          </p:nvSpPr>
          <p:spPr>
            <a:xfrm>
              <a:off x="2467532" y="187618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aphicFrame>
          <p:nvGraphicFramePr>
            <p:cNvPr id="11" name="Chart 10" descr="GRAPH;TREND_TECH_DEBT"/>
            <p:cNvGraphicFramePr/>
            <p:nvPr>
              <p:extLst>
                <p:ext uri="{D42A27DB-BD31-4B8C-83A1-F6EECF244321}">
                  <p14:modId xmlns:p14="http://schemas.microsoft.com/office/powerpoint/2010/main" val="3172231993"/>
                </p:ext>
              </p:extLst>
            </p:nvPr>
          </p:nvGraphicFramePr>
          <p:xfrm>
            <a:off x="1913240" y="2191288"/>
            <a:ext cx="8143200" cy="3886186"/>
          </p:xfrm>
          <a:graphic>
            <a:graphicData uri="http://schemas.openxmlformats.org/drawingml/2006/chart">
              <c:chart xmlns:c="http://schemas.openxmlformats.org/drawingml/2006/chart" xmlns:r="http://schemas.openxmlformats.org/officeDocument/2006/relationships" r:id="rId2"/>
            </a:graphicData>
          </a:graphic>
        </p:graphicFrame>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2" name="Group 1">
            <a:extLst>
              <a:ext uri="{FF2B5EF4-FFF2-40B4-BE49-F238E27FC236}">
                <a16:creationId xmlns:a16="http://schemas.microsoft.com/office/drawing/2014/main" id="{6260C55D-8416-4E5F-B028-469AD00E7327}"/>
              </a:ext>
            </a:extLst>
          </p:cNvPr>
          <p:cNvGrpSpPr/>
          <p:nvPr/>
        </p:nvGrpSpPr>
        <p:grpSpPr>
          <a:xfrm>
            <a:off x="1775520" y="1483559"/>
            <a:ext cx="8399280" cy="5024738"/>
            <a:chOff x="1775520" y="1052736"/>
            <a:chExt cx="8399280" cy="5024738"/>
          </a:xfrm>
        </p:grpSpPr>
        <p:sp>
          <p:nvSpPr>
            <p:cNvPr id="33" name="Rounded Rectangle 32"/>
            <p:cNvSpPr/>
            <p:nvPr/>
          </p:nvSpPr>
          <p:spPr>
            <a:xfrm>
              <a:off x="1847528" y="1052736"/>
              <a:ext cx="8327272" cy="4392488"/>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775520"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OMG </a:t>
              </a:r>
              <a:r>
                <a:rPr lang="fr-FR" sz="1600" dirty="0" err="1"/>
                <a:t>Technical</a:t>
              </a:r>
              <a:r>
                <a:rPr lang="fr-FR" sz="1600" dirty="0"/>
                <a:t> Debt </a:t>
              </a:r>
              <a:r>
                <a:rPr lang="fr-FR" sz="1600" dirty="0" err="1"/>
                <a:t>Trending</a:t>
              </a:r>
              <a:r>
                <a:rPr lang="fr-FR" sz="1600" dirty="0"/>
                <a:t> Progression (</a:t>
              </a:r>
              <a:r>
                <a:rPr lang="fr-FR" sz="1600" dirty="0" err="1"/>
                <a:t>based</a:t>
              </a:r>
              <a:r>
                <a:rPr lang="fr-FR" sz="1600" dirty="0"/>
                <a:t> on scope of </a:t>
              </a:r>
              <a:r>
                <a:rPr lang="fr-FR" sz="1600" dirty="0" err="1"/>
                <a:t>rules</a:t>
              </a:r>
              <a:r>
                <a:rPr lang="fr-FR" sz="1600" dirty="0"/>
                <a:t>)</a:t>
              </a:r>
            </a:p>
          </p:txBody>
        </p:sp>
        <p:sp>
          <p:nvSpPr>
            <p:cNvPr id="36" name="TextBox 35"/>
            <p:cNvSpPr txBox="1"/>
            <p:nvPr/>
          </p:nvSpPr>
          <p:spPr>
            <a:xfrm>
              <a:off x="3497914" y="1412776"/>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TREND_OMG_TECH_DEBT</a:t>
              </a:r>
            </a:p>
          </p:txBody>
        </p:sp>
        <p:sp>
          <p:nvSpPr>
            <p:cNvPr id="37" name="TextBox 36"/>
            <p:cNvSpPr txBox="1"/>
            <p:nvPr/>
          </p:nvSpPr>
          <p:spPr>
            <a:xfrm>
              <a:off x="2050750" y="14127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497914" y="1734992"/>
              <a:ext cx="6630534"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600" dirty="0"/>
                <a:t>I</a:t>
              </a:r>
              <a:r>
                <a:rPr lang="en-US" sz="1600" b="1" dirty="0">
                  <a:solidFill>
                    <a:schemeClr val="tx1">
                      <a:lumMod val="65000"/>
                      <a:lumOff val="35000"/>
                    </a:schemeClr>
                  </a:solidFill>
                </a:rPr>
                <a:t>D</a:t>
              </a:r>
              <a:r>
                <a:rPr lang="en-US" sz="1600" dirty="0"/>
                <a:t>:AIP|CISQ|ISO (by default or if nothing selected, ISO)</a:t>
              </a:r>
              <a:endParaRPr lang="fr-FR" sz="1600" dirty="0"/>
            </a:p>
          </p:txBody>
        </p:sp>
        <p:sp>
          <p:nvSpPr>
            <p:cNvPr id="39" name="TextBox 38"/>
            <p:cNvSpPr txBox="1"/>
            <p:nvPr/>
          </p:nvSpPr>
          <p:spPr>
            <a:xfrm>
              <a:off x="2467532"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aphicFrame>
          <p:nvGraphicFramePr>
            <p:cNvPr id="11" name="Chart 10" descr="GRAPH;TREND_OMG_TECH_DEBT"/>
            <p:cNvGraphicFramePr/>
            <p:nvPr>
              <p:extLst>
                <p:ext uri="{D42A27DB-BD31-4B8C-83A1-F6EECF244321}">
                  <p14:modId xmlns:p14="http://schemas.microsoft.com/office/powerpoint/2010/main" val="3113508578"/>
                </p:ext>
              </p:extLst>
            </p:nvPr>
          </p:nvGraphicFramePr>
          <p:xfrm>
            <a:off x="1913240" y="2191288"/>
            <a:ext cx="8143200" cy="3886186"/>
          </p:xfrm>
          <a:graphic>
            <a:graphicData uri="http://schemas.openxmlformats.org/drawingml/2006/chart">
              <c:chart xmlns:c="http://schemas.openxmlformats.org/drawingml/2006/chart" xmlns:r="http://schemas.openxmlformats.org/officeDocument/2006/relationships" r:id="rId2"/>
            </a:graphicData>
          </a:graphic>
        </p:graphicFrame>
      </p:grpSp>
      <p:sp>
        <p:nvSpPr>
          <p:cNvPr id="12" name="TextBox 11">
            <a:extLst>
              <a:ext uri="{FF2B5EF4-FFF2-40B4-BE49-F238E27FC236}">
                <a16:creationId xmlns:a16="http://schemas.microsoft.com/office/drawing/2014/main" id="{BC6E4B81-0AF1-4953-80E3-16F4CA080CE8}"/>
              </a:ext>
            </a:extLst>
          </p:cNvPr>
          <p:cNvSpPr txBox="1"/>
          <p:nvPr/>
        </p:nvSpPr>
        <p:spPr>
          <a:xfrm>
            <a:off x="40900" y="5911942"/>
            <a:ext cx="11940527" cy="648289"/>
          </a:xfrm>
          <a:prstGeom prst="rect">
            <a:avLst/>
          </a:prstGeom>
        </p:spPr>
        <p:txBody>
          <a:bodyPr vert="horz" wrap="square" lIns="91440" tIns="45720" rIns="91440" bIns="45720" rtlCol="0" anchor="t">
            <a:noAutofit/>
          </a:bodyPr>
          <a:lstStyle/>
          <a:p>
            <a:r>
              <a:rPr lang="en-US" sz="1100" dirty="0">
                <a:solidFill>
                  <a:srgbClr val="0070C0"/>
                </a:solidFill>
              </a:rPr>
              <a:t>* ISO option is the recommended technical debt to be used. Requires installation of OMG Technical Debt Measure (&gt;2.0.0 </a:t>
            </a:r>
            <a:r>
              <a:rPr lang="en-US" sz="1100" dirty="0" err="1">
                <a:solidFill>
                  <a:srgbClr val="0070C0"/>
                </a:solidFill>
              </a:rPr>
              <a:t>funcrel</a:t>
            </a:r>
            <a:r>
              <a:rPr lang="en-US" sz="1100" dirty="0">
                <a:solidFill>
                  <a:srgbClr val="0070C0"/>
                </a:solidFill>
              </a:rPr>
              <a:t>) and ISO-5055 Index extensions during analysis </a:t>
            </a:r>
          </a:p>
          <a:p>
            <a:r>
              <a:rPr lang="en-US" sz="1100" dirty="0">
                <a:solidFill>
                  <a:srgbClr val="0070C0"/>
                </a:solidFill>
              </a:rPr>
              <a:t>** CISQ option required installation of OMG Technical Debt Measure and CISQ Index extensions during analysis. Scope of rules is reduced</a:t>
            </a:r>
          </a:p>
        </p:txBody>
      </p:sp>
    </p:spTree>
    <p:extLst>
      <p:ext uri="{BB962C8B-B14F-4D97-AF65-F5344CB8AC3E}">
        <p14:creationId xmlns:p14="http://schemas.microsoft.com/office/powerpoint/2010/main" val="1666152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2" name="Group 1">
            <a:extLst>
              <a:ext uri="{FF2B5EF4-FFF2-40B4-BE49-F238E27FC236}">
                <a16:creationId xmlns:a16="http://schemas.microsoft.com/office/drawing/2014/main" id="{BAAFC6BB-FBE7-441D-8AB7-694AD065079A}"/>
              </a:ext>
            </a:extLst>
          </p:cNvPr>
          <p:cNvGrpSpPr/>
          <p:nvPr/>
        </p:nvGrpSpPr>
        <p:grpSpPr>
          <a:xfrm>
            <a:off x="1775520" y="1184618"/>
            <a:ext cx="8496944" cy="4961202"/>
            <a:chOff x="1775520" y="1052736"/>
            <a:chExt cx="8496944" cy="4961202"/>
          </a:xfrm>
        </p:grpSpPr>
        <p:sp>
          <p:nvSpPr>
            <p:cNvPr id="33" name="Rounded Rectangle 32"/>
            <p:cNvSpPr/>
            <p:nvPr/>
          </p:nvSpPr>
          <p:spPr>
            <a:xfrm>
              <a:off x="1775520" y="1052736"/>
              <a:ext cx="8399280" cy="4961202"/>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775520" y="1052736"/>
              <a:ext cx="8143200" cy="584775"/>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Technical</a:t>
              </a:r>
              <a:r>
                <a:rPr lang="fr-FR" sz="1600" dirty="0"/>
                <a:t> </a:t>
              </a:r>
              <a:r>
                <a:rPr lang="fr-FR" sz="1600" dirty="0" err="1"/>
                <a:t>Debt</a:t>
              </a:r>
              <a:r>
                <a:rPr lang="fr-FR" sz="1600" dirty="0"/>
                <a:t> </a:t>
              </a:r>
              <a:r>
                <a:rPr lang="fr-FR" sz="1600" dirty="0" err="1"/>
                <a:t>Trending</a:t>
              </a:r>
              <a:r>
                <a:rPr lang="fr-FR" sz="1600" dirty="0"/>
                <a:t> Bubble - </a:t>
              </a:r>
              <a:r>
                <a:rPr lang="en-US" sz="1600" dirty="0">
                  <a:solidFill>
                    <a:schemeClr val="accent1"/>
                  </a:solidFill>
                </a:rPr>
                <a:t>DEPRECATED (old CAST formula) see next slide</a:t>
              </a:r>
              <a:endParaRPr lang="fr-FR" sz="1600" dirty="0"/>
            </a:p>
          </p:txBody>
        </p:sp>
        <p:graphicFrame>
          <p:nvGraphicFramePr>
            <p:cNvPr id="35" name="Chart 34" descr="GRAPH;BUBBLE"/>
            <p:cNvGraphicFramePr/>
            <p:nvPr>
              <p:extLst>
                <p:ext uri="{D42A27DB-BD31-4B8C-83A1-F6EECF244321}">
                  <p14:modId xmlns:p14="http://schemas.microsoft.com/office/powerpoint/2010/main" val="1791099529"/>
                </p:ext>
              </p:extLst>
            </p:nvPr>
          </p:nvGraphicFramePr>
          <p:xfrm>
            <a:off x="2026706" y="2519660"/>
            <a:ext cx="8245758" cy="3424372"/>
          </p:xfrm>
          <a:graphic>
            <a:graphicData uri="http://schemas.openxmlformats.org/drawingml/2006/chart">
              <c:chart xmlns:c="http://schemas.openxmlformats.org/drawingml/2006/chart" xmlns:r="http://schemas.openxmlformats.org/officeDocument/2006/relationships" r:id="rId2"/>
            </a:graphicData>
          </a:graphic>
        </p:graphicFrame>
        <p:sp>
          <p:nvSpPr>
            <p:cNvPr id="36" name="TextBox 35"/>
            <p:cNvSpPr txBox="1"/>
            <p:nvPr/>
          </p:nvSpPr>
          <p:spPr>
            <a:xfrm>
              <a:off x="3497914" y="1520356"/>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BUBBLE</a:t>
              </a:r>
            </a:p>
          </p:txBody>
        </p:sp>
        <p:sp>
          <p:nvSpPr>
            <p:cNvPr id="37" name="TextBox 36"/>
            <p:cNvSpPr txBox="1"/>
            <p:nvPr/>
          </p:nvSpPr>
          <p:spPr>
            <a:xfrm>
              <a:off x="2050750" y="152035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497914" y="1842573"/>
              <a:ext cx="6630534" cy="646331"/>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200" b="1" dirty="0"/>
                <a:t>M=</a:t>
              </a:r>
              <a:r>
                <a:rPr lang="fr-FR" sz="1200" b="1" dirty="0" err="1"/>
                <a:t>ModuleId</a:t>
              </a:r>
              <a:r>
                <a:rPr lang="fr-FR" sz="1200" dirty="0"/>
                <a:t> (by default M </a:t>
              </a:r>
              <a:r>
                <a:rPr lang="fr-FR" sz="1200" dirty="0" err="1"/>
                <a:t>is</a:t>
              </a:r>
              <a:r>
                <a:rPr lang="fr-FR" sz="1200" dirty="0"/>
                <a:t> </a:t>
              </a:r>
              <a:r>
                <a:rPr lang="fr-FR" sz="1200" dirty="0" err="1"/>
                <a:t>null</a:t>
              </a:r>
              <a:r>
                <a:rPr lang="fr-FR" sz="1200" dirty="0"/>
                <a:t>)</a:t>
              </a:r>
            </a:p>
            <a:p>
              <a:r>
                <a:rPr lang="fr-FR" sz="1200" dirty="0"/>
                <a:t>if present, only data from indicated module will be shown, obviously data from the entire snapshot will be shown.</a:t>
              </a:r>
            </a:p>
          </p:txBody>
        </p:sp>
        <p:sp>
          <p:nvSpPr>
            <p:cNvPr id="39" name="TextBox 38"/>
            <p:cNvSpPr txBox="1"/>
            <p:nvPr/>
          </p:nvSpPr>
          <p:spPr>
            <a:xfrm>
              <a:off x="2467532" y="184032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2" name="Group 1">
            <a:extLst>
              <a:ext uri="{FF2B5EF4-FFF2-40B4-BE49-F238E27FC236}">
                <a16:creationId xmlns:a16="http://schemas.microsoft.com/office/drawing/2014/main" id="{BAAFC6BB-FBE7-441D-8AB7-694AD065079A}"/>
              </a:ext>
            </a:extLst>
          </p:cNvPr>
          <p:cNvGrpSpPr/>
          <p:nvPr/>
        </p:nvGrpSpPr>
        <p:grpSpPr>
          <a:xfrm>
            <a:off x="1775520" y="1050394"/>
            <a:ext cx="8399280" cy="4961202"/>
            <a:chOff x="1775520" y="1052736"/>
            <a:chExt cx="8399280" cy="4961202"/>
          </a:xfrm>
        </p:grpSpPr>
        <p:sp>
          <p:nvSpPr>
            <p:cNvPr id="33" name="Rounded Rectangle 32"/>
            <p:cNvSpPr/>
            <p:nvPr/>
          </p:nvSpPr>
          <p:spPr>
            <a:xfrm>
              <a:off x="1775520" y="1052736"/>
              <a:ext cx="8399280" cy="4961202"/>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775520"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OMG </a:t>
              </a:r>
              <a:r>
                <a:rPr lang="fr-FR" sz="1600" dirty="0" err="1"/>
                <a:t>Technical</a:t>
              </a:r>
              <a:r>
                <a:rPr lang="fr-FR" sz="1600" dirty="0"/>
                <a:t> Debt </a:t>
              </a:r>
              <a:r>
                <a:rPr lang="fr-FR" sz="1600" dirty="0" err="1"/>
                <a:t>Trending</a:t>
              </a:r>
              <a:r>
                <a:rPr lang="fr-FR" sz="1600" dirty="0"/>
                <a:t> Bubble</a:t>
              </a:r>
            </a:p>
          </p:txBody>
        </p:sp>
        <p:graphicFrame>
          <p:nvGraphicFramePr>
            <p:cNvPr id="35" name="Chart 34" descr="GRAPH;OMG_TECH_DEBT_BUBBLE"/>
            <p:cNvGraphicFramePr/>
            <p:nvPr>
              <p:extLst>
                <p:ext uri="{D42A27DB-BD31-4B8C-83A1-F6EECF244321}">
                  <p14:modId xmlns:p14="http://schemas.microsoft.com/office/powerpoint/2010/main" val="2880342401"/>
                </p:ext>
              </p:extLst>
            </p:nvPr>
          </p:nvGraphicFramePr>
          <p:xfrm>
            <a:off x="2050750" y="2823242"/>
            <a:ext cx="7278102" cy="3118110"/>
          </p:xfrm>
          <a:graphic>
            <a:graphicData uri="http://schemas.openxmlformats.org/drawingml/2006/chart">
              <c:chart xmlns:c="http://schemas.openxmlformats.org/drawingml/2006/chart" xmlns:r="http://schemas.openxmlformats.org/officeDocument/2006/relationships" r:id="rId2"/>
            </a:graphicData>
          </a:graphic>
        </p:graphicFrame>
        <p:sp>
          <p:nvSpPr>
            <p:cNvPr id="36" name="TextBox 35"/>
            <p:cNvSpPr txBox="1"/>
            <p:nvPr/>
          </p:nvSpPr>
          <p:spPr>
            <a:xfrm>
              <a:off x="3497914" y="1412776"/>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OMG_TECH_DEBT_BUBBLE</a:t>
              </a:r>
            </a:p>
          </p:txBody>
        </p:sp>
        <p:sp>
          <p:nvSpPr>
            <p:cNvPr id="37" name="TextBox 36"/>
            <p:cNvSpPr txBox="1"/>
            <p:nvPr/>
          </p:nvSpPr>
          <p:spPr>
            <a:xfrm>
              <a:off x="2050750" y="14127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497914" y="1734993"/>
              <a:ext cx="6630534" cy="1015663"/>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200" b="1" dirty="0"/>
                <a:t>ID:</a:t>
              </a:r>
              <a:r>
                <a:rPr lang="en-US" sz="1200" dirty="0"/>
                <a:t>AIP|CISQ|ISO (by default or if nothing selected, ISO)</a:t>
              </a:r>
            </a:p>
            <a:p>
              <a:r>
                <a:rPr lang="en-US" sz="1200" b="1" dirty="0"/>
                <a:t>SNAPSHOT:</a:t>
              </a:r>
              <a:r>
                <a:rPr lang="en-US" sz="1200" dirty="0"/>
                <a:t>CURRENT|PREVIOUS (by default or if nothing, CURRENT)</a:t>
              </a:r>
            </a:p>
            <a:p>
              <a:r>
                <a:rPr lang="fr-FR" sz="1200" b="1" dirty="0"/>
                <a:t>M:ModuleId</a:t>
              </a:r>
              <a:r>
                <a:rPr lang="fr-FR" sz="1200" dirty="0"/>
                <a:t> (by default M </a:t>
              </a:r>
              <a:r>
                <a:rPr lang="fr-FR" sz="1200" dirty="0" err="1"/>
                <a:t>is</a:t>
              </a:r>
              <a:r>
                <a:rPr lang="fr-FR" sz="1200" dirty="0"/>
                <a:t> </a:t>
              </a:r>
              <a:r>
                <a:rPr lang="fr-FR" sz="1200" dirty="0" err="1"/>
                <a:t>null</a:t>
              </a:r>
              <a:r>
                <a:rPr lang="fr-FR" sz="1200" dirty="0"/>
                <a:t>)</a:t>
              </a:r>
            </a:p>
            <a:p>
              <a:r>
                <a:rPr lang="fr-FR" sz="1200" dirty="0"/>
                <a:t>if present, only data from indicated module will be shown, obviously data from the entire snapshot will be shown.</a:t>
              </a:r>
            </a:p>
          </p:txBody>
        </p:sp>
        <p:sp>
          <p:nvSpPr>
            <p:cNvPr id="39" name="TextBox 38"/>
            <p:cNvSpPr txBox="1"/>
            <p:nvPr/>
          </p:nvSpPr>
          <p:spPr>
            <a:xfrm>
              <a:off x="2467532"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sp>
        <p:nvSpPr>
          <p:cNvPr id="13" name="TextBox 12">
            <a:extLst>
              <a:ext uri="{FF2B5EF4-FFF2-40B4-BE49-F238E27FC236}">
                <a16:creationId xmlns:a16="http://schemas.microsoft.com/office/drawing/2014/main" id="{4C603939-7659-41DC-BD88-443C5282ACCF}"/>
              </a:ext>
            </a:extLst>
          </p:cNvPr>
          <p:cNvSpPr txBox="1"/>
          <p:nvPr/>
        </p:nvSpPr>
        <p:spPr>
          <a:xfrm>
            <a:off x="40900" y="5911942"/>
            <a:ext cx="11940527" cy="648289"/>
          </a:xfrm>
          <a:prstGeom prst="rect">
            <a:avLst/>
          </a:prstGeom>
        </p:spPr>
        <p:txBody>
          <a:bodyPr vert="horz" wrap="square" lIns="91440" tIns="45720" rIns="91440" bIns="45720" rtlCol="0" anchor="t">
            <a:noAutofit/>
          </a:bodyPr>
          <a:lstStyle/>
          <a:p>
            <a:r>
              <a:rPr lang="en-US" sz="1100" dirty="0">
                <a:solidFill>
                  <a:srgbClr val="0070C0"/>
                </a:solidFill>
              </a:rPr>
              <a:t>* ISO option is the recommended technical debt to be used. Requires installation of OMG Technical Debt Measure (&gt;2.0.0 </a:t>
            </a:r>
            <a:r>
              <a:rPr lang="en-US" sz="1100" dirty="0" err="1">
                <a:solidFill>
                  <a:srgbClr val="0070C0"/>
                </a:solidFill>
              </a:rPr>
              <a:t>funcrel</a:t>
            </a:r>
            <a:r>
              <a:rPr lang="en-US" sz="1100" dirty="0">
                <a:solidFill>
                  <a:srgbClr val="0070C0"/>
                </a:solidFill>
              </a:rPr>
              <a:t>) and ISO-5055 Index extensions during analysis </a:t>
            </a:r>
          </a:p>
          <a:p>
            <a:r>
              <a:rPr lang="en-US" sz="1100" dirty="0">
                <a:solidFill>
                  <a:srgbClr val="0070C0"/>
                </a:solidFill>
              </a:rPr>
              <a:t>** CISQ option required installation of OMG Technical Debt Measure and CISQ Index extensions during analysis. Scope of rules is reduced</a:t>
            </a:r>
          </a:p>
        </p:txBody>
      </p:sp>
    </p:spTree>
    <p:extLst>
      <p:ext uri="{BB962C8B-B14F-4D97-AF65-F5344CB8AC3E}">
        <p14:creationId xmlns:p14="http://schemas.microsoft.com/office/powerpoint/2010/main" val="2167151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4E5FCF4-B661-4EC3-B983-4EC90AB96F0C}"/>
              </a:ext>
            </a:extLst>
          </p:cNvPr>
          <p:cNvGrpSpPr/>
          <p:nvPr/>
        </p:nvGrpSpPr>
        <p:grpSpPr>
          <a:xfrm>
            <a:off x="1955919" y="1067522"/>
            <a:ext cx="8316545" cy="5301670"/>
            <a:chOff x="1955919" y="935642"/>
            <a:chExt cx="8316545" cy="5301670"/>
          </a:xfrm>
        </p:grpSpPr>
        <p:sp>
          <p:nvSpPr>
            <p:cNvPr id="33" name="Rounded Rectangle 32"/>
            <p:cNvSpPr/>
            <p:nvPr/>
          </p:nvSpPr>
          <p:spPr>
            <a:xfrm>
              <a:off x="2017200" y="935642"/>
              <a:ext cx="8157600" cy="5301670"/>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955919" y="98072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Cast</a:t>
              </a:r>
              <a:r>
                <a:rPr lang="fr-FR" sz="1600" dirty="0"/>
                <a:t> </a:t>
              </a:r>
              <a:r>
                <a:rPr lang="fr-FR" sz="1600" dirty="0" err="1"/>
                <a:t>Complexity</a:t>
              </a:r>
              <a:r>
                <a:rPr lang="fr-FR" sz="1600" dirty="0"/>
                <a:t> Distribution</a:t>
              </a:r>
            </a:p>
          </p:txBody>
        </p:sp>
        <p:sp>
          <p:nvSpPr>
            <p:cNvPr id="36" name="TextBox 35"/>
            <p:cNvSpPr txBox="1"/>
            <p:nvPr/>
          </p:nvSpPr>
          <p:spPr>
            <a:xfrm>
              <a:off x="3641930" y="134076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CAST_COMPLEXITY</a:t>
              </a:r>
            </a:p>
          </p:txBody>
        </p:sp>
        <p:sp>
          <p:nvSpPr>
            <p:cNvPr id="37" name="TextBox 36"/>
            <p:cNvSpPr txBox="1"/>
            <p:nvPr/>
          </p:nvSpPr>
          <p:spPr>
            <a:xfrm>
              <a:off x="2194766" y="134076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641930" y="1662984"/>
              <a:ext cx="6630534"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none</a:t>
              </a:r>
            </a:p>
          </p:txBody>
        </p:sp>
        <p:sp>
          <p:nvSpPr>
            <p:cNvPr id="39" name="TextBox 38"/>
            <p:cNvSpPr txBox="1"/>
            <p:nvPr/>
          </p:nvSpPr>
          <p:spPr>
            <a:xfrm>
              <a:off x="2611548" y="166073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aphicFrame>
          <p:nvGraphicFramePr>
            <p:cNvPr id="11" name="Chart 10" descr="GRAPH;CAST_COMPLEXITY"/>
            <p:cNvGraphicFramePr/>
            <p:nvPr>
              <p:extLst>
                <p:ext uri="{D42A27DB-BD31-4B8C-83A1-F6EECF244321}">
                  <p14:modId xmlns:p14="http://schemas.microsoft.com/office/powerpoint/2010/main" val="741181097"/>
                </p:ext>
              </p:extLst>
            </p:nvPr>
          </p:nvGraphicFramePr>
          <p:xfrm>
            <a:off x="2279576" y="2492896"/>
            <a:ext cx="7632848" cy="3631952"/>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6312024" y="1042572"/>
              <a:ext cx="3744416" cy="2092881"/>
            </a:xfrm>
            <a:prstGeom prst="rect">
              <a:avLst/>
            </a:prstGeom>
            <a:solidFill>
              <a:schemeClr val="bg1">
                <a:lumMod val="85000"/>
              </a:schemeClr>
            </a:solidFill>
            <a:ln>
              <a:solidFill>
                <a:schemeClr val="bg1">
                  <a:lumMod val="75000"/>
                </a:schemeClr>
              </a:solidFill>
            </a:ln>
          </p:spPr>
          <p:txBody>
            <a:bodyPr wrap="square" rtlCol="0">
              <a:spAutoFit/>
            </a:bodyPr>
            <a:lstStyle/>
            <a:p>
              <a:r>
                <a:rPr lang="en-GB" sz="1000" dirty="0"/>
                <a:t>CAST provides a distribution of objects based on several distributions:</a:t>
              </a:r>
            </a:p>
            <a:p>
              <a:pPr lvl="0"/>
              <a:r>
                <a:rPr lang="en-GB" sz="1000" dirty="0"/>
                <a:t>-Algorithm Complexity (based on </a:t>
              </a:r>
              <a:r>
                <a:rPr lang="en-GB" sz="1000" dirty="0" err="1"/>
                <a:t>Cyclomatic</a:t>
              </a:r>
              <a:r>
                <a:rPr lang="en-GB" sz="1000" dirty="0"/>
                <a:t> complexity</a:t>
              </a:r>
            </a:p>
            <a:p>
              <a:pPr lvl="0"/>
              <a:r>
                <a:rPr lang="en-GB" sz="1000" dirty="0"/>
                <a:t>-SQL Complexity</a:t>
              </a:r>
            </a:p>
            <a:p>
              <a:pPr lvl="0"/>
              <a:r>
                <a:rPr lang="en-GB" sz="1000" dirty="0"/>
                <a:t>-Coupling (Fan in, Fan out)</a:t>
              </a:r>
            </a:p>
            <a:p>
              <a:pPr lvl="0"/>
              <a:r>
                <a:rPr lang="en-GB" sz="1000" dirty="0"/>
                <a:t>-Ratio of documentation</a:t>
              </a:r>
            </a:p>
            <a:p>
              <a:pPr lvl="0"/>
              <a:r>
                <a:rPr lang="en-GB" sz="1000" dirty="0"/>
                <a:t>-Size of components</a:t>
              </a:r>
            </a:p>
            <a:p>
              <a:pPr lvl="0"/>
              <a:r>
                <a:rPr lang="en-GB" sz="1000" dirty="0"/>
                <a:t>For more information,  go to chapter “Cost”</a:t>
              </a:r>
            </a:p>
            <a:p>
              <a:pPr lvl="0"/>
              <a:r>
                <a:rPr lang="en-GB" sz="1000" dirty="0">
                  <a:hlinkClick r:id="rId3"/>
                </a:rPr>
                <a:t>http://doc.castsoftware.com/help/index.jsp?topic=%2Fcurrent%2FHow+Complexity+metrics+are+calculated+by+CAST.html</a:t>
              </a:r>
              <a:endParaRPr lang="en-GB" sz="1000" dirty="0"/>
            </a:p>
            <a:p>
              <a:pPr lvl="0"/>
              <a:r>
                <a:rPr lang="en-GB" sz="1000" dirty="0"/>
                <a:t>This graph is relevant only on engineering databases.</a:t>
              </a:r>
            </a:p>
          </p:txBody>
        </p:sp>
      </p:grpSp>
      <p:sp>
        <p:nvSpPr>
          <p:cNvPr id="2" name="Title 1"/>
          <p:cNvSpPr>
            <a:spLocks noGrp="1"/>
          </p:cNvSpPr>
          <p:nvPr>
            <p:ph type="title"/>
          </p:nvPr>
        </p:nvSpPr>
        <p:spPr/>
        <p:txBody>
          <a:bodyPr/>
          <a:lstStyle/>
          <a:p>
            <a:r>
              <a:rPr lang="fr-FR" dirty="0"/>
              <a:t>PowerPoint </a:t>
            </a:r>
            <a:r>
              <a:rPr lang="fr-FR" dirty="0" err="1"/>
              <a:t>Templates</a:t>
            </a:r>
            <a:r>
              <a:rPr lang="fr-FR" dirty="0"/>
              <a:t> – Graphics</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878B235-8812-4F86-9D98-BB1E80508958}"/>
              </a:ext>
            </a:extLst>
          </p:cNvPr>
          <p:cNvGrpSpPr/>
          <p:nvPr/>
        </p:nvGrpSpPr>
        <p:grpSpPr>
          <a:xfrm>
            <a:off x="1919536" y="1049392"/>
            <a:ext cx="8343547" cy="5301670"/>
            <a:chOff x="1919536" y="908720"/>
            <a:chExt cx="8343547" cy="5301670"/>
          </a:xfrm>
        </p:grpSpPr>
        <p:sp>
          <p:nvSpPr>
            <p:cNvPr id="5" name="Rounded Rectangle 4"/>
            <p:cNvSpPr/>
            <p:nvPr/>
          </p:nvSpPr>
          <p:spPr>
            <a:xfrm>
              <a:off x="2017200" y="908720"/>
              <a:ext cx="8157600" cy="5301670"/>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6" name="TextBox 5"/>
            <p:cNvSpPr txBox="1"/>
            <p:nvPr/>
          </p:nvSpPr>
          <p:spPr>
            <a:xfrm>
              <a:off x="1919536" y="98072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CAST Distribution</a:t>
              </a:r>
            </a:p>
          </p:txBody>
        </p:sp>
        <p:sp>
          <p:nvSpPr>
            <p:cNvPr id="7" name="TextBox 6"/>
            <p:cNvSpPr txBox="1"/>
            <p:nvPr/>
          </p:nvSpPr>
          <p:spPr>
            <a:xfrm>
              <a:off x="3632549" y="134076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CAST_DISTRIBUTION</a:t>
              </a:r>
            </a:p>
          </p:txBody>
        </p:sp>
        <p:sp>
          <p:nvSpPr>
            <p:cNvPr id="8" name="TextBox 7"/>
            <p:cNvSpPr txBox="1"/>
            <p:nvPr/>
          </p:nvSpPr>
          <p:spPr>
            <a:xfrm>
              <a:off x="2185385" y="134076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32549" y="1662984"/>
              <a:ext cx="6630534" cy="33855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600" dirty="0"/>
                <a:t>PAR=distribution id</a:t>
              </a:r>
            </a:p>
          </p:txBody>
        </p:sp>
        <p:sp>
          <p:nvSpPr>
            <p:cNvPr id="10" name="TextBox 9"/>
            <p:cNvSpPr txBox="1"/>
            <p:nvPr/>
          </p:nvSpPr>
          <p:spPr>
            <a:xfrm>
              <a:off x="2602167" y="166073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aphicFrame>
          <p:nvGraphicFramePr>
            <p:cNvPr id="11" name="Chart 10" descr="GRAPH;CAST_DISTRIBUTION;PAR=65501"/>
            <p:cNvGraphicFramePr/>
            <p:nvPr>
              <p:extLst>
                <p:ext uri="{D42A27DB-BD31-4B8C-83A1-F6EECF244321}">
                  <p14:modId xmlns:p14="http://schemas.microsoft.com/office/powerpoint/2010/main" val="2403045350"/>
                </p:ext>
              </p:extLst>
            </p:nvPr>
          </p:nvGraphicFramePr>
          <p:xfrm>
            <a:off x="2279576" y="2465974"/>
            <a:ext cx="7632848" cy="3631952"/>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p:cNvSpPr txBox="1"/>
            <p:nvPr/>
          </p:nvSpPr>
          <p:spPr>
            <a:xfrm>
              <a:off x="6452956" y="1052737"/>
              <a:ext cx="3609781" cy="1061829"/>
            </a:xfrm>
            <a:prstGeom prst="rect">
              <a:avLst/>
            </a:prstGeom>
            <a:solidFill>
              <a:schemeClr val="bg1">
                <a:lumMod val="85000"/>
              </a:schemeClr>
            </a:solidFill>
            <a:ln>
              <a:solidFill>
                <a:schemeClr val="bg1">
                  <a:lumMod val="75000"/>
                </a:schemeClr>
              </a:solidFill>
            </a:ln>
          </p:spPr>
          <p:txBody>
            <a:bodyPr wrap="square" rtlCol="0">
              <a:spAutoFit/>
            </a:bodyPr>
            <a:lstStyle/>
            <a:p>
              <a:r>
                <a:rPr lang="en-GB" sz="1050" dirty="0"/>
                <a:t>CAST provides a distribution of objects based on the chosen distribution. </a:t>
              </a:r>
              <a:br>
                <a:rPr lang="en-GB" sz="1050" dirty="0"/>
              </a:br>
              <a:r>
                <a:rPr lang="en-GB" sz="1050" dirty="0"/>
                <a:t>PAR = 65501 by default, </a:t>
              </a:r>
              <a:r>
                <a:rPr lang="en-GB" sz="1050" dirty="0" err="1"/>
                <a:t>Cyclomatic</a:t>
              </a:r>
              <a:r>
                <a:rPr lang="en-GB" sz="1050" dirty="0"/>
                <a:t> Complexity Distribution.</a:t>
              </a:r>
            </a:p>
            <a:p>
              <a:r>
                <a:rPr lang="en-GB" sz="1050" dirty="0"/>
                <a:t>This graph is relevant only on engineering databases, it is empty on analytics databases.</a:t>
              </a:r>
            </a:p>
          </p:txBody>
        </p:sp>
      </p:grpSp>
      <p:sp>
        <p:nvSpPr>
          <p:cNvPr id="2" name="Title 1"/>
          <p:cNvSpPr>
            <a:spLocks noGrp="1"/>
          </p:cNvSpPr>
          <p:nvPr>
            <p:ph type="title"/>
          </p:nvPr>
        </p:nvSpPr>
        <p:spPr/>
        <p:txBody>
          <a:bodyPr/>
          <a:lstStyle/>
          <a:p>
            <a:r>
              <a:rPr lang="fr-FR" dirty="0"/>
              <a:t>PowerPoint </a:t>
            </a:r>
            <a:r>
              <a:rPr lang="fr-FR" dirty="0" err="1"/>
              <a:t>Templates</a:t>
            </a:r>
            <a:r>
              <a:rPr lang="fr-FR" dirty="0"/>
              <a:t> – Graphics</a:t>
            </a:r>
            <a:endParaRPr lang="en-US" dirty="0"/>
          </a:p>
        </p:txBody>
      </p:sp>
    </p:spTree>
    <p:extLst>
      <p:ext uri="{BB962C8B-B14F-4D97-AF65-F5344CB8AC3E}">
        <p14:creationId xmlns:p14="http://schemas.microsoft.com/office/powerpoint/2010/main" val="29174942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9E55E04-9A67-4B2E-8E43-A390AF96C9C6}"/>
              </a:ext>
            </a:extLst>
          </p:cNvPr>
          <p:cNvGrpSpPr/>
          <p:nvPr/>
        </p:nvGrpSpPr>
        <p:grpSpPr>
          <a:xfrm>
            <a:off x="1967036" y="1051064"/>
            <a:ext cx="8335978" cy="5301670"/>
            <a:chOff x="1967036" y="980728"/>
            <a:chExt cx="8335978" cy="5301670"/>
          </a:xfrm>
        </p:grpSpPr>
        <p:sp>
          <p:nvSpPr>
            <p:cNvPr id="6" name="Rounded Rectangle 5"/>
            <p:cNvSpPr/>
            <p:nvPr/>
          </p:nvSpPr>
          <p:spPr>
            <a:xfrm>
              <a:off x="2020133" y="980728"/>
              <a:ext cx="8157600" cy="5301670"/>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67036"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Distribution of Modules by </a:t>
              </a:r>
              <a:r>
                <a:rPr lang="fr-FR" sz="1600" dirty="0" err="1"/>
                <a:t>number</a:t>
              </a:r>
              <a:r>
                <a:rPr lang="fr-FR" sz="1600" dirty="0"/>
                <a:t> of </a:t>
              </a:r>
              <a:r>
                <a:rPr lang="fr-FR" sz="1600" dirty="0" err="1"/>
                <a:t>artifacts</a:t>
              </a:r>
              <a:endParaRPr lang="fr-FR" sz="1600" dirty="0"/>
            </a:p>
          </p:txBody>
        </p:sp>
        <p:sp>
          <p:nvSpPr>
            <p:cNvPr id="14" name="TextBox 13"/>
            <p:cNvSpPr txBox="1"/>
            <p:nvPr/>
          </p:nvSpPr>
          <p:spPr>
            <a:xfrm>
              <a:off x="3672480" y="1412776"/>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MODULES_ARTIFACTS</a:t>
              </a:r>
            </a:p>
          </p:txBody>
        </p:sp>
        <p:sp>
          <p:nvSpPr>
            <p:cNvPr id="15" name="TextBox 14"/>
            <p:cNvSpPr txBox="1"/>
            <p:nvPr/>
          </p:nvSpPr>
          <p:spPr>
            <a:xfrm>
              <a:off x="2225316" y="14127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72480" y="1782427"/>
              <a:ext cx="6630534" cy="430887"/>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100" dirty="0"/>
                <a:t>COUNT=N </a:t>
              </a:r>
              <a:r>
                <a:rPr lang="fr-FR" sz="1100" dirty="0" err="1"/>
                <a:t>where</a:t>
              </a:r>
              <a:r>
                <a:rPr lang="fr-FR" sz="1100" dirty="0"/>
                <a:t> N </a:t>
              </a:r>
              <a:r>
                <a:rPr lang="fr-FR" sz="1100" dirty="0" err="1"/>
                <a:t>indicates</a:t>
              </a:r>
              <a:r>
                <a:rPr lang="fr-FR" sz="1100" dirty="0"/>
                <a:t> the </a:t>
              </a:r>
              <a:r>
                <a:rPr lang="fr-FR" sz="1100" dirty="0" err="1"/>
                <a:t>number</a:t>
              </a:r>
              <a:r>
                <a:rPr lang="fr-FR" sz="1100" dirty="0"/>
                <a:t> of top modules</a:t>
              </a:r>
            </a:p>
            <a:p>
              <a:r>
                <a:rPr lang="fr-FR" sz="1100" dirty="0"/>
                <a:t>By default COUNT=5</a:t>
              </a:r>
            </a:p>
          </p:txBody>
        </p:sp>
        <p:sp>
          <p:nvSpPr>
            <p:cNvPr id="17" name="TextBox 16"/>
            <p:cNvSpPr txBox="1"/>
            <p:nvPr/>
          </p:nvSpPr>
          <p:spPr>
            <a:xfrm>
              <a:off x="2642098"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aphicFrame>
          <p:nvGraphicFramePr>
            <p:cNvPr id="10" name="Chart 12" descr="GRAPH;MODULES_ARTIFACTS"/>
            <p:cNvGraphicFramePr/>
            <p:nvPr>
              <p:extLst>
                <p:ext uri="{D42A27DB-BD31-4B8C-83A1-F6EECF244321}">
                  <p14:modId xmlns:p14="http://schemas.microsoft.com/office/powerpoint/2010/main" val="1224890003"/>
                </p:ext>
              </p:extLst>
            </p:nvPr>
          </p:nvGraphicFramePr>
          <p:xfrm>
            <a:off x="3503712" y="2708920"/>
            <a:ext cx="5472608" cy="2925406"/>
          </p:xfrm>
          <a:graphic>
            <a:graphicData uri="http://schemas.openxmlformats.org/drawingml/2006/chart">
              <c:chart xmlns:c="http://schemas.openxmlformats.org/drawingml/2006/chart" xmlns:r="http://schemas.openxmlformats.org/officeDocument/2006/relationships" r:id="rId2"/>
            </a:graphicData>
          </a:graphic>
        </p:graphicFrame>
      </p:grpSp>
      <p:sp>
        <p:nvSpPr>
          <p:cNvPr id="2" name="Title 1"/>
          <p:cNvSpPr>
            <a:spLocks noGrp="1"/>
          </p:cNvSpPr>
          <p:nvPr>
            <p:ph type="title"/>
          </p:nvPr>
        </p:nvSpPr>
        <p:spPr/>
        <p:txBody>
          <a:bodyPr/>
          <a:lstStyle/>
          <a:p>
            <a:r>
              <a:rPr lang="fr-FR" dirty="0"/>
              <a:t>PowerPoint </a:t>
            </a:r>
            <a:r>
              <a:rPr lang="fr-FR" dirty="0" err="1"/>
              <a:t>Templates</a:t>
            </a:r>
            <a:r>
              <a:rPr lang="fr-FR" dirty="0"/>
              <a:t> - Graphics</a:t>
            </a:r>
            <a:endParaRPr lang="en-US" dirty="0"/>
          </a:p>
        </p:txBody>
      </p:sp>
    </p:spTree>
    <p:extLst>
      <p:ext uri="{BB962C8B-B14F-4D97-AF65-F5344CB8AC3E}">
        <p14:creationId xmlns:p14="http://schemas.microsoft.com/office/powerpoint/2010/main" val="35569579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2" name="Group 1">
            <a:extLst>
              <a:ext uri="{FF2B5EF4-FFF2-40B4-BE49-F238E27FC236}">
                <a16:creationId xmlns:a16="http://schemas.microsoft.com/office/drawing/2014/main" id="{FB0724A3-2082-43E0-A230-2F9E7BB18C4D}"/>
              </a:ext>
            </a:extLst>
          </p:cNvPr>
          <p:cNvGrpSpPr/>
          <p:nvPr/>
        </p:nvGrpSpPr>
        <p:grpSpPr>
          <a:xfrm>
            <a:off x="1775520" y="1140656"/>
            <a:ext cx="8399280" cy="5112568"/>
            <a:chOff x="1775520" y="1052736"/>
            <a:chExt cx="8399280" cy="5112568"/>
          </a:xfrm>
        </p:grpSpPr>
        <p:sp>
          <p:nvSpPr>
            <p:cNvPr id="33" name="Rounded Rectangle 32"/>
            <p:cNvSpPr/>
            <p:nvPr/>
          </p:nvSpPr>
          <p:spPr>
            <a:xfrm>
              <a:off x="1847528" y="1052736"/>
              <a:ext cx="8327272" cy="5112568"/>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775520"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Generic</a:t>
              </a:r>
              <a:r>
                <a:rPr lang="fr-FR" sz="1600" dirty="0"/>
                <a:t> </a:t>
              </a:r>
              <a:r>
                <a:rPr lang="fr-FR" sz="1600" dirty="0" err="1"/>
                <a:t>Trending</a:t>
              </a:r>
              <a:endParaRPr lang="fr-FR" sz="1600" dirty="0"/>
            </a:p>
          </p:txBody>
        </p:sp>
        <p:sp>
          <p:nvSpPr>
            <p:cNvPr id="36" name="TextBox 35"/>
            <p:cNvSpPr txBox="1"/>
            <p:nvPr/>
          </p:nvSpPr>
          <p:spPr>
            <a:xfrm>
              <a:off x="3497914" y="1412776"/>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TREND_METRIC_ID</a:t>
              </a:r>
              <a:endParaRPr lang="fr-FR" sz="1600" dirty="0"/>
            </a:p>
          </p:txBody>
        </p:sp>
        <p:sp>
          <p:nvSpPr>
            <p:cNvPr id="37" name="TextBox 36"/>
            <p:cNvSpPr txBox="1"/>
            <p:nvPr/>
          </p:nvSpPr>
          <p:spPr>
            <a:xfrm>
              <a:off x="2050750" y="14127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497914" y="1768334"/>
              <a:ext cx="6630534" cy="60016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100" dirty="0"/>
                <a:t>QID=60017|66031|7126 : </a:t>
              </a:r>
              <a:r>
                <a:rPr lang="fr-FR" sz="1100" dirty="0" err="1"/>
                <a:t>list</a:t>
              </a:r>
              <a:r>
                <a:rPr lang="fr-FR" sz="1100" dirty="0"/>
                <a:t> BC, TC or QR </a:t>
              </a:r>
              <a:r>
                <a:rPr lang="fr-FR" sz="1100" dirty="0" err="1"/>
                <a:t>metric</a:t>
              </a:r>
              <a:r>
                <a:rPr lang="fr-FR" sz="1100" dirty="0"/>
                <a:t> id </a:t>
              </a:r>
              <a:r>
                <a:rPr lang="fr-FR" sz="1100" dirty="0" err="1"/>
                <a:t>separated</a:t>
              </a:r>
              <a:r>
                <a:rPr lang="fr-FR" sz="1100" dirty="0"/>
                <a:t> by | (max 10)</a:t>
              </a:r>
            </a:p>
            <a:p>
              <a:r>
                <a:rPr lang="fr-FR" sz="1100" dirty="0"/>
                <a:t>Or SID=10151|67211 : </a:t>
              </a:r>
              <a:r>
                <a:rPr lang="fr-FR" sz="1100" dirty="0" err="1"/>
                <a:t>list</a:t>
              </a:r>
              <a:r>
                <a:rPr lang="fr-FR" sz="1100" dirty="0"/>
                <a:t> of </a:t>
              </a:r>
              <a:r>
                <a:rPr lang="fr-FR" sz="1100" dirty="0" err="1"/>
                <a:t>sizing</a:t>
              </a:r>
              <a:r>
                <a:rPr lang="fr-FR" sz="1100" dirty="0"/>
                <a:t> </a:t>
              </a:r>
              <a:r>
                <a:rPr lang="fr-FR" sz="1100" dirty="0" err="1"/>
                <a:t>measures</a:t>
              </a:r>
              <a:r>
                <a:rPr lang="fr-FR" sz="1100" dirty="0"/>
                <a:t> id </a:t>
              </a:r>
              <a:r>
                <a:rPr lang="fr-FR" sz="1100" dirty="0" err="1"/>
                <a:t>separated</a:t>
              </a:r>
              <a:r>
                <a:rPr lang="fr-FR" sz="1100" dirty="0"/>
                <a:t> by | (max 10)</a:t>
              </a:r>
            </a:p>
            <a:p>
              <a:r>
                <a:rPr lang="fr-FR" sz="1100" dirty="0"/>
                <a:t>Or BID=66061|66062 : </a:t>
              </a:r>
              <a:r>
                <a:rPr lang="fr-FR" sz="1100" dirty="0" err="1"/>
                <a:t>list</a:t>
              </a:r>
              <a:r>
                <a:rPr lang="fr-FR" sz="1100" dirty="0"/>
                <a:t> of background </a:t>
              </a:r>
              <a:r>
                <a:rPr lang="fr-FR" sz="1100" dirty="0" err="1"/>
                <a:t>facts</a:t>
              </a:r>
              <a:r>
                <a:rPr lang="fr-FR" sz="1100" dirty="0"/>
                <a:t> id </a:t>
              </a:r>
              <a:r>
                <a:rPr lang="fr-FR" sz="1100" dirty="0" err="1"/>
                <a:t>separated</a:t>
              </a:r>
              <a:r>
                <a:rPr lang="fr-FR" sz="1100" dirty="0"/>
                <a:t> by | (max 10)</a:t>
              </a:r>
            </a:p>
          </p:txBody>
        </p:sp>
        <p:sp>
          <p:nvSpPr>
            <p:cNvPr id="39" name="TextBox 38"/>
            <p:cNvSpPr txBox="1"/>
            <p:nvPr/>
          </p:nvSpPr>
          <p:spPr>
            <a:xfrm>
              <a:off x="2467532"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aphicFrame>
          <p:nvGraphicFramePr>
            <p:cNvPr id="10" name="Chart 9" descr="GRAPH;TREND_METRIC_ID;QID=60017|66032|66033|60016|60014|61013|66062|7448|6162|7502"/>
            <p:cNvGraphicFramePr/>
            <p:nvPr>
              <p:extLst>
                <p:ext uri="{D42A27DB-BD31-4B8C-83A1-F6EECF244321}">
                  <p14:modId xmlns:p14="http://schemas.microsoft.com/office/powerpoint/2010/main" val="2984492018"/>
                </p:ext>
              </p:extLst>
            </p:nvPr>
          </p:nvGraphicFramePr>
          <p:xfrm>
            <a:off x="1844040" y="2572522"/>
            <a:ext cx="8284408" cy="3520774"/>
          </p:xfrm>
          <a:graphic>
            <a:graphicData uri="http://schemas.openxmlformats.org/drawingml/2006/chart">
              <c:chart xmlns:c="http://schemas.openxmlformats.org/drawingml/2006/chart" xmlns:r="http://schemas.openxmlformats.org/officeDocument/2006/relationships" r:id="rId2"/>
            </a:graphicData>
          </a:graphic>
        </p:graphicFrame>
      </p:grpSp>
    </p:spTree>
    <p:extLst>
      <p:ext uri="{BB962C8B-B14F-4D97-AF65-F5344CB8AC3E}">
        <p14:creationId xmlns:p14="http://schemas.microsoft.com/office/powerpoint/2010/main" val="1513374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2" name="Group 1">
            <a:extLst>
              <a:ext uri="{FF2B5EF4-FFF2-40B4-BE49-F238E27FC236}">
                <a16:creationId xmlns:a16="http://schemas.microsoft.com/office/drawing/2014/main" id="{6FB76AD8-7070-47C8-AEC6-A29AE22B9280}"/>
              </a:ext>
            </a:extLst>
          </p:cNvPr>
          <p:cNvGrpSpPr/>
          <p:nvPr/>
        </p:nvGrpSpPr>
        <p:grpSpPr>
          <a:xfrm>
            <a:off x="1703512" y="1504795"/>
            <a:ext cx="8580532" cy="4231126"/>
            <a:chOff x="1703512" y="1021470"/>
            <a:chExt cx="8580532" cy="4231126"/>
          </a:xfrm>
        </p:grpSpPr>
        <p:sp>
          <p:nvSpPr>
            <p:cNvPr id="23" name="AutoShape 39"/>
            <p:cNvSpPr>
              <a:spLocks noChangeArrowheads="1"/>
            </p:cNvSpPr>
            <p:nvPr/>
          </p:nvSpPr>
          <p:spPr bwMode="auto">
            <a:xfrm>
              <a:off x="1813716" y="1021470"/>
              <a:ext cx="8470328" cy="4231126"/>
            </a:xfrm>
            <a:prstGeom prst="roundRect">
              <a:avLst>
                <a:gd name="adj" fmla="val 478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27" name="TextBox 26"/>
            <p:cNvSpPr txBox="1"/>
            <p:nvPr/>
          </p:nvSpPr>
          <p:spPr>
            <a:xfrm>
              <a:off x="1703512" y="1030015"/>
              <a:ext cx="8136904"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Generic</a:t>
              </a:r>
              <a:r>
                <a:rPr lang="fr-FR" sz="1600" dirty="0"/>
                <a:t> </a:t>
              </a:r>
              <a:r>
                <a:rPr lang="fr-FR" sz="1600" dirty="0" err="1"/>
                <a:t>Quality</a:t>
              </a:r>
              <a:r>
                <a:rPr lang="fr-FR" sz="1600" dirty="0"/>
                <a:t> </a:t>
              </a:r>
              <a:r>
                <a:rPr lang="fr-FR" sz="1600" dirty="0" err="1"/>
                <a:t>Indicator</a:t>
              </a:r>
              <a:r>
                <a:rPr lang="fr-FR" sz="1600" dirty="0"/>
                <a:t> Radar</a:t>
              </a:r>
            </a:p>
          </p:txBody>
        </p:sp>
        <p:sp>
          <p:nvSpPr>
            <p:cNvPr id="28" name="TextBox 27"/>
            <p:cNvSpPr txBox="1"/>
            <p:nvPr/>
          </p:nvSpPr>
          <p:spPr>
            <a:xfrm>
              <a:off x="3377353" y="1452043"/>
              <a:ext cx="5190374" cy="338554"/>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RADAR_METRIC_ID</a:t>
              </a:r>
              <a:endParaRPr lang="fr-FR" dirty="0"/>
            </a:p>
          </p:txBody>
        </p:sp>
        <p:sp>
          <p:nvSpPr>
            <p:cNvPr id="29" name="TextBox 28"/>
            <p:cNvSpPr txBox="1"/>
            <p:nvPr/>
          </p:nvSpPr>
          <p:spPr>
            <a:xfrm>
              <a:off x="1930189" y="1453517"/>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0" name="TextBox 29"/>
            <p:cNvSpPr txBox="1"/>
            <p:nvPr/>
          </p:nvSpPr>
          <p:spPr>
            <a:xfrm>
              <a:off x="3377353" y="1773489"/>
              <a:ext cx="6823103" cy="73866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400" dirty="0"/>
                <a:t>ID=</a:t>
              </a:r>
              <a:r>
                <a:rPr lang="fr-FR" sz="1400" dirty="0" err="1"/>
                <a:t>list</a:t>
              </a:r>
              <a:r>
                <a:rPr lang="fr-FR" sz="1400" dirty="0"/>
                <a:t> of </a:t>
              </a:r>
              <a:r>
                <a:rPr lang="fr-FR" sz="1400" dirty="0" err="1"/>
                <a:t>metric</a:t>
              </a:r>
              <a:r>
                <a:rPr lang="fr-FR" sz="1400" dirty="0"/>
                <a:t> id (BC, TC or QR) </a:t>
              </a:r>
              <a:r>
                <a:rPr lang="fr-FR" sz="1400" dirty="0" err="1"/>
                <a:t>separated</a:t>
              </a:r>
              <a:r>
                <a:rPr lang="fr-FR" sz="1400" dirty="0"/>
                <a:t> by ‘|’, for </a:t>
              </a:r>
              <a:r>
                <a:rPr lang="fr-FR" sz="1400" dirty="0" err="1"/>
                <a:t>example</a:t>
              </a:r>
              <a:r>
                <a:rPr lang="fr-FR" sz="1400" dirty="0"/>
                <a:t> ID=ID=60017|60016|66031|61007|7156|3566</a:t>
              </a:r>
            </a:p>
            <a:p>
              <a:r>
                <a:rPr lang="fr-FR" sz="1400" dirty="0"/>
                <a:t>SNAPSHOT=CURRENT or PREVIOUS or BOTH</a:t>
              </a:r>
            </a:p>
          </p:txBody>
        </p:sp>
        <p:sp>
          <p:nvSpPr>
            <p:cNvPr id="31" name="TextBox 30"/>
            <p:cNvSpPr txBox="1"/>
            <p:nvPr/>
          </p:nvSpPr>
          <p:spPr>
            <a:xfrm>
              <a:off x="2346971" y="1773487"/>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aphicFrame>
          <p:nvGraphicFramePr>
            <p:cNvPr id="7" name="Chart 6" descr="GRAPH;RADAR_METRIC_ID;ID=60017|60016|66031|61007|7156|3566,SNAPSHOT=BOTH"/>
            <p:cNvGraphicFramePr/>
            <p:nvPr>
              <p:extLst>
                <p:ext uri="{D42A27DB-BD31-4B8C-83A1-F6EECF244321}">
                  <p14:modId xmlns:p14="http://schemas.microsoft.com/office/powerpoint/2010/main" val="21998712"/>
                </p:ext>
              </p:extLst>
            </p:nvPr>
          </p:nvGraphicFramePr>
          <p:xfrm>
            <a:off x="2423592" y="2736717"/>
            <a:ext cx="7272808" cy="2515879"/>
          </p:xfrm>
          <a:graphic>
            <a:graphicData uri="http://schemas.openxmlformats.org/drawingml/2006/chart">
              <c:chart xmlns:c="http://schemas.openxmlformats.org/drawingml/2006/chart" xmlns:r="http://schemas.openxmlformats.org/officeDocument/2006/relationships" r:id="rId2"/>
            </a:graphicData>
          </a:graphic>
        </p:graphicFrame>
      </p:grpSp>
    </p:spTree>
    <p:extLst>
      <p:ext uri="{BB962C8B-B14F-4D97-AF65-F5344CB8AC3E}">
        <p14:creationId xmlns:p14="http://schemas.microsoft.com/office/powerpoint/2010/main" val="1639881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Graphics</a:t>
            </a:r>
          </a:p>
        </p:txBody>
      </p:sp>
      <p:grpSp>
        <p:nvGrpSpPr>
          <p:cNvPr id="2" name="Group 1">
            <a:extLst>
              <a:ext uri="{FF2B5EF4-FFF2-40B4-BE49-F238E27FC236}">
                <a16:creationId xmlns:a16="http://schemas.microsoft.com/office/drawing/2014/main" id="{6FB76AD8-7070-47C8-AEC6-A29AE22B9280}"/>
              </a:ext>
            </a:extLst>
          </p:cNvPr>
          <p:cNvGrpSpPr/>
          <p:nvPr/>
        </p:nvGrpSpPr>
        <p:grpSpPr>
          <a:xfrm>
            <a:off x="1703512" y="1073791"/>
            <a:ext cx="8580532" cy="5268286"/>
            <a:chOff x="1703512" y="1021470"/>
            <a:chExt cx="8580532" cy="4231126"/>
          </a:xfrm>
        </p:grpSpPr>
        <p:sp>
          <p:nvSpPr>
            <p:cNvPr id="23" name="AutoShape 39"/>
            <p:cNvSpPr>
              <a:spLocks noChangeArrowheads="1"/>
            </p:cNvSpPr>
            <p:nvPr/>
          </p:nvSpPr>
          <p:spPr bwMode="auto">
            <a:xfrm>
              <a:off x="1813716" y="1021470"/>
              <a:ext cx="8470328" cy="4231126"/>
            </a:xfrm>
            <a:prstGeom prst="roundRect">
              <a:avLst>
                <a:gd name="adj" fmla="val 478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27" name="TextBox 26"/>
            <p:cNvSpPr txBox="1"/>
            <p:nvPr/>
          </p:nvSpPr>
          <p:spPr>
            <a:xfrm>
              <a:off x="1703512" y="1030015"/>
              <a:ext cx="8136904"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Transactions bar chart</a:t>
              </a:r>
            </a:p>
          </p:txBody>
        </p:sp>
        <p:sp>
          <p:nvSpPr>
            <p:cNvPr id="28" name="TextBox 27"/>
            <p:cNvSpPr txBox="1"/>
            <p:nvPr/>
          </p:nvSpPr>
          <p:spPr>
            <a:xfrm>
              <a:off x="3377353" y="1256722"/>
              <a:ext cx="5190374" cy="271903"/>
            </a:xfrm>
            <a:prstGeom prst="rect">
              <a:avLst/>
            </a:prstGeom>
            <a:noFill/>
          </p:spPr>
          <p:txBody>
            <a:bodyPr wrap="square" rtlCol="0">
              <a:spAutoFit/>
            </a:bodyPr>
            <a:lstStyle>
              <a:defPPr>
                <a:defRPr lang="fr-FR"/>
              </a:defPPr>
              <a:lvl1pPr>
                <a:defRPr sz="2000" b="1">
                  <a:solidFill>
                    <a:srgbClr val="5E5E5E"/>
                  </a:solidFill>
                </a:defRPr>
              </a:lvl1pPr>
            </a:lstStyle>
            <a:p>
              <a:r>
                <a:rPr lang="fr-FR" sz="1600" dirty="0"/>
                <a:t>TRANSACTIONS_CHART</a:t>
              </a:r>
              <a:endParaRPr lang="fr-FR" dirty="0"/>
            </a:p>
          </p:txBody>
        </p:sp>
        <p:sp>
          <p:nvSpPr>
            <p:cNvPr id="29" name="TextBox 28"/>
            <p:cNvSpPr txBox="1"/>
            <p:nvPr/>
          </p:nvSpPr>
          <p:spPr>
            <a:xfrm>
              <a:off x="1930189" y="125819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0" name="TextBox 29"/>
            <p:cNvSpPr txBox="1"/>
            <p:nvPr/>
          </p:nvSpPr>
          <p:spPr>
            <a:xfrm>
              <a:off x="3377353" y="1542524"/>
              <a:ext cx="6823103" cy="815711"/>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US" sz="1200" i="0" dirty="0"/>
                <a:t>- SNAPSHOT : CURRENT or PREVIOUS, current by default</a:t>
              </a:r>
            </a:p>
            <a:p>
              <a:r>
                <a:rPr lang="en-US" sz="1200" i="0" dirty="0"/>
                <a:t>- COUNT: to restrict the list of transactions, -1 for all transactions, by default 20.</a:t>
              </a:r>
            </a:p>
            <a:p>
              <a:pPr marL="171450" indent="-171450">
                <a:buFontTx/>
                <a:buChar char="-"/>
              </a:pPr>
              <a:r>
                <a:rPr lang="en-US" sz="1200" i="0" dirty="0"/>
                <a:t>FILTER:SECU or EFF or ROB to sort the transactions , ROB by default</a:t>
              </a:r>
            </a:p>
            <a:p>
              <a:pPr marL="171450" indent="-171450">
                <a:buFontTx/>
                <a:buChar char="-"/>
              </a:pPr>
              <a:r>
                <a:rPr lang="en-US" sz="1200" i="0" dirty="0"/>
                <a:t>NAME: FULL or SHORT to display transactions by their short name or full name, SHORT by default</a:t>
              </a:r>
            </a:p>
          </p:txBody>
        </p:sp>
        <p:sp>
          <p:nvSpPr>
            <p:cNvPr id="31" name="TextBox 30"/>
            <p:cNvSpPr txBox="1"/>
            <p:nvPr/>
          </p:nvSpPr>
          <p:spPr>
            <a:xfrm>
              <a:off x="2346971" y="1542522"/>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1" name="Chart 10" descr="GRAPH;TRANSACTIONS_CHART;">
            <a:extLst>
              <a:ext uri="{FF2B5EF4-FFF2-40B4-BE49-F238E27FC236}">
                <a16:creationId xmlns:a16="http://schemas.microsoft.com/office/drawing/2014/main" id="{267197ED-53A0-4C28-832D-07CDE6597FAD}"/>
              </a:ext>
            </a:extLst>
          </p:cNvPr>
          <p:cNvGraphicFramePr/>
          <p:nvPr>
            <p:extLst>
              <p:ext uri="{D42A27DB-BD31-4B8C-83A1-F6EECF244321}">
                <p14:modId xmlns:p14="http://schemas.microsoft.com/office/powerpoint/2010/main" val="2669988763"/>
              </p:ext>
            </p:extLst>
          </p:nvPr>
        </p:nvGraphicFramePr>
        <p:xfrm>
          <a:off x="2534026" y="2785750"/>
          <a:ext cx="6630997" cy="35356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7949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E7847-D523-41DF-9902-A4B7A1A03480}"/>
              </a:ext>
            </a:extLst>
          </p:cNvPr>
          <p:cNvSpPr>
            <a:spLocks noGrp="1"/>
          </p:cNvSpPr>
          <p:nvPr>
            <p:ph type="title"/>
          </p:nvPr>
        </p:nvSpPr>
        <p:spPr>
          <a:xfrm>
            <a:off x="312126" y="1037493"/>
            <a:ext cx="4132385" cy="4783014"/>
          </a:xfrm>
        </p:spPr>
        <p:txBody>
          <a:bodyPr/>
          <a:lstStyle/>
          <a:p>
            <a:r>
              <a:rPr lang="en-US" dirty="0"/>
              <a:t>Agenda</a:t>
            </a:r>
          </a:p>
        </p:txBody>
      </p:sp>
      <p:sp>
        <p:nvSpPr>
          <p:cNvPr id="6" name="Rectangle 5">
            <a:extLst>
              <a:ext uri="{FF2B5EF4-FFF2-40B4-BE49-F238E27FC236}">
                <a16:creationId xmlns:a16="http://schemas.microsoft.com/office/drawing/2014/main" id="{284D760A-01BF-465C-A579-B43EA35E1AAC}"/>
              </a:ext>
            </a:extLst>
          </p:cNvPr>
          <p:cNvSpPr/>
          <p:nvPr/>
        </p:nvSpPr>
        <p:spPr>
          <a:xfrm>
            <a:off x="5961185" y="1037493"/>
            <a:ext cx="5618285" cy="47830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hlinkClick r:id="rId4" action="ppaction://hlinksldjump"/>
              </a:rPr>
              <a:t>Introduction</a:t>
            </a:r>
            <a:endParaRPr kumimoji="0" lang="en-US" sz="1800" b="0" i="0" u="none" strike="noStrike" kern="1200" cap="none" spc="0" normalizeH="0" baseline="0" noProof="0" dirty="0">
              <a:ln>
                <a:noFill/>
              </a:ln>
              <a:solidFill>
                <a:srgbClr val="293C47"/>
              </a:solidFill>
              <a:effectLst/>
              <a:uLnTx/>
              <a:uFillTx/>
              <a:latin typeface="Gotham Book"/>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hlinkClick r:id="rId5" action="ppaction://hlinksldjump"/>
              </a:rPr>
              <a:t>Text templates</a:t>
            </a:r>
            <a:endParaRPr kumimoji="0" lang="en-US" sz="1800" b="0" i="0" u="none" strike="noStrike" kern="1200" cap="none" spc="0" normalizeH="0" baseline="0" noProof="0" dirty="0">
              <a:ln>
                <a:noFill/>
              </a:ln>
              <a:solidFill>
                <a:srgbClr val="293C47"/>
              </a:solidFill>
              <a:effectLst/>
              <a:uLnTx/>
              <a:uFillTx/>
              <a:latin typeface="Gotham Book"/>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dirty="0">
                <a:solidFill>
                  <a:srgbClr val="293C47"/>
                </a:solidFill>
                <a:latin typeface="Gotham Book"/>
                <a:hlinkClick r:id="rId6" action="ppaction://hlinksldjump"/>
              </a:rPr>
              <a:t>Graph templates</a:t>
            </a:r>
            <a:endParaRPr lang="en-US" dirty="0">
              <a:solidFill>
                <a:srgbClr val="293C47"/>
              </a:solidFill>
              <a:latin typeface="Gotham Book"/>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93C47"/>
                </a:solidFill>
                <a:effectLst/>
                <a:uLnTx/>
                <a:uFillTx/>
                <a:latin typeface="Gotham Book"/>
                <a:ea typeface="+mn-ea"/>
                <a:cs typeface="+mn-cs"/>
              </a:rPr>
              <a:t>Table templates</a:t>
            </a:r>
          </a:p>
        </p:txBody>
      </p:sp>
      <p:grpSp>
        <p:nvGrpSpPr>
          <p:cNvPr id="21" name="Group 20">
            <a:extLst>
              <a:ext uri="{FF2B5EF4-FFF2-40B4-BE49-F238E27FC236}">
                <a16:creationId xmlns:a16="http://schemas.microsoft.com/office/drawing/2014/main" id="{FEA12E05-8311-4CD7-B7CD-7BCAC7220F99}"/>
              </a:ext>
            </a:extLst>
          </p:cNvPr>
          <p:cNvGrpSpPr/>
          <p:nvPr/>
        </p:nvGrpSpPr>
        <p:grpSpPr>
          <a:xfrm>
            <a:off x="5668038" y="3956327"/>
            <a:ext cx="293147" cy="292608"/>
            <a:chOff x="5460023" y="1240987"/>
            <a:chExt cx="293147" cy="292608"/>
          </a:xfrm>
        </p:grpSpPr>
        <p:sp>
          <p:nvSpPr>
            <p:cNvPr id="19" name="Oval 18">
              <a:extLst>
                <a:ext uri="{FF2B5EF4-FFF2-40B4-BE49-F238E27FC236}">
                  <a16:creationId xmlns:a16="http://schemas.microsoft.com/office/drawing/2014/main" id="{1C865A03-5C12-487D-8AD0-984F3E390F63}"/>
                </a:ext>
              </a:extLst>
            </p:cNvPr>
            <p:cNvSpPr/>
            <p:nvPr>
              <p:custDataLst>
                <p:tags r:id="rId1"/>
              </p:custDataLst>
            </p:nvPr>
          </p:nvSpPr>
          <p:spPr>
            <a:xfrm>
              <a:off x="5460023" y="1240987"/>
              <a:ext cx="293147" cy="292608"/>
            </a:xfrm>
            <a:prstGeom prst="ellipse">
              <a:avLst/>
            </a:prstGeom>
            <a:solidFill>
              <a:srgbClr val="CF7600"/>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lumMod val="100000"/>
                  </a:srgbClr>
                </a:solidFill>
                <a:effectLst/>
                <a:uLnTx/>
                <a:uFillTx/>
                <a:latin typeface="Trebuchet MS" panose="020B0603020202020204" pitchFamily="34" charset="0"/>
                <a:ea typeface="+mn-ea"/>
                <a:cs typeface="+mn-cs"/>
              </a:endParaRPr>
            </a:p>
          </p:txBody>
        </p:sp>
        <p:pic>
          <p:nvPicPr>
            <p:cNvPr id="20" name="Picture 19">
              <a:extLst>
                <a:ext uri="{FF2B5EF4-FFF2-40B4-BE49-F238E27FC236}">
                  <a16:creationId xmlns:a16="http://schemas.microsoft.com/office/drawing/2014/main" id="{21847F0C-EE1B-430C-8B70-BA79E7CF96AE}"/>
                </a:ext>
              </a:extLst>
            </p:cNvPr>
            <p:cNvPicPr>
              <a:picLocks/>
            </p:cNvPicPr>
            <p:nvPr>
              <p:custDataLst>
                <p:tags r:id="rId2"/>
              </p:custDataLst>
            </p:nvPr>
          </p:nvPicPr>
          <p:blipFill>
            <a:blip r:embed="rId7" cstate="screen">
              <a:extLst>
                <a:ext uri="{28A0092B-C50C-407E-A947-70E740481C1C}">
                  <a14:useLocalDpi xmlns:a14="http://schemas.microsoft.com/office/drawing/2010/main"/>
                </a:ext>
              </a:extLst>
            </a:blip>
            <a:stretch>
              <a:fillRect/>
            </a:stretch>
          </p:blipFill>
          <p:spPr>
            <a:xfrm>
              <a:off x="5460023" y="1240987"/>
              <a:ext cx="293147" cy="292608"/>
            </a:xfrm>
            <a:prstGeom prst="rect">
              <a:avLst/>
            </a:prstGeom>
          </p:spPr>
        </p:pic>
      </p:grpSp>
      <p:sp>
        <p:nvSpPr>
          <p:cNvPr id="2" name="Slide Number Placeholder 1">
            <a:extLst>
              <a:ext uri="{FF2B5EF4-FFF2-40B4-BE49-F238E27FC236}">
                <a16:creationId xmlns:a16="http://schemas.microsoft.com/office/drawing/2014/main" id="{3FB36BC2-F00A-4354-B343-F17659BF6D2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EFED013-66E8-448A-B953-99801F824AF7}" type="slidenum">
              <a:rPr kumimoji="0" lang="en-US" sz="1050" b="0" i="0" u="none" strike="noStrike" kern="1200" cap="none" spc="0" normalizeH="0" baseline="0" noProof="0" smtClean="0">
                <a:ln>
                  <a:noFill/>
                </a:ln>
                <a:solidFill>
                  <a:srgbClr val="FFFFFF"/>
                </a:solidFill>
                <a:effectLst/>
                <a:uLnTx/>
                <a:uFillTx/>
                <a:latin typeface="Gotham Book" pitchFamily="50" charset="0"/>
                <a:ea typeface="+mn-ea"/>
                <a:cs typeface="Gotham Book"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1050" b="0" i="0" u="none" strike="noStrike" kern="1200" cap="none" spc="0" normalizeH="0" baseline="0" noProof="0" dirty="0">
              <a:ln>
                <a:noFill/>
              </a:ln>
              <a:solidFill>
                <a:srgbClr val="FFFFFF"/>
              </a:solidFill>
              <a:effectLst/>
              <a:uLnTx/>
              <a:uFillTx/>
              <a:latin typeface="Gotham Book" pitchFamily="50" charset="0"/>
              <a:ea typeface="+mn-ea"/>
              <a:cs typeface="Gotham Book" pitchFamily="50" charset="0"/>
            </a:endParaRPr>
          </a:p>
        </p:txBody>
      </p:sp>
    </p:spTree>
    <p:extLst>
      <p:ext uri="{BB962C8B-B14F-4D97-AF65-F5344CB8AC3E}">
        <p14:creationId xmlns:p14="http://schemas.microsoft.com/office/powerpoint/2010/main" val="3346075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Content Placeholder 77"/>
          <p:cNvSpPr>
            <a:spLocks noGrp="1"/>
          </p:cNvSpPr>
          <p:nvPr>
            <p:ph type="body" sz="quarter" idx="13"/>
          </p:nvPr>
        </p:nvSpPr>
        <p:spPr/>
        <p:txBody>
          <a:bodyPr/>
          <a:lstStyle/>
          <a:p>
            <a:r>
              <a:rPr lang="fr-FR" sz="2400" dirty="0"/>
              <a:t>This kind of template is identified by a type value as</a:t>
            </a:r>
            <a:br>
              <a:rPr lang="fr-FR" sz="2400" dirty="0"/>
            </a:br>
            <a:r>
              <a:rPr lang="fr-FR" sz="2400" dirty="0"/>
              <a:t>			</a:t>
            </a:r>
          </a:p>
          <a:p>
            <a:pPr marL="0" indent="0">
              <a:buNone/>
            </a:pPr>
            <a:r>
              <a:rPr lang="fr-FR" sz="2400" dirty="0"/>
              <a:t>			Type = </a:t>
            </a:r>
            <a:r>
              <a:rPr lang="fr-FR" sz="2400" b="1" dirty="0"/>
              <a:t>TABLE</a:t>
            </a:r>
          </a:p>
          <a:p>
            <a:pPr marL="0" indent="0">
              <a:buNone/>
            </a:pPr>
            <a:endParaRPr lang="fr-FR" sz="2400" b="1" dirty="0"/>
          </a:p>
          <a:p>
            <a:pPr marL="0" indent="0">
              <a:buNone/>
            </a:pPr>
            <a:endParaRPr lang="fr-FR" sz="2400" b="1" dirty="0"/>
          </a:p>
        </p:txBody>
      </p:sp>
      <p:sp>
        <p:nvSpPr>
          <p:cNvPr id="2" name="Title 1"/>
          <p:cNvSpPr>
            <a:spLocks noGrp="1"/>
          </p:cNvSpPr>
          <p:nvPr>
            <p:ph type="title"/>
          </p:nvPr>
        </p:nvSpPr>
        <p:spPr/>
        <p:txBody>
          <a:bodyPr>
            <a:normAutofit/>
          </a:bodyPr>
          <a:lstStyle/>
          <a:p>
            <a:r>
              <a:rPr lang="fr-FR" dirty="0"/>
              <a:t>PowerPoint Templates – Tables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102CC7A2-CFF8-4721-BD31-7523288C17CA}"/>
              </a:ext>
            </a:extLst>
          </p:cNvPr>
          <p:cNvGrpSpPr/>
          <p:nvPr/>
        </p:nvGrpSpPr>
        <p:grpSpPr>
          <a:xfrm>
            <a:off x="1919536" y="1290589"/>
            <a:ext cx="8317303" cy="2316178"/>
            <a:chOff x="1919536" y="836712"/>
            <a:chExt cx="8317303" cy="2316178"/>
          </a:xfrm>
        </p:grpSpPr>
        <p:sp>
          <p:nvSpPr>
            <p:cNvPr id="33" name="Rounded Rectangle 32"/>
            <p:cNvSpPr/>
            <p:nvPr/>
          </p:nvSpPr>
          <p:spPr>
            <a:xfrm>
              <a:off x="2017200" y="836712"/>
              <a:ext cx="8157600" cy="2316178"/>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919536" y="836712"/>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Top 5 Technologies</a:t>
              </a:r>
            </a:p>
          </p:txBody>
        </p:sp>
        <p:sp>
          <p:nvSpPr>
            <p:cNvPr id="36" name="TextBox 35"/>
            <p:cNvSpPr txBox="1"/>
            <p:nvPr/>
          </p:nvSpPr>
          <p:spPr>
            <a:xfrm>
              <a:off x="3606305" y="119675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TECHNO_LOC</a:t>
              </a:r>
            </a:p>
          </p:txBody>
        </p:sp>
        <p:sp>
          <p:nvSpPr>
            <p:cNvPr id="37" name="TextBox 36"/>
            <p:cNvSpPr txBox="1"/>
            <p:nvPr/>
          </p:nvSpPr>
          <p:spPr>
            <a:xfrm>
              <a:off x="2159141" y="119675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606305" y="1559912"/>
              <a:ext cx="3929855" cy="144655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100" b="1" dirty="0"/>
                <a:t>- COUNT=N </a:t>
              </a:r>
              <a:r>
                <a:rPr lang="fr-FR" sz="1100" dirty="0"/>
                <a:t>(by default COUNT </a:t>
              </a:r>
              <a:r>
                <a:rPr lang="fr-FR" sz="1100" dirty="0" err="1"/>
                <a:t>is</a:t>
              </a:r>
              <a:r>
                <a:rPr lang="fr-FR" sz="1100" dirty="0"/>
                <a:t> </a:t>
              </a:r>
              <a:r>
                <a:rPr lang="fr-FR" sz="1100" dirty="0" err="1"/>
                <a:t>null</a:t>
              </a:r>
              <a:r>
                <a:rPr lang="fr-FR" sz="1100" dirty="0"/>
                <a:t>)</a:t>
              </a:r>
            </a:p>
            <a:p>
              <a:r>
                <a:rPr lang="fr-FR" sz="1100" dirty="0" err="1"/>
                <a:t>where</a:t>
              </a:r>
              <a:r>
                <a:rPr lang="fr-FR" sz="1100" dirty="0"/>
                <a:t> N </a:t>
              </a:r>
              <a:r>
                <a:rPr lang="fr-FR" sz="1100" dirty="0" err="1"/>
                <a:t>is</a:t>
              </a:r>
              <a:r>
                <a:rPr lang="fr-FR" sz="1100" dirty="0"/>
                <a:t> the shown </a:t>
              </a:r>
              <a:r>
                <a:rPr lang="fr-FR" sz="1100" dirty="0" err="1"/>
                <a:t>technology</a:t>
              </a:r>
              <a:r>
                <a:rPr lang="fr-FR" sz="1100" dirty="0"/>
                <a:t> count</a:t>
              </a:r>
            </a:p>
            <a:p>
              <a:r>
                <a:rPr lang="fr-FR" sz="1100" b="1" dirty="0"/>
                <a:t>- NOSIZE</a:t>
              </a:r>
              <a:r>
                <a:rPr lang="fr-FR" sz="1100" dirty="0"/>
                <a:t> to </a:t>
              </a:r>
              <a:r>
                <a:rPr lang="fr-FR" sz="1100" dirty="0" err="1"/>
                <a:t>hide</a:t>
              </a:r>
              <a:r>
                <a:rPr lang="fr-FR" sz="1100" dirty="0"/>
                <a:t> the « LOC » </a:t>
              </a:r>
              <a:r>
                <a:rPr lang="fr-FR" sz="1100" dirty="0" err="1"/>
                <a:t>column</a:t>
              </a:r>
              <a:endParaRPr lang="fr-FR" sz="1100" dirty="0"/>
            </a:p>
            <a:p>
              <a:r>
                <a:rPr lang="fr-FR" sz="1100" dirty="0"/>
                <a:t>(by default the « LOC » </a:t>
              </a:r>
              <a:r>
                <a:rPr lang="fr-FR" sz="1100" dirty="0" err="1"/>
                <a:t>column</a:t>
              </a:r>
              <a:r>
                <a:rPr lang="fr-FR" sz="1100" dirty="0"/>
                <a:t> </a:t>
              </a:r>
              <a:r>
                <a:rPr lang="fr-FR" sz="1100" dirty="0" err="1"/>
                <a:t>is</a:t>
              </a:r>
              <a:r>
                <a:rPr lang="fr-FR" sz="1100" dirty="0"/>
                <a:t> </a:t>
              </a:r>
              <a:r>
                <a:rPr lang="fr-FR" sz="1100" dirty="0" err="1"/>
                <a:t>shown</a:t>
              </a:r>
              <a:r>
                <a:rPr lang="fr-FR" sz="1100" dirty="0"/>
                <a:t>)</a:t>
              </a:r>
            </a:p>
            <a:p>
              <a:r>
                <a:rPr lang="fr-FR" sz="1100" dirty="0"/>
                <a:t>- </a:t>
              </a:r>
              <a:r>
                <a:rPr lang="en-US" sz="1100" dirty="0"/>
                <a:t> </a:t>
              </a:r>
              <a:r>
                <a:rPr lang="en-US" sz="1100" b="1" dirty="0"/>
                <a:t>HEADER</a:t>
              </a:r>
              <a:r>
                <a:rPr lang="en-US" sz="1100" dirty="0"/>
                <a:t>=NO to not display headers (useful for excel report when you want to define your own customized headers). By default if option is not present or different from NO, headers are displayed</a:t>
              </a:r>
              <a:endParaRPr lang="fr-FR" sz="1100" dirty="0"/>
            </a:p>
          </p:txBody>
        </p:sp>
        <p:sp>
          <p:nvSpPr>
            <p:cNvPr id="39" name="TextBox 38"/>
            <p:cNvSpPr txBox="1"/>
            <p:nvPr/>
          </p:nvSpPr>
          <p:spPr>
            <a:xfrm>
              <a:off x="2559628" y="1516722"/>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0" name="Table 9" descr="TABLE;TECHNO_LOC"/>
          <p:cNvGraphicFramePr>
            <a:graphicFrameLocks noGrp="1"/>
          </p:cNvGraphicFramePr>
          <p:nvPr>
            <p:extLst>
              <p:ext uri="{D42A27DB-BD31-4B8C-83A1-F6EECF244321}">
                <p14:modId xmlns:p14="http://schemas.microsoft.com/office/powerpoint/2010/main" val="3910467852"/>
              </p:ext>
            </p:extLst>
          </p:nvPr>
        </p:nvGraphicFramePr>
        <p:xfrm>
          <a:off x="7680176" y="1783903"/>
          <a:ext cx="2268252" cy="1296143"/>
        </p:xfrm>
        <a:graphic>
          <a:graphicData uri="http://schemas.openxmlformats.org/drawingml/2006/table">
            <a:tbl>
              <a:tblPr firstRow="1" bandRow="1">
                <a:tableStyleId>{72833802-FEF1-4C79-8D5D-14CF1EAF98D9}</a:tableStyleId>
              </a:tblPr>
              <a:tblGrid>
                <a:gridCol w="1329665">
                  <a:extLst>
                    <a:ext uri="{9D8B030D-6E8A-4147-A177-3AD203B41FA5}">
                      <a16:colId xmlns:a16="http://schemas.microsoft.com/office/drawing/2014/main" val="20000"/>
                    </a:ext>
                  </a:extLst>
                </a:gridCol>
                <a:gridCol w="938587">
                  <a:extLst>
                    <a:ext uri="{9D8B030D-6E8A-4147-A177-3AD203B41FA5}">
                      <a16:colId xmlns:a16="http://schemas.microsoft.com/office/drawing/2014/main" val="20001"/>
                    </a:ext>
                  </a:extLst>
                </a:gridCol>
              </a:tblGrid>
              <a:tr h="216980">
                <a:tc>
                  <a:txBody>
                    <a:bodyPr/>
                    <a:lstStyle/>
                    <a:p>
                      <a:pPr>
                        <a:lnSpc>
                          <a:spcPct val="115000"/>
                        </a:lnSpc>
                        <a:spcAft>
                          <a:spcPts val="0"/>
                        </a:spcAft>
                      </a:pPr>
                      <a:r>
                        <a:rPr lang="en-GB" sz="1000" dirty="0"/>
                        <a:t>Name</a:t>
                      </a:r>
                      <a:endParaRPr lang="fr-FR" sz="1100" dirty="0">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LOC</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211243">
                <a:tc>
                  <a:txBody>
                    <a:bodyPr/>
                    <a:lstStyle/>
                    <a:p>
                      <a:pPr>
                        <a:lnSpc>
                          <a:spcPct val="115000"/>
                        </a:lnSpc>
                        <a:spcAft>
                          <a:spcPts val="0"/>
                        </a:spcAft>
                      </a:pPr>
                      <a:r>
                        <a:rPr lang="en-GB" sz="1000" dirty="0"/>
                        <a:t>Techno 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16980">
                <a:tc>
                  <a:txBody>
                    <a:bodyPr/>
                    <a:lstStyle/>
                    <a:p>
                      <a:pPr>
                        <a:lnSpc>
                          <a:spcPct val="115000"/>
                        </a:lnSpc>
                        <a:spcAft>
                          <a:spcPts val="0"/>
                        </a:spcAft>
                      </a:pPr>
                      <a:r>
                        <a:rPr lang="en-GB" sz="1000" dirty="0"/>
                        <a:t>Techno 2</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2"/>
                  </a:ext>
                </a:extLst>
              </a:tr>
              <a:tr h="216980">
                <a:tc>
                  <a:txBody>
                    <a:bodyPr/>
                    <a:lstStyle/>
                    <a:p>
                      <a:pPr>
                        <a:lnSpc>
                          <a:spcPct val="115000"/>
                        </a:lnSpc>
                        <a:spcAft>
                          <a:spcPts val="0"/>
                        </a:spcAft>
                      </a:pPr>
                      <a:r>
                        <a:rPr lang="en-GB" sz="1000" dirty="0"/>
                        <a:t>Techno 3</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3"/>
                  </a:ext>
                </a:extLst>
              </a:tr>
              <a:tr h="216980">
                <a:tc>
                  <a:txBody>
                    <a:bodyPr/>
                    <a:lstStyle/>
                    <a:p>
                      <a:pPr>
                        <a:lnSpc>
                          <a:spcPct val="115000"/>
                        </a:lnSpc>
                        <a:spcAft>
                          <a:spcPts val="0"/>
                        </a:spcAft>
                      </a:pPr>
                      <a:r>
                        <a:rPr lang="en-GB" sz="1000" dirty="0"/>
                        <a:t>Techno 4</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4"/>
                  </a:ext>
                </a:extLst>
              </a:tr>
              <a:tr h="216980">
                <a:tc>
                  <a:txBody>
                    <a:bodyPr/>
                    <a:lstStyle/>
                    <a:p>
                      <a:pPr>
                        <a:lnSpc>
                          <a:spcPct val="115000"/>
                        </a:lnSpc>
                        <a:spcAft>
                          <a:spcPts val="0"/>
                        </a:spcAft>
                      </a:pPr>
                      <a:r>
                        <a:rPr lang="en-GB" sz="1000" dirty="0"/>
                        <a:t>Techno 5</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5"/>
                  </a:ext>
                </a:extLst>
              </a:tr>
            </a:tbl>
          </a:graphicData>
        </a:graphic>
      </p:graphicFrame>
      <p:grpSp>
        <p:nvGrpSpPr>
          <p:cNvPr id="3" name="Group 2">
            <a:extLst>
              <a:ext uri="{FF2B5EF4-FFF2-40B4-BE49-F238E27FC236}">
                <a16:creationId xmlns:a16="http://schemas.microsoft.com/office/drawing/2014/main" id="{7211CF2A-2544-4E0B-AA46-310E226A44C1}"/>
              </a:ext>
            </a:extLst>
          </p:cNvPr>
          <p:cNvGrpSpPr/>
          <p:nvPr/>
        </p:nvGrpSpPr>
        <p:grpSpPr>
          <a:xfrm>
            <a:off x="1919536" y="4013215"/>
            <a:ext cx="8380224" cy="2160240"/>
            <a:chOff x="1919536" y="3861048"/>
            <a:chExt cx="8380224" cy="2160240"/>
          </a:xfrm>
        </p:grpSpPr>
        <p:sp>
          <p:nvSpPr>
            <p:cNvPr id="12" name="Rounded Rectangle 11"/>
            <p:cNvSpPr/>
            <p:nvPr/>
          </p:nvSpPr>
          <p:spPr>
            <a:xfrm>
              <a:off x="2008636" y="3861048"/>
              <a:ext cx="8157600" cy="2160240"/>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386104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Technical Size Information</a:t>
              </a:r>
            </a:p>
          </p:txBody>
        </p:sp>
        <p:sp>
          <p:nvSpPr>
            <p:cNvPr id="14" name="TextBox 13"/>
            <p:cNvSpPr txBox="1"/>
            <p:nvPr/>
          </p:nvSpPr>
          <p:spPr>
            <a:xfrm>
              <a:off x="3669226" y="422108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TECHNICAL_SIZING</a:t>
              </a:r>
            </a:p>
          </p:txBody>
        </p:sp>
        <p:sp>
          <p:nvSpPr>
            <p:cNvPr id="15" name="TextBox 14"/>
            <p:cNvSpPr txBox="1"/>
            <p:nvPr/>
          </p:nvSpPr>
          <p:spPr>
            <a:xfrm>
              <a:off x="2194766" y="422108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713938" y="4567054"/>
              <a:ext cx="3688698" cy="938719"/>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100" dirty="0"/>
                <a:t> </a:t>
              </a:r>
              <a:r>
                <a:rPr lang="en-US" sz="1100" b="1" dirty="0"/>
                <a:t>HEADER</a:t>
              </a:r>
              <a:r>
                <a:rPr lang="en-US" sz="1100" dirty="0"/>
                <a:t>=NO to not display headers (useful for excel report when you want to define your own customized headers). By default if option is not present or different from NO, headers are displayed</a:t>
              </a:r>
              <a:endParaRPr lang="fr-FR" sz="1100" dirty="0"/>
            </a:p>
          </p:txBody>
        </p:sp>
        <p:sp>
          <p:nvSpPr>
            <p:cNvPr id="17" name="TextBox 16"/>
            <p:cNvSpPr txBox="1"/>
            <p:nvPr/>
          </p:nvSpPr>
          <p:spPr>
            <a:xfrm>
              <a:off x="2601468" y="458112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TECHNICAL_SIZING"/>
          <p:cNvGraphicFramePr>
            <a:graphicFrameLocks noGrp="1"/>
          </p:cNvGraphicFramePr>
          <p:nvPr>
            <p:extLst>
              <p:ext uri="{D42A27DB-BD31-4B8C-83A1-F6EECF244321}">
                <p14:modId xmlns:p14="http://schemas.microsoft.com/office/powerpoint/2010/main" val="900221844"/>
              </p:ext>
            </p:extLst>
          </p:nvPr>
        </p:nvGraphicFramePr>
        <p:xfrm>
          <a:off x="7536160" y="4407008"/>
          <a:ext cx="2196244" cy="1152126"/>
        </p:xfrm>
        <a:graphic>
          <a:graphicData uri="http://schemas.openxmlformats.org/drawingml/2006/table">
            <a:tbl>
              <a:tblPr firstRow="1" bandRow="1">
                <a:tableStyleId>{9DCAF9ED-07DC-4A11-8D7F-57B35C25682E}</a:tableStyleId>
              </a:tblPr>
              <a:tblGrid>
                <a:gridCol w="1287453">
                  <a:extLst>
                    <a:ext uri="{9D8B030D-6E8A-4147-A177-3AD203B41FA5}">
                      <a16:colId xmlns:a16="http://schemas.microsoft.com/office/drawing/2014/main" val="20000"/>
                    </a:ext>
                  </a:extLst>
                </a:gridCol>
                <a:gridCol w="908791">
                  <a:extLst>
                    <a:ext uri="{9D8B030D-6E8A-4147-A177-3AD203B41FA5}">
                      <a16:colId xmlns:a16="http://schemas.microsoft.com/office/drawing/2014/main" val="20001"/>
                    </a:ext>
                  </a:extLst>
                </a:gridCol>
              </a:tblGrid>
              <a:tr h="192021">
                <a:tc>
                  <a:txBody>
                    <a:bodyPr/>
                    <a:lstStyle/>
                    <a:p>
                      <a:pPr>
                        <a:lnSpc>
                          <a:spcPct val="115000"/>
                        </a:lnSpc>
                        <a:spcAft>
                          <a:spcPts val="0"/>
                        </a:spcAft>
                      </a:pPr>
                      <a:r>
                        <a:rPr lang="en-GB" sz="1000" dirty="0"/>
                        <a:t>Name</a:t>
                      </a:r>
                      <a:endParaRPr lang="fr-FR" sz="1100" dirty="0">
                        <a:latin typeface="Calibri"/>
                        <a:ea typeface="Calibri"/>
                        <a:cs typeface="Times New Roman"/>
                      </a:endParaRPr>
                    </a:p>
                  </a:txBody>
                  <a:tcPr marL="68580" marR="68580" marT="0" marB="0"/>
                </a:tc>
                <a:tc>
                  <a:txBody>
                    <a:bodyPr/>
                    <a:lstStyle/>
                    <a:p>
                      <a:pPr marL="0" algn="l" defTabSz="914400" rtl="0" eaLnBrk="1" latinLnBrk="0" hangingPunct="1">
                        <a:lnSpc>
                          <a:spcPct val="115000"/>
                        </a:lnSpc>
                        <a:spcAft>
                          <a:spcPts val="0"/>
                        </a:spcAft>
                      </a:pPr>
                      <a:r>
                        <a:rPr lang="en-GB" sz="1000" kern="1200" dirty="0"/>
                        <a:t>Number</a:t>
                      </a:r>
                      <a:endParaRPr lang="fr-FR" sz="1000" b="1" kern="1200" dirty="0">
                        <a:solidFill>
                          <a:schemeClr val="bg1"/>
                        </a:solidFill>
                        <a:latin typeface="+mn-lt"/>
                        <a:ea typeface="+mn-ea"/>
                        <a:cs typeface="+mn-cs"/>
                      </a:endParaRPr>
                    </a:p>
                  </a:txBody>
                  <a:tcPr marL="68580" marR="68580" marT="0" marB="0"/>
                </a:tc>
                <a:extLst>
                  <a:ext uri="{0D108BD9-81ED-4DB2-BD59-A6C34878D82A}">
                    <a16:rowId xmlns:a16="http://schemas.microsoft.com/office/drawing/2014/main" val="10000"/>
                  </a:ext>
                </a:extLst>
              </a:tr>
              <a:tr h="192021">
                <a:tc>
                  <a:txBody>
                    <a:bodyPr/>
                    <a:lstStyle/>
                    <a:p>
                      <a:pPr>
                        <a:lnSpc>
                          <a:spcPct val="115000"/>
                        </a:lnSpc>
                        <a:spcAft>
                          <a:spcPts val="0"/>
                        </a:spcAft>
                      </a:pPr>
                      <a:r>
                        <a:rPr lang="en-GB" sz="1000" dirty="0"/>
                        <a:t>kLOCs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192021">
                <a:tc>
                  <a:txBody>
                    <a:bodyPr/>
                    <a:lstStyle/>
                    <a:p>
                      <a:pPr>
                        <a:lnSpc>
                          <a:spcPct val="115000"/>
                        </a:lnSpc>
                        <a:spcAft>
                          <a:spcPts val="0"/>
                        </a:spcAft>
                      </a:pPr>
                      <a:r>
                        <a:rPr lang="en-GB" sz="1000" dirty="0"/>
                        <a:t>Files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2"/>
                  </a:ext>
                </a:extLst>
              </a:tr>
              <a:tr h="192021">
                <a:tc>
                  <a:txBody>
                    <a:bodyPr/>
                    <a:lstStyle/>
                    <a:p>
                      <a:pPr>
                        <a:lnSpc>
                          <a:spcPct val="115000"/>
                        </a:lnSpc>
                        <a:spcAft>
                          <a:spcPts val="0"/>
                        </a:spcAft>
                      </a:pPr>
                      <a:r>
                        <a:rPr lang="en-GB" sz="1000" dirty="0"/>
                        <a:t>Classes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3"/>
                  </a:ext>
                </a:extLst>
              </a:tr>
              <a:tr h="192021">
                <a:tc>
                  <a:txBody>
                    <a:bodyPr/>
                    <a:lstStyle/>
                    <a:p>
                      <a:pPr>
                        <a:lnSpc>
                          <a:spcPct val="115000"/>
                        </a:lnSpc>
                        <a:spcAft>
                          <a:spcPts val="0"/>
                        </a:spcAft>
                      </a:pPr>
                      <a:r>
                        <a:rPr lang="en-GB" sz="1000" dirty="0"/>
                        <a:t>SQL</a:t>
                      </a:r>
                      <a:r>
                        <a:rPr lang="en-GB" sz="1000" baseline="0" dirty="0"/>
                        <a:t> Art.</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4"/>
                  </a:ext>
                </a:extLst>
              </a:tr>
              <a:tr h="192021">
                <a:tc>
                  <a:txBody>
                    <a:bodyPr/>
                    <a:lstStyle/>
                    <a:p>
                      <a:pPr>
                        <a:lnSpc>
                          <a:spcPct val="115000"/>
                        </a:lnSpc>
                        <a:spcAft>
                          <a:spcPts val="0"/>
                        </a:spcAft>
                      </a:pPr>
                      <a:r>
                        <a:rPr lang="en-GB" sz="1000" dirty="0"/>
                        <a:t>      Tables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809F6E5-9EC1-4598-BAB6-E274110D2753}"/>
              </a:ext>
            </a:extLst>
          </p:cNvPr>
          <p:cNvGrpSpPr/>
          <p:nvPr/>
        </p:nvGrpSpPr>
        <p:grpSpPr>
          <a:xfrm>
            <a:off x="1919536" y="4056254"/>
            <a:ext cx="8432144" cy="2029798"/>
            <a:chOff x="1919536" y="3861048"/>
            <a:chExt cx="8432144" cy="2029798"/>
          </a:xfrm>
        </p:grpSpPr>
        <p:sp>
          <p:nvSpPr>
            <p:cNvPr id="12" name="Rounded Rectangle 11"/>
            <p:cNvSpPr/>
            <p:nvPr/>
          </p:nvSpPr>
          <p:spPr>
            <a:xfrm>
              <a:off x="2008636" y="3861048"/>
              <a:ext cx="8157600" cy="2029798"/>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386104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Business </a:t>
              </a:r>
              <a:r>
                <a:rPr lang="fr-FR" sz="1600" dirty="0" err="1"/>
                <a:t>Criteria</a:t>
              </a:r>
              <a:r>
                <a:rPr lang="fr-FR" sz="1600" dirty="0"/>
                <a:t> by </a:t>
              </a:r>
              <a:r>
                <a:rPr lang="fr-FR" sz="1600" dirty="0" err="1"/>
                <a:t>Technology</a:t>
              </a:r>
              <a:endParaRPr lang="fr-FR" sz="1600" dirty="0"/>
            </a:p>
          </p:txBody>
        </p:sp>
        <p:sp>
          <p:nvSpPr>
            <p:cNvPr id="14" name="TextBox 13"/>
            <p:cNvSpPr txBox="1"/>
            <p:nvPr/>
          </p:nvSpPr>
          <p:spPr>
            <a:xfrm>
              <a:off x="3669226" y="422108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BC_BY_TECHNO</a:t>
              </a:r>
            </a:p>
          </p:txBody>
        </p:sp>
        <p:sp>
          <p:nvSpPr>
            <p:cNvPr id="15" name="TextBox 14"/>
            <p:cNvSpPr txBox="1"/>
            <p:nvPr/>
          </p:nvSpPr>
          <p:spPr>
            <a:xfrm>
              <a:off x="2194766" y="422108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7" name="TextBox 16"/>
            <p:cNvSpPr txBox="1"/>
            <p:nvPr/>
          </p:nvSpPr>
          <p:spPr>
            <a:xfrm>
              <a:off x="2601468" y="458112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21" name="TextBox 20"/>
            <p:cNvSpPr txBox="1"/>
            <p:nvPr/>
          </p:nvSpPr>
          <p:spPr>
            <a:xfrm>
              <a:off x="3721146" y="4621199"/>
              <a:ext cx="6630534"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b="1" dirty="0"/>
                <a:t>COUNT=N </a:t>
              </a:r>
              <a:r>
                <a:rPr lang="fr-FR" sz="1200" dirty="0"/>
                <a:t>(by default COUNT </a:t>
              </a:r>
              <a:r>
                <a:rPr lang="fr-FR" sz="1200" dirty="0" err="1"/>
                <a:t>is</a:t>
              </a:r>
              <a:r>
                <a:rPr lang="fr-FR" sz="1200" dirty="0"/>
                <a:t> </a:t>
              </a:r>
              <a:r>
                <a:rPr lang="fr-FR" sz="1200" dirty="0" err="1"/>
                <a:t>null</a:t>
              </a:r>
              <a:r>
                <a:rPr lang="fr-FR" sz="1200" dirty="0"/>
                <a:t>) </a:t>
              </a:r>
            </a:p>
            <a:p>
              <a:r>
                <a:rPr lang="fr-FR" sz="1200" dirty="0"/>
                <a:t>ID=BC ID by default ID </a:t>
              </a:r>
              <a:r>
                <a:rPr lang="fr-FR" sz="1200" dirty="0" err="1"/>
                <a:t>is</a:t>
              </a:r>
              <a:r>
                <a:rPr lang="fr-FR" sz="1200" dirty="0"/>
                <a:t> 60017</a:t>
              </a:r>
            </a:p>
          </p:txBody>
        </p:sp>
      </p:grpSp>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62EFE9C3-F5FA-40D2-BB46-BC75ADFDB16A}"/>
              </a:ext>
            </a:extLst>
          </p:cNvPr>
          <p:cNvGrpSpPr/>
          <p:nvPr/>
        </p:nvGrpSpPr>
        <p:grpSpPr>
          <a:xfrm>
            <a:off x="1919536" y="1287147"/>
            <a:ext cx="8317303" cy="2366878"/>
            <a:chOff x="1919536" y="836712"/>
            <a:chExt cx="8317303" cy="2366878"/>
          </a:xfrm>
        </p:grpSpPr>
        <p:sp>
          <p:nvSpPr>
            <p:cNvPr id="33" name="Rounded Rectangle 32"/>
            <p:cNvSpPr/>
            <p:nvPr/>
          </p:nvSpPr>
          <p:spPr>
            <a:xfrm>
              <a:off x="2017200" y="836712"/>
              <a:ext cx="8157600" cy="2366878"/>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919536" y="836712"/>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err="1"/>
                <a:t>Lines</a:t>
              </a:r>
              <a:r>
                <a:rPr lang="fr-FR" sz="1600" dirty="0"/>
                <a:t> of code by Module</a:t>
              </a:r>
            </a:p>
          </p:txBody>
        </p:sp>
        <p:sp>
          <p:nvSpPr>
            <p:cNvPr id="36" name="TextBox 35"/>
            <p:cNvSpPr txBox="1"/>
            <p:nvPr/>
          </p:nvSpPr>
          <p:spPr>
            <a:xfrm>
              <a:off x="3606305" y="119675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LOC_BY_MODULE</a:t>
              </a:r>
            </a:p>
          </p:txBody>
        </p:sp>
        <p:sp>
          <p:nvSpPr>
            <p:cNvPr id="37" name="TextBox 36"/>
            <p:cNvSpPr txBox="1"/>
            <p:nvPr/>
          </p:nvSpPr>
          <p:spPr>
            <a:xfrm>
              <a:off x="2159141" y="119675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606305" y="1559913"/>
              <a:ext cx="2671403" cy="43088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100" b="1" dirty="0"/>
                <a:t>FORMAT=LOC|KLOC, </a:t>
              </a:r>
              <a:r>
                <a:rPr lang="fr-FR" sz="1100" dirty="0"/>
                <a:t>by default or if </a:t>
              </a:r>
              <a:r>
                <a:rPr lang="fr-FR" sz="1100" dirty="0" err="1"/>
                <a:t>omitted</a:t>
              </a:r>
              <a:r>
                <a:rPr lang="fr-FR" sz="1100" dirty="0"/>
                <a:t>, format </a:t>
              </a:r>
              <a:r>
                <a:rPr lang="fr-FR" sz="1100" dirty="0" err="1"/>
                <a:t>is</a:t>
              </a:r>
              <a:r>
                <a:rPr lang="fr-FR" sz="1100" dirty="0"/>
                <a:t> LOC</a:t>
              </a:r>
              <a:endParaRPr lang="fr-FR" sz="1100" b="1" dirty="0"/>
            </a:p>
          </p:txBody>
        </p:sp>
        <p:sp>
          <p:nvSpPr>
            <p:cNvPr id="39" name="TextBox 38"/>
            <p:cNvSpPr txBox="1"/>
            <p:nvPr/>
          </p:nvSpPr>
          <p:spPr>
            <a:xfrm>
              <a:off x="2575923" y="1516722"/>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BC_BY_TECHNO;ID=60017&#10;"/>
          <p:cNvGraphicFramePr>
            <a:graphicFrameLocks noGrp="1"/>
          </p:cNvGraphicFramePr>
          <p:nvPr>
            <p:extLst>
              <p:ext uri="{D42A27DB-BD31-4B8C-83A1-F6EECF244321}">
                <p14:modId xmlns:p14="http://schemas.microsoft.com/office/powerpoint/2010/main" val="463516973"/>
              </p:ext>
            </p:extLst>
          </p:nvPr>
        </p:nvGraphicFramePr>
        <p:xfrm>
          <a:off x="7305445" y="4462007"/>
          <a:ext cx="2330822" cy="1152126"/>
        </p:xfrm>
        <a:graphic>
          <a:graphicData uri="http://schemas.openxmlformats.org/drawingml/2006/table">
            <a:tbl>
              <a:tblPr firstRow="1" bandRow="1">
                <a:tableStyleId>{9DCAF9ED-07DC-4A11-8D7F-57B35C25682E}</a:tableStyleId>
              </a:tblPr>
              <a:tblGrid>
                <a:gridCol w="1366344">
                  <a:extLst>
                    <a:ext uri="{9D8B030D-6E8A-4147-A177-3AD203B41FA5}">
                      <a16:colId xmlns:a16="http://schemas.microsoft.com/office/drawing/2014/main" val="20000"/>
                    </a:ext>
                  </a:extLst>
                </a:gridCol>
                <a:gridCol w="964478">
                  <a:extLst>
                    <a:ext uri="{9D8B030D-6E8A-4147-A177-3AD203B41FA5}">
                      <a16:colId xmlns:a16="http://schemas.microsoft.com/office/drawing/2014/main" val="20001"/>
                    </a:ext>
                  </a:extLst>
                </a:gridCol>
              </a:tblGrid>
              <a:tr h="192021">
                <a:tc>
                  <a:txBody>
                    <a:bodyPr/>
                    <a:lstStyle/>
                    <a:p>
                      <a:pPr>
                        <a:lnSpc>
                          <a:spcPct val="115000"/>
                        </a:lnSpc>
                        <a:spcAft>
                          <a:spcPts val="0"/>
                        </a:spcAft>
                      </a:pPr>
                      <a:r>
                        <a:rPr lang="en-GB" sz="1000" dirty="0"/>
                        <a:t>Techno</a:t>
                      </a:r>
                      <a:endParaRPr lang="fr-FR" sz="1100" dirty="0">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TQI</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92021">
                <a:tc>
                  <a:txBody>
                    <a:bodyPr/>
                    <a:lstStyle/>
                    <a:p>
                      <a:pPr>
                        <a:lnSpc>
                          <a:spcPct val="115000"/>
                        </a:lnSpc>
                        <a:spcAft>
                          <a:spcPts val="0"/>
                        </a:spcAft>
                      </a:pPr>
                      <a:r>
                        <a:rPr lang="en-GB" sz="1000" dirty="0"/>
                        <a:t>Techno1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192021">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GB" sz="1000" dirty="0"/>
                        <a:t>Techno2</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2"/>
                  </a:ext>
                </a:extLst>
              </a:tr>
              <a:tr h="192021">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GB" sz="1000" dirty="0"/>
                        <a:t>Techno3</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3"/>
                  </a:ext>
                </a:extLst>
              </a:tr>
              <a:tr h="192021">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GB" sz="1000" kern="1200" dirty="0"/>
                        <a:t>Techno4</a:t>
                      </a:r>
                      <a:endParaRPr lang="fr-FR" sz="1000" kern="1200" dirty="0">
                        <a:solidFill>
                          <a:schemeClr val="dk1"/>
                        </a:solidFill>
                        <a:latin typeface="+mn-lt"/>
                        <a:ea typeface="+mn-ea"/>
                        <a:cs typeface="+mn-cs"/>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4"/>
                  </a:ext>
                </a:extLst>
              </a:tr>
              <a:tr h="192021">
                <a:tc>
                  <a:txBody>
                    <a:bodyPr/>
                    <a:lstStyle/>
                    <a:p>
                      <a:pPr>
                        <a:lnSpc>
                          <a:spcPct val="115000"/>
                        </a:lnSpc>
                        <a:spcAft>
                          <a:spcPts val="0"/>
                        </a:spcAft>
                      </a:pPr>
                      <a:r>
                        <a:rPr lang="en-GB" sz="1000" dirty="0"/>
                        <a:t>Techno5</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5"/>
                  </a:ext>
                </a:extLst>
              </a:tr>
            </a:tbl>
          </a:graphicData>
        </a:graphic>
      </p:graphicFrame>
      <p:graphicFrame>
        <p:nvGraphicFramePr>
          <p:cNvPr id="10" name="Table 9" descr="TABLE;LOC_BY_MODULE;COUNT=5"/>
          <p:cNvGraphicFramePr>
            <a:graphicFrameLocks noGrp="1"/>
          </p:cNvGraphicFramePr>
          <p:nvPr>
            <p:extLst>
              <p:ext uri="{D42A27DB-BD31-4B8C-83A1-F6EECF244321}">
                <p14:modId xmlns:p14="http://schemas.microsoft.com/office/powerpoint/2010/main" val="164838818"/>
              </p:ext>
            </p:extLst>
          </p:nvPr>
        </p:nvGraphicFramePr>
        <p:xfrm>
          <a:off x="6890493" y="1607189"/>
          <a:ext cx="2268252" cy="1296143"/>
        </p:xfrm>
        <a:graphic>
          <a:graphicData uri="http://schemas.openxmlformats.org/drawingml/2006/table">
            <a:tbl>
              <a:tblPr firstRow="1" bandRow="1">
                <a:tableStyleId>{9DCAF9ED-07DC-4A11-8D7F-57B35C25682E}</a:tableStyleId>
              </a:tblPr>
              <a:tblGrid>
                <a:gridCol w="1329665">
                  <a:extLst>
                    <a:ext uri="{9D8B030D-6E8A-4147-A177-3AD203B41FA5}">
                      <a16:colId xmlns:a16="http://schemas.microsoft.com/office/drawing/2014/main" val="20000"/>
                    </a:ext>
                  </a:extLst>
                </a:gridCol>
                <a:gridCol w="938587">
                  <a:extLst>
                    <a:ext uri="{9D8B030D-6E8A-4147-A177-3AD203B41FA5}">
                      <a16:colId xmlns:a16="http://schemas.microsoft.com/office/drawing/2014/main" val="20001"/>
                    </a:ext>
                  </a:extLst>
                </a:gridCol>
              </a:tblGrid>
              <a:tr h="216980">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GB" sz="1000" dirty="0"/>
                        <a:t>Module Name</a:t>
                      </a:r>
                      <a:endParaRPr lang="fr-FR" sz="1100" b="1" dirty="0">
                        <a:solidFill>
                          <a:schemeClr val="bg1"/>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LOC</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211243">
                <a:tc>
                  <a:txBody>
                    <a:bodyPr/>
                    <a:lstStyle/>
                    <a:p>
                      <a:pPr>
                        <a:lnSpc>
                          <a:spcPct val="115000"/>
                        </a:lnSpc>
                        <a:spcAft>
                          <a:spcPts val="0"/>
                        </a:spcAft>
                      </a:pPr>
                      <a:r>
                        <a:rPr lang="en-GB" sz="1000" dirty="0"/>
                        <a:t>Module 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16980">
                <a:tc>
                  <a:txBody>
                    <a:bodyPr/>
                    <a:lstStyle/>
                    <a:p>
                      <a:pPr>
                        <a:lnSpc>
                          <a:spcPct val="115000"/>
                        </a:lnSpc>
                        <a:spcAft>
                          <a:spcPts val="0"/>
                        </a:spcAft>
                      </a:pPr>
                      <a:r>
                        <a:rPr lang="en-GB" sz="1000" dirty="0"/>
                        <a:t>Module 2</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2"/>
                  </a:ext>
                </a:extLst>
              </a:tr>
              <a:tr h="216980">
                <a:tc>
                  <a:txBody>
                    <a:bodyPr/>
                    <a:lstStyle/>
                    <a:p>
                      <a:pPr>
                        <a:lnSpc>
                          <a:spcPct val="115000"/>
                        </a:lnSpc>
                        <a:spcAft>
                          <a:spcPts val="0"/>
                        </a:spcAft>
                      </a:pPr>
                      <a:r>
                        <a:rPr lang="en-GB" sz="1000" dirty="0"/>
                        <a:t>Module 3</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3"/>
                  </a:ext>
                </a:extLst>
              </a:tr>
              <a:tr h="216980">
                <a:tc>
                  <a:txBody>
                    <a:bodyPr/>
                    <a:lstStyle/>
                    <a:p>
                      <a:pPr>
                        <a:lnSpc>
                          <a:spcPct val="115000"/>
                        </a:lnSpc>
                        <a:spcAft>
                          <a:spcPts val="0"/>
                        </a:spcAft>
                      </a:pPr>
                      <a:r>
                        <a:rPr lang="en-GB" sz="1000" dirty="0"/>
                        <a:t>Module 4</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4"/>
                  </a:ext>
                </a:extLst>
              </a:tr>
              <a:tr h="216980">
                <a:tc>
                  <a:txBody>
                    <a:bodyPr/>
                    <a:lstStyle/>
                    <a:p>
                      <a:pPr>
                        <a:lnSpc>
                          <a:spcPct val="115000"/>
                        </a:lnSpc>
                        <a:spcAft>
                          <a:spcPts val="0"/>
                        </a:spcAft>
                      </a:pPr>
                      <a:r>
                        <a:rPr lang="en-GB" sz="1000" dirty="0"/>
                        <a:t>Module 5</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145775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5DB058EF-69E3-4AB5-BFDB-0697BAD11233}"/>
              </a:ext>
            </a:extLst>
          </p:cNvPr>
          <p:cNvGrpSpPr/>
          <p:nvPr/>
        </p:nvGrpSpPr>
        <p:grpSpPr>
          <a:xfrm>
            <a:off x="1919536" y="1044448"/>
            <a:ext cx="8418859" cy="2736304"/>
            <a:chOff x="1919536" y="980728"/>
            <a:chExt cx="8418859" cy="2736304"/>
          </a:xfrm>
        </p:grpSpPr>
        <p:sp>
          <p:nvSpPr>
            <p:cNvPr id="33" name="Rounded Rectangle 32"/>
            <p:cNvSpPr/>
            <p:nvPr/>
          </p:nvSpPr>
          <p:spPr>
            <a:xfrm>
              <a:off x="1991544" y="980728"/>
              <a:ext cx="8157600" cy="2736304"/>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919536" y="98072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Top 5 Technologies</a:t>
              </a:r>
            </a:p>
          </p:txBody>
        </p:sp>
        <p:sp>
          <p:nvSpPr>
            <p:cNvPr id="36" name="TextBox 35"/>
            <p:cNvSpPr txBox="1"/>
            <p:nvPr/>
          </p:nvSpPr>
          <p:spPr>
            <a:xfrm>
              <a:off x="3664922" y="1342541"/>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TECHNO_LOC_EVOLUTION</a:t>
              </a:r>
            </a:p>
          </p:txBody>
        </p:sp>
        <p:sp>
          <p:nvSpPr>
            <p:cNvPr id="37" name="TextBox 36"/>
            <p:cNvSpPr txBox="1"/>
            <p:nvPr/>
          </p:nvSpPr>
          <p:spPr>
            <a:xfrm>
              <a:off x="2217758" y="1328893"/>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707861" y="1698610"/>
              <a:ext cx="6630534"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b="1" dirty="0"/>
                <a:t>COUNT=N</a:t>
              </a:r>
              <a:r>
                <a:rPr lang="fr-FR" sz="1200" dirty="0"/>
                <a:t> (by default COUNT </a:t>
              </a:r>
              <a:r>
                <a:rPr lang="fr-FR" sz="1200" dirty="0" err="1"/>
                <a:t>is</a:t>
              </a:r>
              <a:r>
                <a:rPr lang="fr-FR" sz="1200" dirty="0"/>
                <a:t> </a:t>
              </a:r>
              <a:r>
                <a:rPr lang="fr-FR" sz="1200" dirty="0" err="1"/>
                <a:t>null</a:t>
              </a:r>
              <a:r>
                <a:rPr lang="fr-FR" sz="1200" dirty="0"/>
                <a:t>)</a:t>
              </a:r>
            </a:p>
            <a:p>
              <a:r>
                <a:rPr lang="fr-FR" sz="1200" dirty="0" err="1"/>
                <a:t>where</a:t>
              </a:r>
              <a:r>
                <a:rPr lang="fr-FR" sz="1200" dirty="0"/>
                <a:t> N </a:t>
              </a:r>
              <a:r>
                <a:rPr lang="fr-FR" sz="1200" dirty="0" err="1"/>
                <a:t>is</a:t>
              </a:r>
              <a:r>
                <a:rPr lang="fr-FR" sz="1200" dirty="0"/>
                <a:t> the shown </a:t>
              </a:r>
              <a:r>
                <a:rPr lang="fr-FR" sz="1200" dirty="0" err="1"/>
                <a:t>technology</a:t>
              </a:r>
              <a:r>
                <a:rPr lang="fr-FR" sz="1200" dirty="0"/>
                <a:t> count</a:t>
              </a:r>
            </a:p>
          </p:txBody>
        </p:sp>
        <p:sp>
          <p:nvSpPr>
            <p:cNvPr id="39" name="TextBox 38"/>
            <p:cNvSpPr txBox="1"/>
            <p:nvPr/>
          </p:nvSpPr>
          <p:spPr>
            <a:xfrm>
              <a:off x="2610138" y="166073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0" name="Table 9" descr="TABLE;TECHNO_LOC_EVOLUTION"/>
          <p:cNvGraphicFramePr>
            <a:graphicFrameLocks noGrp="1"/>
          </p:cNvGraphicFramePr>
          <p:nvPr>
            <p:extLst>
              <p:ext uri="{D42A27DB-BD31-4B8C-83A1-F6EECF244321}">
                <p14:modId xmlns:p14="http://schemas.microsoft.com/office/powerpoint/2010/main" val="1904728032"/>
              </p:ext>
            </p:extLst>
          </p:nvPr>
        </p:nvGraphicFramePr>
        <p:xfrm>
          <a:off x="2927649" y="2412600"/>
          <a:ext cx="6264697" cy="1084710"/>
        </p:xfrm>
        <a:graphic>
          <a:graphicData uri="http://schemas.openxmlformats.org/drawingml/2006/table">
            <a:tbl>
              <a:tblPr firstRow="1" bandRow="1">
                <a:tableStyleId>{9DCAF9ED-07DC-4A11-8D7F-57B35C25682E}</a:tableStyleId>
              </a:tblPr>
              <a:tblGrid>
                <a:gridCol w="1584176">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354650">
                  <a:extLst>
                    <a:ext uri="{9D8B030D-6E8A-4147-A177-3AD203B41FA5}">
                      <a16:colId xmlns:a16="http://schemas.microsoft.com/office/drawing/2014/main" val="20002"/>
                    </a:ext>
                  </a:extLst>
                </a:gridCol>
                <a:gridCol w="939705">
                  <a:extLst>
                    <a:ext uri="{9D8B030D-6E8A-4147-A177-3AD203B41FA5}">
                      <a16:colId xmlns:a16="http://schemas.microsoft.com/office/drawing/2014/main" val="20003"/>
                    </a:ext>
                  </a:extLst>
                </a:gridCol>
                <a:gridCol w="1018014">
                  <a:extLst>
                    <a:ext uri="{9D8B030D-6E8A-4147-A177-3AD203B41FA5}">
                      <a16:colId xmlns:a16="http://schemas.microsoft.com/office/drawing/2014/main" val="20004"/>
                    </a:ext>
                  </a:extLst>
                </a:gridCol>
              </a:tblGrid>
              <a:tr h="168019">
                <a:tc>
                  <a:txBody>
                    <a:bodyPr/>
                    <a:lstStyle/>
                    <a:p>
                      <a:pPr>
                        <a:lnSpc>
                          <a:spcPct val="115000"/>
                        </a:lnSpc>
                        <a:spcAft>
                          <a:spcPts val="0"/>
                        </a:spcAft>
                      </a:pPr>
                      <a:r>
                        <a:rPr lang="en-GB" sz="1000" dirty="0"/>
                        <a:t>Name</a:t>
                      </a:r>
                      <a:endParaRPr lang="fr-FR" sz="1100" dirty="0">
                        <a:latin typeface="Calibri"/>
                        <a:ea typeface="Calibri"/>
                        <a:cs typeface="Times New Roman"/>
                      </a:endParaRPr>
                    </a:p>
                  </a:txBody>
                  <a:tcPr marL="68580" marR="68580" marT="0" marB="0" anchor="ctr"/>
                </a:tc>
                <a:tc>
                  <a:txBody>
                    <a:bodyPr/>
                    <a:lstStyle/>
                    <a:p>
                      <a:pPr algn="ctr">
                        <a:lnSpc>
                          <a:spcPct val="115000"/>
                        </a:lnSpc>
                        <a:spcAft>
                          <a:spcPts val="0"/>
                        </a:spcAft>
                      </a:pPr>
                      <a:r>
                        <a:rPr lang="en-GB" sz="1000" dirty="0"/>
                        <a:t>Current LOC</a:t>
                      </a:r>
                      <a:endParaRPr lang="fr-FR" sz="1100" dirty="0">
                        <a:latin typeface="Calibri"/>
                        <a:ea typeface="Calibri"/>
                        <a:cs typeface="Times New Roman"/>
                      </a:endParaRPr>
                    </a:p>
                  </a:txBody>
                  <a:tcPr marL="68580" marR="68580" marT="0" marB="0" anchor="ctr" anchorCtr="1"/>
                </a:tc>
                <a:tc>
                  <a:txBody>
                    <a:bodyPr/>
                    <a:lstStyle/>
                    <a:p>
                      <a:pPr algn="ctr">
                        <a:lnSpc>
                          <a:spcPct val="115000"/>
                        </a:lnSpc>
                        <a:spcAft>
                          <a:spcPts val="0"/>
                        </a:spcAft>
                      </a:pPr>
                      <a:r>
                        <a:rPr lang="fr-FR" sz="1100" dirty="0" err="1"/>
                        <a:t>Previous</a:t>
                      </a:r>
                      <a:r>
                        <a:rPr lang="fr-FR" sz="1100" dirty="0"/>
                        <a:t> LOC</a:t>
                      </a:r>
                      <a:endParaRPr lang="fr-FR" sz="1100" dirty="0">
                        <a:latin typeface="Calibri"/>
                        <a:ea typeface="Calibri"/>
                        <a:cs typeface="Times New Roman"/>
                      </a:endParaRPr>
                    </a:p>
                  </a:txBody>
                  <a:tcPr marL="68580" marR="68580" marT="0" marB="0" anchor="ctr" anchorCtr="1"/>
                </a:tc>
                <a:tc>
                  <a:txBody>
                    <a:bodyPr/>
                    <a:lstStyle/>
                    <a:p>
                      <a:pPr algn="ctr">
                        <a:lnSpc>
                          <a:spcPct val="115000"/>
                        </a:lnSpc>
                        <a:spcAft>
                          <a:spcPts val="0"/>
                        </a:spcAft>
                      </a:pPr>
                      <a:r>
                        <a:rPr lang="fr-FR" sz="1100" dirty="0"/>
                        <a:t>Evolution</a:t>
                      </a:r>
                      <a:endParaRPr lang="fr-FR" sz="1100" dirty="0">
                        <a:latin typeface="Calibri"/>
                        <a:ea typeface="Calibri"/>
                        <a:cs typeface="Times New Roman"/>
                      </a:endParaRPr>
                    </a:p>
                  </a:txBody>
                  <a:tcPr marL="68580" marR="68580" marT="0" marB="0" anchor="ctr" anchorCtr="1"/>
                </a:tc>
                <a:tc>
                  <a:txBody>
                    <a:bodyPr/>
                    <a:lstStyle/>
                    <a:p>
                      <a:pPr algn="ctr">
                        <a:lnSpc>
                          <a:spcPct val="115000"/>
                        </a:lnSpc>
                        <a:spcAft>
                          <a:spcPts val="0"/>
                        </a:spcAft>
                      </a:pPr>
                      <a:r>
                        <a:rPr lang="fr-FR" sz="1100" dirty="0"/>
                        <a:t>% Evolution</a:t>
                      </a:r>
                      <a:endParaRPr lang="fr-FR" sz="1100" dirty="0">
                        <a:latin typeface="Calibri"/>
                        <a:ea typeface="Calibri"/>
                        <a:cs typeface="Times New Roman"/>
                      </a:endParaRPr>
                    </a:p>
                  </a:txBody>
                  <a:tcPr marL="68580" marR="68580" marT="0" marB="0" anchor="ctr" anchorCtr="1"/>
                </a:tc>
                <a:extLst>
                  <a:ext uri="{0D108BD9-81ED-4DB2-BD59-A6C34878D82A}">
                    <a16:rowId xmlns:a16="http://schemas.microsoft.com/office/drawing/2014/main" val="10000"/>
                  </a:ext>
                </a:extLst>
              </a:tr>
              <a:tr h="168019">
                <a:tc>
                  <a:txBody>
                    <a:bodyPr/>
                    <a:lstStyle/>
                    <a:p>
                      <a:pPr>
                        <a:lnSpc>
                          <a:spcPct val="115000"/>
                        </a:lnSpc>
                        <a:spcAft>
                          <a:spcPts val="0"/>
                        </a:spcAft>
                      </a:pPr>
                      <a:r>
                        <a:rPr lang="en-GB" sz="1000" dirty="0"/>
                        <a:t>Techno 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1"/>
                  </a:ext>
                </a:extLst>
              </a:tr>
              <a:tr h="168019">
                <a:tc>
                  <a:txBody>
                    <a:bodyPr/>
                    <a:lstStyle/>
                    <a:p>
                      <a:pPr>
                        <a:lnSpc>
                          <a:spcPct val="115000"/>
                        </a:lnSpc>
                        <a:spcAft>
                          <a:spcPts val="0"/>
                        </a:spcAft>
                      </a:pPr>
                      <a:r>
                        <a:rPr lang="en-GB" sz="1000" dirty="0"/>
                        <a:t>Techno 2</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2"/>
                  </a:ext>
                </a:extLst>
              </a:tr>
              <a:tr h="168019">
                <a:tc>
                  <a:txBody>
                    <a:bodyPr/>
                    <a:lstStyle/>
                    <a:p>
                      <a:pPr>
                        <a:lnSpc>
                          <a:spcPct val="115000"/>
                        </a:lnSpc>
                        <a:spcAft>
                          <a:spcPts val="0"/>
                        </a:spcAft>
                      </a:pPr>
                      <a:r>
                        <a:rPr lang="en-GB" sz="1000" dirty="0"/>
                        <a:t>Techno 3</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3"/>
                  </a:ext>
                </a:extLst>
              </a:tr>
              <a:tr h="0">
                <a:tc>
                  <a:txBody>
                    <a:bodyPr/>
                    <a:lstStyle/>
                    <a:p>
                      <a:pPr>
                        <a:lnSpc>
                          <a:spcPct val="115000"/>
                        </a:lnSpc>
                        <a:spcAft>
                          <a:spcPts val="0"/>
                        </a:spcAft>
                      </a:pPr>
                      <a:r>
                        <a:rPr lang="en-GB" sz="1000" dirty="0"/>
                        <a:t>Techno 4</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4"/>
                  </a:ext>
                </a:extLst>
              </a:tr>
              <a:tr h="168019">
                <a:tc>
                  <a:txBody>
                    <a:bodyPr/>
                    <a:lstStyle/>
                    <a:p>
                      <a:pPr>
                        <a:lnSpc>
                          <a:spcPct val="115000"/>
                        </a:lnSpc>
                        <a:spcAft>
                          <a:spcPts val="0"/>
                        </a:spcAft>
                      </a:pPr>
                      <a:r>
                        <a:rPr lang="en-GB" sz="1000" dirty="0"/>
                        <a:t>Techno 5</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5"/>
                  </a:ext>
                </a:extLst>
              </a:tr>
            </a:tbl>
          </a:graphicData>
        </a:graphic>
      </p:graphicFrame>
      <p:grpSp>
        <p:nvGrpSpPr>
          <p:cNvPr id="3" name="Group 2">
            <a:extLst>
              <a:ext uri="{FF2B5EF4-FFF2-40B4-BE49-F238E27FC236}">
                <a16:creationId xmlns:a16="http://schemas.microsoft.com/office/drawing/2014/main" id="{D39D19C5-1FB7-4F76-B420-8E134AF7F466}"/>
              </a:ext>
            </a:extLst>
          </p:cNvPr>
          <p:cNvGrpSpPr/>
          <p:nvPr/>
        </p:nvGrpSpPr>
        <p:grpSpPr>
          <a:xfrm>
            <a:off x="1913240" y="3993957"/>
            <a:ext cx="8397624" cy="2362881"/>
            <a:chOff x="1913240" y="3933056"/>
            <a:chExt cx="8397624" cy="2362881"/>
          </a:xfrm>
        </p:grpSpPr>
        <p:sp>
          <p:nvSpPr>
            <p:cNvPr id="12" name="Rounded Rectangle 11"/>
            <p:cNvSpPr/>
            <p:nvPr/>
          </p:nvSpPr>
          <p:spPr>
            <a:xfrm>
              <a:off x="2008636" y="3933056"/>
              <a:ext cx="8157600" cy="2362881"/>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3240" y="400506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Technical Size Information</a:t>
              </a:r>
            </a:p>
          </p:txBody>
        </p:sp>
        <p:sp>
          <p:nvSpPr>
            <p:cNvPr id="14" name="TextBox 13"/>
            <p:cNvSpPr txBox="1"/>
            <p:nvPr/>
          </p:nvSpPr>
          <p:spPr>
            <a:xfrm>
              <a:off x="3641930" y="437875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TECHNICAL_SIZING_EVOLUTION</a:t>
              </a:r>
            </a:p>
          </p:txBody>
        </p:sp>
        <p:sp>
          <p:nvSpPr>
            <p:cNvPr id="15" name="TextBox 14"/>
            <p:cNvSpPr txBox="1"/>
            <p:nvPr/>
          </p:nvSpPr>
          <p:spPr>
            <a:xfrm>
              <a:off x="2172811" y="436510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80330" y="4683360"/>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17" name="TextBox 16"/>
            <p:cNvSpPr txBox="1"/>
            <p:nvPr/>
          </p:nvSpPr>
          <p:spPr>
            <a:xfrm>
              <a:off x="2589593" y="470882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TECHNICAL_SIZING_EVOLUTION"/>
          <p:cNvGraphicFramePr>
            <a:graphicFrameLocks noGrp="1"/>
          </p:cNvGraphicFramePr>
          <p:nvPr>
            <p:extLst>
              <p:ext uri="{D42A27DB-BD31-4B8C-83A1-F6EECF244321}">
                <p14:modId xmlns:p14="http://schemas.microsoft.com/office/powerpoint/2010/main" val="4188617178"/>
              </p:ext>
            </p:extLst>
          </p:nvPr>
        </p:nvGraphicFramePr>
        <p:xfrm>
          <a:off x="3359695" y="5157192"/>
          <a:ext cx="5328592" cy="1084710"/>
        </p:xfrm>
        <a:graphic>
          <a:graphicData uri="http://schemas.openxmlformats.org/drawingml/2006/table">
            <a:tbl>
              <a:tblPr firstRow="1" bandRow="1">
                <a:tableStyleId>{9DCAF9ED-07DC-4A11-8D7F-57B35C25682E}</a:tableStyleId>
              </a:tblPr>
              <a:tblGrid>
                <a:gridCol w="1231340">
                  <a:extLst>
                    <a:ext uri="{9D8B030D-6E8A-4147-A177-3AD203B41FA5}">
                      <a16:colId xmlns:a16="http://schemas.microsoft.com/office/drawing/2014/main" val="20000"/>
                    </a:ext>
                  </a:extLst>
                </a:gridCol>
                <a:gridCol w="879530">
                  <a:extLst>
                    <a:ext uri="{9D8B030D-6E8A-4147-A177-3AD203B41FA5}">
                      <a16:colId xmlns:a16="http://schemas.microsoft.com/office/drawing/2014/main" val="20001"/>
                    </a:ext>
                  </a:extLst>
                </a:gridCol>
                <a:gridCol w="879530">
                  <a:extLst>
                    <a:ext uri="{9D8B030D-6E8A-4147-A177-3AD203B41FA5}">
                      <a16:colId xmlns:a16="http://schemas.microsoft.com/office/drawing/2014/main" val="20002"/>
                    </a:ext>
                  </a:extLst>
                </a:gridCol>
                <a:gridCol w="1169096">
                  <a:extLst>
                    <a:ext uri="{9D8B030D-6E8A-4147-A177-3AD203B41FA5}">
                      <a16:colId xmlns:a16="http://schemas.microsoft.com/office/drawing/2014/main" val="20003"/>
                    </a:ext>
                  </a:extLst>
                </a:gridCol>
                <a:gridCol w="1169096">
                  <a:extLst>
                    <a:ext uri="{9D8B030D-6E8A-4147-A177-3AD203B41FA5}">
                      <a16:colId xmlns:a16="http://schemas.microsoft.com/office/drawing/2014/main" val="20004"/>
                    </a:ext>
                  </a:extLst>
                </a:gridCol>
              </a:tblGrid>
              <a:tr h="168019">
                <a:tc>
                  <a:txBody>
                    <a:bodyPr/>
                    <a:lstStyle/>
                    <a:p>
                      <a:pPr>
                        <a:lnSpc>
                          <a:spcPct val="115000"/>
                        </a:lnSpc>
                        <a:spcAft>
                          <a:spcPts val="0"/>
                        </a:spcAft>
                      </a:pPr>
                      <a:r>
                        <a:rPr lang="en-GB" sz="1000" dirty="0"/>
                        <a:t>Name</a:t>
                      </a:r>
                      <a:endParaRPr lang="fr-FR" sz="1100" dirty="0">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Current</a:t>
                      </a:r>
                      <a:endParaRPr lang="fr-FR" sz="1100" dirty="0">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err="1"/>
                        <a:t>Previous</a:t>
                      </a:r>
                      <a:endParaRPr lang="fr-FR" sz="1100" dirty="0">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Evolution</a:t>
                      </a:r>
                      <a:endParaRPr lang="fr-FR" sz="1100" dirty="0">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 Evolution</a:t>
                      </a:r>
                      <a:endParaRPr lang="fr-FR" sz="1100" dirty="0">
                        <a:latin typeface="Calibri"/>
                        <a:ea typeface="Calibri"/>
                        <a:cs typeface="Times New Roman"/>
                      </a:endParaRPr>
                    </a:p>
                  </a:txBody>
                  <a:tcPr marL="68580" marR="68580" marT="0" marB="0" anchor="ctr" anchorCtr="1"/>
                </a:tc>
                <a:extLst>
                  <a:ext uri="{0D108BD9-81ED-4DB2-BD59-A6C34878D82A}">
                    <a16:rowId xmlns:a16="http://schemas.microsoft.com/office/drawing/2014/main" val="10000"/>
                  </a:ext>
                </a:extLst>
              </a:tr>
              <a:tr h="168019">
                <a:tc>
                  <a:txBody>
                    <a:bodyPr/>
                    <a:lstStyle/>
                    <a:p>
                      <a:pPr>
                        <a:lnSpc>
                          <a:spcPct val="115000"/>
                        </a:lnSpc>
                        <a:spcAft>
                          <a:spcPts val="0"/>
                        </a:spcAft>
                      </a:pPr>
                      <a:r>
                        <a:rPr lang="en-GB" sz="1000" dirty="0"/>
                        <a:t>kLOCs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0 %</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1"/>
                  </a:ext>
                </a:extLst>
              </a:tr>
              <a:tr h="168019">
                <a:tc>
                  <a:txBody>
                    <a:bodyPr/>
                    <a:lstStyle/>
                    <a:p>
                      <a:pPr>
                        <a:lnSpc>
                          <a:spcPct val="115000"/>
                        </a:lnSpc>
                        <a:spcAft>
                          <a:spcPts val="0"/>
                        </a:spcAft>
                      </a:pPr>
                      <a:r>
                        <a:rPr lang="en-GB" sz="1000" dirty="0"/>
                        <a:t>Files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0 %</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2"/>
                  </a:ext>
                </a:extLst>
              </a:tr>
              <a:tr h="168019">
                <a:tc>
                  <a:txBody>
                    <a:bodyPr/>
                    <a:lstStyle/>
                    <a:p>
                      <a:pPr>
                        <a:lnSpc>
                          <a:spcPct val="115000"/>
                        </a:lnSpc>
                        <a:spcAft>
                          <a:spcPts val="0"/>
                        </a:spcAft>
                      </a:pPr>
                      <a:r>
                        <a:rPr lang="en-GB" sz="1000" dirty="0"/>
                        <a:t>Classes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0 %</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3"/>
                  </a:ext>
                </a:extLst>
              </a:tr>
              <a:tr h="168019">
                <a:tc>
                  <a:txBody>
                    <a:bodyPr/>
                    <a:lstStyle/>
                    <a:p>
                      <a:pPr>
                        <a:lnSpc>
                          <a:spcPct val="115000"/>
                        </a:lnSpc>
                        <a:spcAft>
                          <a:spcPts val="0"/>
                        </a:spcAft>
                      </a:pPr>
                      <a:r>
                        <a:rPr lang="en-GB" sz="1000" dirty="0"/>
                        <a:t>SQL</a:t>
                      </a:r>
                      <a:r>
                        <a:rPr lang="en-GB" sz="1000" baseline="0" dirty="0"/>
                        <a:t> Art.</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0 %</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4"/>
                  </a:ext>
                </a:extLst>
              </a:tr>
              <a:tr h="168019">
                <a:tc>
                  <a:txBody>
                    <a:bodyPr/>
                    <a:lstStyle/>
                    <a:p>
                      <a:pPr>
                        <a:lnSpc>
                          <a:spcPct val="115000"/>
                        </a:lnSpc>
                        <a:spcAft>
                          <a:spcPts val="0"/>
                        </a:spcAft>
                      </a:pPr>
                      <a:r>
                        <a:rPr lang="en-GB" sz="1000" dirty="0"/>
                        <a:t>      Tables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0 %</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11261EE2-E90A-4311-9422-14C38B191702}"/>
              </a:ext>
            </a:extLst>
          </p:cNvPr>
          <p:cNvGrpSpPr/>
          <p:nvPr/>
        </p:nvGrpSpPr>
        <p:grpSpPr>
          <a:xfrm>
            <a:off x="1889246" y="1342660"/>
            <a:ext cx="8358710" cy="1780057"/>
            <a:chOff x="1889246" y="980728"/>
            <a:chExt cx="8358710" cy="1780057"/>
          </a:xfrm>
        </p:grpSpPr>
        <p:sp>
          <p:nvSpPr>
            <p:cNvPr id="19" name="Rounded Rectangle 18"/>
            <p:cNvSpPr/>
            <p:nvPr/>
          </p:nvSpPr>
          <p:spPr>
            <a:xfrm>
              <a:off x="1982038" y="980728"/>
              <a:ext cx="8157600" cy="1780057"/>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20" name="TextBox 19"/>
            <p:cNvSpPr txBox="1"/>
            <p:nvPr/>
          </p:nvSpPr>
          <p:spPr>
            <a:xfrm>
              <a:off x="1889246" y="1031185"/>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Functional Weight Information</a:t>
              </a:r>
            </a:p>
          </p:txBody>
        </p:sp>
        <p:sp>
          <p:nvSpPr>
            <p:cNvPr id="21" name="TextBox 20"/>
            <p:cNvSpPr txBox="1"/>
            <p:nvPr/>
          </p:nvSpPr>
          <p:spPr>
            <a:xfrm>
              <a:off x="3593672" y="1393939"/>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FUNCTIONAL_WEIGHT</a:t>
              </a:r>
            </a:p>
          </p:txBody>
        </p:sp>
        <p:sp>
          <p:nvSpPr>
            <p:cNvPr id="22" name="TextBox 21"/>
            <p:cNvSpPr txBox="1"/>
            <p:nvPr/>
          </p:nvSpPr>
          <p:spPr>
            <a:xfrm>
              <a:off x="2146508" y="1377151"/>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23" name="TextBox 22"/>
            <p:cNvSpPr txBox="1"/>
            <p:nvPr/>
          </p:nvSpPr>
          <p:spPr>
            <a:xfrm>
              <a:off x="3617422" y="1687492"/>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25" name="TextBox 24"/>
            <p:cNvSpPr txBox="1"/>
            <p:nvPr/>
          </p:nvSpPr>
          <p:spPr>
            <a:xfrm>
              <a:off x="2563290" y="169712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26" name="Table 25" descr="TABLE;FUNCTIONAL_WEIGHT"/>
          <p:cNvGraphicFramePr>
            <a:graphicFrameLocks noGrp="1"/>
          </p:cNvGraphicFramePr>
          <p:nvPr>
            <p:extLst>
              <p:ext uri="{D42A27DB-BD31-4B8C-83A1-F6EECF244321}">
                <p14:modId xmlns:p14="http://schemas.microsoft.com/office/powerpoint/2010/main" val="4132179145"/>
              </p:ext>
            </p:extLst>
          </p:nvPr>
        </p:nvGraphicFramePr>
        <p:xfrm>
          <a:off x="6653808" y="1878818"/>
          <a:ext cx="2880320" cy="879658"/>
        </p:xfrm>
        <a:graphic>
          <a:graphicData uri="http://schemas.openxmlformats.org/drawingml/2006/table">
            <a:tbl>
              <a:tblPr firstRow="1" bandRow="1">
                <a:tableStyleId>{9DCAF9ED-07DC-4A11-8D7F-57B35C25682E}</a:tableStyleId>
              </a:tblPr>
              <a:tblGrid>
                <a:gridCol w="1868316">
                  <a:extLst>
                    <a:ext uri="{9D8B030D-6E8A-4147-A177-3AD203B41FA5}">
                      <a16:colId xmlns:a16="http://schemas.microsoft.com/office/drawing/2014/main" val="20000"/>
                    </a:ext>
                  </a:extLst>
                </a:gridCol>
                <a:gridCol w="1012004">
                  <a:extLst>
                    <a:ext uri="{9D8B030D-6E8A-4147-A177-3AD203B41FA5}">
                      <a16:colId xmlns:a16="http://schemas.microsoft.com/office/drawing/2014/main" val="20001"/>
                    </a:ext>
                  </a:extLst>
                </a:gridCol>
              </a:tblGrid>
              <a:tr h="180020">
                <a:tc>
                  <a:txBody>
                    <a:bodyPr/>
                    <a:lstStyle/>
                    <a:p>
                      <a:pPr>
                        <a:lnSpc>
                          <a:spcPct val="115000"/>
                        </a:lnSpc>
                        <a:spcAft>
                          <a:spcPts val="0"/>
                        </a:spcAft>
                      </a:pPr>
                      <a:r>
                        <a:rPr lang="en-GB" sz="1000" dirty="0"/>
                        <a:t>Name</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Number</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80020">
                <a:tc>
                  <a:txBody>
                    <a:bodyPr/>
                    <a:lstStyle/>
                    <a:p>
                      <a:pPr>
                        <a:lnSpc>
                          <a:spcPct val="115000"/>
                        </a:lnSpc>
                        <a:spcAft>
                          <a:spcPts val="0"/>
                        </a:spcAft>
                      </a:pPr>
                      <a:r>
                        <a:rPr lang="en-GB" sz="1000" dirty="0"/>
                        <a:t>Automated Function Points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180020">
                <a:tc>
                  <a:txBody>
                    <a:bodyPr/>
                    <a:lstStyle/>
                    <a:p>
                      <a:pPr>
                        <a:lnSpc>
                          <a:spcPct val="115000"/>
                        </a:lnSpc>
                        <a:spcAft>
                          <a:spcPts val="0"/>
                        </a:spcAft>
                      </a:pPr>
                      <a:r>
                        <a:rPr lang="en-GB" sz="1000" dirty="0"/>
                        <a:t>Decision Points (CC)</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2"/>
                  </a:ext>
                </a:extLst>
              </a:tr>
              <a:tr h="180020">
                <a:tc>
                  <a:txBody>
                    <a:bodyPr/>
                    <a:lstStyle/>
                    <a:p>
                      <a:pPr>
                        <a:lnSpc>
                          <a:spcPct val="115000"/>
                        </a:lnSpc>
                        <a:spcAft>
                          <a:spcPts val="0"/>
                        </a:spcAft>
                      </a:pPr>
                      <a:r>
                        <a:rPr lang="en-GB" sz="1000" dirty="0"/>
                        <a:t>Backfires Function Points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grpSp>
        <p:nvGrpSpPr>
          <p:cNvPr id="3" name="Group 2">
            <a:extLst>
              <a:ext uri="{FF2B5EF4-FFF2-40B4-BE49-F238E27FC236}">
                <a16:creationId xmlns:a16="http://schemas.microsoft.com/office/drawing/2014/main" id="{5F13164A-8724-4F01-956D-DAE613E43AE9}"/>
              </a:ext>
            </a:extLst>
          </p:cNvPr>
          <p:cNvGrpSpPr/>
          <p:nvPr/>
        </p:nvGrpSpPr>
        <p:grpSpPr>
          <a:xfrm>
            <a:off x="1919536" y="3509715"/>
            <a:ext cx="8328420" cy="2448272"/>
            <a:chOff x="1919536" y="3645024"/>
            <a:chExt cx="8328420" cy="2448272"/>
          </a:xfrm>
        </p:grpSpPr>
        <p:sp>
          <p:nvSpPr>
            <p:cNvPr id="27" name="Rounded Rectangle 26"/>
            <p:cNvSpPr/>
            <p:nvPr/>
          </p:nvSpPr>
          <p:spPr>
            <a:xfrm>
              <a:off x="1982038" y="3645024"/>
              <a:ext cx="8157600" cy="2448272"/>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28" name="TextBox 27"/>
            <p:cNvSpPr txBox="1"/>
            <p:nvPr/>
          </p:nvSpPr>
          <p:spPr>
            <a:xfrm>
              <a:off x="1919536" y="364502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Functional Weight Information</a:t>
              </a:r>
            </a:p>
          </p:txBody>
        </p:sp>
        <p:sp>
          <p:nvSpPr>
            <p:cNvPr id="29" name="TextBox 28"/>
            <p:cNvSpPr txBox="1"/>
            <p:nvPr/>
          </p:nvSpPr>
          <p:spPr>
            <a:xfrm>
              <a:off x="3605547" y="402185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FUNCTIONAL_WEIGHT_EVOLUTION</a:t>
              </a:r>
            </a:p>
          </p:txBody>
        </p:sp>
        <p:sp>
          <p:nvSpPr>
            <p:cNvPr id="30" name="TextBox 29"/>
            <p:cNvSpPr txBox="1"/>
            <p:nvPr/>
          </p:nvSpPr>
          <p:spPr>
            <a:xfrm>
              <a:off x="2158383" y="400506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1" name="TextBox 30"/>
            <p:cNvSpPr txBox="1"/>
            <p:nvPr/>
          </p:nvSpPr>
          <p:spPr>
            <a:xfrm>
              <a:off x="3617422" y="4303530"/>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32" name="TextBox 31"/>
            <p:cNvSpPr txBox="1"/>
            <p:nvPr/>
          </p:nvSpPr>
          <p:spPr>
            <a:xfrm>
              <a:off x="2575165" y="432503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35" name="Table 34" descr="TABLE;FUNCTIONAL_WEIGHT_EVOLUTION"/>
          <p:cNvGraphicFramePr>
            <a:graphicFrameLocks noGrp="1"/>
          </p:cNvGraphicFramePr>
          <p:nvPr>
            <p:extLst>
              <p:ext uri="{D42A27DB-BD31-4B8C-83A1-F6EECF244321}">
                <p14:modId xmlns:p14="http://schemas.microsoft.com/office/powerpoint/2010/main" val="758011217"/>
              </p:ext>
            </p:extLst>
          </p:nvPr>
        </p:nvGraphicFramePr>
        <p:xfrm>
          <a:off x="3359696" y="4589126"/>
          <a:ext cx="5616624" cy="1233552"/>
        </p:xfrm>
        <a:graphic>
          <a:graphicData uri="http://schemas.openxmlformats.org/drawingml/2006/table">
            <a:tbl>
              <a:tblPr firstRow="1" bandRow="1">
                <a:tableStyleId>{9DCAF9ED-07DC-4A11-8D7F-57B35C25682E}</a:tableStyleId>
              </a:tblPr>
              <a:tblGrid>
                <a:gridCol w="1728192">
                  <a:extLst>
                    <a:ext uri="{9D8B030D-6E8A-4147-A177-3AD203B41FA5}">
                      <a16:colId xmlns:a16="http://schemas.microsoft.com/office/drawing/2014/main" val="20000"/>
                    </a:ext>
                  </a:extLst>
                </a:gridCol>
                <a:gridCol w="972108">
                  <a:extLst>
                    <a:ext uri="{9D8B030D-6E8A-4147-A177-3AD203B41FA5}">
                      <a16:colId xmlns:a16="http://schemas.microsoft.com/office/drawing/2014/main" val="20001"/>
                    </a:ext>
                  </a:extLst>
                </a:gridCol>
                <a:gridCol w="972108">
                  <a:extLst>
                    <a:ext uri="{9D8B030D-6E8A-4147-A177-3AD203B41FA5}">
                      <a16:colId xmlns:a16="http://schemas.microsoft.com/office/drawing/2014/main" val="20002"/>
                    </a:ext>
                  </a:extLst>
                </a:gridCol>
                <a:gridCol w="972108">
                  <a:extLst>
                    <a:ext uri="{9D8B030D-6E8A-4147-A177-3AD203B41FA5}">
                      <a16:colId xmlns:a16="http://schemas.microsoft.com/office/drawing/2014/main" val="20003"/>
                    </a:ext>
                  </a:extLst>
                </a:gridCol>
                <a:gridCol w="972108">
                  <a:extLst>
                    <a:ext uri="{9D8B030D-6E8A-4147-A177-3AD203B41FA5}">
                      <a16:colId xmlns:a16="http://schemas.microsoft.com/office/drawing/2014/main" val="20004"/>
                    </a:ext>
                  </a:extLst>
                </a:gridCol>
              </a:tblGrid>
              <a:tr h="168019">
                <a:tc>
                  <a:txBody>
                    <a:bodyPr/>
                    <a:lstStyle/>
                    <a:p>
                      <a:pPr>
                        <a:lnSpc>
                          <a:spcPct val="115000"/>
                        </a:lnSpc>
                        <a:spcAft>
                          <a:spcPts val="0"/>
                        </a:spcAft>
                      </a:pPr>
                      <a:r>
                        <a:rPr lang="en-GB" sz="1000" dirty="0"/>
                        <a:t>Name</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Current</a:t>
                      </a:r>
                      <a:endParaRPr lang="fr-FR" sz="1100" dirty="0">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err="1"/>
                        <a:t>Previous</a:t>
                      </a:r>
                      <a:endParaRPr lang="fr-FR" sz="1100" dirty="0">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Evolution</a:t>
                      </a:r>
                      <a:endParaRPr lang="fr-FR" sz="1100" dirty="0">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 Evolution</a:t>
                      </a:r>
                      <a:endParaRPr lang="fr-FR" sz="1100" dirty="0">
                        <a:latin typeface="Calibri"/>
                        <a:ea typeface="Calibri"/>
                        <a:cs typeface="Times New Roman"/>
                      </a:endParaRPr>
                    </a:p>
                  </a:txBody>
                  <a:tcPr marL="68580" marR="68580" marT="0" marB="0" anchor="ctr" anchorCtr="1"/>
                </a:tc>
                <a:extLst>
                  <a:ext uri="{0D108BD9-81ED-4DB2-BD59-A6C34878D82A}">
                    <a16:rowId xmlns:a16="http://schemas.microsoft.com/office/drawing/2014/main" val="10000"/>
                  </a:ext>
                </a:extLst>
              </a:tr>
              <a:tr h="168019">
                <a:tc>
                  <a:txBody>
                    <a:bodyPr/>
                    <a:lstStyle/>
                    <a:p>
                      <a:pPr>
                        <a:lnSpc>
                          <a:spcPct val="115000"/>
                        </a:lnSpc>
                        <a:spcAft>
                          <a:spcPts val="0"/>
                        </a:spcAft>
                      </a:pPr>
                      <a:r>
                        <a:rPr lang="en-GB" sz="1000" dirty="0"/>
                        <a:t>Automated Function Points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0 %</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1"/>
                  </a:ext>
                </a:extLst>
              </a:tr>
              <a:tr h="168019">
                <a:tc>
                  <a:txBody>
                    <a:bodyPr/>
                    <a:lstStyle/>
                    <a:p>
                      <a:pPr>
                        <a:lnSpc>
                          <a:spcPct val="115000"/>
                        </a:lnSpc>
                        <a:spcAft>
                          <a:spcPts val="0"/>
                        </a:spcAft>
                      </a:pPr>
                      <a:r>
                        <a:rPr lang="en-GB" sz="1000" dirty="0"/>
                        <a:t>Decision Points (CC)</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0 %</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2"/>
                  </a:ext>
                </a:extLst>
              </a:tr>
              <a:tr h="168019">
                <a:tc>
                  <a:txBody>
                    <a:bodyPr/>
                    <a:lstStyle/>
                    <a:p>
                      <a:pPr>
                        <a:lnSpc>
                          <a:spcPct val="115000"/>
                        </a:lnSpc>
                        <a:spcAft>
                          <a:spcPts val="0"/>
                        </a:spcAft>
                      </a:pPr>
                      <a:r>
                        <a:rPr lang="en-GB" sz="1000" dirty="0"/>
                        <a:t>Backfires Function Points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a:t>
                      </a:r>
                      <a:endParaRPr lang="fr-FR" sz="1100" dirty="0">
                        <a:solidFill>
                          <a:schemeClr val="tx1"/>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a:t>0 %</a:t>
                      </a:r>
                      <a:endParaRPr lang="fr-FR" sz="110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E67C329-4FE8-4A80-830A-060EF831F388}"/>
              </a:ext>
            </a:extLst>
          </p:cNvPr>
          <p:cNvGrpSpPr/>
          <p:nvPr/>
        </p:nvGrpSpPr>
        <p:grpSpPr>
          <a:xfrm>
            <a:off x="1919831" y="1052736"/>
            <a:ext cx="8496649" cy="3024336"/>
            <a:chOff x="1919831" y="1052736"/>
            <a:chExt cx="8496649" cy="3024336"/>
          </a:xfrm>
        </p:grpSpPr>
        <p:sp>
          <p:nvSpPr>
            <p:cNvPr id="33" name="Rounded Rectangle 32"/>
            <p:cNvSpPr/>
            <p:nvPr/>
          </p:nvSpPr>
          <p:spPr>
            <a:xfrm>
              <a:off x="2017200" y="1052736"/>
              <a:ext cx="8157600" cy="3024336"/>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919831"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Health Factor Grades &amp; Evolution on Previous Snapshot</a:t>
              </a:r>
            </a:p>
          </p:txBody>
        </p:sp>
        <p:sp>
          <p:nvSpPr>
            <p:cNvPr id="36" name="TextBox 35"/>
            <p:cNvSpPr txBox="1"/>
            <p:nvPr/>
          </p:nvSpPr>
          <p:spPr>
            <a:xfrm>
              <a:off x="3617422" y="1414549"/>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HEALTH_FACTOR</a:t>
              </a:r>
            </a:p>
          </p:txBody>
        </p:sp>
        <p:sp>
          <p:nvSpPr>
            <p:cNvPr id="37" name="TextBox 36"/>
            <p:cNvSpPr txBox="1"/>
            <p:nvPr/>
          </p:nvSpPr>
          <p:spPr>
            <a:xfrm>
              <a:off x="2170258" y="1400901"/>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9" name="TextBox 38"/>
            <p:cNvSpPr txBox="1"/>
            <p:nvPr/>
          </p:nvSpPr>
          <p:spPr>
            <a:xfrm>
              <a:off x="2587040" y="172087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9" name="TextBox 18"/>
            <p:cNvSpPr txBox="1"/>
            <p:nvPr/>
          </p:nvSpPr>
          <p:spPr>
            <a:xfrm>
              <a:off x="3605547" y="1758742"/>
              <a:ext cx="6810933" cy="1138773"/>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b="1" dirty="0"/>
                <a:t>HEADER=SHORT</a:t>
              </a:r>
              <a:r>
                <a:rPr lang="fr-FR" sz="1200" dirty="0"/>
                <a:t> (by default HEADER=SHORT)</a:t>
              </a:r>
            </a:p>
            <a:p>
              <a:r>
                <a:rPr lang="fr-FR" sz="1050" dirty="0"/>
                <a:t>Indicates that short headers will be shown, obviously long headers will </a:t>
              </a:r>
              <a:r>
                <a:rPr lang="fr-FR" sz="1050" dirty="0" err="1"/>
                <a:t>be</a:t>
              </a:r>
              <a:r>
                <a:rPr lang="fr-FR" sz="1050" dirty="0"/>
                <a:t> </a:t>
              </a:r>
              <a:r>
                <a:rPr lang="fr-FR" sz="1050" dirty="0" err="1"/>
                <a:t>shown</a:t>
              </a:r>
              <a:endParaRPr lang="fr-FR" sz="1050" dirty="0"/>
            </a:p>
            <a:p>
              <a:r>
                <a:rPr lang="fr-FR" sz="1200" b="1" dirty="0"/>
                <a:t>SHOW_EVOL=1 </a:t>
              </a:r>
              <a:r>
                <a:rPr lang="fr-FR" sz="1200" dirty="0"/>
                <a:t>(by default SHOW_EVOL=0)</a:t>
              </a:r>
            </a:p>
            <a:p>
              <a:r>
                <a:rPr lang="fr-FR" sz="1050" dirty="0"/>
                <a:t>Displays a </a:t>
              </a:r>
              <a:r>
                <a:rPr lang="fr-FR" sz="1050" dirty="0" err="1"/>
                <a:t>row</a:t>
              </a:r>
              <a:r>
                <a:rPr lang="fr-FR" sz="1050" dirty="0"/>
                <a:t> </a:t>
              </a:r>
              <a:r>
                <a:rPr lang="fr-FR" sz="1050" dirty="0" err="1"/>
                <a:t>indicating</a:t>
              </a:r>
              <a:r>
                <a:rPr lang="fr-FR" sz="1050" dirty="0"/>
                <a:t> </a:t>
              </a:r>
              <a:r>
                <a:rPr lang="fr-FR" sz="1050" dirty="0" err="1"/>
                <a:t>evolution</a:t>
              </a:r>
              <a:r>
                <a:rPr lang="fr-FR" sz="1050" dirty="0"/>
                <a:t> as </a:t>
              </a:r>
              <a:r>
                <a:rPr lang="fr-FR" sz="1050" dirty="0" err="1"/>
                <a:t>absolute</a:t>
              </a:r>
              <a:r>
                <a:rPr lang="fr-FR" sz="1050" dirty="0"/>
                <a:t> values (delta)</a:t>
              </a:r>
            </a:p>
            <a:p>
              <a:r>
                <a:rPr lang="fr-FR" sz="1200" b="1" dirty="0"/>
                <a:t>SHOW_EVOL_PERCENT=0 </a:t>
              </a:r>
              <a:r>
                <a:rPr lang="fr-FR" sz="1200" dirty="0"/>
                <a:t>(by default SHOW_EVOL_PERCENT=1)</a:t>
              </a:r>
            </a:p>
            <a:p>
              <a:r>
                <a:rPr lang="fr-FR" sz="1050" dirty="0"/>
                <a:t>Displays a </a:t>
              </a:r>
              <a:r>
                <a:rPr lang="fr-FR" sz="1050" dirty="0" err="1"/>
                <a:t>row</a:t>
              </a:r>
              <a:r>
                <a:rPr lang="fr-FR" sz="1050" dirty="0"/>
                <a:t> </a:t>
              </a:r>
              <a:r>
                <a:rPr lang="fr-FR" sz="1050" dirty="0" err="1"/>
                <a:t>indicating</a:t>
              </a:r>
              <a:r>
                <a:rPr lang="fr-FR" sz="1050" dirty="0"/>
                <a:t> </a:t>
              </a:r>
              <a:r>
                <a:rPr lang="fr-FR" sz="1050" dirty="0" err="1"/>
                <a:t>evolution</a:t>
              </a:r>
              <a:r>
                <a:rPr lang="fr-FR" sz="1050" dirty="0"/>
                <a:t> as relative values (percent)</a:t>
              </a:r>
            </a:p>
          </p:txBody>
        </p:sp>
      </p:grpSp>
      <p:sp>
        <p:nvSpPr>
          <p:cNvPr id="24" name="Title 1"/>
          <p:cNvSpPr>
            <a:spLocks noGrp="1"/>
          </p:cNvSpPr>
          <p:nvPr>
            <p:ph type="title"/>
          </p:nvPr>
        </p:nvSpPr>
        <p:spPr/>
        <p:txBody>
          <a:bodyPr>
            <a:normAutofit/>
          </a:bodyPr>
          <a:lstStyle/>
          <a:p>
            <a:r>
              <a:rPr lang="fr-FR" dirty="0"/>
              <a:t>PowerPoint Templates – Tables</a:t>
            </a:r>
          </a:p>
        </p:txBody>
      </p:sp>
      <p:graphicFrame>
        <p:nvGraphicFramePr>
          <p:cNvPr id="10" name="Table 9" descr="TABLE;HEALTH_FACTOR;HEADER=SHORT"/>
          <p:cNvGraphicFramePr>
            <a:graphicFrameLocks noGrp="1"/>
          </p:cNvGraphicFramePr>
          <p:nvPr>
            <p:extLst>
              <p:ext uri="{D42A27DB-BD31-4B8C-83A1-F6EECF244321}">
                <p14:modId xmlns:p14="http://schemas.microsoft.com/office/powerpoint/2010/main" val="2776126289"/>
              </p:ext>
            </p:extLst>
          </p:nvPr>
        </p:nvGraphicFramePr>
        <p:xfrm>
          <a:off x="3053560" y="3047986"/>
          <a:ext cx="5760640" cy="857119"/>
        </p:xfrm>
        <a:graphic>
          <a:graphicData uri="http://schemas.openxmlformats.org/drawingml/2006/table">
            <a:tbl>
              <a:tblPr firstRow="1" bandRow="1">
                <a:tableStyleId>{9DCAF9ED-07DC-4A11-8D7F-57B35C25682E}</a:tableStyleId>
              </a:tblPr>
              <a:tblGrid>
                <a:gridCol w="1152130">
                  <a:extLst>
                    <a:ext uri="{9D8B030D-6E8A-4147-A177-3AD203B41FA5}">
                      <a16:colId xmlns:a16="http://schemas.microsoft.com/office/drawing/2014/main" val="20000"/>
                    </a:ext>
                  </a:extLst>
                </a:gridCol>
                <a:gridCol w="768085">
                  <a:extLst>
                    <a:ext uri="{9D8B030D-6E8A-4147-A177-3AD203B41FA5}">
                      <a16:colId xmlns:a16="http://schemas.microsoft.com/office/drawing/2014/main" val="20001"/>
                    </a:ext>
                  </a:extLst>
                </a:gridCol>
                <a:gridCol w="768085">
                  <a:extLst>
                    <a:ext uri="{9D8B030D-6E8A-4147-A177-3AD203B41FA5}">
                      <a16:colId xmlns:a16="http://schemas.microsoft.com/office/drawing/2014/main" val="20002"/>
                    </a:ext>
                  </a:extLst>
                </a:gridCol>
                <a:gridCol w="768085">
                  <a:extLst>
                    <a:ext uri="{9D8B030D-6E8A-4147-A177-3AD203B41FA5}">
                      <a16:colId xmlns:a16="http://schemas.microsoft.com/office/drawing/2014/main" val="20003"/>
                    </a:ext>
                  </a:extLst>
                </a:gridCol>
                <a:gridCol w="768085">
                  <a:extLst>
                    <a:ext uri="{9D8B030D-6E8A-4147-A177-3AD203B41FA5}">
                      <a16:colId xmlns:a16="http://schemas.microsoft.com/office/drawing/2014/main" val="20004"/>
                    </a:ext>
                  </a:extLst>
                </a:gridCol>
                <a:gridCol w="768085">
                  <a:extLst>
                    <a:ext uri="{9D8B030D-6E8A-4147-A177-3AD203B41FA5}">
                      <a16:colId xmlns:a16="http://schemas.microsoft.com/office/drawing/2014/main" val="20005"/>
                    </a:ext>
                  </a:extLst>
                </a:gridCol>
                <a:gridCol w="768085">
                  <a:extLst>
                    <a:ext uri="{9D8B030D-6E8A-4147-A177-3AD203B41FA5}">
                      <a16:colId xmlns:a16="http://schemas.microsoft.com/office/drawing/2014/main" val="20006"/>
                    </a:ext>
                  </a:extLst>
                </a:gridCol>
              </a:tblGrid>
              <a:tr h="168019">
                <a:tc>
                  <a:txBody>
                    <a:bodyPr/>
                    <a:lstStyle/>
                    <a:p>
                      <a:pPr>
                        <a:lnSpc>
                          <a:spcPct val="115000"/>
                        </a:lnSpc>
                        <a:spcAft>
                          <a:spcPts val="0"/>
                        </a:spcAft>
                      </a:pP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TQI</a:t>
                      </a:r>
                      <a:endParaRPr lang="fr-FR" sz="1100" dirty="0">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Robu.</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Efcy</a:t>
                      </a:r>
                      <a:r>
                        <a:rPr lang="fr-FR" sz="1000" kern="1200" dirty="0"/>
                        <a:t>.</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Secu.</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Trans.</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Chang.</a:t>
                      </a:r>
                      <a:endParaRPr lang="fr-FR" sz="1000" b="1" kern="1200" dirty="0">
                        <a:solidFill>
                          <a:schemeClr val="lt1"/>
                        </a:solidFill>
                        <a:latin typeface="+mn-lt"/>
                        <a:ea typeface="+mn-ea"/>
                        <a:cs typeface="+mn-cs"/>
                      </a:endParaRPr>
                    </a:p>
                  </a:txBody>
                  <a:tcPr marL="68580" marR="68580" marT="0" marB="0"/>
                </a:tc>
                <a:extLst>
                  <a:ext uri="{0D108BD9-81ED-4DB2-BD59-A6C34878D82A}">
                    <a16:rowId xmlns:a16="http://schemas.microsoft.com/office/drawing/2014/main" val="10000"/>
                  </a:ext>
                </a:extLst>
              </a:tr>
              <a:tr h="168019">
                <a:tc>
                  <a:txBody>
                    <a:bodyPr/>
                    <a:lstStyle/>
                    <a:p>
                      <a:pPr>
                        <a:lnSpc>
                          <a:spcPct val="115000"/>
                        </a:lnSpc>
                        <a:spcAft>
                          <a:spcPts val="0"/>
                        </a:spcAft>
                      </a:pPr>
                      <a:r>
                        <a:rPr lang="en-GB" sz="1000" dirty="0"/>
                        <a:t>Current Version</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0.00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68019">
                <a:tc>
                  <a:txBody>
                    <a:bodyPr/>
                    <a:lstStyle/>
                    <a:p>
                      <a:pPr>
                        <a:lnSpc>
                          <a:spcPct val="115000"/>
                        </a:lnSpc>
                        <a:spcAft>
                          <a:spcPts val="0"/>
                        </a:spcAft>
                      </a:pPr>
                      <a:r>
                        <a:rPr lang="en-GB" sz="1000" dirty="0"/>
                        <a:t>Previous Version</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fr-FR" sz="1000" kern="1200" dirty="0"/>
                        <a:t>0.00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68019">
                <a:tc>
                  <a:txBody>
                    <a:bodyPr/>
                    <a:lstStyle/>
                    <a:p>
                      <a:pPr>
                        <a:lnSpc>
                          <a:spcPct val="115000"/>
                        </a:lnSpc>
                        <a:spcAft>
                          <a:spcPts val="0"/>
                        </a:spcAft>
                      </a:pPr>
                      <a:r>
                        <a:rPr lang="en-GB" sz="1000" dirty="0"/>
                        <a:t>Variation</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fr-FR" sz="1000" kern="1200" dirty="0"/>
                        <a:t>0.00 %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bl>
          </a:graphicData>
        </a:graphic>
      </p:graphicFrame>
      <p:grpSp>
        <p:nvGrpSpPr>
          <p:cNvPr id="3" name="Group 2">
            <a:extLst>
              <a:ext uri="{FF2B5EF4-FFF2-40B4-BE49-F238E27FC236}">
                <a16:creationId xmlns:a16="http://schemas.microsoft.com/office/drawing/2014/main" id="{3CF8E7BF-B104-487B-895F-929186365F53}"/>
              </a:ext>
            </a:extLst>
          </p:cNvPr>
          <p:cNvGrpSpPr/>
          <p:nvPr/>
        </p:nvGrpSpPr>
        <p:grpSpPr>
          <a:xfrm>
            <a:off x="1935017" y="4178368"/>
            <a:ext cx="8324814" cy="2125717"/>
            <a:chOff x="1935017" y="4178368"/>
            <a:chExt cx="8324814" cy="2125717"/>
          </a:xfrm>
        </p:grpSpPr>
        <p:sp>
          <p:nvSpPr>
            <p:cNvPr id="12" name="Rounded Rectangle 11"/>
            <p:cNvSpPr/>
            <p:nvPr/>
          </p:nvSpPr>
          <p:spPr>
            <a:xfrm>
              <a:off x="2008636" y="4178368"/>
              <a:ext cx="8157600" cy="2125717"/>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35017" y="4178951"/>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Compliance Grades &amp; Evolution</a:t>
              </a:r>
            </a:p>
          </p:txBody>
        </p:sp>
        <p:sp>
          <p:nvSpPr>
            <p:cNvPr id="14" name="TextBox 13"/>
            <p:cNvSpPr txBox="1"/>
            <p:nvPr/>
          </p:nvSpPr>
          <p:spPr>
            <a:xfrm>
              <a:off x="3629297" y="451625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COMPLIANCE</a:t>
              </a:r>
            </a:p>
          </p:txBody>
        </p:sp>
        <p:sp>
          <p:nvSpPr>
            <p:cNvPr id="15" name="TextBox 14"/>
            <p:cNvSpPr txBox="1"/>
            <p:nvPr/>
          </p:nvSpPr>
          <p:spPr>
            <a:xfrm>
              <a:off x="2182133" y="450260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17422" y="4860450"/>
              <a:ext cx="6630534" cy="492443"/>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400" b="1" dirty="0"/>
                <a:t>HEADER=SHORT</a:t>
              </a:r>
              <a:r>
                <a:rPr lang="fr-FR" sz="1400" dirty="0"/>
                <a:t> </a:t>
              </a:r>
              <a:r>
                <a:rPr lang="fr-FR" sz="1200" dirty="0"/>
                <a:t>(by default HEADER=SHORT)</a:t>
              </a:r>
            </a:p>
            <a:p>
              <a:r>
                <a:rPr lang="fr-FR" sz="1100" dirty="0"/>
                <a:t>Indicates that short headers will be shown, obviously long headers will be shown</a:t>
              </a:r>
            </a:p>
          </p:txBody>
        </p:sp>
        <p:sp>
          <p:nvSpPr>
            <p:cNvPr id="17" name="TextBox 16"/>
            <p:cNvSpPr txBox="1"/>
            <p:nvPr/>
          </p:nvSpPr>
          <p:spPr>
            <a:xfrm>
              <a:off x="2598915" y="482257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COMPLIANCE;HEADER=SHORT"/>
          <p:cNvGraphicFramePr>
            <a:graphicFrameLocks noGrp="1"/>
          </p:cNvGraphicFramePr>
          <p:nvPr>
            <p:extLst>
              <p:ext uri="{D42A27DB-BD31-4B8C-83A1-F6EECF244321}">
                <p14:modId xmlns:p14="http://schemas.microsoft.com/office/powerpoint/2010/main" val="1210988111"/>
              </p:ext>
            </p:extLst>
          </p:nvPr>
        </p:nvGraphicFramePr>
        <p:xfrm>
          <a:off x="3935760" y="5460689"/>
          <a:ext cx="3996240" cy="685540"/>
        </p:xfrm>
        <a:graphic>
          <a:graphicData uri="http://schemas.openxmlformats.org/drawingml/2006/table">
            <a:tbl>
              <a:tblPr firstRow="1" bandRow="1">
                <a:tableStyleId>{9DCAF9ED-07DC-4A11-8D7F-57B35C25682E}</a:tableStyleId>
              </a:tblPr>
              <a:tblGrid>
                <a:gridCol w="1296144">
                  <a:extLst>
                    <a:ext uri="{9D8B030D-6E8A-4147-A177-3AD203B41FA5}">
                      <a16:colId xmlns:a16="http://schemas.microsoft.com/office/drawing/2014/main" val="20000"/>
                    </a:ext>
                  </a:extLst>
                </a:gridCol>
                <a:gridCol w="900032">
                  <a:extLst>
                    <a:ext uri="{9D8B030D-6E8A-4147-A177-3AD203B41FA5}">
                      <a16:colId xmlns:a16="http://schemas.microsoft.com/office/drawing/2014/main" val="20001"/>
                    </a:ext>
                  </a:extLst>
                </a:gridCol>
                <a:gridCol w="900032">
                  <a:extLst>
                    <a:ext uri="{9D8B030D-6E8A-4147-A177-3AD203B41FA5}">
                      <a16:colId xmlns:a16="http://schemas.microsoft.com/office/drawing/2014/main" val="20002"/>
                    </a:ext>
                  </a:extLst>
                </a:gridCol>
                <a:gridCol w="900032">
                  <a:extLst>
                    <a:ext uri="{9D8B030D-6E8A-4147-A177-3AD203B41FA5}">
                      <a16:colId xmlns:a16="http://schemas.microsoft.com/office/drawing/2014/main" val="20003"/>
                    </a:ext>
                  </a:extLst>
                </a:gridCol>
              </a:tblGrid>
              <a:tr h="168019">
                <a:tc>
                  <a:txBody>
                    <a:bodyPr/>
                    <a:lstStyle/>
                    <a:p>
                      <a:pPr>
                        <a:lnSpc>
                          <a:spcPct val="115000"/>
                        </a:lnSpc>
                        <a:spcAft>
                          <a:spcPts val="0"/>
                        </a:spcAft>
                      </a:pP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Prog.</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fr-FR" sz="1100" dirty="0"/>
                        <a:t>Arch.</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fr-FR" sz="1100" dirty="0"/>
                        <a:t>Doc.</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68019">
                <a:tc>
                  <a:txBody>
                    <a:bodyPr/>
                    <a:lstStyle/>
                    <a:p>
                      <a:pPr>
                        <a:lnSpc>
                          <a:spcPct val="115000"/>
                        </a:lnSpc>
                        <a:spcAft>
                          <a:spcPts val="0"/>
                        </a:spcAft>
                      </a:pPr>
                      <a:r>
                        <a:rPr lang="en-GB" sz="1000" dirty="0"/>
                        <a:t>Current Version</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0.00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en-GB" sz="10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68019">
                <a:tc>
                  <a:txBody>
                    <a:bodyPr/>
                    <a:lstStyle/>
                    <a:p>
                      <a:pPr>
                        <a:lnSpc>
                          <a:spcPct val="115000"/>
                        </a:lnSpc>
                        <a:spcAft>
                          <a:spcPts val="0"/>
                        </a:spcAft>
                      </a:pPr>
                      <a:r>
                        <a:rPr lang="en-GB" sz="1000" dirty="0"/>
                        <a:t>Previous Version</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0.00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en-GB" sz="10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68019">
                <a:tc>
                  <a:txBody>
                    <a:bodyPr/>
                    <a:lstStyle/>
                    <a:p>
                      <a:pPr>
                        <a:lnSpc>
                          <a:spcPct val="115000"/>
                        </a:lnSpc>
                        <a:spcAft>
                          <a:spcPts val="0"/>
                        </a:spcAft>
                      </a:pPr>
                      <a:r>
                        <a:rPr lang="en-GB" sz="1000" dirty="0"/>
                        <a:t>Variation</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0.00 %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en-GB" sz="10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dirty="0"/>
                        <a:t>0.00 %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8527F370-4F5C-4B8D-8158-445239F38095}"/>
              </a:ext>
            </a:extLst>
          </p:cNvPr>
          <p:cNvGrpSpPr/>
          <p:nvPr/>
        </p:nvGrpSpPr>
        <p:grpSpPr>
          <a:xfrm>
            <a:off x="1943581" y="1122756"/>
            <a:ext cx="8352633" cy="1834070"/>
            <a:chOff x="1943581" y="1005236"/>
            <a:chExt cx="8352633" cy="1834070"/>
          </a:xfrm>
        </p:grpSpPr>
        <p:sp>
          <p:nvSpPr>
            <p:cNvPr id="33" name="Rounded Rectangle 32"/>
            <p:cNvSpPr/>
            <p:nvPr/>
          </p:nvSpPr>
          <p:spPr>
            <a:xfrm>
              <a:off x="2017200" y="1052736"/>
              <a:ext cx="8157600" cy="1786570"/>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943581" y="10052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Statistics on Violations</a:t>
              </a:r>
            </a:p>
          </p:txBody>
        </p:sp>
        <p:sp>
          <p:nvSpPr>
            <p:cNvPr id="36" name="TextBox 35"/>
            <p:cNvSpPr txBox="1"/>
            <p:nvPr/>
          </p:nvSpPr>
          <p:spPr>
            <a:xfrm>
              <a:off x="3641930" y="134076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VIOLATION_STATISTICS</a:t>
              </a:r>
            </a:p>
          </p:txBody>
        </p:sp>
        <p:sp>
          <p:nvSpPr>
            <p:cNvPr id="37" name="TextBox 36"/>
            <p:cNvSpPr txBox="1"/>
            <p:nvPr/>
          </p:nvSpPr>
          <p:spPr>
            <a:xfrm>
              <a:off x="2194766" y="134076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665680" y="1662984"/>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39" name="TextBox 38"/>
            <p:cNvSpPr txBox="1"/>
            <p:nvPr/>
          </p:nvSpPr>
          <p:spPr>
            <a:xfrm>
              <a:off x="2611548" y="166073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0" name="Table 9" descr="TABLE;VIOLATION_STATISTICS"/>
          <p:cNvGraphicFramePr>
            <a:graphicFrameLocks noGrp="1"/>
          </p:cNvGraphicFramePr>
          <p:nvPr>
            <p:extLst>
              <p:ext uri="{D42A27DB-BD31-4B8C-83A1-F6EECF244321}">
                <p14:modId xmlns:p14="http://schemas.microsoft.com/office/powerpoint/2010/main" val="1777054076"/>
              </p:ext>
            </p:extLst>
          </p:nvPr>
        </p:nvGraphicFramePr>
        <p:xfrm>
          <a:off x="6782034" y="1500019"/>
          <a:ext cx="2595057" cy="1251264"/>
        </p:xfrm>
        <a:graphic>
          <a:graphicData uri="http://schemas.openxmlformats.org/drawingml/2006/table">
            <a:tbl>
              <a:tblPr firstRow="1" bandRow="1">
                <a:tableStyleId>{9DCAF9ED-07DC-4A11-8D7F-57B35C25682E}</a:tableStyleId>
              </a:tblPr>
              <a:tblGrid>
                <a:gridCol w="1442930">
                  <a:extLst>
                    <a:ext uri="{9D8B030D-6E8A-4147-A177-3AD203B41FA5}">
                      <a16:colId xmlns:a16="http://schemas.microsoft.com/office/drawing/2014/main" val="20000"/>
                    </a:ext>
                  </a:extLst>
                </a:gridCol>
                <a:gridCol w="1152127">
                  <a:extLst>
                    <a:ext uri="{9D8B030D-6E8A-4147-A177-3AD203B41FA5}">
                      <a16:colId xmlns:a16="http://schemas.microsoft.com/office/drawing/2014/main" val="20001"/>
                    </a:ext>
                  </a:extLst>
                </a:gridCol>
              </a:tblGrid>
              <a:tr h="208544">
                <a:tc>
                  <a:txBody>
                    <a:bodyPr/>
                    <a:lstStyle/>
                    <a:p>
                      <a:pPr>
                        <a:lnSpc>
                          <a:spcPct val="115000"/>
                        </a:lnSpc>
                        <a:spcAft>
                          <a:spcPts val="0"/>
                        </a:spcAft>
                      </a:pPr>
                      <a:r>
                        <a:rPr lang="fr-FR" sz="1000" dirty="0"/>
                        <a:t>Name</a:t>
                      </a:r>
                      <a:endParaRPr lang="fr-FR" sz="1000" dirty="0">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Number</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208544">
                <a:tc>
                  <a:txBody>
                    <a:bodyPr/>
                    <a:lstStyle/>
                    <a:p>
                      <a:pPr>
                        <a:lnSpc>
                          <a:spcPct val="115000"/>
                        </a:lnSpc>
                        <a:spcAft>
                          <a:spcPts val="0"/>
                        </a:spcAft>
                      </a:pPr>
                      <a:r>
                        <a:rPr lang="en-GB" sz="1000" dirty="0"/>
                        <a:t>Critical Violations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08544">
                <a:tc>
                  <a:txBody>
                    <a:bodyPr/>
                    <a:lstStyle/>
                    <a:p>
                      <a:pPr>
                        <a:lnSpc>
                          <a:spcPct val="115000"/>
                        </a:lnSpc>
                        <a:spcAft>
                          <a:spcPts val="0"/>
                        </a:spcAft>
                      </a:pPr>
                      <a:r>
                        <a:rPr lang="en-GB" sz="1000" dirty="0"/>
                        <a:t>     per File</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fr-FR" sz="1000" kern="12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2"/>
                  </a:ext>
                </a:extLst>
              </a:tr>
              <a:tr h="208544">
                <a:tc>
                  <a:txBody>
                    <a:bodyPr/>
                    <a:lstStyle/>
                    <a:p>
                      <a:pPr>
                        <a:lnSpc>
                          <a:spcPct val="115000"/>
                        </a:lnSpc>
                        <a:spcAft>
                          <a:spcPts val="0"/>
                        </a:spcAft>
                      </a:pPr>
                      <a:r>
                        <a:rPr lang="en-GB" sz="1000" dirty="0"/>
                        <a:t>     per kLOCs</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fr-FR" sz="1000" kern="12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3"/>
                  </a:ext>
                </a:extLst>
              </a:tr>
              <a:tr h="208544">
                <a:tc>
                  <a:txBody>
                    <a:bodyPr/>
                    <a:lstStyle/>
                    <a:p>
                      <a:pPr marL="0" algn="l" defTabSz="914400" rtl="0" eaLnBrk="1" latinLnBrk="0" hangingPunct="1">
                        <a:lnSpc>
                          <a:spcPct val="115000"/>
                        </a:lnSpc>
                        <a:spcAft>
                          <a:spcPts val="0"/>
                        </a:spcAft>
                      </a:pPr>
                      <a:r>
                        <a:rPr lang="fr-FR" sz="1000" kern="1200" dirty="0"/>
                        <a:t>Complex Objects</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208544">
                <a:tc>
                  <a:txBody>
                    <a:bodyPr/>
                    <a:lstStyle/>
                    <a:p>
                      <a:pPr marL="0" algn="l" defTabSz="914400" rtl="0" eaLnBrk="1" latinLnBrk="0" hangingPunct="1">
                        <a:lnSpc>
                          <a:spcPct val="115000"/>
                        </a:lnSpc>
                        <a:spcAft>
                          <a:spcPts val="0"/>
                        </a:spcAft>
                      </a:pPr>
                      <a:r>
                        <a:rPr lang="fr-FR" sz="1000" kern="1200" dirty="0"/>
                        <a:t>     with Violations</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bl>
          </a:graphicData>
        </a:graphic>
      </p:graphicFrame>
      <p:grpSp>
        <p:nvGrpSpPr>
          <p:cNvPr id="3" name="Group 2">
            <a:extLst>
              <a:ext uri="{FF2B5EF4-FFF2-40B4-BE49-F238E27FC236}">
                <a16:creationId xmlns:a16="http://schemas.microsoft.com/office/drawing/2014/main" id="{2C4DE5DD-0859-48A2-AC2C-76296ACCAE68}"/>
              </a:ext>
            </a:extLst>
          </p:cNvPr>
          <p:cNvGrpSpPr/>
          <p:nvPr/>
        </p:nvGrpSpPr>
        <p:grpSpPr>
          <a:xfrm>
            <a:off x="1946892" y="3212976"/>
            <a:ext cx="8325572" cy="3011978"/>
            <a:chOff x="1946892" y="3212976"/>
            <a:chExt cx="8325572" cy="3011978"/>
          </a:xfrm>
        </p:grpSpPr>
        <p:sp>
          <p:nvSpPr>
            <p:cNvPr id="12" name="Rounded Rectangle 11"/>
            <p:cNvSpPr/>
            <p:nvPr/>
          </p:nvSpPr>
          <p:spPr>
            <a:xfrm>
              <a:off x="2008636" y="3212976"/>
              <a:ext cx="8157600" cy="3011978"/>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46892" y="321297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Top Critical Violations</a:t>
              </a:r>
            </a:p>
          </p:txBody>
        </p:sp>
        <p:sp>
          <p:nvSpPr>
            <p:cNvPr id="14" name="TextBox 13"/>
            <p:cNvSpPr txBox="1"/>
            <p:nvPr/>
          </p:nvSpPr>
          <p:spPr>
            <a:xfrm>
              <a:off x="3641930" y="354926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TOP_CRITICAL_VIOLATIONS</a:t>
              </a:r>
            </a:p>
          </p:txBody>
        </p:sp>
        <p:sp>
          <p:nvSpPr>
            <p:cNvPr id="15" name="TextBox 14"/>
            <p:cNvSpPr txBox="1"/>
            <p:nvPr/>
          </p:nvSpPr>
          <p:spPr>
            <a:xfrm>
              <a:off x="2194766" y="354926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1930" y="3918983"/>
              <a:ext cx="6630534" cy="43088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100" b="1" dirty="0"/>
                <a:t>COUNT=N</a:t>
              </a:r>
              <a:r>
                <a:rPr lang="en-US" sz="1100" dirty="0"/>
                <a:t> (by default COUNT=8) where N indicates the number of top N</a:t>
              </a:r>
            </a:p>
            <a:p>
              <a:r>
                <a:rPr lang="en-US" sz="1100" dirty="0"/>
                <a:t>PAR=BC-ID (by default PAR=60017) where BC-ID indicates the id of the business criterion </a:t>
              </a:r>
            </a:p>
          </p:txBody>
        </p:sp>
        <p:sp>
          <p:nvSpPr>
            <p:cNvPr id="17" name="TextBox 16"/>
            <p:cNvSpPr txBox="1"/>
            <p:nvPr/>
          </p:nvSpPr>
          <p:spPr>
            <a:xfrm>
              <a:off x="2611548" y="386923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TOP_CRITICAL_VIOLATIONS;BC-ID=60017,COUNT=8"/>
          <p:cNvGraphicFramePr>
            <a:graphicFrameLocks noGrp="1"/>
          </p:cNvGraphicFramePr>
          <p:nvPr>
            <p:extLst>
              <p:ext uri="{D42A27DB-BD31-4B8C-83A1-F6EECF244321}">
                <p14:modId xmlns:p14="http://schemas.microsoft.com/office/powerpoint/2010/main" val="2464760840"/>
              </p:ext>
            </p:extLst>
          </p:nvPr>
        </p:nvGraphicFramePr>
        <p:xfrm>
          <a:off x="2945934" y="4508589"/>
          <a:ext cx="6749666" cy="1462151"/>
        </p:xfrm>
        <a:graphic>
          <a:graphicData uri="http://schemas.openxmlformats.org/drawingml/2006/table">
            <a:tbl>
              <a:tblPr firstRow="1" bandRow="1">
                <a:tableStyleId>{9DCAF9ED-07DC-4A11-8D7F-57B35C25682E}</a:tableStyleId>
              </a:tblPr>
              <a:tblGrid>
                <a:gridCol w="5737854">
                  <a:extLst>
                    <a:ext uri="{9D8B030D-6E8A-4147-A177-3AD203B41FA5}">
                      <a16:colId xmlns:a16="http://schemas.microsoft.com/office/drawing/2014/main" val="20000"/>
                    </a:ext>
                  </a:extLst>
                </a:gridCol>
                <a:gridCol w="1011812">
                  <a:extLst>
                    <a:ext uri="{9D8B030D-6E8A-4147-A177-3AD203B41FA5}">
                      <a16:colId xmlns:a16="http://schemas.microsoft.com/office/drawing/2014/main" val="20001"/>
                    </a:ext>
                  </a:extLst>
                </a:gridCol>
              </a:tblGrid>
              <a:tr h="144446">
                <a:tc>
                  <a:txBody>
                    <a:bodyPr/>
                    <a:lstStyle/>
                    <a:p>
                      <a:pPr>
                        <a:lnSpc>
                          <a:spcPct val="115000"/>
                        </a:lnSpc>
                        <a:spcAft>
                          <a:spcPts val="0"/>
                        </a:spcAft>
                      </a:pPr>
                      <a:r>
                        <a:rPr lang="fr-FR" sz="1000" dirty="0"/>
                        <a:t>Rules</a:t>
                      </a:r>
                      <a:endParaRPr lang="fr-FR" sz="10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Count</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31305">
                <a:tc>
                  <a:txBody>
                    <a:bodyPr/>
                    <a:lstStyle/>
                    <a:p>
                      <a:pPr>
                        <a:lnSpc>
                          <a:spcPct val="115000"/>
                        </a:lnSpc>
                        <a:spcAft>
                          <a:spcPts val="0"/>
                        </a:spcAft>
                      </a:pPr>
                      <a:r>
                        <a:rPr lang="en-GB" sz="1000" dirty="0"/>
                        <a:t>Rule 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131305">
                <a:tc>
                  <a:txBody>
                    <a:bodyPr/>
                    <a:lstStyle/>
                    <a:p>
                      <a:pPr marL="0" algn="l" defTabSz="914400" rtl="0" eaLnBrk="1" latinLnBrk="0" hangingPunct="1">
                        <a:lnSpc>
                          <a:spcPct val="115000"/>
                        </a:lnSpc>
                        <a:spcAft>
                          <a:spcPts val="0"/>
                        </a:spcAft>
                      </a:pPr>
                      <a:r>
                        <a:rPr lang="en-GB" sz="1000" kern="1200" dirty="0"/>
                        <a:t>Rule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31305">
                <a:tc>
                  <a:txBody>
                    <a:bodyPr/>
                    <a:lstStyle/>
                    <a:p>
                      <a:pPr marL="0" algn="l" defTabSz="914400" rtl="0" eaLnBrk="1" latinLnBrk="0" hangingPunct="1">
                        <a:lnSpc>
                          <a:spcPct val="115000"/>
                        </a:lnSpc>
                        <a:spcAft>
                          <a:spcPts val="0"/>
                        </a:spcAft>
                      </a:pPr>
                      <a:r>
                        <a:rPr lang="en-GB" sz="1000" kern="1200" dirty="0"/>
                        <a:t>Rule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53442">
                <a:tc>
                  <a:txBody>
                    <a:bodyPr/>
                    <a:lstStyle/>
                    <a:p>
                      <a:pPr marL="0" algn="l" defTabSz="914400" rtl="0" eaLnBrk="1" latinLnBrk="0" hangingPunct="1">
                        <a:lnSpc>
                          <a:spcPct val="115000"/>
                        </a:lnSpc>
                        <a:spcAft>
                          <a:spcPts val="0"/>
                        </a:spcAft>
                      </a:pPr>
                      <a:r>
                        <a:rPr lang="en-GB" sz="1000" kern="1200" dirty="0"/>
                        <a:t>Rule 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53442">
                <a:tc>
                  <a:txBody>
                    <a:bodyPr/>
                    <a:lstStyle/>
                    <a:p>
                      <a:pPr marL="0" algn="l" defTabSz="914400" rtl="0" eaLnBrk="1" latinLnBrk="0" hangingPunct="1">
                        <a:lnSpc>
                          <a:spcPct val="115000"/>
                        </a:lnSpc>
                        <a:spcAft>
                          <a:spcPts val="0"/>
                        </a:spcAft>
                      </a:pPr>
                      <a:r>
                        <a:rPr lang="en-GB" sz="1000" kern="1200" dirty="0"/>
                        <a:t>Rule 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53442">
                <a:tc>
                  <a:txBody>
                    <a:bodyPr/>
                    <a:lstStyle/>
                    <a:p>
                      <a:pPr marL="0" algn="l" defTabSz="914400" rtl="0" eaLnBrk="1" latinLnBrk="0" hangingPunct="1">
                        <a:lnSpc>
                          <a:spcPct val="115000"/>
                        </a:lnSpc>
                        <a:spcAft>
                          <a:spcPts val="0"/>
                        </a:spcAft>
                      </a:pPr>
                      <a:r>
                        <a:rPr lang="en-GB" sz="1000" kern="1200" dirty="0"/>
                        <a:t>Rule 6</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53442">
                <a:tc>
                  <a:txBody>
                    <a:bodyPr/>
                    <a:lstStyle/>
                    <a:p>
                      <a:pPr marL="0" algn="l" defTabSz="914400" rtl="0" eaLnBrk="1" latinLnBrk="0" hangingPunct="1">
                        <a:lnSpc>
                          <a:spcPct val="115000"/>
                        </a:lnSpc>
                        <a:spcAft>
                          <a:spcPts val="0"/>
                        </a:spcAft>
                      </a:pPr>
                      <a:r>
                        <a:rPr lang="en-GB" sz="1000" kern="1200" dirty="0"/>
                        <a:t>Rule 7</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53442">
                <a:tc>
                  <a:txBody>
                    <a:bodyPr/>
                    <a:lstStyle/>
                    <a:p>
                      <a:pPr marL="0" algn="l" defTabSz="914400" rtl="0" eaLnBrk="1" latinLnBrk="0" hangingPunct="1">
                        <a:lnSpc>
                          <a:spcPct val="115000"/>
                        </a:lnSpc>
                        <a:spcAft>
                          <a:spcPts val="0"/>
                        </a:spcAft>
                      </a:pPr>
                      <a:r>
                        <a:rPr lang="fr-FR" sz="1000" kern="1200" dirty="0"/>
                        <a:t>Rule 8</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B4CA332-F632-458F-B42B-453168B8B9B5}"/>
              </a:ext>
            </a:extLst>
          </p:cNvPr>
          <p:cNvGrpSpPr/>
          <p:nvPr/>
        </p:nvGrpSpPr>
        <p:grpSpPr>
          <a:xfrm>
            <a:off x="1006660" y="1089563"/>
            <a:ext cx="10178679" cy="1869310"/>
            <a:chOff x="1919536" y="836712"/>
            <a:chExt cx="10178679" cy="1869310"/>
          </a:xfrm>
        </p:grpSpPr>
        <p:sp>
          <p:nvSpPr>
            <p:cNvPr id="33" name="Rounded Rectangle 32"/>
            <p:cNvSpPr/>
            <p:nvPr/>
          </p:nvSpPr>
          <p:spPr>
            <a:xfrm>
              <a:off x="1991543" y="836712"/>
              <a:ext cx="10106672" cy="1869310"/>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919536" y="836712"/>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Statistics on Violations</a:t>
              </a:r>
            </a:p>
          </p:txBody>
        </p:sp>
        <p:sp>
          <p:nvSpPr>
            <p:cNvPr id="36" name="TextBox 35"/>
            <p:cNvSpPr txBox="1"/>
            <p:nvPr/>
          </p:nvSpPr>
          <p:spPr>
            <a:xfrm>
              <a:off x="3605547" y="1218507"/>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VIOLATION_STATISTICS_EVOLUTION</a:t>
              </a:r>
            </a:p>
          </p:txBody>
        </p:sp>
        <p:sp>
          <p:nvSpPr>
            <p:cNvPr id="37" name="TextBox 36"/>
            <p:cNvSpPr txBox="1"/>
            <p:nvPr/>
          </p:nvSpPr>
          <p:spPr>
            <a:xfrm>
              <a:off x="2153806" y="119298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605547" y="1525728"/>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39" name="TextBox 38"/>
            <p:cNvSpPr txBox="1"/>
            <p:nvPr/>
          </p:nvSpPr>
          <p:spPr>
            <a:xfrm>
              <a:off x="2583099" y="152572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pSp>
        <p:nvGrpSpPr>
          <p:cNvPr id="4" name="Group 3">
            <a:extLst>
              <a:ext uri="{FF2B5EF4-FFF2-40B4-BE49-F238E27FC236}">
                <a16:creationId xmlns:a16="http://schemas.microsoft.com/office/drawing/2014/main" id="{73342227-3F69-432C-8668-7D5D4A74DE86}"/>
              </a:ext>
            </a:extLst>
          </p:cNvPr>
          <p:cNvGrpSpPr/>
          <p:nvPr/>
        </p:nvGrpSpPr>
        <p:grpSpPr>
          <a:xfrm>
            <a:off x="1919536" y="3058305"/>
            <a:ext cx="8357210" cy="3298632"/>
            <a:chOff x="1919536" y="3199328"/>
            <a:chExt cx="8357210" cy="3298632"/>
          </a:xfrm>
        </p:grpSpPr>
        <p:sp>
          <p:nvSpPr>
            <p:cNvPr id="12" name="Rounded Rectangle 11"/>
            <p:cNvSpPr/>
            <p:nvPr/>
          </p:nvSpPr>
          <p:spPr>
            <a:xfrm>
              <a:off x="1982980" y="3212976"/>
              <a:ext cx="8157600" cy="3284984"/>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319932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Top Critical Violations</a:t>
              </a:r>
            </a:p>
          </p:txBody>
        </p:sp>
        <p:sp>
          <p:nvSpPr>
            <p:cNvPr id="14" name="TextBox 13"/>
            <p:cNvSpPr txBox="1"/>
            <p:nvPr/>
          </p:nvSpPr>
          <p:spPr>
            <a:xfrm>
              <a:off x="3646212" y="3551039"/>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TOP_CRITICAL_VIOLATIONS_EVOLUTION</a:t>
              </a:r>
              <a:endParaRPr lang="fr-FR" sz="1600" dirty="0"/>
            </a:p>
          </p:txBody>
        </p:sp>
        <p:sp>
          <p:nvSpPr>
            <p:cNvPr id="15" name="TextBox 14"/>
            <p:cNvSpPr txBox="1"/>
            <p:nvPr/>
          </p:nvSpPr>
          <p:spPr>
            <a:xfrm>
              <a:off x="2177070" y="352830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09829" y="3879282"/>
              <a:ext cx="6630534" cy="43088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100" b="1" dirty="0"/>
                <a:t>COUNT=N </a:t>
              </a:r>
              <a:r>
                <a:rPr lang="en-US" sz="1100" dirty="0"/>
                <a:t>(by default COUNT=8</a:t>
              </a:r>
              <a:r>
                <a:rPr lang="en-US" sz="1100"/>
                <a:t>) where </a:t>
              </a:r>
              <a:r>
                <a:rPr lang="en-US" sz="1100" dirty="0"/>
                <a:t>N indicates the number of top N</a:t>
              </a:r>
            </a:p>
            <a:p>
              <a:r>
                <a:rPr lang="en-US" sz="1100"/>
                <a:t>PAR=BC-ID where </a:t>
              </a:r>
              <a:r>
                <a:rPr lang="en-US" sz="1100" dirty="0"/>
                <a:t>BC-ID indicates the id of the business criterion </a:t>
              </a:r>
            </a:p>
          </p:txBody>
        </p:sp>
        <p:sp>
          <p:nvSpPr>
            <p:cNvPr id="17" name="TextBox 16"/>
            <p:cNvSpPr txBox="1"/>
            <p:nvPr/>
          </p:nvSpPr>
          <p:spPr>
            <a:xfrm>
              <a:off x="2591322" y="3824192"/>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TOP_CRITICAL_VIOLATIONS_EVOLUTION;BC-ID=60017,COUNT=8&#10;"/>
          <p:cNvGraphicFramePr>
            <a:graphicFrameLocks noGrp="1"/>
          </p:cNvGraphicFramePr>
          <p:nvPr>
            <p:extLst>
              <p:ext uri="{D42A27DB-BD31-4B8C-83A1-F6EECF244321}">
                <p14:modId xmlns:p14="http://schemas.microsoft.com/office/powerpoint/2010/main" val="3815440432"/>
              </p:ext>
            </p:extLst>
          </p:nvPr>
        </p:nvGraphicFramePr>
        <p:xfrm>
          <a:off x="2153026" y="4219141"/>
          <a:ext cx="7831406" cy="1944216"/>
        </p:xfrm>
        <a:graphic>
          <a:graphicData uri="http://schemas.openxmlformats.org/drawingml/2006/table">
            <a:tbl>
              <a:tblPr firstRow="1" bandRow="1">
                <a:tableStyleId>{9DCAF9ED-07DC-4A11-8D7F-57B35C25682E}</a:tableStyleId>
              </a:tblPr>
              <a:tblGrid>
                <a:gridCol w="4375022">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gridCol w="864096">
                  <a:extLst>
                    <a:ext uri="{9D8B030D-6E8A-4147-A177-3AD203B41FA5}">
                      <a16:colId xmlns:a16="http://schemas.microsoft.com/office/drawing/2014/main" val="20004"/>
                    </a:ext>
                  </a:extLst>
                </a:gridCol>
              </a:tblGrid>
              <a:tr h="258567">
                <a:tc>
                  <a:txBody>
                    <a:bodyPr/>
                    <a:lstStyle/>
                    <a:p>
                      <a:pPr>
                        <a:lnSpc>
                          <a:spcPct val="115000"/>
                        </a:lnSpc>
                        <a:spcAft>
                          <a:spcPts val="0"/>
                        </a:spcAft>
                      </a:pPr>
                      <a:r>
                        <a:rPr lang="fr-FR" sz="1000" dirty="0"/>
                        <a:t>Rules</a:t>
                      </a:r>
                      <a:endParaRPr lang="fr-FR" sz="1000" dirty="0">
                        <a:latin typeface="Calibri"/>
                        <a:ea typeface="Calibri"/>
                        <a:cs typeface="Times New Roman"/>
                      </a:endParaRPr>
                    </a:p>
                  </a:txBody>
                  <a:tcPr marL="68580" marR="68580" marT="0" marB="0" anchor="ctr"/>
                </a:tc>
                <a:tc>
                  <a:txBody>
                    <a:bodyPr/>
                    <a:lstStyle/>
                    <a:p>
                      <a:pPr>
                        <a:lnSpc>
                          <a:spcPct val="115000"/>
                        </a:lnSpc>
                        <a:spcAft>
                          <a:spcPts val="0"/>
                        </a:spcAft>
                      </a:pPr>
                      <a:r>
                        <a:rPr lang="fr-FR" sz="1000" dirty="0" err="1"/>
                        <a:t>Current</a:t>
                      </a:r>
                      <a:endParaRPr lang="fr-FR" sz="1000" dirty="0">
                        <a:latin typeface="Calibri"/>
                        <a:ea typeface="Calibri"/>
                        <a:cs typeface="Times New Roman"/>
                      </a:endParaRPr>
                    </a:p>
                  </a:txBody>
                  <a:tcPr marL="68580" marR="68580" marT="0" marB="0" anchor="ctr"/>
                </a:tc>
                <a:tc>
                  <a:txBody>
                    <a:bodyPr/>
                    <a:lstStyle/>
                    <a:p>
                      <a:pPr>
                        <a:lnSpc>
                          <a:spcPct val="115000"/>
                        </a:lnSpc>
                        <a:spcAft>
                          <a:spcPts val="0"/>
                        </a:spcAft>
                      </a:pPr>
                      <a:r>
                        <a:rPr lang="fr-FR" sz="1000" dirty="0" err="1"/>
                        <a:t>Previous</a:t>
                      </a:r>
                      <a:endParaRPr lang="fr-FR" sz="1000" dirty="0">
                        <a:latin typeface="Calibri"/>
                        <a:ea typeface="Calibri"/>
                        <a:cs typeface="Times New Roman"/>
                      </a:endParaRPr>
                    </a:p>
                  </a:txBody>
                  <a:tcPr marL="68580" marR="68580" marT="0" marB="0" anchor="ctr"/>
                </a:tc>
                <a:tc>
                  <a:txBody>
                    <a:bodyPr/>
                    <a:lstStyle/>
                    <a:p>
                      <a:pPr>
                        <a:lnSpc>
                          <a:spcPct val="115000"/>
                        </a:lnSpc>
                        <a:spcAft>
                          <a:spcPts val="0"/>
                        </a:spcAft>
                      </a:pPr>
                      <a:r>
                        <a:rPr lang="en-GB" sz="1000" kern="1200" dirty="0"/>
                        <a:t>Evolution</a:t>
                      </a:r>
                      <a:endParaRPr lang="fr-FR" sz="1000" dirty="0">
                        <a:latin typeface="Calibri"/>
                        <a:ea typeface="Calibri"/>
                        <a:cs typeface="Times New Roman"/>
                      </a:endParaRPr>
                    </a:p>
                  </a:txBody>
                  <a:tcPr marL="68580" marR="68580" marT="0" marB="0" anchor="ctr"/>
                </a:tc>
                <a:tc>
                  <a:txBody>
                    <a:bodyPr/>
                    <a:lstStyle/>
                    <a:p>
                      <a:pPr algn="ctr">
                        <a:lnSpc>
                          <a:spcPct val="115000"/>
                        </a:lnSpc>
                        <a:spcAft>
                          <a:spcPts val="0"/>
                        </a:spcAft>
                      </a:pPr>
                      <a:r>
                        <a:rPr lang="en-GB" sz="1000" kern="1200" dirty="0"/>
                        <a:t>% </a:t>
                      </a:r>
                      <a:r>
                        <a:rPr lang="en-GB" sz="1000" kern="1200" dirty="0" err="1"/>
                        <a:t>Evol</a:t>
                      </a:r>
                      <a:r>
                        <a:rPr lang="en-GB" sz="1000" kern="1200" dirty="0"/>
                        <a:t>.</a:t>
                      </a:r>
                      <a:endParaRPr lang="fr-FR" sz="1000" dirty="0">
                        <a:latin typeface="Calibri"/>
                        <a:ea typeface="Calibri"/>
                        <a:cs typeface="Times New Roman"/>
                      </a:endParaRPr>
                    </a:p>
                  </a:txBody>
                  <a:tcPr marL="68580" marR="68580" marT="0" marB="0" anchor="ctr"/>
                </a:tc>
                <a:extLst>
                  <a:ext uri="{0D108BD9-81ED-4DB2-BD59-A6C34878D82A}">
                    <a16:rowId xmlns:a16="http://schemas.microsoft.com/office/drawing/2014/main" val="10000"/>
                  </a:ext>
                </a:extLst>
              </a:tr>
              <a:tr h="217224">
                <a:tc>
                  <a:txBody>
                    <a:bodyPr/>
                    <a:lstStyle/>
                    <a:p>
                      <a:pPr>
                        <a:lnSpc>
                          <a:spcPct val="115000"/>
                        </a:lnSpc>
                        <a:spcAft>
                          <a:spcPts val="0"/>
                        </a:spcAft>
                      </a:pPr>
                      <a:r>
                        <a:rPr lang="en-GB" sz="1000" dirty="0"/>
                        <a:t>Rule 1</a:t>
                      </a:r>
                      <a:endParaRPr lang="fr-FR" sz="1100" dirty="0">
                        <a:solidFill>
                          <a:schemeClr val="accent3">
                            <a:lumMod val="50000"/>
                          </a:schemeClr>
                        </a:solidFill>
                        <a:latin typeface="Calibri"/>
                        <a:ea typeface="Calibri"/>
                        <a:cs typeface="Times New Roman"/>
                      </a:endParaRPr>
                    </a:p>
                  </a:txBody>
                  <a:tcPr marL="68580" marR="68580" marT="0" marB="0" anchor="ctr"/>
                </a:tc>
                <a:tc>
                  <a:txBody>
                    <a:bodyPr/>
                    <a:lstStyle/>
                    <a:p>
                      <a:pPr algn="ctr">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algn="ctr">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algn="ctr">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209775">
                <a:tc>
                  <a:txBody>
                    <a:bodyPr/>
                    <a:lstStyle/>
                    <a:p>
                      <a:pPr marL="0" algn="l" defTabSz="914400" rtl="0" eaLnBrk="1" latinLnBrk="0" hangingPunct="1">
                        <a:lnSpc>
                          <a:spcPct val="115000"/>
                        </a:lnSpc>
                        <a:spcAft>
                          <a:spcPts val="0"/>
                        </a:spcAft>
                      </a:pPr>
                      <a:r>
                        <a:rPr lang="en-GB" sz="1000" kern="1200" dirty="0"/>
                        <a:t>Rule 2</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en-GB" sz="1000" kern="1200" dirty="0"/>
                        <a:t>0</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2"/>
                  </a:ext>
                </a:extLst>
              </a:tr>
              <a:tr h="209775">
                <a:tc>
                  <a:txBody>
                    <a:bodyPr/>
                    <a:lstStyle/>
                    <a:p>
                      <a:pPr marL="0" algn="l" defTabSz="914400" rtl="0" eaLnBrk="1" latinLnBrk="0" hangingPunct="1">
                        <a:lnSpc>
                          <a:spcPct val="115000"/>
                        </a:lnSpc>
                        <a:spcAft>
                          <a:spcPts val="0"/>
                        </a:spcAft>
                      </a:pPr>
                      <a:r>
                        <a:rPr lang="en-GB" sz="1000" kern="1200" dirty="0"/>
                        <a:t>Rule 3</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3"/>
                  </a:ext>
                </a:extLst>
              </a:tr>
              <a:tr h="209775">
                <a:tc>
                  <a:txBody>
                    <a:bodyPr/>
                    <a:lstStyle/>
                    <a:p>
                      <a:pPr marL="0" algn="l" defTabSz="914400" rtl="0" eaLnBrk="1" latinLnBrk="0" hangingPunct="1">
                        <a:lnSpc>
                          <a:spcPct val="115000"/>
                        </a:lnSpc>
                        <a:spcAft>
                          <a:spcPts val="0"/>
                        </a:spcAft>
                      </a:pPr>
                      <a:r>
                        <a:rPr lang="en-GB" sz="1000" kern="1200" dirty="0"/>
                        <a:t>Rule 4</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4"/>
                  </a:ext>
                </a:extLst>
              </a:tr>
              <a:tr h="209775">
                <a:tc>
                  <a:txBody>
                    <a:bodyPr/>
                    <a:lstStyle/>
                    <a:p>
                      <a:pPr marL="0" algn="l" defTabSz="914400" rtl="0" eaLnBrk="1" latinLnBrk="0" hangingPunct="1">
                        <a:lnSpc>
                          <a:spcPct val="115000"/>
                        </a:lnSpc>
                        <a:spcAft>
                          <a:spcPts val="0"/>
                        </a:spcAft>
                      </a:pPr>
                      <a:r>
                        <a:rPr lang="en-GB" sz="1000" kern="1200" dirty="0"/>
                        <a:t>Rule 5</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5"/>
                  </a:ext>
                </a:extLst>
              </a:tr>
              <a:tr h="209775">
                <a:tc>
                  <a:txBody>
                    <a:bodyPr/>
                    <a:lstStyle/>
                    <a:p>
                      <a:pPr marL="0" algn="l" defTabSz="914400" rtl="0" eaLnBrk="1" latinLnBrk="0" hangingPunct="1">
                        <a:lnSpc>
                          <a:spcPct val="115000"/>
                        </a:lnSpc>
                        <a:spcAft>
                          <a:spcPts val="0"/>
                        </a:spcAft>
                      </a:pPr>
                      <a:r>
                        <a:rPr lang="en-GB" sz="1000" kern="1200" dirty="0"/>
                        <a:t>Rule 6</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6"/>
                  </a:ext>
                </a:extLst>
              </a:tr>
              <a:tr h="209775">
                <a:tc>
                  <a:txBody>
                    <a:bodyPr/>
                    <a:lstStyle/>
                    <a:p>
                      <a:pPr marL="0" algn="l" defTabSz="914400" rtl="0" eaLnBrk="1" latinLnBrk="0" hangingPunct="1">
                        <a:lnSpc>
                          <a:spcPct val="115000"/>
                        </a:lnSpc>
                        <a:spcAft>
                          <a:spcPts val="0"/>
                        </a:spcAft>
                      </a:pPr>
                      <a:r>
                        <a:rPr lang="en-GB" sz="1000" kern="1200" dirty="0"/>
                        <a:t>Rule 7</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7"/>
                  </a:ext>
                </a:extLst>
              </a:tr>
              <a:tr h="209775">
                <a:tc>
                  <a:txBody>
                    <a:bodyPr/>
                    <a:lstStyle/>
                    <a:p>
                      <a:pPr marL="0" algn="l" defTabSz="914400" rtl="0" eaLnBrk="1" latinLnBrk="0" hangingPunct="1">
                        <a:lnSpc>
                          <a:spcPct val="115000"/>
                        </a:lnSpc>
                        <a:spcAft>
                          <a:spcPts val="0"/>
                        </a:spcAft>
                      </a:pPr>
                      <a:r>
                        <a:rPr lang="fr-FR" sz="1000" kern="1200" dirty="0"/>
                        <a:t>Rule 8</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8"/>
                  </a:ext>
                </a:extLst>
              </a:tr>
            </a:tbl>
          </a:graphicData>
        </a:graphic>
      </p:graphicFrame>
      <p:graphicFrame>
        <p:nvGraphicFramePr>
          <p:cNvPr id="19" name="Table 18" descr="TABLE;VIOLATION_STATISTICS_EVOLUTION"/>
          <p:cNvGraphicFramePr>
            <a:graphicFrameLocks noGrp="1"/>
          </p:cNvGraphicFramePr>
          <p:nvPr>
            <p:extLst>
              <p:ext uri="{D42A27DB-BD31-4B8C-83A1-F6EECF244321}">
                <p14:modId xmlns:p14="http://schemas.microsoft.com/office/powerpoint/2010/main" val="2978080555"/>
              </p:ext>
            </p:extLst>
          </p:nvPr>
        </p:nvGraphicFramePr>
        <p:xfrm>
          <a:off x="6567240" y="1342414"/>
          <a:ext cx="4418144" cy="1463040"/>
        </p:xfrm>
        <a:graphic>
          <a:graphicData uri="http://schemas.openxmlformats.org/drawingml/2006/table">
            <a:tbl>
              <a:tblPr firstRow="1" bandRow="1">
                <a:tableStyleId>{9DCAF9ED-07DC-4A11-8D7F-57B35C25682E}</a:tableStyleId>
              </a:tblPr>
              <a:tblGrid>
                <a:gridCol w="1393808">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tblGrid>
              <a:tr h="216024">
                <a:tc>
                  <a:txBody>
                    <a:bodyPr/>
                    <a:lstStyle/>
                    <a:p>
                      <a:pPr algn="l">
                        <a:lnSpc>
                          <a:spcPct val="115000"/>
                        </a:lnSpc>
                        <a:spcAft>
                          <a:spcPts val="0"/>
                        </a:spcAft>
                      </a:pPr>
                      <a:r>
                        <a:rPr lang="fr-FR" sz="1000" dirty="0"/>
                        <a:t>Name</a:t>
                      </a:r>
                      <a:endParaRPr lang="fr-FR" sz="1000" dirty="0">
                        <a:latin typeface="+mn-lt"/>
                        <a:ea typeface="Calibri"/>
                        <a:cs typeface="Times New Roman"/>
                      </a:endParaRPr>
                    </a:p>
                  </a:txBody>
                  <a:tcPr marL="68580" marR="68580" marT="0" marB="0" anchor="ctr"/>
                </a:tc>
                <a:tc>
                  <a:txBody>
                    <a:bodyPr/>
                    <a:lstStyle/>
                    <a:p>
                      <a:pPr algn="ctr">
                        <a:lnSpc>
                          <a:spcPct val="115000"/>
                        </a:lnSpc>
                        <a:spcAft>
                          <a:spcPts val="0"/>
                        </a:spcAft>
                      </a:pPr>
                      <a:r>
                        <a:rPr lang="fr-FR" sz="1000" dirty="0" err="1"/>
                        <a:t>Current</a:t>
                      </a:r>
                      <a:endParaRPr lang="fr-FR" sz="1000" dirty="0">
                        <a:latin typeface="+mn-lt"/>
                        <a:ea typeface="Calibri"/>
                        <a:cs typeface="Times New Roman"/>
                      </a:endParaRPr>
                    </a:p>
                  </a:txBody>
                  <a:tcPr marL="68580" marR="68580" marT="0" marB="0" anchor="ctr"/>
                </a:tc>
                <a:tc>
                  <a:txBody>
                    <a:bodyPr/>
                    <a:lstStyle/>
                    <a:p>
                      <a:pPr algn="ctr"/>
                      <a:r>
                        <a:rPr lang="fr-FR" sz="1000" dirty="0" err="1"/>
                        <a:t>Previous</a:t>
                      </a:r>
                      <a:endParaRPr lang="fr-FR" sz="1000" dirty="0">
                        <a:latin typeface="+mn-lt"/>
                      </a:endParaRPr>
                    </a:p>
                  </a:txBody>
                  <a:tcPr anchor="ctr"/>
                </a:tc>
                <a:tc>
                  <a:txBody>
                    <a:bodyPr/>
                    <a:lstStyle/>
                    <a:p>
                      <a:pPr algn="ctr"/>
                      <a:r>
                        <a:rPr lang="fr-FR" sz="1000" dirty="0"/>
                        <a:t>% Evolution</a:t>
                      </a:r>
                      <a:endParaRPr lang="fr-FR" sz="1000" dirty="0">
                        <a:latin typeface="+mn-lt"/>
                      </a:endParaRPr>
                    </a:p>
                  </a:txBody>
                  <a:tcPr anchor="ctr"/>
                </a:tc>
                <a:extLst>
                  <a:ext uri="{0D108BD9-81ED-4DB2-BD59-A6C34878D82A}">
                    <a16:rowId xmlns:a16="http://schemas.microsoft.com/office/drawing/2014/main" val="10000"/>
                  </a:ext>
                </a:extLst>
              </a:tr>
              <a:tr h="216024">
                <a:tc>
                  <a:txBody>
                    <a:bodyPr/>
                    <a:lstStyle/>
                    <a:p>
                      <a:pPr algn="l">
                        <a:lnSpc>
                          <a:spcPct val="115000"/>
                        </a:lnSpc>
                        <a:spcAft>
                          <a:spcPts val="0"/>
                        </a:spcAft>
                      </a:pPr>
                      <a:r>
                        <a:rPr lang="en-GB" sz="1000" dirty="0"/>
                        <a:t>Critical Violations</a:t>
                      </a:r>
                      <a:endParaRPr lang="fr-FR" sz="1000" dirty="0">
                        <a:solidFill>
                          <a:schemeClr val="accent3">
                            <a:lumMod val="50000"/>
                          </a:schemeClr>
                        </a:solidFill>
                        <a:latin typeface="+mn-lt"/>
                        <a:ea typeface="Calibri"/>
                        <a:cs typeface="Times New Roman"/>
                      </a:endParaRPr>
                    </a:p>
                  </a:txBody>
                  <a:tcPr marL="68580" marR="68580" marT="0" marB="0" anchor="ctr"/>
                </a:tc>
                <a:tc>
                  <a:txBody>
                    <a:bodyPr/>
                    <a:lstStyle/>
                    <a:p>
                      <a:pPr algn="ctr">
                        <a:lnSpc>
                          <a:spcPct val="115000"/>
                        </a:lnSpc>
                        <a:spcAft>
                          <a:spcPts val="0"/>
                        </a:spcAft>
                      </a:pPr>
                      <a:r>
                        <a:rPr lang="en-GB" sz="1000" dirty="0"/>
                        <a:t>0</a:t>
                      </a:r>
                      <a:endParaRPr lang="fr-FR" sz="1000" dirty="0">
                        <a:solidFill>
                          <a:schemeClr val="accent3">
                            <a:lumMod val="50000"/>
                          </a:schemeClr>
                        </a:solidFill>
                        <a:latin typeface="+mn-lt"/>
                        <a:ea typeface="Calibri"/>
                        <a:cs typeface="Times New Roman"/>
                      </a:endParaRPr>
                    </a:p>
                  </a:txBody>
                  <a:tcPr marL="68580" marR="68580" marT="0" marB="0" anchor="ctr"/>
                </a:tc>
                <a:tc>
                  <a:txBody>
                    <a:bodyPr/>
                    <a:lstStyle/>
                    <a:p>
                      <a:pPr algn="ctr"/>
                      <a:r>
                        <a:rPr lang="fr-FR" sz="1000" dirty="0"/>
                        <a:t>0</a:t>
                      </a:r>
                      <a:endParaRPr lang="fr-FR" sz="1000" dirty="0">
                        <a:latin typeface="+mn-lt"/>
                      </a:endParaRPr>
                    </a:p>
                  </a:txBody>
                  <a:tcPr anchor="ctr"/>
                </a:tc>
                <a:tc>
                  <a:txBody>
                    <a:bodyPr/>
                    <a:lstStyle/>
                    <a:p>
                      <a:pPr algn="ctr"/>
                      <a:r>
                        <a:rPr lang="fr-FR" sz="1000" dirty="0"/>
                        <a:t>0</a:t>
                      </a:r>
                      <a:endParaRPr lang="fr-FR" sz="1000" dirty="0">
                        <a:latin typeface="+mn-lt"/>
                      </a:endParaRPr>
                    </a:p>
                  </a:txBody>
                  <a:tcPr anchor="ctr"/>
                </a:tc>
                <a:extLst>
                  <a:ext uri="{0D108BD9-81ED-4DB2-BD59-A6C34878D82A}">
                    <a16:rowId xmlns:a16="http://schemas.microsoft.com/office/drawing/2014/main" val="10001"/>
                  </a:ext>
                </a:extLst>
              </a:tr>
              <a:tr h="216024">
                <a:tc>
                  <a:txBody>
                    <a:bodyPr/>
                    <a:lstStyle/>
                    <a:p>
                      <a:pPr algn="l">
                        <a:lnSpc>
                          <a:spcPct val="115000"/>
                        </a:lnSpc>
                        <a:spcAft>
                          <a:spcPts val="0"/>
                        </a:spcAft>
                      </a:pPr>
                      <a:r>
                        <a:rPr lang="en-GB" sz="1000" dirty="0"/>
                        <a:t>     per File</a:t>
                      </a:r>
                      <a:endParaRPr lang="fr-FR" sz="1000" dirty="0">
                        <a:solidFill>
                          <a:schemeClr val="accent3">
                            <a:lumMod val="50000"/>
                          </a:schemeClr>
                        </a:solidFill>
                        <a:latin typeface="+mn-lt"/>
                        <a:ea typeface="Calibri"/>
                        <a:cs typeface="Times New Roman"/>
                      </a:endParaRPr>
                    </a:p>
                  </a:txBody>
                  <a:tcPr marL="68580" marR="68580" marT="0" marB="0" anchor="ctr"/>
                </a:tc>
                <a:tc>
                  <a:txBody>
                    <a:bodyPr/>
                    <a:lstStyle/>
                    <a:p>
                      <a:pPr algn="ctr">
                        <a:lnSpc>
                          <a:spcPct val="115000"/>
                        </a:lnSpc>
                        <a:spcAft>
                          <a:spcPts val="0"/>
                        </a:spcAft>
                      </a:pPr>
                      <a:r>
                        <a:rPr lang="fr-FR" sz="1000" kern="1200" dirty="0"/>
                        <a:t>0</a:t>
                      </a:r>
                      <a:endParaRPr lang="fr-FR" sz="1000" dirty="0">
                        <a:solidFill>
                          <a:schemeClr val="accent3">
                            <a:lumMod val="50000"/>
                          </a:schemeClr>
                        </a:solidFill>
                        <a:latin typeface="+mn-lt"/>
                        <a:ea typeface="Calibri"/>
                        <a:cs typeface="Times New Roman"/>
                      </a:endParaRPr>
                    </a:p>
                  </a:txBody>
                  <a:tcPr marL="68580" marR="68580" marT="0" marB="0" anchor="ctr"/>
                </a:tc>
                <a:tc>
                  <a:txBody>
                    <a:bodyPr/>
                    <a:lstStyle/>
                    <a:p>
                      <a:pPr algn="ctr"/>
                      <a:r>
                        <a:rPr lang="fr-FR" sz="1000" dirty="0"/>
                        <a:t>0</a:t>
                      </a:r>
                      <a:endParaRPr lang="fr-FR" sz="1000" dirty="0">
                        <a:latin typeface="+mn-lt"/>
                      </a:endParaRPr>
                    </a:p>
                  </a:txBody>
                  <a:tcPr anchor="ctr"/>
                </a:tc>
                <a:tc>
                  <a:txBody>
                    <a:bodyPr/>
                    <a:lstStyle/>
                    <a:p>
                      <a:pPr algn="ctr"/>
                      <a:r>
                        <a:rPr lang="fr-FR" sz="1000" dirty="0"/>
                        <a:t>0</a:t>
                      </a:r>
                      <a:endParaRPr lang="fr-FR" sz="1000" dirty="0">
                        <a:latin typeface="+mn-lt"/>
                      </a:endParaRPr>
                    </a:p>
                  </a:txBody>
                  <a:tcPr anchor="ctr"/>
                </a:tc>
                <a:extLst>
                  <a:ext uri="{0D108BD9-81ED-4DB2-BD59-A6C34878D82A}">
                    <a16:rowId xmlns:a16="http://schemas.microsoft.com/office/drawing/2014/main" val="10002"/>
                  </a:ext>
                </a:extLst>
              </a:tr>
              <a:tr h="216024">
                <a:tc>
                  <a:txBody>
                    <a:bodyPr/>
                    <a:lstStyle/>
                    <a:p>
                      <a:pPr algn="l">
                        <a:lnSpc>
                          <a:spcPct val="115000"/>
                        </a:lnSpc>
                        <a:spcAft>
                          <a:spcPts val="0"/>
                        </a:spcAft>
                      </a:pPr>
                      <a:r>
                        <a:rPr lang="en-GB" sz="1000" dirty="0"/>
                        <a:t>     per kLOCs</a:t>
                      </a:r>
                      <a:endParaRPr lang="fr-FR" sz="1000" dirty="0">
                        <a:solidFill>
                          <a:schemeClr val="accent3">
                            <a:lumMod val="50000"/>
                          </a:schemeClr>
                        </a:solidFill>
                        <a:latin typeface="+mn-lt"/>
                        <a:ea typeface="Calibri"/>
                        <a:cs typeface="Times New Roman"/>
                      </a:endParaRPr>
                    </a:p>
                  </a:txBody>
                  <a:tcPr marL="68580" marR="68580" marT="0" marB="0" anchor="ctr"/>
                </a:tc>
                <a:tc>
                  <a:txBody>
                    <a:bodyPr/>
                    <a:lstStyle/>
                    <a:p>
                      <a:pPr algn="ctr">
                        <a:lnSpc>
                          <a:spcPct val="115000"/>
                        </a:lnSpc>
                        <a:spcAft>
                          <a:spcPts val="0"/>
                        </a:spcAft>
                      </a:pPr>
                      <a:r>
                        <a:rPr lang="fr-FR" sz="1000" kern="1200" dirty="0"/>
                        <a:t>0</a:t>
                      </a:r>
                      <a:endParaRPr lang="fr-FR" sz="1000" dirty="0">
                        <a:solidFill>
                          <a:schemeClr val="accent3">
                            <a:lumMod val="50000"/>
                          </a:schemeClr>
                        </a:solidFill>
                        <a:latin typeface="+mn-lt"/>
                        <a:ea typeface="Calibri"/>
                        <a:cs typeface="Times New Roman"/>
                      </a:endParaRPr>
                    </a:p>
                  </a:txBody>
                  <a:tcPr marL="68580" marR="68580" marT="0" marB="0" anchor="ctr"/>
                </a:tc>
                <a:tc>
                  <a:txBody>
                    <a:bodyPr/>
                    <a:lstStyle/>
                    <a:p>
                      <a:pPr algn="ctr"/>
                      <a:r>
                        <a:rPr lang="fr-FR" sz="1000" dirty="0"/>
                        <a:t>0</a:t>
                      </a:r>
                      <a:endParaRPr lang="fr-FR" sz="1000" dirty="0">
                        <a:latin typeface="+mn-lt"/>
                      </a:endParaRPr>
                    </a:p>
                  </a:txBody>
                  <a:tcPr anchor="ctr"/>
                </a:tc>
                <a:tc>
                  <a:txBody>
                    <a:bodyPr/>
                    <a:lstStyle/>
                    <a:p>
                      <a:pPr algn="ctr"/>
                      <a:r>
                        <a:rPr lang="fr-FR" sz="1000" dirty="0"/>
                        <a:t>0</a:t>
                      </a:r>
                      <a:endParaRPr lang="fr-FR" sz="1000" dirty="0">
                        <a:latin typeface="+mn-lt"/>
                      </a:endParaRPr>
                    </a:p>
                  </a:txBody>
                  <a:tcPr anchor="ctr"/>
                </a:tc>
                <a:extLst>
                  <a:ext uri="{0D108BD9-81ED-4DB2-BD59-A6C34878D82A}">
                    <a16:rowId xmlns:a16="http://schemas.microsoft.com/office/drawing/2014/main" val="10003"/>
                  </a:ext>
                </a:extLst>
              </a:tr>
              <a:tr h="216024">
                <a:tc>
                  <a:txBody>
                    <a:bodyPr/>
                    <a:lstStyle/>
                    <a:p>
                      <a:pPr marL="0" algn="l" defTabSz="914400" rtl="0" eaLnBrk="1" latinLnBrk="0" hangingPunct="1">
                        <a:lnSpc>
                          <a:spcPct val="115000"/>
                        </a:lnSpc>
                        <a:spcAft>
                          <a:spcPts val="0"/>
                        </a:spcAft>
                      </a:pPr>
                      <a:r>
                        <a:rPr lang="fr-FR" sz="1000" kern="1200" dirty="0"/>
                        <a:t>Complex Objects</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algn="ctr"/>
                      <a:r>
                        <a:rPr lang="fr-FR" sz="1000" dirty="0"/>
                        <a:t>0</a:t>
                      </a:r>
                      <a:endParaRPr lang="fr-FR" sz="1000" dirty="0">
                        <a:latin typeface="+mn-lt"/>
                      </a:endParaRPr>
                    </a:p>
                  </a:txBody>
                  <a:tcPr anchor="ctr"/>
                </a:tc>
                <a:tc>
                  <a:txBody>
                    <a:bodyPr/>
                    <a:lstStyle/>
                    <a:p>
                      <a:pPr algn="ctr"/>
                      <a:r>
                        <a:rPr lang="fr-FR" sz="1000" dirty="0"/>
                        <a:t>0</a:t>
                      </a:r>
                      <a:endParaRPr lang="fr-FR" sz="1000" dirty="0">
                        <a:latin typeface="+mn-lt"/>
                      </a:endParaRPr>
                    </a:p>
                  </a:txBody>
                  <a:tcPr anchor="ctr"/>
                </a:tc>
                <a:extLst>
                  <a:ext uri="{0D108BD9-81ED-4DB2-BD59-A6C34878D82A}">
                    <a16:rowId xmlns:a16="http://schemas.microsoft.com/office/drawing/2014/main" val="10004"/>
                  </a:ext>
                </a:extLst>
              </a:tr>
              <a:tr h="216024">
                <a:tc>
                  <a:txBody>
                    <a:bodyPr/>
                    <a:lstStyle/>
                    <a:p>
                      <a:pPr marL="0" algn="l" defTabSz="914400" rtl="0" eaLnBrk="1" latinLnBrk="0" hangingPunct="1">
                        <a:lnSpc>
                          <a:spcPct val="115000"/>
                        </a:lnSpc>
                        <a:spcAft>
                          <a:spcPts val="0"/>
                        </a:spcAft>
                      </a:pPr>
                      <a:r>
                        <a:rPr lang="fr-FR" sz="1000" kern="1200" dirty="0"/>
                        <a:t>     with Violations</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nchor="ctr"/>
                </a:tc>
                <a:tc>
                  <a:txBody>
                    <a:bodyPr/>
                    <a:lstStyle/>
                    <a:p>
                      <a:pPr algn="ctr"/>
                      <a:r>
                        <a:rPr lang="fr-FR" sz="1000" dirty="0"/>
                        <a:t>0</a:t>
                      </a:r>
                      <a:endParaRPr lang="fr-FR" sz="1000" dirty="0">
                        <a:latin typeface="+mn-lt"/>
                      </a:endParaRPr>
                    </a:p>
                  </a:txBody>
                  <a:tcPr anchor="ctr"/>
                </a:tc>
                <a:tc>
                  <a:txBody>
                    <a:bodyPr/>
                    <a:lstStyle/>
                    <a:p>
                      <a:pPr algn="ctr"/>
                      <a:r>
                        <a:rPr lang="fr-FR" sz="1000" dirty="0"/>
                        <a:t>0</a:t>
                      </a:r>
                      <a:endParaRPr lang="fr-FR" sz="1000" dirty="0">
                        <a:latin typeface="+mn-lt"/>
                      </a:endParaRPr>
                    </a:p>
                  </a:txBody>
                  <a:tcPr anchor="ct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fr-FR" dirty="0"/>
              <a:t>PowerPoint </a:t>
            </a:r>
            <a:r>
              <a:rPr lang="fr-FR" dirty="0" err="1"/>
              <a:t>Templates</a:t>
            </a:r>
            <a:r>
              <a:rPr lang="fr-FR" dirty="0"/>
              <a:t> – Tables</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3460B25F-F353-4240-ABE0-C5728F26DD57}"/>
              </a:ext>
            </a:extLst>
          </p:cNvPr>
          <p:cNvGrpSpPr/>
          <p:nvPr/>
        </p:nvGrpSpPr>
        <p:grpSpPr>
          <a:xfrm>
            <a:off x="1931411" y="1340768"/>
            <a:ext cx="8364045" cy="3888432"/>
            <a:chOff x="1931411" y="1340768"/>
            <a:chExt cx="8364045" cy="3888432"/>
          </a:xfrm>
        </p:grpSpPr>
        <p:sp>
          <p:nvSpPr>
            <p:cNvPr id="12" name="Rounded Rectangle 11"/>
            <p:cNvSpPr/>
            <p:nvPr/>
          </p:nvSpPr>
          <p:spPr>
            <a:xfrm>
              <a:off x="2017182" y="1340768"/>
              <a:ext cx="8157600" cy="3888432"/>
            </a:xfrm>
            <a:prstGeom prst="roundRect">
              <a:avLst>
                <a:gd name="adj" fmla="val 1246"/>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31411" y="134076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Top Non Critical Violations</a:t>
              </a:r>
            </a:p>
          </p:txBody>
        </p:sp>
        <p:sp>
          <p:nvSpPr>
            <p:cNvPr id="14" name="TextBox 13"/>
            <p:cNvSpPr txBox="1"/>
            <p:nvPr/>
          </p:nvSpPr>
          <p:spPr>
            <a:xfrm>
              <a:off x="3653047" y="172531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TOP_NON_CRITICAL_VIOLATIONS</a:t>
              </a:r>
            </a:p>
          </p:txBody>
        </p:sp>
        <p:sp>
          <p:nvSpPr>
            <p:cNvPr id="15" name="TextBox 14"/>
            <p:cNvSpPr txBox="1"/>
            <p:nvPr/>
          </p:nvSpPr>
          <p:spPr>
            <a:xfrm>
              <a:off x="2205883" y="172531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64922" y="2083158"/>
              <a:ext cx="6630534"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b="1" dirty="0"/>
                <a:t>COUNT=N</a:t>
              </a:r>
              <a:r>
                <a:rPr lang="fr-FR" sz="1200" dirty="0"/>
                <a:t> (by default COUNT=10)</a:t>
              </a:r>
            </a:p>
            <a:p>
              <a:r>
                <a:rPr lang="fr-FR" sz="1200"/>
                <a:t>where </a:t>
              </a:r>
              <a:r>
                <a:rPr lang="fr-FR" sz="1200" dirty="0"/>
                <a:t>N indicates the number of top N</a:t>
              </a:r>
            </a:p>
          </p:txBody>
        </p:sp>
        <p:sp>
          <p:nvSpPr>
            <p:cNvPr id="17" name="TextBox 16"/>
            <p:cNvSpPr txBox="1"/>
            <p:nvPr/>
          </p:nvSpPr>
          <p:spPr>
            <a:xfrm>
              <a:off x="2622665" y="204528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TOP_NON_CRITICAL_VIOLATIONS;BC-ID=60017,COUNT=10"/>
          <p:cNvGraphicFramePr>
            <a:graphicFrameLocks noGrp="1"/>
          </p:cNvGraphicFramePr>
          <p:nvPr>
            <p:extLst>
              <p:ext uri="{D42A27DB-BD31-4B8C-83A1-F6EECF244321}">
                <p14:modId xmlns:p14="http://schemas.microsoft.com/office/powerpoint/2010/main" val="1795916231"/>
              </p:ext>
            </p:extLst>
          </p:nvPr>
        </p:nvGraphicFramePr>
        <p:xfrm>
          <a:off x="2496000" y="2852936"/>
          <a:ext cx="7200000" cy="1786001"/>
        </p:xfrm>
        <a:graphic>
          <a:graphicData uri="http://schemas.openxmlformats.org/drawingml/2006/table">
            <a:tbl>
              <a:tblPr firstRow="1" bandRow="1">
                <a:tableStyleId>{9DCAF9ED-07DC-4A11-8D7F-57B35C25682E}</a:tableStyleId>
              </a:tblPr>
              <a:tblGrid>
                <a:gridCol w="6120280">
                  <a:extLst>
                    <a:ext uri="{9D8B030D-6E8A-4147-A177-3AD203B41FA5}">
                      <a16:colId xmlns:a16="http://schemas.microsoft.com/office/drawing/2014/main" val="20000"/>
                    </a:ext>
                  </a:extLst>
                </a:gridCol>
                <a:gridCol w="1079720">
                  <a:extLst>
                    <a:ext uri="{9D8B030D-6E8A-4147-A177-3AD203B41FA5}">
                      <a16:colId xmlns:a16="http://schemas.microsoft.com/office/drawing/2014/main" val="20001"/>
                    </a:ext>
                  </a:extLst>
                </a:gridCol>
              </a:tblGrid>
              <a:tr h="144446">
                <a:tc>
                  <a:txBody>
                    <a:bodyPr/>
                    <a:lstStyle/>
                    <a:p>
                      <a:pPr>
                        <a:lnSpc>
                          <a:spcPct val="115000"/>
                        </a:lnSpc>
                        <a:spcAft>
                          <a:spcPts val="0"/>
                        </a:spcAft>
                      </a:pPr>
                      <a:r>
                        <a:rPr lang="fr-FR" sz="1000" dirty="0"/>
                        <a:t>Rules</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Count</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31305">
                <a:tc>
                  <a:txBody>
                    <a:bodyPr/>
                    <a:lstStyle/>
                    <a:p>
                      <a:pPr>
                        <a:lnSpc>
                          <a:spcPct val="115000"/>
                        </a:lnSpc>
                        <a:spcAft>
                          <a:spcPts val="0"/>
                        </a:spcAft>
                      </a:pPr>
                      <a:r>
                        <a:rPr lang="en-GB" sz="1000" dirty="0"/>
                        <a:t>Rule 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131305">
                <a:tc>
                  <a:txBody>
                    <a:bodyPr/>
                    <a:lstStyle/>
                    <a:p>
                      <a:pPr marL="0" algn="l" defTabSz="914400" rtl="0" eaLnBrk="1" latinLnBrk="0" hangingPunct="1">
                        <a:lnSpc>
                          <a:spcPct val="115000"/>
                        </a:lnSpc>
                        <a:spcAft>
                          <a:spcPts val="0"/>
                        </a:spcAft>
                      </a:pPr>
                      <a:r>
                        <a:rPr lang="en-GB" sz="1000" kern="1200" dirty="0"/>
                        <a:t>Rule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31305">
                <a:tc>
                  <a:txBody>
                    <a:bodyPr/>
                    <a:lstStyle/>
                    <a:p>
                      <a:pPr marL="0" algn="l" defTabSz="914400" rtl="0" eaLnBrk="1" latinLnBrk="0" hangingPunct="1">
                        <a:lnSpc>
                          <a:spcPct val="115000"/>
                        </a:lnSpc>
                        <a:spcAft>
                          <a:spcPts val="0"/>
                        </a:spcAft>
                      </a:pPr>
                      <a:r>
                        <a:rPr lang="en-GB" sz="1000" kern="1200" dirty="0"/>
                        <a:t>Rule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53442">
                <a:tc>
                  <a:txBody>
                    <a:bodyPr/>
                    <a:lstStyle/>
                    <a:p>
                      <a:pPr marL="0" algn="l" defTabSz="914400" rtl="0" eaLnBrk="1" latinLnBrk="0" hangingPunct="1">
                        <a:lnSpc>
                          <a:spcPct val="115000"/>
                        </a:lnSpc>
                        <a:spcAft>
                          <a:spcPts val="0"/>
                        </a:spcAft>
                      </a:pPr>
                      <a:r>
                        <a:rPr lang="en-GB" sz="1000" kern="1200" dirty="0"/>
                        <a:t>Rule 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53442">
                <a:tc>
                  <a:txBody>
                    <a:bodyPr/>
                    <a:lstStyle/>
                    <a:p>
                      <a:pPr marL="0" algn="l" defTabSz="914400" rtl="0" eaLnBrk="1" latinLnBrk="0" hangingPunct="1">
                        <a:lnSpc>
                          <a:spcPct val="115000"/>
                        </a:lnSpc>
                        <a:spcAft>
                          <a:spcPts val="0"/>
                        </a:spcAft>
                      </a:pPr>
                      <a:r>
                        <a:rPr lang="en-GB" sz="1000" kern="1200" dirty="0"/>
                        <a:t>Rule 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53442">
                <a:tc>
                  <a:txBody>
                    <a:bodyPr/>
                    <a:lstStyle/>
                    <a:p>
                      <a:pPr marL="0" algn="l" defTabSz="914400" rtl="0" eaLnBrk="1" latinLnBrk="0" hangingPunct="1">
                        <a:lnSpc>
                          <a:spcPct val="115000"/>
                        </a:lnSpc>
                        <a:spcAft>
                          <a:spcPts val="0"/>
                        </a:spcAft>
                      </a:pPr>
                      <a:r>
                        <a:rPr lang="en-GB" sz="1000" kern="1200" dirty="0"/>
                        <a:t>Rule 6</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53442">
                <a:tc>
                  <a:txBody>
                    <a:bodyPr/>
                    <a:lstStyle/>
                    <a:p>
                      <a:pPr marL="0" algn="l" defTabSz="914400" rtl="0" eaLnBrk="1" latinLnBrk="0" hangingPunct="1">
                        <a:lnSpc>
                          <a:spcPct val="115000"/>
                        </a:lnSpc>
                        <a:spcAft>
                          <a:spcPts val="0"/>
                        </a:spcAft>
                      </a:pPr>
                      <a:r>
                        <a:rPr lang="en-GB" sz="1000" kern="1200" dirty="0"/>
                        <a:t>Rule 7</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53442">
                <a:tc>
                  <a:txBody>
                    <a:bodyPr/>
                    <a:lstStyle/>
                    <a:p>
                      <a:pPr marL="0" algn="l" defTabSz="914400" rtl="0" eaLnBrk="1" latinLnBrk="0" hangingPunct="1">
                        <a:lnSpc>
                          <a:spcPct val="115000"/>
                        </a:lnSpc>
                        <a:spcAft>
                          <a:spcPts val="0"/>
                        </a:spcAft>
                      </a:pPr>
                      <a:r>
                        <a:rPr lang="fr-FR" sz="1000" kern="1200" dirty="0"/>
                        <a:t>Rule 8</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153442">
                <a:tc>
                  <a:txBody>
                    <a:bodyPr/>
                    <a:lstStyle/>
                    <a:p>
                      <a:pPr marL="0" algn="l" defTabSz="914400" rtl="0" eaLnBrk="1" latinLnBrk="0" hangingPunct="1">
                        <a:lnSpc>
                          <a:spcPct val="115000"/>
                        </a:lnSpc>
                        <a:spcAft>
                          <a:spcPts val="0"/>
                        </a:spcAft>
                      </a:pPr>
                      <a:r>
                        <a:rPr lang="fr-FR" sz="1000" kern="1200" dirty="0"/>
                        <a:t>Rule 9</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153442">
                <a:tc>
                  <a:txBody>
                    <a:bodyPr/>
                    <a:lstStyle/>
                    <a:p>
                      <a:pPr marL="0" algn="l" defTabSz="914400" rtl="0" eaLnBrk="1" latinLnBrk="0" hangingPunct="1">
                        <a:lnSpc>
                          <a:spcPct val="115000"/>
                        </a:lnSpc>
                        <a:spcAft>
                          <a:spcPts val="0"/>
                        </a:spcAft>
                      </a:pPr>
                      <a:r>
                        <a:rPr lang="fr-FR" sz="1000" kern="1200" dirty="0"/>
                        <a:t>Rule 10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E392A8AD-8812-4A9E-AC96-67033463B87B}"/>
              </a:ext>
            </a:extLst>
          </p:cNvPr>
          <p:cNvGrpSpPr/>
          <p:nvPr/>
        </p:nvGrpSpPr>
        <p:grpSpPr>
          <a:xfrm>
            <a:off x="1919536" y="1340768"/>
            <a:ext cx="8364803" cy="4320480"/>
            <a:chOff x="1919536" y="1340768"/>
            <a:chExt cx="8364803" cy="4320480"/>
          </a:xfrm>
        </p:grpSpPr>
        <p:sp>
          <p:nvSpPr>
            <p:cNvPr id="12" name="Rounded Rectangle 11"/>
            <p:cNvSpPr/>
            <p:nvPr/>
          </p:nvSpPr>
          <p:spPr>
            <a:xfrm>
              <a:off x="2017182" y="1340768"/>
              <a:ext cx="8267157" cy="4320480"/>
            </a:xfrm>
            <a:prstGeom prst="roundRect">
              <a:avLst>
                <a:gd name="adj" fmla="val 2663"/>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134076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Top Non Critical Violations</a:t>
              </a:r>
            </a:p>
          </p:txBody>
        </p:sp>
        <p:sp>
          <p:nvSpPr>
            <p:cNvPr id="14" name="TextBox 13"/>
            <p:cNvSpPr txBox="1"/>
            <p:nvPr/>
          </p:nvSpPr>
          <p:spPr>
            <a:xfrm>
              <a:off x="3641930" y="170080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TOP_NON_CRITICAL_VIOLATIONS_EVOLUTION</a:t>
              </a:r>
            </a:p>
          </p:txBody>
        </p:sp>
        <p:sp>
          <p:nvSpPr>
            <p:cNvPr id="15" name="TextBox 14"/>
            <p:cNvSpPr txBox="1"/>
            <p:nvPr/>
          </p:nvSpPr>
          <p:spPr>
            <a:xfrm>
              <a:off x="2194766" y="170080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53805" y="2061480"/>
              <a:ext cx="6630534"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b="1" dirty="0"/>
                <a:t>COUNT=N</a:t>
              </a:r>
              <a:r>
                <a:rPr lang="fr-FR" sz="1200" dirty="0"/>
                <a:t> (by default COUNT=10)</a:t>
              </a:r>
            </a:p>
            <a:p>
              <a:r>
                <a:rPr lang="fr-FR" sz="1200"/>
                <a:t>where </a:t>
              </a:r>
              <a:r>
                <a:rPr lang="fr-FR" sz="1200" dirty="0"/>
                <a:t>N indicates the number of top N</a:t>
              </a:r>
            </a:p>
          </p:txBody>
        </p:sp>
        <p:sp>
          <p:nvSpPr>
            <p:cNvPr id="17" name="TextBox 16"/>
            <p:cNvSpPr txBox="1"/>
            <p:nvPr/>
          </p:nvSpPr>
          <p:spPr>
            <a:xfrm>
              <a:off x="2611548" y="202077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TOP_NON_CRITICAL_VIOLATIONS_EVOLUTION;BC-ID=60017,COUNT=10"/>
          <p:cNvGraphicFramePr>
            <a:graphicFrameLocks noGrp="1"/>
          </p:cNvGraphicFramePr>
          <p:nvPr>
            <p:extLst>
              <p:ext uri="{D42A27DB-BD31-4B8C-83A1-F6EECF244321}">
                <p14:modId xmlns:p14="http://schemas.microsoft.com/office/powerpoint/2010/main" val="2294630445"/>
              </p:ext>
            </p:extLst>
          </p:nvPr>
        </p:nvGraphicFramePr>
        <p:xfrm>
          <a:off x="2135560" y="2780929"/>
          <a:ext cx="7920880" cy="1995234"/>
        </p:xfrm>
        <a:graphic>
          <a:graphicData uri="http://schemas.openxmlformats.org/drawingml/2006/table">
            <a:tbl>
              <a:tblPr firstRow="1" bandRow="1">
                <a:tableStyleId>{9DCAF9ED-07DC-4A11-8D7F-57B35C25682E}</a:tableStyleId>
              </a:tblPr>
              <a:tblGrid>
                <a:gridCol w="4032448">
                  <a:extLst>
                    <a:ext uri="{9D8B030D-6E8A-4147-A177-3AD203B41FA5}">
                      <a16:colId xmlns:a16="http://schemas.microsoft.com/office/drawing/2014/main" val="20000"/>
                    </a:ext>
                  </a:extLst>
                </a:gridCol>
                <a:gridCol w="972108">
                  <a:extLst>
                    <a:ext uri="{9D8B030D-6E8A-4147-A177-3AD203B41FA5}">
                      <a16:colId xmlns:a16="http://schemas.microsoft.com/office/drawing/2014/main" val="20001"/>
                    </a:ext>
                  </a:extLst>
                </a:gridCol>
                <a:gridCol w="972108">
                  <a:extLst>
                    <a:ext uri="{9D8B030D-6E8A-4147-A177-3AD203B41FA5}">
                      <a16:colId xmlns:a16="http://schemas.microsoft.com/office/drawing/2014/main" val="20002"/>
                    </a:ext>
                  </a:extLst>
                </a:gridCol>
                <a:gridCol w="972108">
                  <a:extLst>
                    <a:ext uri="{9D8B030D-6E8A-4147-A177-3AD203B41FA5}">
                      <a16:colId xmlns:a16="http://schemas.microsoft.com/office/drawing/2014/main" val="20003"/>
                    </a:ext>
                  </a:extLst>
                </a:gridCol>
                <a:gridCol w="972108">
                  <a:extLst>
                    <a:ext uri="{9D8B030D-6E8A-4147-A177-3AD203B41FA5}">
                      <a16:colId xmlns:a16="http://schemas.microsoft.com/office/drawing/2014/main" val="20004"/>
                    </a:ext>
                  </a:extLst>
                </a:gridCol>
              </a:tblGrid>
              <a:tr h="144446">
                <a:tc>
                  <a:txBody>
                    <a:bodyPr/>
                    <a:lstStyle/>
                    <a:p>
                      <a:pPr>
                        <a:lnSpc>
                          <a:spcPct val="115000"/>
                        </a:lnSpc>
                        <a:spcAft>
                          <a:spcPts val="0"/>
                        </a:spcAft>
                      </a:pPr>
                      <a:r>
                        <a:rPr lang="fr-FR" sz="1100" dirty="0"/>
                        <a:t>Rules</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Actual</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fr-FR" sz="1100" dirty="0" err="1"/>
                        <a:t>Previous</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fr-FR" sz="1100" dirty="0"/>
                        <a:t>Evolution</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fr-FR" sz="1100" dirty="0"/>
                        <a:t>% Evolution</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31305">
                <a:tc>
                  <a:txBody>
                    <a:bodyPr/>
                    <a:lstStyle/>
                    <a:p>
                      <a:pPr>
                        <a:lnSpc>
                          <a:spcPct val="115000"/>
                        </a:lnSpc>
                        <a:spcAft>
                          <a:spcPts val="0"/>
                        </a:spcAft>
                      </a:pPr>
                      <a:r>
                        <a:rPr lang="en-GB" sz="1000" dirty="0"/>
                        <a:t>Rule 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0 %</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131305">
                <a:tc>
                  <a:txBody>
                    <a:bodyPr/>
                    <a:lstStyle/>
                    <a:p>
                      <a:pPr marL="0" algn="l" defTabSz="914400" rtl="0" eaLnBrk="1" latinLnBrk="0" hangingPunct="1">
                        <a:lnSpc>
                          <a:spcPct val="115000"/>
                        </a:lnSpc>
                        <a:spcAft>
                          <a:spcPts val="0"/>
                        </a:spcAft>
                      </a:pPr>
                      <a:r>
                        <a:rPr lang="en-GB" sz="1000" kern="1200" dirty="0"/>
                        <a:t>Rule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31305">
                <a:tc>
                  <a:txBody>
                    <a:bodyPr/>
                    <a:lstStyle/>
                    <a:p>
                      <a:pPr marL="0" algn="l" defTabSz="914400" rtl="0" eaLnBrk="1" latinLnBrk="0" hangingPunct="1">
                        <a:lnSpc>
                          <a:spcPct val="115000"/>
                        </a:lnSpc>
                        <a:spcAft>
                          <a:spcPts val="0"/>
                        </a:spcAft>
                      </a:pPr>
                      <a:r>
                        <a:rPr lang="en-GB" sz="1000" kern="1200" dirty="0"/>
                        <a:t>Rule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53442">
                <a:tc>
                  <a:txBody>
                    <a:bodyPr/>
                    <a:lstStyle/>
                    <a:p>
                      <a:pPr marL="0" algn="l" defTabSz="914400" rtl="0" eaLnBrk="1" latinLnBrk="0" hangingPunct="1">
                        <a:lnSpc>
                          <a:spcPct val="115000"/>
                        </a:lnSpc>
                        <a:spcAft>
                          <a:spcPts val="0"/>
                        </a:spcAft>
                      </a:pPr>
                      <a:r>
                        <a:rPr lang="en-GB" sz="1000" kern="1200" dirty="0"/>
                        <a:t>Rule 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53442">
                <a:tc>
                  <a:txBody>
                    <a:bodyPr/>
                    <a:lstStyle/>
                    <a:p>
                      <a:pPr marL="0" algn="l" defTabSz="914400" rtl="0" eaLnBrk="1" latinLnBrk="0" hangingPunct="1">
                        <a:lnSpc>
                          <a:spcPct val="115000"/>
                        </a:lnSpc>
                        <a:spcAft>
                          <a:spcPts val="0"/>
                        </a:spcAft>
                      </a:pPr>
                      <a:r>
                        <a:rPr lang="en-GB" sz="1000" kern="1200" dirty="0"/>
                        <a:t>Rule 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53442">
                <a:tc>
                  <a:txBody>
                    <a:bodyPr/>
                    <a:lstStyle/>
                    <a:p>
                      <a:pPr marL="0" algn="l" defTabSz="914400" rtl="0" eaLnBrk="1" latinLnBrk="0" hangingPunct="1">
                        <a:lnSpc>
                          <a:spcPct val="115000"/>
                        </a:lnSpc>
                        <a:spcAft>
                          <a:spcPts val="0"/>
                        </a:spcAft>
                      </a:pPr>
                      <a:r>
                        <a:rPr lang="en-GB" sz="1000" kern="1200" dirty="0"/>
                        <a:t>Rule 6</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53442">
                <a:tc>
                  <a:txBody>
                    <a:bodyPr/>
                    <a:lstStyle/>
                    <a:p>
                      <a:pPr marL="0" algn="l" defTabSz="914400" rtl="0" eaLnBrk="1" latinLnBrk="0" hangingPunct="1">
                        <a:lnSpc>
                          <a:spcPct val="115000"/>
                        </a:lnSpc>
                        <a:spcAft>
                          <a:spcPts val="0"/>
                        </a:spcAft>
                      </a:pPr>
                      <a:r>
                        <a:rPr lang="en-GB" sz="1000" kern="1200" dirty="0"/>
                        <a:t>Rule 7</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53442">
                <a:tc>
                  <a:txBody>
                    <a:bodyPr/>
                    <a:lstStyle/>
                    <a:p>
                      <a:pPr marL="0" algn="l" defTabSz="914400" rtl="0" eaLnBrk="1" latinLnBrk="0" hangingPunct="1">
                        <a:lnSpc>
                          <a:spcPct val="115000"/>
                        </a:lnSpc>
                        <a:spcAft>
                          <a:spcPts val="0"/>
                        </a:spcAft>
                      </a:pPr>
                      <a:r>
                        <a:rPr lang="fr-FR" sz="1000" kern="1200" dirty="0"/>
                        <a:t>Rule 8</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153442">
                <a:tc>
                  <a:txBody>
                    <a:bodyPr/>
                    <a:lstStyle/>
                    <a:p>
                      <a:pPr marL="0" algn="l" defTabSz="914400" rtl="0" eaLnBrk="1" latinLnBrk="0" hangingPunct="1">
                        <a:lnSpc>
                          <a:spcPct val="115000"/>
                        </a:lnSpc>
                        <a:spcAft>
                          <a:spcPts val="0"/>
                        </a:spcAft>
                      </a:pPr>
                      <a:r>
                        <a:rPr lang="fr-FR" sz="1000" kern="1200" dirty="0"/>
                        <a:t>Rule 9</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153442">
                <a:tc>
                  <a:txBody>
                    <a:bodyPr/>
                    <a:lstStyle/>
                    <a:p>
                      <a:pPr marL="0" algn="l" defTabSz="914400" rtl="0" eaLnBrk="1" latinLnBrk="0" hangingPunct="1">
                        <a:lnSpc>
                          <a:spcPct val="115000"/>
                        </a:lnSpc>
                        <a:spcAft>
                          <a:spcPts val="0"/>
                        </a:spcAft>
                      </a:pPr>
                      <a:r>
                        <a:rPr lang="fr-FR" sz="1000" kern="1200" dirty="0"/>
                        <a:t>Rule 10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872FD6F8-7471-4E23-BF39-73A904CD5D0A}"/>
              </a:ext>
            </a:extLst>
          </p:cNvPr>
          <p:cNvGrpSpPr/>
          <p:nvPr/>
        </p:nvGrpSpPr>
        <p:grpSpPr>
          <a:xfrm>
            <a:off x="1932169" y="1412776"/>
            <a:ext cx="8340295" cy="4248472"/>
            <a:chOff x="1932169" y="1412776"/>
            <a:chExt cx="8340295" cy="4248472"/>
          </a:xfrm>
        </p:grpSpPr>
        <p:sp>
          <p:nvSpPr>
            <p:cNvPr id="12" name="Rounded Rectangle 11"/>
            <p:cNvSpPr/>
            <p:nvPr/>
          </p:nvSpPr>
          <p:spPr>
            <a:xfrm>
              <a:off x="2017182" y="1412776"/>
              <a:ext cx="8157600" cy="4248472"/>
            </a:xfrm>
            <a:prstGeom prst="roundRect">
              <a:avLst>
                <a:gd name="adj" fmla="val 2315"/>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32169" y="1424651"/>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Technical Criteria List by Highest Improvement Opportunity</a:t>
              </a:r>
            </a:p>
          </p:txBody>
        </p:sp>
        <p:sp>
          <p:nvSpPr>
            <p:cNvPr id="14" name="TextBox 13"/>
            <p:cNvSpPr txBox="1"/>
            <p:nvPr/>
          </p:nvSpPr>
          <p:spPr>
            <a:xfrm>
              <a:off x="3641930" y="178979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TC_IMPROVEMENT_OPPORTUNITY</a:t>
              </a:r>
              <a:endParaRPr lang="fr-FR" sz="1600" dirty="0"/>
            </a:p>
          </p:txBody>
        </p:sp>
        <p:sp>
          <p:nvSpPr>
            <p:cNvPr id="15" name="TextBox 14"/>
            <p:cNvSpPr txBox="1"/>
            <p:nvPr/>
          </p:nvSpPr>
          <p:spPr>
            <a:xfrm>
              <a:off x="2194766" y="178979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1930" y="2159508"/>
              <a:ext cx="6630534" cy="83099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b="1" dirty="0"/>
                <a:t>COUNT=N</a:t>
              </a:r>
              <a:r>
                <a:rPr lang="fr-FR" sz="1200" dirty="0"/>
                <a:t> (by default COUNT=10)</a:t>
              </a:r>
            </a:p>
            <a:p>
              <a:r>
                <a:rPr lang="fr-FR" sz="1200"/>
                <a:t>         where </a:t>
              </a:r>
              <a:r>
                <a:rPr lang="fr-FR" sz="1200" dirty="0"/>
                <a:t>N indicates the number of top N</a:t>
              </a:r>
            </a:p>
            <a:p>
              <a:r>
                <a:rPr lang="fr-FR" sz="1200" b="1" dirty="0"/>
                <a:t>PAR=N</a:t>
              </a:r>
              <a:r>
                <a:rPr lang="fr-FR" sz="1200" dirty="0"/>
                <a:t> (by default PAR=60017)</a:t>
              </a:r>
            </a:p>
            <a:p>
              <a:r>
                <a:rPr lang="fr-FR" sz="1200"/>
                <a:t>         where </a:t>
              </a:r>
              <a:r>
                <a:rPr lang="fr-FR" sz="1200" dirty="0"/>
                <a:t>N indicates the Business Criterion Id</a:t>
              </a:r>
            </a:p>
          </p:txBody>
        </p:sp>
        <p:sp>
          <p:nvSpPr>
            <p:cNvPr id="17" name="TextBox 16"/>
            <p:cNvSpPr txBox="1"/>
            <p:nvPr/>
          </p:nvSpPr>
          <p:spPr>
            <a:xfrm>
              <a:off x="2611548" y="2109762"/>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TC_IMPROVEMENT_OPPORTUNITY;COUNT=10,PAR=60017"/>
          <p:cNvGraphicFramePr>
            <a:graphicFrameLocks noGrp="1"/>
          </p:cNvGraphicFramePr>
          <p:nvPr>
            <p:extLst>
              <p:ext uri="{D42A27DB-BD31-4B8C-83A1-F6EECF244321}">
                <p14:modId xmlns:p14="http://schemas.microsoft.com/office/powerpoint/2010/main" val="3387863157"/>
              </p:ext>
            </p:extLst>
          </p:nvPr>
        </p:nvGraphicFramePr>
        <p:xfrm>
          <a:off x="2518923" y="3501009"/>
          <a:ext cx="7154154" cy="1995234"/>
        </p:xfrm>
        <a:graphic>
          <a:graphicData uri="http://schemas.openxmlformats.org/drawingml/2006/table">
            <a:tbl>
              <a:tblPr firstRow="1" bandRow="1">
                <a:tableStyleId>{9DCAF9ED-07DC-4A11-8D7F-57B35C25682E}</a:tableStyleId>
              </a:tblPr>
              <a:tblGrid>
                <a:gridCol w="3649085">
                  <a:extLst>
                    <a:ext uri="{9D8B030D-6E8A-4147-A177-3AD203B41FA5}">
                      <a16:colId xmlns:a16="http://schemas.microsoft.com/office/drawing/2014/main" val="20000"/>
                    </a:ext>
                  </a:extLst>
                </a:gridCol>
                <a:gridCol w="1273069">
                  <a:extLst>
                    <a:ext uri="{9D8B030D-6E8A-4147-A177-3AD203B41FA5}">
                      <a16:colId xmlns:a16="http://schemas.microsoft.com/office/drawing/2014/main" val="20001"/>
                    </a:ext>
                  </a:extLst>
                </a:gridCol>
                <a:gridCol w="1247211">
                  <a:extLst>
                    <a:ext uri="{9D8B030D-6E8A-4147-A177-3AD203B41FA5}">
                      <a16:colId xmlns:a16="http://schemas.microsoft.com/office/drawing/2014/main" val="20002"/>
                    </a:ext>
                  </a:extLst>
                </a:gridCol>
                <a:gridCol w="984789">
                  <a:extLst>
                    <a:ext uri="{9D8B030D-6E8A-4147-A177-3AD203B41FA5}">
                      <a16:colId xmlns:a16="http://schemas.microsoft.com/office/drawing/2014/main" val="20003"/>
                    </a:ext>
                  </a:extLst>
                </a:gridCol>
              </a:tblGrid>
              <a:tr h="144446">
                <a:tc>
                  <a:txBody>
                    <a:bodyPr/>
                    <a:lstStyle/>
                    <a:p>
                      <a:pPr>
                        <a:lnSpc>
                          <a:spcPct val="115000"/>
                        </a:lnSpc>
                        <a:spcAft>
                          <a:spcPts val="0"/>
                        </a:spcAft>
                      </a:pPr>
                      <a:r>
                        <a:rPr lang="fr-FR" sz="1100" dirty="0"/>
                        <a:t>Technical Criterion</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Total Violation (#)</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fr-FR" sz="1100" dirty="0"/>
                        <a:t>Total Check (#)</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fr-FR" sz="1100" dirty="0"/>
                        <a:t>Grade</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31305">
                <a:tc>
                  <a:txBody>
                    <a:bodyPr/>
                    <a:lstStyle/>
                    <a:p>
                      <a:pPr>
                        <a:lnSpc>
                          <a:spcPct val="115000"/>
                        </a:lnSpc>
                        <a:spcAft>
                          <a:spcPts val="0"/>
                        </a:spcAft>
                      </a:pPr>
                      <a:r>
                        <a:rPr lang="en-GB" sz="1000" dirty="0"/>
                        <a:t>Criteria 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31305">
                <a:tc>
                  <a:txBody>
                    <a:bodyPr/>
                    <a:lstStyle/>
                    <a:p>
                      <a:pPr marL="0" algn="l" defTabSz="914400" rtl="0" eaLnBrk="1" latinLnBrk="0" hangingPunct="1">
                        <a:lnSpc>
                          <a:spcPct val="115000"/>
                        </a:lnSpc>
                        <a:spcAft>
                          <a:spcPts val="0"/>
                        </a:spcAft>
                      </a:pPr>
                      <a:r>
                        <a:rPr lang="en-GB" sz="1000" dirty="0"/>
                        <a:t>Criteria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31305">
                <a:tc>
                  <a:txBody>
                    <a:bodyPr/>
                    <a:lstStyle/>
                    <a:p>
                      <a:pPr marL="0" algn="l" defTabSz="914400" rtl="0" eaLnBrk="1" latinLnBrk="0" hangingPunct="1">
                        <a:lnSpc>
                          <a:spcPct val="115000"/>
                        </a:lnSpc>
                        <a:spcAft>
                          <a:spcPts val="0"/>
                        </a:spcAft>
                      </a:pPr>
                      <a:r>
                        <a:rPr lang="en-GB" sz="1000" dirty="0"/>
                        <a:t>Criteria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53442">
                <a:tc>
                  <a:txBody>
                    <a:bodyPr/>
                    <a:lstStyle/>
                    <a:p>
                      <a:pPr marL="0" algn="l" defTabSz="914400" rtl="0" eaLnBrk="1" latinLnBrk="0" hangingPunct="1">
                        <a:lnSpc>
                          <a:spcPct val="115000"/>
                        </a:lnSpc>
                        <a:spcAft>
                          <a:spcPts val="0"/>
                        </a:spcAft>
                      </a:pPr>
                      <a:r>
                        <a:rPr lang="en-GB" sz="1000" dirty="0"/>
                        <a:t>Criteria 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53442">
                <a:tc>
                  <a:txBody>
                    <a:bodyPr/>
                    <a:lstStyle/>
                    <a:p>
                      <a:pPr marL="0" algn="l" defTabSz="914400" rtl="0" eaLnBrk="1" latinLnBrk="0" hangingPunct="1">
                        <a:lnSpc>
                          <a:spcPct val="115000"/>
                        </a:lnSpc>
                        <a:spcAft>
                          <a:spcPts val="0"/>
                        </a:spcAft>
                      </a:pPr>
                      <a:r>
                        <a:rPr lang="en-GB" sz="1000" dirty="0"/>
                        <a:t>Criteria 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53442">
                <a:tc>
                  <a:txBody>
                    <a:bodyPr/>
                    <a:lstStyle/>
                    <a:p>
                      <a:pPr marL="0" algn="l" defTabSz="914400" rtl="0" eaLnBrk="1" latinLnBrk="0" hangingPunct="1">
                        <a:lnSpc>
                          <a:spcPct val="115000"/>
                        </a:lnSpc>
                        <a:spcAft>
                          <a:spcPts val="0"/>
                        </a:spcAft>
                      </a:pPr>
                      <a:r>
                        <a:rPr lang="en-GB" sz="1000" dirty="0"/>
                        <a:t>Criteria 6</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53442">
                <a:tc>
                  <a:txBody>
                    <a:bodyPr/>
                    <a:lstStyle/>
                    <a:p>
                      <a:pPr marL="0" algn="l" defTabSz="914400" rtl="0" eaLnBrk="1" latinLnBrk="0" hangingPunct="1">
                        <a:lnSpc>
                          <a:spcPct val="115000"/>
                        </a:lnSpc>
                        <a:spcAft>
                          <a:spcPts val="0"/>
                        </a:spcAft>
                      </a:pPr>
                      <a:r>
                        <a:rPr lang="en-GB" sz="1000" dirty="0"/>
                        <a:t>Criteria 7</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53442">
                <a:tc>
                  <a:txBody>
                    <a:bodyPr/>
                    <a:lstStyle/>
                    <a:p>
                      <a:pPr marL="0" algn="l" defTabSz="914400" rtl="0" eaLnBrk="1" latinLnBrk="0" hangingPunct="1">
                        <a:lnSpc>
                          <a:spcPct val="115000"/>
                        </a:lnSpc>
                        <a:spcAft>
                          <a:spcPts val="0"/>
                        </a:spcAft>
                      </a:pPr>
                      <a:r>
                        <a:rPr lang="en-GB" sz="1000" dirty="0"/>
                        <a:t>Criteria 8</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153442">
                <a:tc>
                  <a:txBody>
                    <a:bodyPr/>
                    <a:lstStyle/>
                    <a:p>
                      <a:pPr marL="0" algn="l" defTabSz="914400" rtl="0" eaLnBrk="1" latinLnBrk="0" hangingPunct="1">
                        <a:lnSpc>
                          <a:spcPct val="115000"/>
                        </a:lnSpc>
                        <a:spcAft>
                          <a:spcPts val="0"/>
                        </a:spcAft>
                      </a:pPr>
                      <a:r>
                        <a:rPr lang="en-GB" sz="1000" dirty="0"/>
                        <a:t>Criteria 9</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153442">
                <a:tc>
                  <a:txBody>
                    <a:bodyPr/>
                    <a:lstStyle/>
                    <a:p>
                      <a:pPr marL="0" algn="l" defTabSz="914400" rtl="0" eaLnBrk="1" latinLnBrk="0" hangingPunct="1">
                        <a:lnSpc>
                          <a:spcPct val="115000"/>
                        </a:lnSpc>
                        <a:spcAft>
                          <a:spcPts val="0"/>
                        </a:spcAft>
                      </a:pPr>
                      <a:r>
                        <a:rPr lang="en-GB" sz="1000" dirty="0"/>
                        <a:t>Criteria 10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0B6DDB75-6CD9-4396-B234-C771F0503B1B}"/>
              </a:ext>
            </a:extLst>
          </p:cNvPr>
          <p:cNvGrpSpPr/>
          <p:nvPr/>
        </p:nvGrpSpPr>
        <p:grpSpPr>
          <a:xfrm>
            <a:off x="1932169" y="1254096"/>
            <a:ext cx="8350636" cy="4886771"/>
            <a:chOff x="1932169" y="980728"/>
            <a:chExt cx="8350636" cy="4886771"/>
          </a:xfrm>
        </p:grpSpPr>
        <p:sp>
          <p:nvSpPr>
            <p:cNvPr id="12" name="Rounded Rectangle 11"/>
            <p:cNvSpPr/>
            <p:nvPr/>
          </p:nvSpPr>
          <p:spPr>
            <a:xfrm>
              <a:off x="2026688" y="980728"/>
              <a:ext cx="8157600" cy="4886771"/>
            </a:xfrm>
            <a:prstGeom prst="roundRect">
              <a:avLst>
                <a:gd name="adj" fmla="val 2159"/>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32169" y="990501"/>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Technical Criteria List by Highest Improvement Opportunity</a:t>
              </a:r>
            </a:p>
          </p:txBody>
        </p:sp>
        <p:sp>
          <p:nvSpPr>
            <p:cNvPr id="14" name="TextBox 13"/>
            <p:cNvSpPr txBox="1"/>
            <p:nvPr/>
          </p:nvSpPr>
          <p:spPr>
            <a:xfrm>
              <a:off x="3652271" y="138971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RULE_IMPROVEMENT_OPPORTUNITY</a:t>
              </a:r>
            </a:p>
          </p:txBody>
        </p:sp>
        <p:sp>
          <p:nvSpPr>
            <p:cNvPr id="15" name="TextBox 14"/>
            <p:cNvSpPr txBox="1"/>
            <p:nvPr/>
          </p:nvSpPr>
          <p:spPr>
            <a:xfrm>
              <a:off x="2205107" y="138971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52271" y="1775997"/>
              <a:ext cx="6630534" cy="161582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100" b="1" dirty="0"/>
                <a:t>COUNT=N</a:t>
              </a:r>
              <a:r>
                <a:rPr lang="en-US" sz="1100" dirty="0"/>
                <a:t> (by default COUNT=5)</a:t>
              </a:r>
            </a:p>
            <a:p>
              <a:r>
                <a:rPr lang="en-US" sz="1100" dirty="0"/>
                <a:t>where N indicates the number of top N</a:t>
              </a:r>
            </a:p>
            <a:p>
              <a:r>
                <a:rPr lang="en-US" sz="1100" b="1" dirty="0"/>
                <a:t>PAR=N</a:t>
              </a:r>
              <a:r>
                <a:rPr lang="en-US" sz="1100" dirty="0"/>
                <a:t> (by default PAR=60017)</a:t>
              </a:r>
            </a:p>
            <a:p>
              <a:r>
                <a:rPr lang="en-US" sz="1100" dirty="0"/>
                <a:t>where N indicates the Business Criterion Id</a:t>
              </a:r>
            </a:p>
            <a:p>
              <a:r>
                <a:rPr lang="en-US" sz="1100" b="1" dirty="0"/>
                <a:t>C=N</a:t>
              </a:r>
              <a:r>
                <a:rPr lang="en-US" sz="1100" dirty="0"/>
                <a:t> (by default C is null)</a:t>
              </a:r>
            </a:p>
            <a:p>
              <a:r>
                <a:rPr lang="en-US" sz="1100" dirty="0"/>
                <a:t>where N represents the order of the result</a:t>
              </a:r>
            </a:p>
            <a:p>
              <a:r>
                <a:rPr lang="en-US" sz="1100" dirty="0"/>
                <a:t>  - C=0 or nothing indicates a descending Improvement Gap order</a:t>
              </a:r>
            </a:p>
            <a:p>
              <a:r>
                <a:rPr lang="en-US" sz="1100" dirty="0"/>
                <a:t>  - C=1 indicates a descending Improvement Variation order</a:t>
              </a:r>
            </a:p>
            <a:p>
              <a:r>
                <a:rPr lang="en-US" sz="1100" dirty="0"/>
                <a:t>  - C=2 indicates a descending Degradation Variation order</a:t>
              </a:r>
            </a:p>
          </p:txBody>
        </p:sp>
        <p:sp>
          <p:nvSpPr>
            <p:cNvPr id="17" name="TextBox 16"/>
            <p:cNvSpPr txBox="1"/>
            <p:nvPr/>
          </p:nvSpPr>
          <p:spPr>
            <a:xfrm>
              <a:off x="2621889" y="1709682"/>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RULE_IMPROVEMENT_OPPORTUNITY;PAR=60017,COUNT=5"/>
          <p:cNvGraphicFramePr>
            <a:graphicFrameLocks noGrp="1"/>
          </p:cNvGraphicFramePr>
          <p:nvPr>
            <p:extLst>
              <p:ext uri="{D42A27DB-BD31-4B8C-83A1-F6EECF244321}">
                <p14:modId xmlns:p14="http://schemas.microsoft.com/office/powerpoint/2010/main" val="4049001967"/>
              </p:ext>
            </p:extLst>
          </p:nvPr>
        </p:nvGraphicFramePr>
        <p:xfrm>
          <a:off x="2097741" y="3970850"/>
          <a:ext cx="7977628" cy="1671384"/>
        </p:xfrm>
        <a:graphic>
          <a:graphicData uri="http://schemas.openxmlformats.org/drawingml/2006/table">
            <a:tbl>
              <a:tblPr firstRow="1" bandRow="1">
                <a:tableStyleId>{9DCAF9ED-07DC-4A11-8D7F-57B35C25682E}</a:tableStyleId>
              </a:tblPr>
              <a:tblGrid>
                <a:gridCol w="3858910">
                  <a:extLst>
                    <a:ext uri="{9D8B030D-6E8A-4147-A177-3AD203B41FA5}">
                      <a16:colId xmlns:a16="http://schemas.microsoft.com/office/drawing/2014/main" val="20000"/>
                    </a:ext>
                  </a:extLst>
                </a:gridCol>
                <a:gridCol w="798622">
                  <a:extLst>
                    <a:ext uri="{9D8B030D-6E8A-4147-A177-3AD203B41FA5}">
                      <a16:colId xmlns:a16="http://schemas.microsoft.com/office/drawing/2014/main" val="1605289418"/>
                    </a:ext>
                  </a:extLst>
                </a:gridCol>
                <a:gridCol w="784045">
                  <a:extLst>
                    <a:ext uri="{9D8B030D-6E8A-4147-A177-3AD203B41FA5}">
                      <a16:colId xmlns:a16="http://schemas.microsoft.com/office/drawing/2014/main" val="20001"/>
                    </a:ext>
                  </a:extLst>
                </a:gridCol>
                <a:gridCol w="797858">
                  <a:extLst>
                    <a:ext uri="{9D8B030D-6E8A-4147-A177-3AD203B41FA5}">
                      <a16:colId xmlns:a16="http://schemas.microsoft.com/office/drawing/2014/main" val="20002"/>
                    </a:ext>
                  </a:extLst>
                </a:gridCol>
                <a:gridCol w="540151">
                  <a:extLst>
                    <a:ext uri="{9D8B030D-6E8A-4147-A177-3AD203B41FA5}">
                      <a16:colId xmlns:a16="http://schemas.microsoft.com/office/drawing/2014/main" val="20003"/>
                    </a:ext>
                  </a:extLst>
                </a:gridCol>
                <a:gridCol w="599021">
                  <a:extLst>
                    <a:ext uri="{9D8B030D-6E8A-4147-A177-3AD203B41FA5}">
                      <a16:colId xmlns:a16="http://schemas.microsoft.com/office/drawing/2014/main" val="20004"/>
                    </a:ext>
                  </a:extLst>
                </a:gridCol>
                <a:gridCol w="599021">
                  <a:extLst>
                    <a:ext uri="{9D8B030D-6E8A-4147-A177-3AD203B41FA5}">
                      <a16:colId xmlns:a16="http://schemas.microsoft.com/office/drawing/2014/main" val="20005"/>
                    </a:ext>
                  </a:extLst>
                </a:gridCol>
              </a:tblGrid>
              <a:tr h="144446">
                <a:tc>
                  <a:txBody>
                    <a:bodyPr/>
                    <a:lstStyle/>
                    <a:p>
                      <a:pPr>
                        <a:lnSpc>
                          <a:spcPct val="115000"/>
                        </a:lnSpc>
                        <a:spcAft>
                          <a:spcPts val="0"/>
                        </a:spcAft>
                      </a:pPr>
                      <a:r>
                        <a:rPr lang="fr-FR" sz="1100" dirty="0"/>
                        <a:t>Rule</a:t>
                      </a:r>
                      <a:endParaRPr lang="fr-FR" sz="1100" dirty="0">
                        <a:latin typeface="Calibri"/>
                        <a:ea typeface="Calibri"/>
                        <a:cs typeface="Times New Roman"/>
                      </a:endParaRPr>
                    </a:p>
                  </a:txBody>
                  <a:tcPr marL="68580" marR="68580" marT="0" marB="0" anchor="ctr"/>
                </a:tc>
                <a:tc>
                  <a:txBody>
                    <a:bodyPr/>
                    <a:lstStyle/>
                    <a:p>
                      <a:pPr algn="ctr">
                        <a:lnSpc>
                          <a:spcPct val="115000"/>
                        </a:lnSpc>
                        <a:spcAft>
                          <a:spcPts val="0"/>
                        </a:spcAft>
                      </a:pPr>
                      <a:r>
                        <a:rPr lang="fr-FR" sz="1100" b="1" kern="1200" dirty="0">
                          <a:solidFill>
                            <a:schemeClr val="lt1"/>
                          </a:solidFill>
                          <a:latin typeface="+mn-lt"/>
                          <a:ea typeface="+mn-ea"/>
                          <a:cs typeface="+mn-cs"/>
                        </a:rPr>
                        <a:t>Critical</a:t>
                      </a:r>
                    </a:p>
                  </a:txBody>
                  <a:tcPr marL="68580" marR="68580" marT="0" marB="0" anchor="ctr"/>
                </a:tc>
                <a:tc>
                  <a:txBody>
                    <a:bodyPr/>
                    <a:lstStyle/>
                    <a:p>
                      <a:pPr algn="ctr">
                        <a:lnSpc>
                          <a:spcPct val="115000"/>
                        </a:lnSpc>
                        <a:spcAft>
                          <a:spcPts val="0"/>
                        </a:spcAft>
                      </a:pPr>
                      <a:r>
                        <a:rPr lang="en-GB" sz="1000" dirty="0"/>
                        <a:t>Current Violation</a:t>
                      </a:r>
                      <a:endParaRPr lang="fr-FR" sz="1100" dirty="0">
                        <a:latin typeface="Calibri"/>
                        <a:ea typeface="Calibri"/>
                        <a:cs typeface="Times New Roman"/>
                      </a:endParaRPr>
                    </a:p>
                  </a:txBody>
                  <a:tcPr marL="68580" marR="68580" marT="0" marB="0" anchor="ctr"/>
                </a:tc>
                <a:tc>
                  <a:txBody>
                    <a:bodyPr/>
                    <a:lstStyle/>
                    <a:p>
                      <a:pPr algn="ctr">
                        <a:lnSpc>
                          <a:spcPct val="115000"/>
                        </a:lnSpc>
                        <a:spcAft>
                          <a:spcPts val="0"/>
                        </a:spcAft>
                      </a:pPr>
                      <a:r>
                        <a:rPr lang="fr-FR" sz="1100" dirty="0"/>
                        <a:t>Previous violation</a:t>
                      </a:r>
                      <a:endParaRPr lang="fr-FR" sz="1100" dirty="0">
                        <a:latin typeface="Calibri"/>
                        <a:ea typeface="Calibri"/>
                        <a:cs typeface="Times New Roman"/>
                      </a:endParaRPr>
                    </a:p>
                  </a:txBody>
                  <a:tcPr marL="68580" marR="68580" marT="0" marB="0" anchor="ctr"/>
                </a:tc>
                <a:tc>
                  <a:txBody>
                    <a:bodyPr/>
                    <a:lstStyle/>
                    <a:p>
                      <a:pPr algn="ctr">
                        <a:lnSpc>
                          <a:spcPct val="115000"/>
                        </a:lnSpc>
                        <a:spcAft>
                          <a:spcPts val="0"/>
                        </a:spcAft>
                      </a:pPr>
                      <a:r>
                        <a:rPr lang="fr-FR" sz="1100" dirty="0"/>
                        <a:t>Evol.</a:t>
                      </a:r>
                      <a:endParaRPr lang="fr-FR" sz="1100" dirty="0">
                        <a:latin typeface="Calibri"/>
                        <a:ea typeface="Calibri"/>
                        <a:cs typeface="Times New Roman"/>
                      </a:endParaRPr>
                    </a:p>
                  </a:txBody>
                  <a:tcPr marL="68580" marR="68580" marT="0" marB="0" anchor="ctr"/>
                </a:tc>
                <a:tc>
                  <a:txBody>
                    <a:bodyPr/>
                    <a:lstStyle/>
                    <a:p>
                      <a:pPr algn="ctr">
                        <a:lnSpc>
                          <a:spcPct val="115000"/>
                        </a:lnSpc>
                        <a:spcAft>
                          <a:spcPts val="0"/>
                        </a:spcAft>
                      </a:pPr>
                      <a:r>
                        <a:rPr lang="fr-FR" sz="1100" dirty="0"/>
                        <a:t>Grade</a:t>
                      </a:r>
                      <a:endParaRPr lang="fr-FR" sz="1100" dirty="0">
                        <a:latin typeface="Calibri"/>
                        <a:ea typeface="Calibri"/>
                        <a:cs typeface="Times New Roman"/>
                      </a:endParaRPr>
                    </a:p>
                  </a:txBody>
                  <a:tcPr marL="68580" marR="68580" marT="0" marB="0" anchor="ctr"/>
                </a:tc>
                <a:tc>
                  <a:txBody>
                    <a:bodyPr/>
                    <a:lstStyle/>
                    <a:p>
                      <a:pPr algn="ctr">
                        <a:lnSpc>
                          <a:spcPct val="115000"/>
                        </a:lnSpc>
                        <a:spcAft>
                          <a:spcPts val="0"/>
                        </a:spcAft>
                      </a:pPr>
                      <a:r>
                        <a:rPr lang="fr-FR" sz="1100" dirty="0"/>
                        <a:t>Grade </a:t>
                      </a:r>
                      <a:r>
                        <a:rPr lang="fr-FR" sz="1100" dirty="0" err="1"/>
                        <a:t>Evol</a:t>
                      </a:r>
                      <a:r>
                        <a:rPr lang="fr-FR" sz="1100" dirty="0"/>
                        <a:t>.</a:t>
                      </a:r>
                      <a:endParaRPr lang="fr-FR" sz="1100" dirty="0">
                        <a:latin typeface="Calibri"/>
                        <a:ea typeface="Calibri"/>
                        <a:cs typeface="Times New Roman"/>
                      </a:endParaRPr>
                    </a:p>
                  </a:txBody>
                  <a:tcPr marL="68580" marR="68580" marT="0" marB="0" anchor="ctr"/>
                </a:tc>
                <a:extLst>
                  <a:ext uri="{0D108BD9-81ED-4DB2-BD59-A6C34878D82A}">
                    <a16:rowId xmlns:a16="http://schemas.microsoft.com/office/drawing/2014/main" val="10000"/>
                  </a:ext>
                </a:extLst>
              </a:tr>
              <a:tr h="131305">
                <a:tc>
                  <a:txBody>
                    <a:bodyPr/>
                    <a:lstStyle/>
                    <a:p>
                      <a:pPr>
                        <a:lnSpc>
                          <a:spcPct val="115000"/>
                        </a:lnSpc>
                        <a:spcAft>
                          <a:spcPts val="0"/>
                        </a:spcAft>
                      </a:pPr>
                      <a:r>
                        <a:rPr lang="en-GB" sz="1000" dirty="0"/>
                        <a:t>Rule 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solidFill>
                            <a:schemeClr val="dk1"/>
                          </a:solidFill>
                          <a:latin typeface="+mn-lt"/>
                          <a:ea typeface="+mn-ea"/>
                          <a:cs typeface="+mn-cs"/>
                        </a:rPr>
                        <a:t>N</a:t>
                      </a: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31305">
                <a:tc>
                  <a:txBody>
                    <a:bodyPr/>
                    <a:lstStyle/>
                    <a:p>
                      <a:pPr marL="0" algn="l" defTabSz="914400" rtl="0" eaLnBrk="1" latinLnBrk="0" hangingPunct="1">
                        <a:lnSpc>
                          <a:spcPct val="115000"/>
                        </a:lnSpc>
                        <a:spcAft>
                          <a:spcPts val="0"/>
                        </a:spcAft>
                      </a:pPr>
                      <a:r>
                        <a:rPr lang="en-GB" sz="1000" dirty="0"/>
                        <a:t>Rule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solidFill>
                            <a:schemeClr val="dk1"/>
                          </a:solidFill>
                          <a:latin typeface="+mn-lt"/>
                          <a:ea typeface="+mn-ea"/>
                          <a:cs typeface="+mn-cs"/>
                        </a:rPr>
                        <a:t>N</a:t>
                      </a:r>
                    </a:p>
                  </a:txBody>
                  <a:tcPr marL="68580" marR="68580" marT="0" marB="0"/>
                </a:tc>
                <a:tc>
                  <a:txBody>
                    <a:bodyPr/>
                    <a:lstStyle/>
                    <a:p>
                      <a:pPr marL="0" algn="ctr" defTabSz="914400" rtl="0" eaLnBrk="1" latinLnBrk="0" hangingPunct="1">
                        <a:lnSpc>
                          <a:spcPct val="115000"/>
                        </a:lnSpc>
                        <a:spcAft>
                          <a:spcPts val="0"/>
                        </a:spcAft>
                      </a:pPr>
                      <a:r>
                        <a:rPr lang="en-GB"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31305">
                <a:tc>
                  <a:txBody>
                    <a:bodyPr/>
                    <a:lstStyle/>
                    <a:p>
                      <a:pPr marL="0" algn="l" defTabSz="914400" rtl="0" eaLnBrk="1" latinLnBrk="0" hangingPunct="1">
                        <a:lnSpc>
                          <a:spcPct val="115000"/>
                        </a:lnSpc>
                        <a:spcAft>
                          <a:spcPts val="0"/>
                        </a:spcAft>
                      </a:pPr>
                      <a:r>
                        <a:rPr lang="en-GB" sz="1000" dirty="0"/>
                        <a:t>Rule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solidFill>
                            <a:schemeClr val="dk1"/>
                          </a:solidFill>
                          <a:latin typeface="+mn-lt"/>
                          <a:ea typeface="+mn-ea"/>
                          <a:cs typeface="+mn-cs"/>
                        </a:rPr>
                        <a:t>N</a:t>
                      </a: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53442">
                <a:tc>
                  <a:txBody>
                    <a:bodyPr/>
                    <a:lstStyle/>
                    <a:p>
                      <a:pPr marL="0" algn="l" defTabSz="914400" rtl="0" eaLnBrk="1" latinLnBrk="0" hangingPunct="1">
                        <a:lnSpc>
                          <a:spcPct val="115000"/>
                        </a:lnSpc>
                        <a:spcAft>
                          <a:spcPts val="0"/>
                        </a:spcAft>
                      </a:pPr>
                      <a:r>
                        <a:rPr lang="en-GB" sz="1000" dirty="0"/>
                        <a:t>Rule 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solidFill>
                            <a:schemeClr val="dk1"/>
                          </a:solidFill>
                          <a:latin typeface="+mn-lt"/>
                          <a:ea typeface="+mn-ea"/>
                          <a:cs typeface="+mn-cs"/>
                        </a:rPr>
                        <a:t>Y</a:t>
                      </a: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53442">
                <a:tc>
                  <a:txBody>
                    <a:bodyPr/>
                    <a:lstStyle/>
                    <a:p>
                      <a:pPr marL="0" algn="l" defTabSz="914400" rtl="0" eaLnBrk="1" latinLnBrk="0" hangingPunct="1">
                        <a:lnSpc>
                          <a:spcPct val="115000"/>
                        </a:lnSpc>
                        <a:spcAft>
                          <a:spcPts val="0"/>
                        </a:spcAft>
                      </a:pPr>
                      <a:r>
                        <a:rPr lang="en-GB" sz="1000" dirty="0"/>
                        <a:t>Rule 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solidFill>
                            <a:schemeClr val="dk1"/>
                          </a:solidFill>
                          <a:latin typeface="+mn-lt"/>
                          <a:ea typeface="+mn-ea"/>
                          <a:cs typeface="+mn-cs"/>
                        </a:rPr>
                        <a:t>N</a:t>
                      </a: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53442">
                <a:tc>
                  <a:txBody>
                    <a:bodyPr/>
                    <a:lstStyle/>
                    <a:p>
                      <a:pPr marL="0" algn="l" defTabSz="914400" rtl="0" eaLnBrk="1" latinLnBrk="0" hangingPunct="1">
                        <a:lnSpc>
                          <a:spcPct val="115000"/>
                        </a:lnSpc>
                        <a:spcAft>
                          <a:spcPts val="0"/>
                        </a:spcAft>
                      </a:pPr>
                      <a:r>
                        <a:rPr lang="en-GB" sz="1000" dirty="0"/>
                        <a:t>Rule 6</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solidFill>
                            <a:schemeClr val="dk1"/>
                          </a:solidFill>
                          <a:latin typeface="+mn-lt"/>
                          <a:ea typeface="+mn-ea"/>
                          <a:cs typeface="+mn-cs"/>
                        </a:rPr>
                        <a:t>N</a:t>
                      </a: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53442">
                <a:tc>
                  <a:txBody>
                    <a:bodyPr/>
                    <a:lstStyle/>
                    <a:p>
                      <a:pPr marL="0" algn="l" defTabSz="914400" rtl="0" eaLnBrk="1" latinLnBrk="0" hangingPunct="1">
                        <a:lnSpc>
                          <a:spcPct val="115000"/>
                        </a:lnSpc>
                        <a:spcAft>
                          <a:spcPts val="0"/>
                        </a:spcAft>
                      </a:pPr>
                      <a:r>
                        <a:rPr lang="en-GB" sz="1000" dirty="0"/>
                        <a:t>Rule 7</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solidFill>
                            <a:schemeClr val="dk1"/>
                          </a:solidFill>
                          <a:latin typeface="+mn-lt"/>
                          <a:ea typeface="+mn-ea"/>
                          <a:cs typeface="+mn-cs"/>
                        </a:rPr>
                        <a:t>N</a:t>
                      </a: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53442">
                <a:tc>
                  <a:txBody>
                    <a:bodyPr/>
                    <a:lstStyle/>
                    <a:p>
                      <a:pPr marL="0" algn="l" defTabSz="914400" rtl="0" eaLnBrk="1" latinLnBrk="0" hangingPunct="1">
                        <a:lnSpc>
                          <a:spcPct val="115000"/>
                        </a:lnSpc>
                        <a:spcAft>
                          <a:spcPts val="0"/>
                        </a:spcAft>
                      </a:pPr>
                      <a:r>
                        <a:rPr lang="en-GB" sz="1000" dirty="0"/>
                        <a:t>Rule 8</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solidFill>
                            <a:schemeClr val="dk1"/>
                          </a:solidFill>
                          <a:latin typeface="+mn-lt"/>
                          <a:ea typeface="+mn-ea"/>
                          <a:cs typeface="+mn-cs"/>
                        </a:rPr>
                        <a:t>N</a:t>
                      </a: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520EB740-ADA6-41CE-91ED-2C4D25A56BF3}"/>
              </a:ext>
            </a:extLst>
          </p:cNvPr>
          <p:cNvGrpSpPr/>
          <p:nvPr/>
        </p:nvGrpSpPr>
        <p:grpSpPr>
          <a:xfrm>
            <a:off x="1941790" y="1298921"/>
            <a:ext cx="8330674" cy="4752528"/>
            <a:chOff x="1941790" y="1052736"/>
            <a:chExt cx="8330674" cy="4752528"/>
          </a:xfrm>
        </p:grpSpPr>
        <p:sp>
          <p:nvSpPr>
            <p:cNvPr id="12" name="Rounded Rectangle 11"/>
            <p:cNvSpPr/>
            <p:nvPr/>
          </p:nvSpPr>
          <p:spPr>
            <a:xfrm>
              <a:off x="2017182" y="1052736"/>
              <a:ext cx="8157600" cy="4752528"/>
            </a:xfrm>
            <a:prstGeom prst="roundRect">
              <a:avLst>
                <a:gd name="adj" fmla="val 1013"/>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41790"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Rule List for Criteria List</a:t>
              </a:r>
            </a:p>
          </p:txBody>
        </p:sp>
        <p:sp>
          <p:nvSpPr>
            <p:cNvPr id="14" name="TextBox 13"/>
            <p:cNvSpPr txBox="1"/>
            <p:nvPr/>
          </p:nvSpPr>
          <p:spPr>
            <a:xfrm>
              <a:off x="3641930" y="141277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RULES_LIST</a:t>
              </a:r>
              <a:endParaRPr lang="fr-FR" sz="1600" dirty="0"/>
            </a:p>
          </p:txBody>
        </p:sp>
        <p:sp>
          <p:nvSpPr>
            <p:cNvPr id="15" name="TextBox 14"/>
            <p:cNvSpPr txBox="1"/>
            <p:nvPr/>
          </p:nvSpPr>
          <p:spPr>
            <a:xfrm>
              <a:off x="2194766" y="141277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1930" y="1799061"/>
              <a:ext cx="6630534" cy="1107996"/>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100" b="1" dirty="0"/>
                <a:t>PAR=N[|N]</a:t>
              </a:r>
              <a:r>
                <a:rPr lang="en-US" sz="1100" dirty="0"/>
                <a:t>* (by default PAR=60014|60013|60012|60011|60016)</a:t>
              </a:r>
            </a:p>
            <a:p>
              <a:r>
                <a:rPr lang="en-US" sz="1100" dirty="0"/>
                <a:t>where each submitted N indicates a business criterion Id</a:t>
              </a:r>
            </a:p>
            <a:p>
              <a:r>
                <a:rPr lang="en-US" sz="1100" b="1" dirty="0"/>
                <a:t>COUNT=N</a:t>
              </a:r>
              <a:r>
                <a:rPr lang="en-US" sz="1100" dirty="0"/>
                <a:t> where N is the limit number of shown item ; if COUNT options isn’t indicated, no limit is applied (by default none)</a:t>
              </a:r>
            </a:p>
            <a:p>
              <a:r>
                <a:rPr lang="en-US" sz="1100" b="1" dirty="0"/>
                <a:t>NOVIOLATIONS</a:t>
              </a:r>
              <a:r>
                <a:rPr lang="en-US" sz="1100" dirty="0"/>
                <a:t>=</a:t>
              </a:r>
              <a:r>
                <a:rPr lang="en-US" sz="1100" dirty="0" err="1"/>
                <a:t>true|false</a:t>
              </a:r>
              <a:r>
                <a:rPr lang="en-US" sz="1100" dirty="0"/>
                <a:t> to not display rules that do not have violations. By default if option is not present or different from false, it will be true (we display everything)</a:t>
              </a:r>
            </a:p>
          </p:txBody>
        </p:sp>
        <p:sp>
          <p:nvSpPr>
            <p:cNvPr id="17" name="TextBox 16"/>
            <p:cNvSpPr txBox="1"/>
            <p:nvPr/>
          </p:nvSpPr>
          <p:spPr>
            <a:xfrm>
              <a:off x="2611548"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RULES_LIST;PAR=60014|60013|60012|60011|60016,COUNT=7,NOVIOLATIONS=true"/>
          <p:cNvGraphicFramePr>
            <a:graphicFrameLocks noGrp="1"/>
          </p:cNvGraphicFramePr>
          <p:nvPr>
            <p:extLst>
              <p:ext uri="{D42A27DB-BD31-4B8C-83A1-F6EECF244321}">
                <p14:modId xmlns:p14="http://schemas.microsoft.com/office/powerpoint/2010/main" val="3287903930"/>
              </p:ext>
            </p:extLst>
          </p:nvPr>
        </p:nvGraphicFramePr>
        <p:xfrm>
          <a:off x="2279575" y="3459162"/>
          <a:ext cx="7632847" cy="2131695"/>
        </p:xfrm>
        <a:graphic>
          <a:graphicData uri="http://schemas.openxmlformats.org/drawingml/2006/table">
            <a:tbl>
              <a:tblPr firstRow="1" bandRow="1">
                <a:tableStyleId>{9DCAF9ED-07DC-4A11-8D7F-57B35C25682E}</a:tableStyleId>
              </a:tblPr>
              <a:tblGrid>
                <a:gridCol w="393447">
                  <a:extLst>
                    <a:ext uri="{9D8B030D-6E8A-4147-A177-3AD203B41FA5}">
                      <a16:colId xmlns:a16="http://schemas.microsoft.com/office/drawing/2014/main" val="20000"/>
                    </a:ext>
                  </a:extLst>
                </a:gridCol>
                <a:gridCol w="470651">
                  <a:extLst>
                    <a:ext uri="{9D8B030D-6E8A-4147-A177-3AD203B41FA5}">
                      <a16:colId xmlns:a16="http://schemas.microsoft.com/office/drawing/2014/main" val="20001"/>
                    </a:ext>
                  </a:extLst>
                </a:gridCol>
                <a:gridCol w="432048">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gridCol w="3024336">
                  <a:extLst>
                    <a:ext uri="{9D8B030D-6E8A-4147-A177-3AD203B41FA5}">
                      <a16:colId xmlns:a16="http://schemas.microsoft.com/office/drawing/2014/main" val="20004"/>
                    </a:ext>
                  </a:extLst>
                </a:gridCol>
                <a:gridCol w="864096">
                  <a:extLst>
                    <a:ext uri="{9D8B030D-6E8A-4147-A177-3AD203B41FA5}">
                      <a16:colId xmlns:a16="http://schemas.microsoft.com/office/drawing/2014/main" val="2628160590"/>
                    </a:ext>
                  </a:extLst>
                </a:gridCol>
                <a:gridCol w="864093">
                  <a:extLst>
                    <a:ext uri="{9D8B030D-6E8A-4147-A177-3AD203B41FA5}">
                      <a16:colId xmlns:a16="http://schemas.microsoft.com/office/drawing/2014/main" val="2066785049"/>
                    </a:ext>
                  </a:extLst>
                </a:gridCol>
              </a:tblGrid>
              <a:tr h="417189">
                <a:tc>
                  <a:txBody>
                    <a:bodyPr/>
                    <a:lstStyle/>
                    <a:p>
                      <a:pPr>
                        <a:lnSpc>
                          <a:spcPct val="115000"/>
                        </a:lnSpc>
                        <a:spcAft>
                          <a:spcPts val="0"/>
                        </a:spcAft>
                      </a:pPr>
                      <a:r>
                        <a:rPr lang="fr-FR" sz="1000" dirty="0">
                          <a:latin typeface="+mn-lt"/>
                        </a:rPr>
                        <a:t>Criticality</a:t>
                      </a:r>
                      <a:endParaRPr lang="fr-FR" sz="1000" dirty="0">
                        <a:latin typeface="+mn-lt"/>
                        <a:ea typeface="Calibri"/>
                        <a:cs typeface="Times New Roman"/>
                      </a:endParaRPr>
                    </a:p>
                  </a:txBody>
                  <a:tcPr marL="68580" marR="68580" marT="0" marB="0" anchor="ctr"/>
                </a:tc>
                <a:tc>
                  <a:txBody>
                    <a:bodyPr/>
                    <a:lstStyle/>
                    <a:p>
                      <a:pPr algn="ctr">
                        <a:lnSpc>
                          <a:spcPct val="115000"/>
                        </a:lnSpc>
                        <a:spcAft>
                          <a:spcPts val="0"/>
                        </a:spcAft>
                      </a:pPr>
                      <a:r>
                        <a:rPr lang="en-GB" sz="1000" dirty="0">
                          <a:latin typeface="+mn-lt"/>
                        </a:rPr>
                        <a:t>Weight</a:t>
                      </a:r>
                      <a:endParaRPr lang="fr-FR" sz="1000" dirty="0">
                        <a:latin typeface="+mn-lt"/>
                        <a:ea typeface="Calibri"/>
                        <a:cs typeface="Times New Roman"/>
                      </a:endParaRPr>
                    </a:p>
                  </a:txBody>
                  <a:tcPr marL="68580" marR="68580" marT="0" marB="0" anchor="ctr"/>
                </a:tc>
                <a:tc>
                  <a:txBody>
                    <a:bodyPr/>
                    <a:lstStyle/>
                    <a:p>
                      <a:pPr algn="ctr">
                        <a:lnSpc>
                          <a:spcPct val="115000"/>
                        </a:lnSpc>
                        <a:spcAft>
                          <a:spcPts val="0"/>
                        </a:spcAft>
                      </a:pPr>
                      <a:r>
                        <a:rPr lang="fr-FR" sz="1000" dirty="0">
                          <a:latin typeface="+mn-lt"/>
                        </a:rPr>
                        <a:t>Grade</a:t>
                      </a:r>
                      <a:endParaRPr lang="fr-FR" sz="1000" dirty="0">
                        <a:latin typeface="+mn-lt"/>
                        <a:ea typeface="Calibri"/>
                        <a:cs typeface="Times New Roman"/>
                      </a:endParaRPr>
                    </a:p>
                  </a:txBody>
                  <a:tcPr marL="68580" marR="68580" marT="0" marB="0" anchor="ctr"/>
                </a:tc>
                <a:tc>
                  <a:txBody>
                    <a:bodyPr/>
                    <a:lstStyle/>
                    <a:p>
                      <a:pPr algn="ctr">
                        <a:lnSpc>
                          <a:spcPct val="115000"/>
                        </a:lnSpc>
                        <a:spcAft>
                          <a:spcPts val="0"/>
                        </a:spcAft>
                      </a:pPr>
                      <a:r>
                        <a:rPr lang="fr-FR" sz="1000" dirty="0">
                          <a:latin typeface="+mn-lt"/>
                        </a:rPr>
                        <a:t>Technical Criteria</a:t>
                      </a:r>
                      <a:endParaRPr lang="fr-FR" sz="1000" dirty="0">
                        <a:latin typeface="+mn-lt"/>
                        <a:ea typeface="Calibri"/>
                        <a:cs typeface="Times New Roman"/>
                      </a:endParaRPr>
                    </a:p>
                  </a:txBody>
                  <a:tcPr marL="68580" marR="68580" marT="0" marB="0" anchor="ctr"/>
                </a:tc>
                <a:tc>
                  <a:txBody>
                    <a:bodyPr/>
                    <a:lstStyle/>
                    <a:p>
                      <a:pPr algn="ctr">
                        <a:lnSpc>
                          <a:spcPct val="115000"/>
                        </a:lnSpc>
                        <a:spcAft>
                          <a:spcPts val="0"/>
                        </a:spcAft>
                      </a:pPr>
                      <a:r>
                        <a:rPr lang="fr-FR" sz="1000" dirty="0">
                          <a:latin typeface="+mn-lt"/>
                        </a:rPr>
                        <a:t>Rule Name</a:t>
                      </a:r>
                      <a:endParaRPr lang="fr-FR" sz="1000" dirty="0">
                        <a:latin typeface="+mn-lt"/>
                        <a:ea typeface="Calibri"/>
                        <a:cs typeface="Times New Roman"/>
                      </a:endParaRPr>
                    </a:p>
                  </a:txBody>
                  <a:tcPr marL="68580" marR="68580" marT="0" marB="0" anchor="ctr"/>
                </a:tc>
                <a:tc>
                  <a:txBody>
                    <a:bodyPr/>
                    <a:lstStyle/>
                    <a:p>
                      <a:pPr algn="ctr">
                        <a:lnSpc>
                          <a:spcPct val="115000"/>
                        </a:lnSpc>
                        <a:spcAft>
                          <a:spcPts val="0"/>
                        </a:spcAft>
                      </a:pPr>
                      <a:r>
                        <a:rPr lang="fr-FR" sz="1000" dirty="0">
                          <a:latin typeface="+mn-lt"/>
                        </a:rPr>
                        <a:t># Violations</a:t>
                      </a:r>
                      <a:endParaRPr lang="fr-FR" sz="1000" dirty="0">
                        <a:latin typeface="+mn-lt"/>
                        <a:ea typeface="Calibri"/>
                        <a:cs typeface="Times New Roman"/>
                      </a:endParaRPr>
                    </a:p>
                  </a:txBody>
                  <a:tcPr marL="68580" marR="68580" marT="0" marB="0" anchor="ctr"/>
                </a:tc>
                <a:tc>
                  <a:txBody>
                    <a:bodyPr/>
                    <a:lstStyle/>
                    <a:p>
                      <a:pPr algn="ctr">
                        <a:lnSpc>
                          <a:spcPct val="115000"/>
                        </a:lnSpc>
                        <a:spcAft>
                          <a:spcPts val="0"/>
                        </a:spcAft>
                      </a:pPr>
                      <a:r>
                        <a:rPr lang="fr-FR" sz="1000" dirty="0">
                          <a:latin typeface="+mn-lt"/>
                        </a:rPr>
                        <a:t>Total</a:t>
                      </a:r>
                      <a:endParaRPr lang="fr-FR" sz="1000" dirty="0">
                        <a:latin typeface="+mn-lt"/>
                        <a:ea typeface="Calibri"/>
                        <a:cs typeface="Times New Roman"/>
                      </a:endParaRPr>
                    </a:p>
                  </a:txBody>
                  <a:tcPr marL="68580" marR="68580" marT="0" marB="0" anchor="ctr"/>
                </a:tc>
                <a:extLst>
                  <a:ext uri="{0D108BD9-81ED-4DB2-BD59-A6C34878D82A}">
                    <a16:rowId xmlns:a16="http://schemas.microsoft.com/office/drawing/2014/main" val="10000"/>
                  </a:ext>
                </a:extLst>
              </a:tr>
              <a:tr h="131305">
                <a:tc>
                  <a:txBody>
                    <a:bodyPr/>
                    <a:lstStyle/>
                    <a:p>
                      <a:pPr>
                        <a:lnSpc>
                          <a:spcPct val="115000"/>
                        </a:lnSpc>
                        <a:spcAft>
                          <a:spcPts val="0"/>
                        </a:spcAft>
                      </a:pPr>
                      <a:r>
                        <a:rPr lang="en-GB" sz="1000" dirty="0">
                          <a:latin typeface="+mn-lt"/>
                        </a:rPr>
                        <a:t>Y</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en-GB" sz="1000" dirty="0">
                          <a:latin typeface="+mn-lt"/>
                        </a:rPr>
                        <a:t>0</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1</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1</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31305">
                <a:tc>
                  <a:txBody>
                    <a:bodyPr/>
                    <a:lstStyle/>
                    <a:p>
                      <a:pPr marL="0" algn="l" defTabSz="914400" rtl="0" eaLnBrk="1" latinLnBrk="0" hangingPunct="1">
                        <a:lnSpc>
                          <a:spcPct val="115000"/>
                        </a:lnSpc>
                        <a:spcAft>
                          <a:spcPts val="0"/>
                        </a:spcAft>
                      </a:pPr>
                      <a:r>
                        <a:rPr lang="en-GB" sz="1000" kern="1200" dirty="0">
                          <a:solidFill>
                            <a:schemeClr val="dk1"/>
                          </a:solidFill>
                          <a:latin typeface="+mn-lt"/>
                          <a:ea typeface="+mn-ea"/>
                          <a:cs typeface="+mn-cs"/>
                        </a:rPr>
                        <a: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GB"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2</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2</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31305">
                <a:tc>
                  <a:txBody>
                    <a:bodyPr/>
                    <a:lstStyle/>
                    <a:p>
                      <a:pPr marL="0" algn="l" defTabSz="914400" rtl="0" eaLnBrk="1" latinLnBrk="0" hangingPunct="1">
                        <a:lnSpc>
                          <a:spcPct val="115000"/>
                        </a:lnSpc>
                        <a:spcAft>
                          <a:spcPts val="0"/>
                        </a:spcAft>
                      </a:pPr>
                      <a:r>
                        <a:rPr lang="en-GB" sz="1000" dirty="0">
                          <a:latin typeface="+mn-lt"/>
                        </a:rPr>
                        <a: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3</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3</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53442">
                <a:tc>
                  <a:txBody>
                    <a:bodyPr/>
                    <a:lstStyle/>
                    <a:p>
                      <a:pPr marL="0" algn="l" defTabSz="914400" rtl="0" eaLnBrk="1" latinLnBrk="0" hangingPunct="1">
                        <a:lnSpc>
                          <a:spcPct val="115000"/>
                        </a:lnSpc>
                        <a:spcAft>
                          <a:spcPts val="0"/>
                        </a:spcAft>
                      </a:pPr>
                      <a:r>
                        <a:rPr lang="en-GB" sz="1000" kern="1200" dirty="0">
                          <a:solidFill>
                            <a:schemeClr val="dk1"/>
                          </a:solidFill>
                          <a:latin typeface="+mn-lt"/>
                          <a:ea typeface="+mn-ea"/>
                          <a:cs typeface="+mn-cs"/>
                        </a:rPr>
                        <a: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4</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4</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53442">
                <a:tc>
                  <a:txBody>
                    <a:bodyPr/>
                    <a:lstStyle/>
                    <a:p>
                      <a:pPr marL="0" algn="l" defTabSz="914400" rtl="0" eaLnBrk="1" latinLnBrk="0" hangingPunct="1">
                        <a:lnSpc>
                          <a:spcPct val="115000"/>
                        </a:lnSpc>
                        <a:spcAft>
                          <a:spcPts val="0"/>
                        </a:spcAft>
                      </a:pPr>
                      <a:r>
                        <a:rPr lang="en-GB" sz="1000" kern="1200" dirty="0">
                          <a:solidFill>
                            <a:schemeClr val="dk1"/>
                          </a:solidFill>
                          <a:latin typeface="+mn-lt"/>
                          <a:ea typeface="+mn-ea"/>
                          <a:cs typeface="+mn-cs"/>
                        </a:rPr>
                        <a: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5</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5</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53442">
                <a:tc>
                  <a:txBody>
                    <a:bodyPr/>
                    <a:lstStyle/>
                    <a:p>
                      <a:pPr marL="0" algn="l" defTabSz="914400" rtl="0" eaLnBrk="1" latinLnBrk="0" hangingPunct="1">
                        <a:lnSpc>
                          <a:spcPct val="115000"/>
                        </a:lnSpc>
                        <a:spcAft>
                          <a:spcPts val="0"/>
                        </a:spcAft>
                      </a:pPr>
                      <a:r>
                        <a:rPr lang="en-GB" sz="1000" kern="1200" dirty="0">
                          <a:solidFill>
                            <a:schemeClr val="dk1"/>
                          </a:solidFill>
                          <a:latin typeface="+mn-lt"/>
                          <a:ea typeface="+mn-ea"/>
                          <a:cs typeface="+mn-cs"/>
                        </a:rPr>
                        <a: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6</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6</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53442">
                <a:tc>
                  <a:txBody>
                    <a:bodyPr/>
                    <a:lstStyle/>
                    <a:p>
                      <a:pPr marL="0" algn="l" defTabSz="914400" rtl="0" eaLnBrk="1" latinLnBrk="0" hangingPunct="1">
                        <a:lnSpc>
                          <a:spcPct val="115000"/>
                        </a:lnSpc>
                        <a:spcAft>
                          <a:spcPts val="0"/>
                        </a:spcAft>
                      </a:pP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7</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7</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53442">
                <a:tc>
                  <a:txBody>
                    <a:bodyPr/>
                    <a:lstStyle/>
                    <a:p>
                      <a:pPr marL="0" algn="l" defTabSz="914400" rtl="0" eaLnBrk="1" latinLnBrk="0" hangingPunct="1">
                        <a:lnSpc>
                          <a:spcPct val="115000"/>
                        </a:lnSpc>
                        <a:spcAft>
                          <a:spcPts val="0"/>
                        </a:spcAft>
                      </a:pPr>
                      <a:r>
                        <a:rPr lang="fr-FR" sz="1000" kern="1200" dirty="0">
                          <a:solidFill>
                            <a:schemeClr val="dk1"/>
                          </a:solidFill>
                          <a:latin typeface="+mn-lt"/>
                          <a:ea typeface="+mn-ea"/>
                          <a:cs typeface="+mn-cs"/>
                        </a:rPr>
                        <a:t>Y</a:t>
                      </a: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8</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8</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153442">
                <a:tc>
                  <a:txBody>
                    <a:bodyPr/>
                    <a:lstStyle/>
                    <a:p>
                      <a:pPr marL="0" algn="l" defTabSz="914400" rtl="0" eaLnBrk="1" latinLnBrk="0" hangingPunct="1">
                        <a:lnSpc>
                          <a:spcPct val="115000"/>
                        </a:lnSpc>
                        <a:spcAft>
                          <a:spcPts val="0"/>
                        </a:spcAft>
                      </a:pPr>
                      <a:r>
                        <a:rPr lang="en-GB" sz="1000" kern="1200" dirty="0">
                          <a:solidFill>
                            <a:schemeClr val="dk1"/>
                          </a:solidFill>
                          <a:latin typeface="+mn-lt"/>
                          <a:ea typeface="+mn-ea"/>
                          <a:cs typeface="+mn-cs"/>
                        </a:rPr>
                        <a: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9</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9</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153442">
                <a:tc>
                  <a:txBody>
                    <a:bodyPr/>
                    <a:lstStyle/>
                    <a:p>
                      <a:pPr marL="0" algn="l" defTabSz="914400" rtl="0" eaLnBrk="1" latinLnBrk="0" hangingPunct="1">
                        <a:lnSpc>
                          <a:spcPct val="115000"/>
                        </a:lnSpc>
                        <a:spcAft>
                          <a:spcPts val="0"/>
                        </a:spcAft>
                      </a:pP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latin typeface="+mn-lt"/>
                        </a:rPr>
                        <a:t>0.0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en-US" sz="1000" kern="1200" dirty="0">
                          <a:latin typeface="+mn-lt"/>
                        </a:rPr>
                        <a:t>Criterion 10</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latin typeface="+mn-lt"/>
                        </a:rPr>
                        <a:t>Rule 10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latin typeface="+mn-lt"/>
                        </a:rPr>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7F1D0067-4D22-40A3-A784-FEF3AC57C288}"/>
              </a:ext>
            </a:extLst>
          </p:cNvPr>
          <p:cNvGrpSpPr/>
          <p:nvPr/>
        </p:nvGrpSpPr>
        <p:grpSpPr>
          <a:xfrm>
            <a:off x="1919536" y="1124744"/>
            <a:ext cx="8421707" cy="4608512"/>
            <a:chOff x="1919536" y="1124744"/>
            <a:chExt cx="8421707" cy="4608512"/>
          </a:xfrm>
        </p:grpSpPr>
        <p:sp>
          <p:nvSpPr>
            <p:cNvPr id="12" name="Rounded Rectangle 11"/>
            <p:cNvSpPr/>
            <p:nvPr/>
          </p:nvSpPr>
          <p:spPr>
            <a:xfrm>
              <a:off x="2017182" y="1124744"/>
              <a:ext cx="8157600" cy="4608512"/>
            </a:xfrm>
            <a:prstGeom prst="roundRect">
              <a:avLst>
                <a:gd name="adj" fmla="val 170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112474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Technical Criteria List for Business Criteria List</a:t>
              </a:r>
            </a:p>
          </p:txBody>
        </p:sp>
        <p:sp>
          <p:nvSpPr>
            <p:cNvPr id="14" name="TextBox 13"/>
            <p:cNvSpPr txBox="1"/>
            <p:nvPr/>
          </p:nvSpPr>
          <p:spPr>
            <a:xfrm>
              <a:off x="3641930" y="149843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CRITERIA_GRADE</a:t>
              </a:r>
            </a:p>
          </p:txBody>
        </p:sp>
        <p:sp>
          <p:nvSpPr>
            <p:cNvPr id="15" name="TextBox 14"/>
            <p:cNvSpPr txBox="1"/>
            <p:nvPr/>
          </p:nvSpPr>
          <p:spPr>
            <a:xfrm>
              <a:off x="2194766" y="148478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4404" y="1856700"/>
              <a:ext cx="6696839" cy="769441"/>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100" b="1" dirty="0"/>
                <a:t>PAR=N</a:t>
              </a:r>
              <a:r>
                <a:rPr lang="en-US" sz="1100" dirty="0"/>
                <a:t> (by default PAR=60017)</a:t>
              </a:r>
            </a:p>
            <a:p>
              <a:r>
                <a:rPr lang="en-US" sz="1100" dirty="0"/>
                <a:t>where N indicates the business criterion Id</a:t>
              </a:r>
            </a:p>
            <a:p>
              <a:r>
                <a:rPr lang="en-US" sz="1100" b="1"/>
                <a:t>COUNT=N</a:t>
              </a:r>
              <a:r>
                <a:rPr lang="en-US" sz="1100"/>
                <a:t> where </a:t>
              </a:r>
              <a:r>
                <a:rPr lang="en-US" sz="1100" dirty="0"/>
                <a:t>N indicates the limit number of shown items. If this value isn’t indicated, all items will be shown</a:t>
              </a:r>
            </a:p>
          </p:txBody>
        </p:sp>
        <p:sp>
          <p:nvSpPr>
            <p:cNvPr id="17" name="TextBox 16"/>
            <p:cNvSpPr txBox="1"/>
            <p:nvPr/>
          </p:nvSpPr>
          <p:spPr>
            <a:xfrm>
              <a:off x="2611548" y="180475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CRITERIA_GRADE;PAR=60017,COUNT=10"/>
          <p:cNvGraphicFramePr>
            <a:graphicFrameLocks noGrp="1"/>
          </p:cNvGraphicFramePr>
          <p:nvPr>
            <p:extLst>
              <p:ext uri="{D42A27DB-BD31-4B8C-83A1-F6EECF244321}">
                <p14:modId xmlns:p14="http://schemas.microsoft.com/office/powerpoint/2010/main" val="2850446954"/>
              </p:ext>
            </p:extLst>
          </p:nvPr>
        </p:nvGraphicFramePr>
        <p:xfrm>
          <a:off x="3359695" y="2966288"/>
          <a:ext cx="5904657" cy="2531144"/>
        </p:xfrm>
        <a:graphic>
          <a:graphicData uri="http://schemas.openxmlformats.org/drawingml/2006/table">
            <a:tbl>
              <a:tblPr firstRow="1" bandRow="1">
                <a:tableStyleId>{9DCAF9ED-07DC-4A11-8D7F-57B35C25682E}</a:tableStyleId>
              </a:tblPr>
              <a:tblGrid>
                <a:gridCol w="4536506">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792087">
                  <a:extLst>
                    <a:ext uri="{9D8B030D-6E8A-4147-A177-3AD203B41FA5}">
                      <a16:colId xmlns:a16="http://schemas.microsoft.com/office/drawing/2014/main" val="20002"/>
                    </a:ext>
                  </a:extLst>
                </a:gridCol>
              </a:tblGrid>
              <a:tr h="216024">
                <a:tc>
                  <a:txBody>
                    <a:bodyPr/>
                    <a:lstStyle/>
                    <a:p>
                      <a:pPr marL="0" algn="l" defTabSz="914400" rtl="0" eaLnBrk="1" latinLnBrk="0" hangingPunct="1">
                        <a:lnSpc>
                          <a:spcPct val="115000"/>
                        </a:lnSpc>
                        <a:spcAft>
                          <a:spcPts val="0"/>
                        </a:spcAft>
                      </a:pPr>
                      <a:r>
                        <a:rPr lang="fr-FR" sz="1100" kern="1200" dirty="0" err="1"/>
                        <a:t>Technical</a:t>
                      </a:r>
                      <a:r>
                        <a:rPr lang="fr-FR" sz="1100" kern="1200" dirty="0"/>
                        <a:t> </a:t>
                      </a:r>
                      <a:r>
                        <a:rPr lang="fr-FR" sz="1100" kern="1200" baseline="0" dirty="0"/>
                        <a:t> </a:t>
                      </a:r>
                      <a:r>
                        <a:rPr lang="fr-FR" sz="1100" kern="1200" baseline="0" dirty="0" err="1"/>
                        <a:t>Criteria</a:t>
                      </a:r>
                      <a:r>
                        <a:rPr lang="fr-FR" sz="1100" kern="1200" baseline="0" dirty="0"/>
                        <a:t> Name</a:t>
                      </a:r>
                      <a:endParaRPr lang="fr-FR" sz="1100" b="1" kern="1200" dirty="0">
                        <a:solidFill>
                          <a:schemeClr val="bg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100" kern="1200" dirty="0"/>
                        <a:t>Grade</a:t>
                      </a:r>
                      <a:endParaRPr lang="fr-FR" sz="1100" b="1" kern="1200" dirty="0">
                        <a:solidFill>
                          <a:schemeClr val="bg1"/>
                        </a:solidFill>
                      </a:endParaRPr>
                    </a:p>
                  </a:txBody>
                  <a:tcPr marL="68580" marR="68580" marT="0" marB="0" anchor="ctr"/>
                </a:tc>
                <a:tc>
                  <a:txBody>
                    <a:bodyPr/>
                    <a:lstStyle/>
                    <a:p>
                      <a:pPr marL="0" algn="ctr" defTabSz="914400" rtl="0" eaLnBrk="1" latinLnBrk="0" hangingPunct="1">
                        <a:lnSpc>
                          <a:spcPct val="115000"/>
                        </a:lnSpc>
                        <a:spcAft>
                          <a:spcPts val="0"/>
                        </a:spcAft>
                      </a:pPr>
                      <a:r>
                        <a:rPr lang="fr-FR" sz="1100" kern="1200" dirty="0"/>
                        <a:t>Evolution</a:t>
                      </a:r>
                      <a:endParaRPr lang="fr-FR" sz="1100" b="1" kern="1200" dirty="0">
                        <a:solidFill>
                          <a:schemeClr val="bg1"/>
                        </a:solidFill>
                      </a:endParaRPr>
                    </a:p>
                  </a:txBody>
                  <a:tcPr marL="68580" marR="68580" marT="0" marB="0" anchor="ctr"/>
                </a:tc>
                <a:extLst>
                  <a:ext uri="{0D108BD9-81ED-4DB2-BD59-A6C34878D82A}">
                    <a16:rowId xmlns:a16="http://schemas.microsoft.com/office/drawing/2014/main" val="10000"/>
                  </a:ext>
                </a:extLst>
              </a:tr>
              <a:tr h="216024">
                <a:tc>
                  <a:txBody>
                    <a:bodyPr/>
                    <a:lstStyle/>
                    <a:p>
                      <a:pPr marL="0" algn="l" defTabSz="914400" rtl="0" eaLnBrk="1" latinLnBrk="0" hangingPunct="1">
                        <a:lnSpc>
                          <a:spcPct val="115000"/>
                        </a:lnSpc>
                        <a:spcAft>
                          <a:spcPts val="0"/>
                        </a:spcAft>
                      </a:pPr>
                      <a:r>
                        <a:rPr lang="en-GB" sz="1000" kern="1200" dirty="0"/>
                        <a:t>Technical Criteria 1</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0.0</a:t>
                      </a: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0.0 %</a:t>
                      </a:r>
                    </a:p>
                  </a:txBody>
                  <a:tcPr marL="68580" marR="68580" marT="0" marB="0" anchor="ctr"/>
                </a:tc>
                <a:extLst>
                  <a:ext uri="{0D108BD9-81ED-4DB2-BD59-A6C34878D82A}">
                    <a16:rowId xmlns:a16="http://schemas.microsoft.com/office/drawing/2014/main" val="10001"/>
                  </a:ext>
                </a:extLst>
              </a:tr>
              <a:tr h="216024">
                <a:tc>
                  <a:txBody>
                    <a:bodyPr/>
                    <a:lstStyle/>
                    <a:p>
                      <a:pPr marL="0" algn="l" defTabSz="914400" rtl="0" eaLnBrk="1" latinLnBrk="0" hangingPunct="1">
                        <a:lnSpc>
                          <a:spcPct val="115000"/>
                        </a:lnSpc>
                        <a:spcAft>
                          <a:spcPts val="0"/>
                        </a:spcAft>
                      </a:pPr>
                      <a:r>
                        <a:rPr lang="en-GB" sz="1000" kern="1200" dirty="0"/>
                        <a:t>Technical Criteria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216024">
                <a:tc>
                  <a:txBody>
                    <a:bodyPr/>
                    <a:lstStyle/>
                    <a:p>
                      <a:pPr marL="0" algn="l" defTabSz="914400" rtl="0" eaLnBrk="1" latinLnBrk="0" hangingPunct="1">
                        <a:lnSpc>
                          <a:spcPct val="115000"/>
                        </a:lnSpc>
                        <a:spcAft>
                          <a:spcPts val="0"/>
                        </a:spcAft>
                      </a:pPr>
                      <a:r>
                        <a:rPr lang="en-GB" sz="1000" kern="1200" dirty="0"/>
                        <a:t>Technical Criteria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216024">
                <a:tc>
                  <a:txBody>
                    <a:bodyPr/>
                    <a:lstStyle/>
                    <a:p>
                      <a:pPr marL="0" algn="l" defTabSz="914400" rtl="0" eaLnBrk="1" latinLnBrk="0" hangingPunct="1">
                        <a:lnSpc>
                          <a:spcPct val="115000"/>
                        </a:lnSpc>
                        <a:spcAft>
                          <a:spcPts val="0"/>
                        </a:spcAft>
                      </a:pPr>
                      <a:r>
                        <a:rPr lang="en-GB" sz="1000" kern="1200" dirty="0"/>
                        <a:t>Technical Criteria 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216024">
                <a:tc>
                  <a:txBody>
                    <a:bodyPr/>
                    <a:lstStyle/>
                    <a:p>
                      <a:pPr marL="0" algn="l" defTabSz="914400" rtl="0" eaLnBrk="1" latinLnBrk="0" hangingPunct="1">
                        <a:lnSpc>
                          <a:spcPct val="115000"/>
                        </a:lnSpc>
                        <a:spcAft>
                          <a:spcPts val="0"/>
                        </a:spcAft>
                      </a:pPr>
                      <a:r>
                        <a:rPr lang="en-GB" sz="1000" kern="1200" dirty="0"/>
                        <a:t>Technical Criteria 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216024">
                <a:tc>
                  <a:txBody>
                    <a:bodyPr/>
                    <a:lstStyle/>
                    <a:p>
                      <a:pPr marL="0" algn="l" defTabSz="914400" rtl="0" eaLnBrk="1" latinLnBrk="0" hangingPunct="1">
                        <a:lnSpc>
                          <a:spcPct val="115000"/>
                        </a:lnSpc>
                        <a:spcAft>
                          <a:spcPts val="0"/>
                        </a:spcAft>
                      </a:pPr>
                      <a:r>
                        <a:rPr lang="en-GB" sz="1000" kern="1200" dirty="0"/>
                        <a:t>Technical Criteria 6</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216024">
                <a:tc>
                  <a:txBody>
                    <a:bodyPr/>
                    <a:lstStyle/>
                    <a:p>
                      <a:pPr marL="0" algn="l" defTabSz="914400" rtl="0" eaLnBrk="1" latinLnBrk="0" hangingPunct="1">
                        <a:lnSpc>
                          <a:spcPct val="115000"/>
                        </a:lnSpc>
                        <a:spcAft>
                          <a:spcPts val="0"/>
                        </a:spcAft>
                      </a:pPr>
                      <a:r>
                        <a:rPr lang="en-GB" sz="1000" kern="1200" dirty="0"/>
                        <a:t>Technical Criteria 7</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216024">
                <a:tc>
                  <a:txBody>
                    <a:bodyPr/>
                    <a:lstStyle/>
                    <a:p>
                      <a:pPr marL="0" algn="l" defTabSz="914400" rtl="0" eaLnBrk="1" latinLnBrk="0" hangingPunct="1">
                        <a:lnSpc>
                          <a:spcPct val="115000"/>
                        </a:lnSpc>
                        <a:spcAft>
                          <a:spcPts val="0"/>
                        </a:spcAft>
                      </a:pPr>
                      <a:r>
                        <a:rPr lang="en-GB" sz="1000" kern="1200" dirty="0"/>
                        <a:t>Technical Criteria 8</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216024">
                <a:tc>
                  <a:txBody>
                    <a:bodyPr/>
                    <a:lstStyle/>
                    <a:p>
                      <a:pPr marL="0" algn="l" defTabSz="914400" rtl="0" eaLnBrk="1" latinLnBrk="0" hangingPunct="1">
                        <a:lnSpc>
                          <a:spcPct val="115000"/>
                        </a:lnSpc>
                        <a:spcAft>
                          <a:spcPts val="0"/>
                        </a:spcAft>
                      </a:pPr>
                      <a:r>
                        <a:rPr lang="en-GB" sz="1000" kern="1200" dirty="0"/>
                        <a:t>Technical Criteria 9</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216024">
                <a:tc>
                  <a:txBody>
                    <a:bodyPr/>
                    <a:lstStyle/>
                    <a:p>
                      <a:pPr marL="0" algn="l" defTabSz="914400" rtl="0" eaLnBrk="1" latinLnBrk="0" hangingPunct="1">
                        <a:lnSpc>
                          <a:spcPct val="115000"/>
                        </a:lnSpc>
                        <a:spcAft>
                          <a:spcPts val="0"/>
                        </a:spcAft>
                      </a:pPr>
                      <a:r>
                        <a:rPr lang="en-GB" sz="1000" kern="1200" dirty="0"/>
                        <a:t>Technical Criteria 10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91B92174-3157-41EB-8410-78091A224BC0}"/>
              </a:ext>
            </a:extLst>
          </p:cNvPr>
          <p:cNvGrpSpPr/>
          <p:nvPr/>
        </p:nvGrpSpPr>
        <p:grpSpPr>
          <a:xfrm>
            <a:off x="1985248" y="1628788"/>
            <a:ext cx="8295582" cy="3960440"/>
            <a:chOff x="1985248" y="1052736"/>
            <a:chExt cx="8295582" cy="3960440"/>
          </a:xfrm>
        </p:grpSpPr>
        <p:sp>
          <p:nvSpPr>
            <p:cNvPr id="12" name="Rounded Rectangle 11"/>
            <p:cNvSpPr/>
            <p:nvPr/>
          </p:nvSpPr>
          <p:spPr>
            <a:xfrm>
              <a:off x="2017182" y="1052736"/>
              <a:ext cx="8157600" cy="3960440"/>
            </a:xfrm>
            <a:prstGeom prst="roundRect">
              <a:avLst>
                <a:gd name="adj" fmla="val 170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0" name="TextBox 9"/>
            <p:cNvSpPr txBox="1"/>
            <p:nvPr/>
          </p:nvSpPr>
          <p:spPr>
            <a:xfrm>
              <a:off x="1985248" y="1228690"/>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Rule Name Details &amp; Violation Count for top critical violations</a:t>
              </a:r>
            </a:p>
          </p:txBody>
        </p:sp>
        <p:sp>
          <p:nvSpPr>
            <p:cNvPr id="11" name="TextBox 10"/>
            <p:cNvSpPr txBox="1"/>
            <p:nvPr/>
          </p:nvSpPr>
          <p:spPr>
            <a:xfrm>
              <a:off x="3650296" y="1628800"/>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RULE_NAME_DESCRIPTION_TOPCRITVIOL</a:t>
              </a:r>
            </a:p>
          </p:txBody>
        </p:sp>
        <p:sp>
          <p:nvSpPr>
            <p:cNvPr id="19" name="TextBox 18"/>
            <p:cNvSpPr txBox="1"/>
            <p:nvPr/>
          </p:nvSpPr>
          <p:spPr>
            <a:xfrm>
              <a:off x="2203132" y="1628800"/>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20" name="TextBox 19"/>
            <p:cNvSpPr txBox="1"/>
            <p:nvPr/>
          </p:nvSpPr>
          <p:spPr>
            <a:xfrm>
              <a:off x="3650296" y="1979460"/>
              <a:ext cx="6630534" cy="111569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b="1" dirty="0"/>
                <a:t>COUNT=N </a:t>
              </a:r>
              <a:r>
                <a:rPr lang="en-US" sz="1200" dirty="0"/>
                <a:t>where N indicates the number of top N</a:t>
              </a:r>
            </a:p>
            <a:p>
              <a:r>
                <a:rPr lang="en-US" sz="1200" b="1" dirty="0"/>
                <a:t>PAR=BC-ID</a:t>
              </a:r>
              <a:r>
                <a:rPr lang="en-US" sz="1200" dirty="0"/>
                <a:t> where BC-ID indicates the ID of the business criterion</a:t>
              </a:r>
            </a:p>
            <a:p>
              <a:pPr lvl="2"/>
              <a:r>
                <a:rPr lang="en-US" sz="1000" i="1" dirty="0">
                  <a:solidFill>
                    <a:schemeClr val="bg1">
                      <a:lumMod val="50000"/>
                    </a:schemeClr>
                  </a:solidFill>
                </a:rPr>
                <a:t>PAR also supports several business criteria. Multiple business criteria are indicated as a list of BCID separated by “|”, for instance PAR=60011|60012</a:t>
              </a:r>
            </a:p>
            <a:p>
              <a:r>
                <a:rPr lang="en-US" sz="1200" b="1" dirty="0"/>
                <a:t>IDX=</a:t>
              </a:r>
              <a:r>
                <a:rPr lang="en-US" sz="1200" b="1" dirty="0" err="1"/>
                <a:t>i</a:t>
              </a:r>
              <a:r>
                <a:rPr lang="en-US" sz="1200" b="1" dirty="0"/>
                <a:t> </a:t>
              </a:r>
              <a:r>
                <a:rPr lang="en-US" sz="1200" dirty="0"/>
                <a:t>where </a:t>
              </a:r>
              <a:r>
                <a:rPr lang="en-US" sz="1200" dirty="0" err="1"/>
                <a:t>i</a:t>
              </a:r>
              <a:r>
                <a:rPr lang="en-US" sz="1200" dirty="0"/>
                <a:t> indicates the </a:t>
              </a:r>
              <a:r>
                <a:rPr lang="en-GB" sz="1200" dirty="0"/>
                <a:t>index of the specific rule wanted</a:t>
              </a:r>
            </a:p>
            <a:p>
              <a:pPr lvl="2"/>
              <a:r>
                <a:rPr lang="en-GB" sz="1000" i="1" dirty="0">
                  <a:solidFill>
                    <a:schemeClr val="bg1">
                      <a:lumMod val="50000"/>
                    </a:schemeClr>
                  </a:solidFill>
                </a:rPr>
                <a:t>for instance </a:t>
              </a:r>
              <a:r>
                <a:rPr lang="en-GB" sz="1000" i="1" dirty="0" err="1">
                  <a:solidFill>
                    <a:schemeClr val="bg1">
                      <a:lumMod val="50000"/>
                    </a:schemeClr>
                  </a:solidFill>
                </a:rPr>
                <a:t>i</a:t>
              </a:r>
              <a:r>
                <a:rPr lang="en-GB" sz="1000" i="1" dirty="0">
                  <a:solidFill>
                    <a:schemeClr val="bg1">
                      <a:lumMod val="50000"/>
                    </a:schemeClr>
                  </a:solidFill>
                </a:rPr>
                <a:t> = 0 to display only 1</a:t>
              </a:r>
              <a:r>
                <a:rPr lang="en-GB" sz="1000" i="1" baseline="30000" dirty="0">
                  <a:solidFill>
                    <a:schemeClr val="bg1">
                      <a:lumMod val="50000"/>
                    </a:schemeClr>
                  </a:solidFill>
                </a:rPr>
                <a:t>st</a:t>
              </a:r>
              <a:r>
                <a:rPr lang="en-GB" sz="1000" i="1" dirty="0">
                  <a:solidFill>
                    <a:schemeClr val="bg1">
                      <a:lumMod val="50000"/>
                    </a:schemeClr>
                  </a:solidFill>
                </a:rPr>
                <a:t> rule, </a:t>
              </a:r>
              <a:r>
                <a:rPr lang="en-GB" sz="1000" i="1" dirty="0" err="1">
                  <a:solidFill>
                    <a:schemeClr val="bg1">
                      <a:lumMod val="50000"/>
                    </a:schemeClr>
                  </a:solidFill>
                </a:rPr>
                <a:t>i</a:t>
              </a:r>
              <a:r>
                <a:rPr lang="en-GB" sz="1000" i="1" dirty="0">
                  <a:solidFill>
                    <a:schemeClr val="bg1">
                      <a:lumMod val="50000"/>
                    </a:schemeClr>
                  </a:solidFill>
                </a:rPr>
                <a:t> = 1 for 2</a:t>
              </a:r>
              <a:r>
                <a:rPr lang="en-GB" sz="1000" i="1" baseline="30000" dirty="0">
                  <a:solidFill>
                    <a:schemeClr val="bg1">
                      <a:lumMod val="50000"/>
                    </a:schemeClr>
                  </a:solidFill>
                </a:rPr>
                <a:t>nd</a:t>
              </a:r>
              <a:r>
                <a:rPr lang="en-GB" sz="1000" i="1" dirty="0">
                  <a:solidFill>
                    <a:schemeClr val="bg1">
                      <a:lumMod val="50000"/>
                    </a:schemeClr>
                  </a:solidFill>
                </a:rPr>
                <a:t> rule, </a:t>
              </a:r>
              <a:r>
                <a:rPr lang="en-GB" sz="1000" i="1" dirty="0" err="1">
                  <a:solidFill>
                    <a:schemeClr val="bg1">
                      <a:lumMod val="50000"/>
                    </a:schemeClr>
                  </a:solidFill>
                </a:rPr>
                <a:t>i</a:t>
              </a:r>
              <a:r>
                <a:rPr lang="en-GB" sz="1000" i="1" dirty="0">
                  <a:solidFill>
                    <a:schemeClr val="bg1">
                      <a:lumMod val="50000"/>
                    </a:schemeClr>
                  </a:solidFill>
                </a:rPr>
                <a:t> =2 for 3</a:t>
              </a:r>
              <a:r>
                <a:rPr lang="en-GB" sz="1000" i="1" baseline="30000" dirty="0">
                  <a:solidFill>
                    <a:schemeClr val="bg1">
                      <a:lumMod val="50000"/>
                    </a:schemeClr>
                  </a:solidFill>
                </a:rPr>
                <a:t>rd</a:t>
              </a:r>
              <a:r>
                <a:rPr lang="en-GB" sz="1000" i="1" dirty="0">
                  <a:solidFill>
                    <a:schemeClr val="bg1">
                      <a:lumMod val="50000"/>
                    </a:schemeClr>
                  </a:solidFill>
                </a:rPr>
                <a:t> rule…</a:t>
              </a:r>
              <a:endParaRPr lang="en-US" sz="1000" i="1" dirty="0">
                <a:solidFill>
                  <a:schemeClr val="bg1">
                    <a:lumMod val="50000"/>
                  </a:schemeClr>
                </a:solidFill>
              </a:endParaRPr>
            </a:p>
          </p:txBody>
        </p:sp>
        <p:sp>
          <p:nvSpPr>
            <p:cNvPr id="21" name="TextBox 20"/>
            <p:cNvSpPr txBox="1"/>
            <p:nvPr/>
          </p:nvSpPr>
          <p:spPr>
            <a:xfrm>
              <a:off x="2619914" y="1948770"/>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22" name="Table 21" descr="TABLE;RULE_NAME_DESCRIPTION_TOPCRITVIOL;COUNT=4,PAR=60016"/>
          <p:cNvGraphicFramePr>
            <a:graphicFrameLocks noGrp="1"/>
          </p:cNvGraphicFramePr>
          <p:nvPr>
            <p:extLst>
              <p:ext uri="{D42A27DB-BD31-4B8C-83A1-F6EECF244321}">
                <p14:modId xmlns:p14="http://schemas.microsoft.com/office/powerpoint/2010/main" val="2690114011"/>
              </p:ext>
            </p:extLst>
          </p:nvPr>
        </p:nvGraphicFramePr>
        <p:xfrm>
          <a:off x="3359696" y="4005052"/>
          <a:ext cx="5472610" cy="864096"/>
        </p:xfrm>
        <a:graphic>
          <a:graphicData uri="http://schemas.openxmlformats.org/drawingml/2006/table">
            <a:tbl>
              <a:tblPr firstRow="1" bandRow="1">
                <a:tableStyleId>{9DCAF9ED-07DC-4A11-8D7F-57B35C25682E}</a:tableStyleId>
              </a:tblPr>
              <a:tblGrid>
                <a:gridCol w="1296145">
                  <a:extLst>
                    <a:ext uri="{9D8B030D-6E8A-4147-A177-3AD203B41FA5}">
                      <a16:colId xmlns:a16="http://schemas.microsoft.com/office/drawing/2014/main" val="20000"/>
                    </a:ext>
                  </a:extLst>
                </a:gridCol>
                <a:gridCol w="4176465">
                  <a:extLst>
                    <a:ext uri="{9D8B030D-6E8A-4147-A177-3AD203B41FA5}">
                      <a16:colId xmlns:a16="http://schemas.microsoft.com/office/drawing/2014/main" val="20001"/>
                    </a:ext>
                  </a:extLst>
                </a:gridCol>
              </a:tblGrid>
              <a:tr h="216024">
                <a:tc gridSpan="2">
                  <a:txBody>
                    <a:bodyPr/>
                    <a:lstStyle/>
                    <a:p>
                      <a:pPr marL="0" algn="l" defTabSz="914400" rtl="0" eaLnBrk="1" latinLnBrk="0" hangingPunct="1">
                        <a:lnSpc>
                          <a:spcPct val="115000"/>
                        </a:lnSpc>
                        <a:spcAft>
                          <a:spcPts val="0"/>
                        </a:spcAft>
                      </a:pPr>
                      <a:r>
                        <a:rPr lang="en-GB" sz="1000" kern="1200" dirty="0"/>
                        <a:t>Rules Descriptions</a:t>
                      </a:r>
                      <a:r>
                        <a:rPr lang="en-GB" sz="1000" kern="1200" baseline="0" dirty="0"/>
                        <a:t> for Top Critical Violations for Business Criterion</a:t>
                      </a:r>
                      <a:endParaRPr lang="fr-FR" sz="1000" kern="1200" dirty="0">
                        <a:solidFill>
                          <a:schemeClr val="dk1"/>
                        </a:solidFill>
                        <a:latin typeface="+mn-lt"/>
                        <a:ea typeface="+mn-ea"/>
                        <a:cs typeface="+mn-cs"/>
                      </a:endParaRPr>
                    </a:p>
                  </a:txBody>
                  <a:tcPr marL="68580" marR="68580" marT="0" marB="0" anchor="ctr"/>
                </a:tc>
                <a:tc hMerge="1">
                  <a:txBody>
                    <a:bodyPr/>
                    <a:lstStyle/>
                    <a:p>
                      <a:pPr marL="0" algn="ctr" defTabSz="914400" rtl="0" eaLnBrk="1" latinLnBrk="0" hangingPunct="1">
                        <a:lnSpc>
                          <a:spcPct val="115000"/>
                        </a:lnSpc>
                        <a:spcAft>
                          <a:spcPts val="0"/>
                        </a:spcAft>
                      </a:pPr>
                      <a:endParaRPr lang="fr-FR" sz="1000" kern="1200" dirty="0"/>
                    </a:p>
                  </a:txBody>
                  <a:tcPr marL="68580" marR="68580" marT="0" marB="0" anchor="ctr"/>
                </a:tc>
                <a:extLst>
                  <a:ext uri="{0D108BD9-81ED-4DB2-BD59-A6C34878D82A}">
                    <a16:rowId xmlns:a16="http://schemas.microsoft.com/office/drawing/2014/main" val="10000"/>
                  </a:ext>
                </a:extLst>
              </a:tr>
              <a:tr h="216024">
                <a:tc>
                  <a:txBody>
                    <a:bodyPr/>
                    <a:lstStyle/>
                    <a:p>
                      <a:pPr marL="0" algn="l" defTabSz="914400" rtl="0" eaLnBrk="1" latinLnBrk="0" hangingPunct="1">
                        <a:lnSpc>
                          <a:spcPct val="115000"/>
                        </a:lnSpc>
                        <a:spcAft>
                          <a:spcPts val="0"/>
                        </a:spcAft>
                      </a:pPr>
                      <a:r>
                        <a:rPr lang="fr-FR" sz="1000" kern="1200" dirty="0" err="1"/>
                        <a:t>Rule</a:t>
                      </a:r>
                      <a:r>
                        <a:rPr lang="fr-FR" sz="1000" kern="1200" dirty="0"/>
                        <a:t> Name</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err="1"/>
                        <a:t>Current</a:t>
                      </a:r>
                      <a:r>
                        <a:rPr lang="fr-FR" sz="1000" kern="1200" dirty="0"/>
                        <a:t> </a:t>
                      </a:r>
                      <a:r>
                        <a:rPr lang="fr-FR" sz="1000" kern="1200" dirty="0" err="1"/>
                        <a:t>Rule</a:t>
                      </a:r>
                      <a:r>
                        <a:rPr lang="fr-FR" sz="1000" kern="1200" dirty="0"/>
                        <a:t> Name</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216024">
                <a:tc>
                  <a:txBody>
                    <a:bodyPr/>
                    <a:lstStyle/>
                    <a:p>
                      <a:pPr marL="0" algn="l" defTabSz="914400" rtl="0" eaLnBrk="1" latinLnBrk="0" hangingPunct="1">
                        <a:lnSpc>
                          <a:spcPct val="115000"/>
                        </a:lnSpc>
                        <a:spcAft>
                          <a:spcPts val="0"/>
                        </a:spcAft>
                      </a:pPr>
                      <a:r>
                        <a:rPr lang="en-GB" sz="1000" kern="1200" dirty="0"/>
                        <a:t>Description</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err="1"/>
                        <a:t>Current</a:t>
                      </a:r>
                      <a:r>
                        <a:rPr lang="fr-FR" sz="1000" kern="1200" dirty="0"/>
                        <a:t> description</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216024">
                <a:tc>
                  <a:txBody>
                    <a:bodyPr/>
                    <a:lstStyle/>
                    <a:p>
                      <a:pPr marL="0" algn="l" defTabSz="914400" rtl="0" eaLnBrk="1" latinLnBrk="0" hangingPunct="1">
                        <a:lnSpc>
                          <a:spcPct val="115000"/>
                        </a:lnSpc>
                        <a:spcAft>
                          <a:spcPts val="0"/>
                        </a:spcAft>
                      </a:pPr>
                      <a:r>
                        <a:rPr lang="en-GB" sz="1000" kern="1200" dirty="0"/>
                        <a:t>Remediation</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err="1"/>
                        <a:t>Current</a:t>
                      </a:r>
                      <a:r>
                        <a:rPr lang="fr-FR" sz="1000" kern="1200" dirty="0"/>
                        <a:t> </a:t>
                      </a:r>
                      <a:r>
                        <a:rPr lang="fr-FR" sz="1000" kern="1200" dirty="0" err="1"/>
                        <a:t>remediation</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955598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8C24C0-7045-4212-A61F-9CF437E7C052}"/>
              </a:ext>
            </a:extLst>
          </p:cNvPr>
          <p:cNvGrpSpPr/>
          <p:nvPr/>
        </p:nvGrpSpPr>
        <p:grpSpPr>
          <a:xfrm>
            <a:off x="1985248" y="1228690"/>
            <a:ext cx="8295582" cy="4576574"/>
            <a:chOff x="1985248" y="1052736"/>
            <a:chExt cx="8295582" cy="4576574"/>
          </a:xfrm>
        </p:grpSpPr>
        <p:sp>
          <p:nvSpPr>
            <p:cNvPr id="12" name="Rounded Rectangle 11"/>
            <p:cNvSpPr/>
            <p:nvPr/>
          </p:nvSpPr>
          <p:spPr>
            <a:xfrm>
              <a:off x="2017182" y="1052736"/>
              <a:ext cx="8157600" cy="4576574"/>
            </a:xfrm>
            <a:prstGeom prst="roundRect">
              <a:avLst>
                <a:gd name="adj" fmla="val 1701"/>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0" name="TextBox 9"/>
            <p:cNvSpPr txBox="1"/>
            <p:nvPr/>
          </p:nvSpPr>
          <p:spPr>
            <a:xfrm>
              <a:off x="1985248" y="1228690"/>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artefacts in violation to a business criteria</a:t>
              </a:r>
            </a:p>
          </p:txBody>
        </p:sp>
        <p:sp>
          <p:nvSpPr>
            <p:cNvPr id="11" name="TextBox 10"/>
            <p:cNvSpPr txBox="1"/>
            <p:nvPr/>
          </p:nvSpPr>
          <p:spPr>
            <a:xfrm>
              <a:off x="3650296" y="1628800"/>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METRIC_TOP_ARTEFACT</a:t>
              </a:r>
            </a:p>
          </p:txBody>
        </p:sp>
        <p:sp>
          <p:nvSpPr>
            <p:cNvPr id="19" name="TextBox 18"/>
            <p:cNvSpPr txBox="1"/>
            <p:nvPr/>
          </p:nvSpPr>
          <p:spPr>
            <a:xfrm>
              <a:off x="2203132" y="1628800"/>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20" name="TextBox 19"/>
            <p:cNvSpPr txBox="1"/>
            <p:nvPr/>
          </p:nvSpPr>
          <p:spPr>
            <a:xfrm>
              <a:off x="3650296" y="1979460"/>
              <a:ext cx="6630534" cy="111569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b="1" dirty="0"/>
                <a:t>COUNT=N </a:t>
              </a:r>
              <a:r>
                <a:rPr lang="en-US" sz="1200" dirty="0"/>
                <a:t>where N indicates the number of top N</a:t>
              </a:r>
            </a:p>
            <a:p>
              <a:r>
                <a:rPr lang="en-US" sz="1200" b="1" dirty="0"/>
                <a:t>PAR=BC-ID</a:t>
              </a:r>
              <a:r>
                <a:rPr lang="en-US" sz="1200" dirty="0"/>
                <a:t> where BC-ID indicates the ID of the business criterion</a:t>
              </a:r>
            </a:p>
            <a:p>
              <a:pPr lvl="2"/>
              <a:r>
                <a:rPr lang="en-US" sz="1000" i="1" dirty="0">
                  <a:solidFill>
                    <a:schemeClr val="bg1">
                      <a:lumMod val="50000"/>
                    </a:schemeClr>
                  </a:solidFill>
                </a:rPr>
                <a:t>PAR also supports several business criteria. Multiple business criteria are indicated as a list of BCID separated by “|”, for instance PAR=60011|60012</a:t>
              </a:r>
            </a:p>
            <a:p>
              <a:r>
                <a:rPr lang="en-US" sz="1200" b="1" dirty="0"/>
                <a:t>IDX=</a:t>
              </a:r>
              <a:r>
                <a:rPr lang="en-US" sz="1200" b="1" dirty="0" err="1"/>
                <a:t>i</a:t>
              </a:r>
              <a:r>
                <a:rPr lang="en-US" sz="1200" b="1" dirty="0"/>
                <a:t> </a:t>
              </a:r>
              <a:r>
                <a:rPr lang="en-US" sz="1200" dirty="0"/>
                <a:t>where </a:t>
              </a:r>
              <a:r>
                <a:rPr lang="en-US" sz="1200" dirty="0" err="1"/>
                <a:t>i</a:t>
              </a:r>
              <a:r>
                <a:rPr lang="en-US" sz="1200" dirty="0"/>
                <a:t> indicates the </a:t>
              </a:r>
              <a:r>
                <a:rPr lang="en-GB" sz="1200" dirty="0"/>
                <a:t>index of the specific rule wanted</a:t>
              </a:r>
            </a:p>
            <a:p>
              <a:pPr lvl="2"/>
              <a:r>
                <a:rPr lang="en-GB" sz="1000" i="1" dirty="0">
                  <a:solidFill>
                    <a:schemeClr val="bg1">
                      <a:lumMod val="50000"/>
                    </a:schemeClr>
                  </a:solidFill>
                </a:rPr>
                <a:t>for instance </a:t>
              </a:r>
              <a:r>
                <a:rPr lang="en-GB" sz="1000" i="1" dirty="0" err="1">
                  <a:solidFill>
                    <a:schemeClr val="bg1">
                      <a:lumMod val="50000"/>
                    </a:schemeClr>
                  </a:solidFill>
                </a:rPr>
                <a:t>i</a:t>
              </a:r>
              <a:r>
                <a:rPr lang="en-GB" sz="1000" i="1" dirty="0">
                  <a:solidFill>
                    <a:schemeClr val="bg1">
                      <a:lumMod val="50000"/>
                    </a:schemeClr>
                  </a:solidFill>
                </a:rPr>
                <a:t> = 0 to display only 1</a:t>
              </a:r>
              <a:r>
                <a:rPr lang="en-GB" sz="1000" i="1" baseline="30000" dirty="0">
                  <a:solidFill>
                    <a:schemeClr val="bg1">
                      <a:lumMod val="50000"/>
                    </a:schemeClr>
                  </a:solidFill>
                </a:rPr>
                <a:t>st</a:t>
              </a:r>
              <a:r>
                <a:rPr lang="en-GB" sz="1000" i="1" dirty="0">
                  <a:solidFill>
                    <a:schemeClr val="bg1">
                      <a:lumMod val="50000"/>
                    </a:schemeClr>
                  </a:solidFill>
                </a:rPr>
                <a:t> rule, </a:t>
              </a:r>
              <a:r>
                <a:rPr lang="en-GB" sz="1000" i="1" dirty="0" err="1">
                  <a:solidFill>
                    <a:schemeClr val="bg1">
                      <a:lumMod val="50000"/>
                    </a:schemeClr>
                  </a:solidFill>
                </a:rPr>
                <a:t>i</a:t>
              </a:r>
              <a:r>
                <a:rPr lang="en-GB" sz="1000" i="1" dirty="0">
                  <a:solidFill>
                    <a:schemeClr val="bg1">
                      <a:lumMod val="50000"/>
                    </a:schemeClr>
                  </a:solidFill>
                </a:rPr>
                <a:t> = 1 for 2</a:t>
              </a:r>
              <a:r>
                <a:rPr lang="en-GB" sz="1000" i="1" baseline="30000" dirty="0">
                  <a:solidFill>
                    <a:schemeClr val="bg1">
                      <a:lumMod val="50000"/>
                    </a:schemeClr>
                  </a:solidFill>
                </a:rPr>
                <a:t>nd</a:t>
              </a:r>
              <a:r>
                <a:rPr lang="en-GB" sz="1000" i="1" dirty="0">
                  <a:solidFill>
                    <a:schemeClr val="bg1">
                      <a:lumMod val="50000"/>
                    </a:schemeClr>
                  </a:solidFill>
                </a:rPr>
                <a:t> rule, </a:t>
              </a:r>
              <a:r>
                <a:rPr lang="en-GB" sz="1000" i="1" dirty="0" err="1">
                  <a:solidFill>
                    <a:schemeClr val="bg1">
                      <a:lumMod val="50000"/>
                    </a:schemeClr>
                  </a:solidFill>
                </a:rPr>
                <a:t>i</a:t>
              </a:r>
              <a:r>
                <a:rPr lang="en-GB" sz="1000" i="1" dirty="0">
                  <a:solidFill>
                    <a:schemeClr val="bg1">
                      <a:lumMod val="50000"/>
                    </a:schemeClr>
                  </a:solidFill>
                </a:rPr>
                <a:t> =2 for 3</a:t>
              </a:r>
              <a:r>
                <a:rPr lang="en-GB" sz="1000" i="1" baseline="30000" dirty="0">
                  <a:solidFill>
                    <a:schemeClr val="bg1">
                      <a:lumMod val="50000"/>
                    </a:schemeClr>
                  </a:solidFill>
                </a:rPr>
                <a:t>rd</a:t>
              </a:r>
              <a:r>
                <a:rPr lang="en-GB" sz="1000" i="1" dirty="0">
                  <a:solidFill>
                    <a:schemeClr val="bg1">
                      <a:lumMod val="50000"/>
                    </a:schemeClr>
                  </a:solidFill>
                </a:rPr>
                <a:t> rule…</a:t>
              </a:r>
              <a:endParaRPr lang="en-US" sz="1000" i="1" dirty="0">
                <a:solidFill>
                  <a:schemeClr val="bg1">
                    <a:lumMod val="50000"/>
                  </a:schemeClr>
                </a:solidFill>
              </a:endParaRPr>
            </a:p>
          </p:txBody>
        </p:sp>
        <p:sp>
          <p:nvSpPr>
            <p:cNvPr id="21" name="TextBox 20"/>
            <p:cNvSpPr txBox="1"/>
            <p:nvPr/>
          </p:nvSpPr>
          <p:spPr>
            <a:xfrm>
              <a:off x="2619914" y="1948770"/>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3" name="TextBox 12">
              <a:extLst>
                <a:ext uri="{FF2B5EF4-FFF2-40B4-BE49-F238E27FC236}">
                  <a16:creationId xmlns:a16="http://schemas.microsoft.com/office/drawing/2014/main" id="{AE07C435-459B-4F6E-BA9A-4971FE55BC8E}"/>
                </a:ext>
              </a:extLst>
            </p:cNvPr>
            <p:cNvSpPr txBox="1"/>
            <p:nvPr/>
          </p:nvSpPr>
          <p:spPr>
            <a:xfrm>
              <a:off x="3071664" y="3412598"/>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4" name="TextBox 13">
              <a:extLst>
                <a:ext uri="{FF2B5EF4-FFF2-40B4-BE49-F238E27FC236}">
                  <a16:creationId xmlns:a16="http://schemas.microsoft.com/office/drawing/2014/main" id="{BCD3FF01-D6F7-42FE-A210-1174B3132B11}"/>
                </a:ext>
              </a:extLst>
            </p:cNvPr>
            <p:cNvSpPr txBox="1"/>
            <p:nvPr/>
          </p:nvSpPr>
          <p:spPr>
            <a:xfrm>
              <a:off x="2514067" y="3378478"/>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24" name="Title 1"/>
          <p:cNvSpPr>
            <a:spLocks noGrp="1"/>
          </p:cNvSpPr>
          <p:nvPr>
            <p:ph type="title"/>
          </p:nvPr>
        </p:nvSpPr>
        <p:spPr/>
        <p:txBody>
          <a:bodyPr>
            <a:normAutofit/>
          </a:bodyPr>
          <a:lstStyle/>
          <a:p>
            <a:r>
              <a:rPr lang="fr-FR" dirty="0"/>
              <a:t>PowerPoint Templates – Tables</a:t>
            </a:r>
          </a:p>
        </p:txBody>
      </p:sp>
      <p:graphicFrame>
        <p:nvGraphicFramePr>
          <p:cNvPr id="22" name="Table 21" descr="TABLE;METRIC_TOP_ARTEFACT;COUNT=4,PAR=60016,IDX=0"/>
          <p:cNvGraphicFramePr>
            <a:graphicFrameLocks noGrp="1"/>
          </p:cNvGraphicFramePr>
          <p:nvPr>
            <p:extLst>
              <p:ext uri="{D42A27DB-BD31-4B8C-83A1-F6EECF244321}">
                <p14:modId xmlns:p14="http://schemas.microsoft.com/office/powerpoint/2010/main" val="2222306430"/>
              </p:ext>
            </p:extLst>
          </p:nvPr>
        </p:nvGraphicFramePr>
        <p:xfrm>
          <a:off x="3359696" y="4109010"/>
          <a:ext cx="5472610" cy="864096"/>
        </p:xfrm>
        <a:graphic>
          <a:graphicData uri="http://schemas.openxmlformats.org/drawingml/2006/table">
            <a:tbl>
              <a:tblPr firstRow="1" bandRow="1">
                <a:tableStyleId>{9DCAF9ED-07DC-4A11-8D7F-57B35C25682E}</a:tableStyleId>
              </a:tblPr>
              <a:tblGrid>
                <a:gridCol w="4392488">
                  <a:extLst>
                    <a:ext uri="{9D8B030D-6E8A-4147-A177-3AD203B41FA5}">
                      <a16:colId xmlns:a16="http://schemas.microsoft.com/office/drawing/2014/main" val="20000"/>
                    </a:ext>
                  </a:extLst>
                </a:gridCol>
                <a:gridCol w="1080122">
                  <a:extLst>
                    <a:ext uri="{9D8B030D-6E8A-4147-A177-3AD203B41FA5}">
                      <a16:colId xmlns:a16="http://schemas.microsoft.com/office/drawing/2014/main" val="20001"/>
                    </a:ext>
                  </a:extLst>
                </a:gridCol>
              </a:tblGrid>
              <a:tr h="216024">
                <a:tc>
                  <a:txBody>
                    <a:bodyPr/>
                    <a:lstStyle/>
                    <a:p>
                      <a:pPr marL="0" algn="l" defTabSz="914400" rtl="0" eaLnBrk="1" latinLnBrk="0" hangingPunct="1">
                        <a:lnSpc>
                          <a:spcPct val="115000"/>
                        </a:lnSpc>
                        <a:spcAft>
                          <a:spcPts val="0"/>
                        </a:spcAft>
                      </a:pPr>
                      <a:r>
                        <a:rPr lang="en-GB" sz="1000" kern="1200" dirty="0"/>
                        <a:t>Artefacts violating rules </a:t>
                      </a:r>
                      <a:r>
                        <a:rPr lang="en-GB" sz="1000" kern="1200" baseline="0" dirty="0"/>
                        <a:t>for Business Criterion</a:t>
                      </a:r>
                      <a:endParaRPr lang="fr-FR" sz="10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 of #</a:t>
                      </a:r>
                    </a:p>
                  </a:txBody>
                  <a:tcPr marL="68580" marR="68580" marT="0" marB="0" anchor="ctr"/>
                </a:tc>
                <a:extLst>
                  <a:ext uri="{0D108BD9-81ED-4DB2-BD59-A6C34878D82A}">
                    <a16:rowId xmlns:a16="http://schemas.microsoft.com/office/drawing/2014/main" val="10000"/>
                  </a:ext>
                </a:extLst>
              </a:tr>
              <a:tr h="216024">
                <a:tc>
                  <a:txBody>
                    <a:bodyPr/>
                    <a:lstStyle/>
                    <a:p>
                      <a:pPr marL="0" algn="l" defTabSz="914400" rtl="0" eaLnBrk="1" latinLnBrk="0" hangingPunct="1">
                        <a:lnSpc>
                          <a:spcPct val="115000"/>
                        </a:lnSpc>
                        <a:spcAft>
                          <a:spcPts val="0"/>
                        </a:spcAft>
                      </a:pPr>
                      <a:r>
                        <a:rPr lang="fr-FR" sz="1000" kern="1200" dirty="0"/>
                        <a:t>C:\SRC\MODULE\Artefact1.cs</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216024">
                <a:tc>
                  <a:txBody>
                    <a:bodyPr/>
                    <a:lstStyle/>
                    <a:p>
                      <a:pPr marL="0" algn="l" defTabSz="914400" rtl="0" eaLnBrk="1" latinLnBrk="0" hangingPunct="1">
                        <a:lnSpc>
                          <a:spcPct val="115000"/>
                        </a:lnSpc>
                        <a:spcAft>
                          <a:spcPts val="0"/>
                        </a:spcAft>
                      </a:pPr>
                      <a:r>
                        <a:rPr lang="fr-FR" sz="1000" kern="1200" dirty="0"/>
                        <a:t>C:\SRC\MODULE\Artefact2.cs</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216024">
                <a:tc>
                  <a:txBody>
                    <a:bodyPr/>
                    <a:lstStyle/>
                    <a:p>
                      <a:pPr marL="0" algn="l" defTabSz="914400" rtl="0" eaLnBrk="1" latinLnBrk="0" hangingPunct="1">
                        <a:lnSpc>
                          <a:spcPct val="115000"/>
                        </a:lnSpc>
                        <a:spcAft>
                          <a:spcPts val="0"/>
                        </a:spcAft>
                      </a:pPr>
                      <a:r>
                        <a:rPr lang="fr-FR" sz="1000" kern="1200" dirty="0"/>
                        <a:t>C:\SRC\MODULE\Artefact3.cs</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420570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C72F544A-36FE-46C0-A515-C77D56CAE0BB}"/>
              </a:ext>
            </a:extLst>
          </p:cNvPr>
          <p:cNvGrpSpPr/>
          <p:nvPr/>
        </p:nvGrpSpPr>
        <p:grpSpPr>
          <a:xfrm>
            <a:off x="1943563" y="1340768"/>
            <a:ext cx="8342549" cy="4536504"/>
            <a:chOff x="1943563" y="1340768"/>
            <a:chExt cx="8342549" cy="4536504"/>
          </a:xfrm>
        </p:grpSpPr>
        <p:sp>
          <p:nvSpPr>
            <p:cNvPr id="12" name="Rounded Rectangle 11"/>
            <p:cNvSpPr/>
            <p:nvPr/>
          </p:nvSpPr>
          <p:spPr>
            <a:xfrm>
              <a:off x="2017182" y="1340768"/>
              <a:ext cx="8157600" cy="4536504"/>
            </a:xfrm>
            <a:prstGeom prst="roundRect">
              <a:avLst>
                <a:gd name="adj" fmla="val 2388"/>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43563" y="138826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Rule Name Details &amp; Violation Count</a:t>
              </a:r>
            </a:p>
          </p:txBody>
        </p:sp>
        <p:sp>
          <p:nvSpPr>
            <p:cNvPr id="14" name="TextBox 13"/>
            <p:cNvSpPr txBox="1"/>
            <p:nvPr/>
          </p:nvSpPr>
          <p:spPr>
            <a:xfrm>
              <a:off x="3655578" y="180011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RULE_NAME_DESCRIPTION</a:t>
              </a:r>
            </a:p>
          </p:txBody>
        </p:sp>
        <p:sp>
          <p:nvSpPr>
            <p:cNvPr id="15" name="TextBox 14"/>
            <p:cNvSpPr txBox="1"/>
            <p:nvPr/>
          </p:nvSpPr>
          <p:spPr>
            <a:xfrm>
              <a:off x="2208414" y="178646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55578" y="2137124"/>
              <a:ext cx="6630534"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dirty="0"/>
                <a:t>RULID=N (by default RULID=4670)</a:t>
              </a:r>
            </a:p>
            <a:p>
              <a:r>
                <a:rPr lang="en-US" sz="1200" dirty="0"/>
                <a:t>where N indicates the rule Id</a:t>
              </a:r>
            </a:p>
          </p:txBody>
        </p:sp>
        <p:sp>
          <p:nvSpPr>
            <p:cNvPr id="17" name="TextBox 16"/>
            <p:cNvSpPr txBox="1"/>
            <p:nvPr/>
          </p:nvSpPr>
          <p:spPr>
            <a:xfrm>
              <a:off x="2625196" y="210643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8" name="Table 17" descr="TABLE;RULE_NAME_DESCRIPTION;RULID=4670"/>
          <p:cNvGraphicFramePr>
            <a:graphicFrameLocks noGrp="1"/>
          </p:cNvGraphicFramePr>
          <p:nvPr>
            <p:extLst>
              <p:ext uri="{D42A27DB-BD31-4B8C-83A1-F6EECF244321}">
                <p14:modId xmlns:p14="http://schemas.microsoft.com/office/powerpoint/2010/main" val="1076136605"/>
              </p:ext>
            </p:extLst>
          </p:nvPr>
        </p:nvGraphicFramePr>
        <p:xfrm>
          <a:off x="3431721" y="2996952"/>
          <a:ext cx="5472610" cy="648072"/>
        </p:xfrm>
        <a:graphic>
          <a:graphicData uri="http://schemas.openxmlformats.org/drawingml/2006/table">
            <a:tbl>
              <a:tblPr firstRow="1" bandRow="1">
                <a:tableStyleId>{9DCAF9ED-07DC-4A11-8D7F-57B35C25682E}</a:tableStyleId>
              </a:tblPr>
              <a:tblGrid>
                <a:gridCol w="1296145">
                  <a:extLst>
                    <a:ext uri="{9D8B030D-6E8A-4147-A177-3AD203B41FA5}">
                      <a16:colId xmlns:a16="http://schemas.microsoft.com/office/drawing/2014/main" val="20000"/>
                    </a:ext>
                  </a:extLst>
                </a:gridCol>
                <a:gridCol w="4176465">
                  <a:extLst>
                    <a:ext uri="{9D8B030D-6E8A-4147-A177-3AD203B41FA5}">
                      <a16:colId xmlns:a16="http://schemas.microsoft.com/office/drawing/2014/main" val="20001"/>
                    </a:ext>
                  </a:extLst>
                </a:gridCol>
              </a:tblGrid>
              <a:tr h="216024">
                <a:tc gridSpan="2">
                  <a:txBody>
                    <a:bodyPr/>
                    <a:lstStyle/>
                    <a:p>
                      <a:pPr marL="0" algn="l" defTabSz="914400" rtl="0" eaLnBrk="1" latinLnBrk="0" hangingPunct="1">
                        <a:lnSpc>
                          <a:spcPct val="115000"/>
                        </a:lnSpc>
                        <a:spcAft>
                          <a:spcPts val="0"/>
                        </a:spcAft>
                      </a:pPr>
                      <a:r>
                        <a:rPr lang="en-GB" sz="1000" kern="1200" dirty="0"/>
                        <a:t>Rule name</a:t>
                      </a:r>
                      <a:endParaRPr lang="fr-FR" sz="1000" kern="1200" dirty="0">
                        <a:solidFill>
                          <a:schemeClr val="dk1"/>
                        </a:solidFill>
                        <a:latin typeface="+mn-lt"/>
                        <a:ea typeface="+mn-ea"/>
                        <a:cs typeface="+mn-cs"/>
                      </a:endParaRPr>
                    </a:p>
                  </a:txBody>
                  <a:tcPr marL="68580" marR="68580" marT="0" marB="0" anchor="ctr"/>
                </a:tc>
                <a:tc hMerge="1">
                  <a:txBody>
                    <a:bodyPr/>
                    <a:lstStyle/>
                    <a:p>
                      <a:pPr marL="0" algn="ctr" defTabSz="914400" rtl="0" eaLnBrk="1" latinLnBrk="0" hangingPunct="1">
                        <a:lnSpc>
                          <a:spcPct val="115000"/>
                        </a:lnSpc>
                        <a:spcAft>
                          <a:spcPts val="0"/>
                        </a:spcAft>
                      </a:pPr>
                      <a:endParaRPr lang="fr-FR" sz="1000" kern="1200" dirty="0"/>
                    </a:p>
                  </a:txBody>
                  <a:tcPr marL="68580" marR="68580" marT="0" marB="0" anchor="ctr"/>
                </a:tc>
                <a:extLst>
                  <a:ext uri="{0D108BD9-81ED-4DB2-BD59-A6C34878D82A}">
                    <a16:rowId xmlns:a16="http://schemas.microsoft.com/office/drawing/2014/main" val="10000"/>
                  </a:ext>
                </a:extLst>
              </a:tr>
              <a:tr h="216024">
                <a:tc>
                  <a:txBody>
                    <a:bodyPr/>
                    <a:lstStyle/>
                    <a:p>
                      <a:pPr marL="0" algn="l" defTabSz="914400" rtl="0" eaLnBrk="1" latinLnBrk="0" hangingPunct="1">
                        <a:lnSpc>
                          <a:spcPct val="115000"/>
                        </a:lnSpc>
                        <a:spcAft>
                          <a:spcPts val="0"/>
                        </a:spcAft>
                      </a:pPr>
                      <a:r>
                        <a:rPr lang="en-GB" sz="1000" kern="1200" dirty="0"/>
                        <a:t>Description</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err="1"/>
                        <a:t>Current</a:t>
                      </a:r>
                      <a:r>
                        <a:rPr lang="fr-FR" sz="1000" kern="1200" dirty="0"/>
                        <a:t> description</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216024">
                <a:tc>
                  <a:txBody>
                    <a:bodyPr/>
                    <a:lstStyle/>
                    <a:p>
                      <a:pPr marL="0" algn="l" defTabSz="914400" rtl="0" eaLnBrk="1" latinLnBrk="0" hangingPunct="1">
                        <a:lnSpc>
                          <a:spcPct val="115000"/>
                        </a:lnSpc>
                        <a:spcAft>
                          <a:spcPts val="0"/>
                        </a:spcAft>
                      </a:pPr>
                      <a:r>
                        <a:rPr lang="en-GB" sz="1000" kern="1200" dirty="0"/>
                        <a:t>Remediation</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err="1"/>
                        <a:t>Current</a:t>
                      </a:r>
                      <a:r>
                        <a:rPr lang="fr-FR" sz="1000" kern="1200" dirty="0"/>
                        <a:t> </a:t>
                      </a:r>
                      <a:r>
                        <a:rPr lang="fr-FR" sz="1000" kern="1200" dirty="0" err="1"/>
                        <a:t>remediation</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8F33D66-9DD2-4F19-A526-67FE7F75F555}"/>
              </a:ext>
            </a:extLst>
          </p:cNvPr>
          <p:cNvGrpSpPr/>
          <p:nvPr/>
        </p:nvGrpSpPr>
        <p:grpSpPr>
          <a:xfrm>
            <a:off x="1949623" y="1245722"/>
            <a:ext cx="8394849" cy="4968552"/>
            <a:chOff x="1949623" y="1412776"/>
            <a:chExt cx="8394849" cy="4968552"/>
          </a:xfrm>
        </p:grpSpPr>
        <p:sp>
          <p:nvSpPr>
            <p:cNvPr id="12" name="Rounded Rectangle 11"/>
            <p:cNvSpPr/>
            <p:nvPr/>
          </p:nvSpPr>
          <p:spPr>
            <a:xfrm>
              <a:off x="2017182" y="1412776"/>
              <a:ext cx="8157600" cy="4968552"/>
            </a:xfrm>
            <a:prstGeom prst="roundRect">
              <a:avLst>
                <a:gd name="adj" fmla="val 2159"/>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49623" y="146846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Rules by Technical Criteria</a:t>
              </a:r>
            </a:p>
          </p:txBody>
        </p:sp>
        <p:sp>
          <p:nvSpPr>
            <p:cNvPr id="14" name="TextBox 13"/>
            <p:cNvSpPr txBox="1"/>
            <p:nvPr/>
          </p:nvSpPr>
          <p:spPr>
            <a:xfrm>
              <a:off x="3641912" y="185847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TECHNICAL_CRITERIA_RULES</a:t>
              </a:r>
            </a:p>
          </p:txBody>
        </p:sp>
        <p:sp>
          <p:nvSpPr>
            <p:cNvPr id="15" name="TextBox 14"/>
            <p:cNvSpPr txBox="1"/>
            <p:nvPr/>
          </p:nvSpPr>
          <p:spPr>
            <a:xfrm>
              <a:off x="2194748" y="184482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1912" y="2195484"/>
              <a:ext cx="6630534" cy="1169551"/>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b="1" dirty="0"/>
                <a:t>CNT=N</a:t>
              </a:r>
              <a:r>
                <a:rPr lang="en-US" sz="1200" dirty="0"/>
                <a:t> (by default CNT=1)</a:t>
              </a:r>
            </a:p>
            <a:p>
              <a:r>
                <a:rPr lang="en-US" sz="1100" dirty="0"/>
                <a:t>where N indicates the shown rule number ; if this item missed, no limitation will be applied</a:t>
              </a:r>
            </a:p>
            <a:p>
              <a:r>
                <a:rPr lang="en-US" sz="1200" b="1" dirty="0"/>
                <a:t>TCID=N</a:t>
              </a:r>
              <a:r>
                <a:rPr lang="en-US" sz="1200" dirty="0"/>
                <a:t> (by default TCID=61001)</a:t>
              </a:r>
            </a:p>
            <a:p>
              <a:r>
                <a:rPr lang="en-US" sz="1100" dirty="0"/>
                <a:t>where N indicates the technical criterion Id</a:t>
              </a:r>
            </a:p>
            <a:p>
              <a:r>
                <a:rPr lang="en-US" sz="1200" b="1" dirty="0"/>
                <a:t>BZID=N</a:t>
              </a:r>
              <a:r>
                <a:rPr lang="en-US" sz="1200" dirty="0"/>
                <a:t> (by default BZID=60016)</a:t>
              </a:r>
            </a:p>
            <a:p>
              <a:r>
                <a:rPr lang="en-US" sz="1100" dirty="0"/>
                <a:t>where N indicates the business criterion Id</a:t>
              </a:r>
            </a:p>
          </p:txBody>
        </p:sp>
        <p:sp>
          <p:nvSpPr>
            <p:cNvPr id="17" name="TextBox 16"/>
            <p:cNvSpPr txBox="1"/>
            <p:nvPr/>
          </p:nvSpPr>
          <p:spPr>
            <a:xfrm>
              <a:off x="2611530" y="216479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1" name="TextBox 10"/>
            <p:cNvSpPr txBox="1"/>
            <p:nvPr/>
          </p:nvSpPr>
          <p:spPr>
            <a:xfrm>
              <a:off x="2593083" y="3933056"/>
              <a:ext cx="1200072"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600" dirty="0"/>
                <a:t>Behavior :</a:t>
              </a:r>
            </a:p>
          </p:txBody>
        </p:sp>
        <p:sp>
          <p:nvSpPr>
            <p:cNvPr id="10" name="TextBox 9"/>
            <p:cNvSpPr txBox="1"/>
            <p:nvPr/>
          </p:nvSpPr>
          <p:spPr>
            <a:xfrm>
              <a:off x="3713938" y="3967176"/>
              <a:ext cx="6630534" cy="30777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400" dirty="0"/>
                <a:t>If no new violation appeared on rule, rule description is not loaded</a:t>
              </a:r>
            </a:p>
          </p:txBody>
        </p:sp>
      </p:grpSp>
      <p:sp>
        <p:nvSpPr>
          <p:cNvPr id="24" name="Title 1"/>
          <p:cNvSpPr>
            <a:spLocks noGrp="1"/>
          </p:cNvSpPr>
          <p:nvPr>
            <p:ph type="title"/>
          </p:nvPr>
        </p:nvSpPr>
        <p:spPr/>
        <p:txBody>
          <a:bodyPr>
            <a:normAutofit/>
          </a:bodyPr>
          <a:lstStyle/>
          <a:p>
            <a:r>
              <a:rPr lang="fr-FR" dirty="0"/>
              <a:t>PowerPoint Templates – Tables</a:t>
            </a:r>
          </a:p>
        </p:txBody>
      </p:sp>
      <p:graphicFrame>
        <p:nvGraphicFramePr>
          <p:cNvPr id="18" name="Table 17" descr="TABLE;TECHNICAL_CRITERIA_RULES;CNT=5,TCID=61001,BZID=60016"/>
          <p:cNvGraphicFramePr>
            <a:graphicFrameLocks noGrp="1"/>
          </p:cNvGraphicFramePr>
          <p:nvPr>
            <p:extLst>
              <p:ext uri="{D42A27DB-BD31-4B8C-83A1-F6EECF244321}">
                <p14:modId xmlns:p14="http://schemas.microsoft.com/office/powerpoint/2010/main" val="4262074696"/>
              </p:ext>
            </p:extLst>
          </p:nvPr>
        </p:nvGraphicFramePr>
        <p:xfrm>
          <a:off x="2279575" y="4702106"/>
          <a:ext cx="7560840" cy="647700"/>
        </p:xfrm>
        <a:graphic>
          <a:graphicData uri="http://schemas.openxmlformats.org/drawingml/2006/table">
            <a:tbl>
              <a:tblPr firstRow="1" bandRow="1">
                <a:tableStyleId>{9DCAF9ED-07DC-4A11-8D7F-57B35C25682E}</a:tableStyleId>
              </a:tblPr>
              <a:tblGrid>
                <a:gridCol w="3168353">
                  <a:extLst>
                    <a:ext uri="{9D8B030D-6E8A-4147-A177-3AD203B41FA5}">
                      <a16:colId xmlns:a16="http://schemas.microsoft.com/office/drawing/2014/main" val="20000"/>
                    </a:ext>
                  </a:extLst>
                </a:gridCol>
                <a:gridCol w="3384376">
                  <a:extLst>
                    <a:ext uri="{9D8B030D-6E8A-4147-A177-3AD203B41FA5}">
                      <a16:colId xmlns:a16="http://schemas.microsoft.com/office/drawing/2014/main" val="20001"/>
                    </a:ext>
                  </a:extLst>
                </a:gridCol>
                <a:gridCol w="1008111">
                  <a:extLst>
                    <a:ext uri="{9D8B030D-6E8A-4147-A177-3AD203B41FA5}">
                      <a16:colId xmlns:a16="http://schemas.microsoft.com/office/drawing/2014/main" val="20002"/>
                    </a:ext>
                  </a:extLst>
                </a:gridCol>
              </a:tblGrid>
              <a:tr h="108012">
                <a:tc>
                  <a:txBody>
                    <a:bodyPr/>
                    <a:lstStyle/>
                    <a:p>
                      <a:pPr marL="0" algn="l" defTabSz="914400" rtl="0" eaLnBrk="1" latinLnBrk="0" hangingPunct="1">
                        <a:lnSpc>
                          <a:spcPct val="115000"/>
                        </a:lnSpc>
                        <a:spcAft>
                          <a:spcPts val="0"/>
                        </a:spcAft>
                      </a:pPr>
                      <a:r>
                        <a:rPr lang="en-GB" sz="1000" kern="1200" dirty="0"/>
                        <a:t>Rule</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t>Description</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a:t># Violations</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0"/>
                  </a:ext>
                </a:extLst>
              </a:tr>
              <a:tr h="108012">
                <a:tc>
                  <a:txBody>
                    <a:bodyPr/>
                    <a:lstStyle/>
                    <a:p>
                      <a:pPr marL="0" algn="l" defTabSz="914400" rtl="0" eaLnBrk="1" latinLnBrk="0" hangingPunct="1">
                        <a:lnSpc>
                          <a:spcPct val="115000"/>
                        </a:lnSpc>
                        <a:spcAft>
                          <a:spcPts val="0"/>
                        </a:spcAft>
                      </a:pPr>
                      <a:r>
                        <a:rPr lang="en-GB" sz="1000" kern="1200" dirty="0"/>
                        <a:t>Rule 1</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err="1"/>
                        <a:t>Desc</a:t>
                      </a:r>
                      <a:r>
                        <a:rPr lang="fr-FR" sz="1000" kern="1200" dirty="0"/>
                        <a:t> 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1</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08012">
                <a:tc>
                  <a:txBody>
                    <a:bodyPr/>
                    <a:lstStyle/>
                    <a:p>
                      <a:pPr marL="0" algn="l" defTabSz="914400" rtl="0" eaLnBrk="1" latinLnBrk="0" hangingPunct="1">
                        <a:lnSpc>
                          <a:spcPct val="115000"/>
                        </a:lnSpc>
                        <a:spcAft>
                          <a:spcPts val="0"/>
                        </a:spcAft>
                      </a:pPr>
                      <a:r>
                        <a:rPr lang="fr-FR" sz="1000" kern="1200" dirty="0" err="1"/>
                        <a:t>Rule</a:t>
                      </a:r>
                      <a:r>
                        <a:rPr lang="fr-FR" sz="1000" kern="1200" dirty="0"/>
                        <a:t> 2</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err="1"/>
                        <a:t>Desc</a:t>
                      </a:r>
                      <a:r>
                        <a:rPr lang="fr-FR" sz="1000" kern="1200" dirty="0"/>
                        <a:t>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2</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08012">
                <a:tc>
                  <a:txBody>
                    <a:bodyPr/>
                    <a:lstStyle/>
                    <a:p>
                      <a:pPr marL="0" algn="l" defTabSz="914400" rtl="0" eaLnBrk="1" latinLnBrk="0" hangingPunct="1">
                        <a:lnSpc>
                          <a:spcPct val="115000"/>
                        </a:lnSpc>
                        <a:spcAft>
                          <a:spcPts val="0"/>
                        </a:spcAft>
                      </a:pPr>
                      <a:r>
                        <a:rPr lang="fr-FR" sz="1000" kern="1200" dirty="0" err="1"/>
                        <a:t>Rule</a:t>
                      </a:r>
                      <a:r>
                        <a:rPr lang="fr-FR" sz="1000" kern="1200" dirty="0"/>
                        <a:t> 3</a:t>
                      </a:r>
                      <a:endParaRPr lang="fr-FR" sz="1000" kern="1200" dirty="0">
                        <a:solidFill>
                          <a:schemeClr val="dk1"/>
                        </a:solidFill>
                        <a:latin typeface="+mn-lt"/>
                        <a:ea typeface="+mn-ea"/>
                        <a:cs typeface="+mn-cs"/>
                      </a:endParaRPr>
                    </a:p>
                  </a:txBody>
                  <a:tcPr marL="68580" marR="68580" marT="0" marB="0"/>
                </a:tc>
                <a:tc>
                  <a:txBody>
                    <a:bodyPr/>
                    <a:lstStyle/>
                    <a:p>
                      <a:pPr marL="0" algn="l" defTabSz="914400" rtl="0" eaLnBrk="1" latinLnBrk="0" hangingPunct="1">
                        <a:lnSpc>
                          <a:spcPct val="115000"/>
                        </a:lnSpc>
                        <a:spcAft>
                          <a:spcPts val="0"/>
                        </a:spcAft>
                      </a:pPr>
                      <a:r>
                        <a:rPr lang="fr-FR" sz="1000" kern="1200" dirty="0" err="1"/>
                        <a:t>Desc</a:t>
                      </a:r>
                      <a:r>
                        <a:rPr lang="fr-FR" sz="1000" kern="1200" dirty="0"/>
                        <a:t>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3</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6C48606-C499-4224-B8FF-218BA6899E8A}"/>
              </a:ext>
            </a:extLst>
          </p:cNvPr>
          <p:cNvGrpSpPr/>
          <p:nvPr/>
        </p:nvGrpSpPr>
        <p:grpSpPr>
          <a:xfrm>
            <a:off x="1920294" y="1124744"/>
            <a:ext cx="8352170" cy="5184576"/>
            <a:chOff x="1920294" y="1268760"/>
            <a:chExt cx="8352170" cy="5184576"/>
          </a:xfrm>
        </p:grpSpPr>
        <p:sp>
          <p:nvSpPr>
            <p:cNvPr id="12" name="Rounded Rectangle 11"/>
            <p:cNvSpPr/>
            <p:nvPr/>
          </p:nvSpPr>
          <p:spPr>
            <a:xfrm>
              <a:off x="2017182" y="1268760"/>
              <a:ext cx="8157600" cy="5184576"/>
            </a:xfrm>
            <a:prstGeom prst="roundRect">
              <a:avLst>
                <a:gd name="adj" fmla="val 2388"/>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20294" y="1360972"/>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Top </a:t>
              </a:r>
              <a:r>
                <a:rPr lang="en-US" sz="1600" dirty="0"/>
                <a:t>Riskiest</a:t>
              </a:r>
              <a:r>
                <a:rPr lang="fr-FR" sz="1600" dirty="0"/>
                <a:t> Transactions</a:t>
              </a:r>
            </a:p>
          </p:txBody>
        </p:sp>
        <p:sp>
          <p:nvSpPr>
            <p:cNvPr id="14" name="TextBox 13"/>
            <p:cNvSpPr txBox="1"/>
            <p:nvPr/>
          </p:nvSpPr>
          <p:spPr>
            <a:xfrm>
              <a:off x="3641930" y="1786464"/>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TOP_RISKIEST_TRANSACTIONS</a:t>
              </a:r>
            </a:p>
          </p:txBody>
        </p:sp>
        <p:sp>
          <p:nvSpPr>
            <p:cNvPr id="15" name="TextBox 14"/>
            <p:cNvSpPr txBox="1"/>
            <p:nvPr/>
          </p:nvSpPr>
          <p:spPr>
            <a:xfrm>
              <a:off x="2194766" y="177281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1930" y="2166536"/>
              <a:ext cx="6630534" cy="800219"/>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dirty="0"/>
                <a:t>SRC=PERF|ROB|SEC (by default SRC=PERF)</a:t>
              </a:r>
            </a:p>
            <a:p>
              <a:r>
                <a:rPr lang="en-US" sz="1100" dirty="0"/>
                <a:t>Indicates the transaction type where top riskiest transactions will be searched</a:t>
              </a:r>
              <a:endParaRPr lang="en-US" sz="1200" dirty="0"/>
            </a:p>
            <a:p>
              <a:r>
                <a:rPr lang="en-US" sz="1200" dirty="0"/>
                <a:t>COUNT=N (by default COUNT=10)</a:t>
              </a:r>
            </a:p>
            <a:p>
              <a:r>
                <a:rPr lang="en-US" sz="1100" dirty="0"/>
                <a:t>where N indicates the top N number (default value = 10)</a:t>
              </a:r>
            </a:p>
          </p:txBody>
        </p:sp>
        <p:sp>
          <p:nvSpPr>
            <p:cNvPr id="17" name="TextBox 16"/>
            <p:cNvSpPr txBox="1"/>
            <p:nvPr/>
          </p:nvSpPr>
          <p:spPr>
            <a:xfrm>
              <a:off x="2611548" y="2135847"/>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0" name="TextBox 9">
              <a:extLst>
                <a:ext uri="{FF2B5EF4-FFF2-40B4-BE49-F238E27FC236}">
                  <a16:creationId xmlns:a16="http://schemas.microsoft.com/office/drawing/2014/main" id="{A8AE1388-9792-463E-97E4-BA7030AA2A20}"/>
                </a:ext>
              </a:extLst>
            </p:cNvPr>
            <p:cNvSpPr txBox="1"/>
            <p:nvPr/>
          </p:nvSpPr>
          <p:spPr>
            <a:xfrm>
              <a:off x="3071664" y="3247096"/>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1" name="TextBox 10">
              <a:extLst>
                <a:ext uri="{FF2B5EF4-FFF2-40B4-BE49-F238E27FC236}">
                  <a16:creationId xmlns:a16="http://schemas.microsoft.com/office/drawing/2014/main" id="{B7607569-0377-4986-8297-82F6A6ABA6AC}"/>
                </a:ext>
              </a:extLst>
            </p:cNvPr>
            <p:cNvSpPr txBox="1"/>
            <p:nvPr/>
          </p:nvSpPr>
          <p:spPr>
            <a:xfrm>
              <a:off x="2514067" y="3212976"/>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24" name="Title 1"/>
          <p:cNvSpPr>
            <a:spLocks noGrp="1"/>
          </p:cNvSpPr>
          <p:nvPr>
            <p:ph type="title"/>
          </p:nvPr>
        </p:nvSpPr>
        <p:spPr/>
        <p:txBody>
          <a:bodyPr>
            <a:normAutofit/>
          </a:bodyPr>
          <a:lstStyle/>
          <a:p>
            <a:r>
              <a:rPr lang="fr-FR" dirty="0"/>
              <a:t>PowerPoint Templates – Tables</a:t>
            </a:r>
          </a:p>
        </p:txBody>
      </p:sp>
      <p:graphicFrame>
        <p:nvGraphicFramePr>
          <p:cNvPr id="18" name="Table 17" descr="TABLE;TOP_RISKIEST_TRANSACTIONS;COUNT=10,SRC=PERF"/>
          <p:cNvGraphicFramePr>
            <a:graphicFrameLocks noGrp="1"/>
          </p:cNvGraphicFramePr>
          <p:nvPr>
            <p:extLst>
              <p:ext uri="{D42A27DB-BD31-4B8C-83A1-F6EECF244321}">
                <p14:modId xmlns:p14="http://schemas.microsoft.com/office/powerpoint/2010/main" val="2583543688"/>
              </p:ext>
            </p:extLst>
          </p:nvPr>
        </p:nvGraphicFramePr>
        <p:xfrm>
          <a:off x="2711625" y="3573016"/>
          <a:ext cx="6768753" cy="1866518"/>
        </p:xfrm>
        <a:graphic>
          <a:graphicData uri="http://schemas.openxmlformats.org/drawingml/2006/table">
            <a:tbl>
              <a:tblPr firstRow="1" bandRow="1">
                <a:tableStyleId>{9DCAF9ED-07DC-4A11-8D7F-57B35C25682E}</a:tableStyleId>
              </a:tblPr>
              <a:tblGrid>
                <a:gridCol w="5472609">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tblGrid>
              <a:tr h="247268">
                <a:tc>
                  <a:txBody>
                    <a:bodyPr/>
                    <a:lstStyle/>
                    <a:p>
                      <a:pPr marL="0" algn="l" defTabSz="914400" rtl="0" eaLnBrk="1" latinLnBrk="0" hangingPunct="1">
                        <a:lnSpc>
                          <a:spcPct val="115000"/>
                        </a:lnSpc>
                        <a:spcAft>
                          <a:spcPts val="0"/>
                        </a:spcAft>
                      </a:pPr>
                      <a:r>
                        <a:rPr lang="en-GB" sz="1000" kern="1200" dirty="0"/>
                        <a:t>Artefact Name</a:t>
                      </a:r>
                      <a:endParaRPr lang="fr-FR" sz="1000" b="1" kern="1200" dirty="0">
                        <a:solidFill>
                          <a:schemeClr val="accent2">
                            <a:lumMod val="75000"/>
                          </a:schemeClr>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TRI</a:t>
                      </a:r>
                      <a:endParaRPr lang="fr-FR" sz="1000" b="1" kern="1200" dirty="0">
                        <a:solidFill>
                          <a:schemeClr val="accent2">
                            <a:lumMod val="75000"/>
                          </a:schemeClr>
                        </a:solidFill>
                        <a:latin typeface="+mn-lt"/>
                        <a:ea typeface="+mn-ea"/>
                        <a:cs typeface="+mn-cs"/>
                      </a:endParaRPr>
                    </a:p>
                  </a:txBody>
                  <a:tcPr marL="68580" marR="68580" marT="0" marB="0" anchor="ctr"/>
                </a:tc>
                <a:extLst>
                  <a:ext uri="{0D108BD9-81ED-4DB2-BD59-A6C34878D82A}">
                    <a16:rowId xmlns:a16="http://schemas.microsoft.com/office/drawing/2014/main" val="10000"/>
                  </a:ext>
                </a:extLst>
              </a:tr>
              <a:tr h="108012">
                <a:tc>
                  <a:txBody>
                    <a:bodyPr/>
                    <a:lstStyle/>
                    <a:p>
                      <a:pPr marL="0" algn="l" defTabSz="914400" rtl="0" eaLnBrk="1" latinLnBrk="0" hangingPunct="1">
                        <a:lnSpc>
                          <a:spcPct val="115000"/>
                        </a:lnSpc>
                        <a:spcAft>
                          <a:spcPts val="0"/>
                        </a:spcAft>
                      </a:pPr>
                      <a:r>
                        <a:rPr lang="en-GB" sz="1000" kern="1200" dirty="0"/>
                        <a:t>Artefact 1</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TRI 1</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08012">
                <a:tc>
                  <a:txBody>
                    <a:bodyPr/>
                    <a:lstStyle/>
                    <a:p>
                      <a:pPr marL="0" algn="l" defTabSz="914400" rtl="0" eaLnBrk="1" latinLnBrk="0" hangingPunct="1">
                        <a:lnSpc>
                          <a:spcPct val="115000"/>
                        </a:lnSpc>
                        <a:spcAft>
                          <a:spcPts val="0"/>
                        </a:spcAft>
                      </a:pPr>
                      <a:r>
                        <a:rPr lang="en-GB" sz="1000" kern="1200" dirty="0"/>
                        <a:t>Artefact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TRI 2</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08012">
                <a:tc>
                  <a:txBody>
                    <a:bodyPr/>
                    <a:lstStyle/>
                    <a:p>
                      <a:pPr marL="0" algn="l" defTabSz="914400" rtl="0" eaLnBrk="1" latinLnBrk="0" hangingPunct="1">
                        <a:lnSpc>
                          <a:spcPct val="115000"/>
                        </a:lnSpc>
                        <a:spcAft>
                          <a:spcPts val="0"/>
                        </a:spcAft>
                      </a:pPr>
                      <a:r>
                        <a:rPr lang="en-GB" sz="1000" kern="1200" dirty="0"/>
                        <a:t>Artefact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TRI 3</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08012">
                <a:tc>
                  <a:txBody>
                    <a:bodyPr/>
                    <a:lstStyle/>
                    <a:p>
                      <a:pPr marL="0" algn="l" defTabSz="914400" rtl="0" eaLnBrk="1" latinLnBrk="0" hangingPunct="1">
                        <a:lnSpc>
                          <a:spcPct val="115000"/>
                        </a:lnSpc>
                        <a:spcAft>
                          <a:spcPts val="0"/>
                        </a:spcAft>
                      </a:pPr>
                      <a:r>
                        <a:rPr lang="en-GB" sz="1000" kern="1200" dirty="0"/>
                        <a:t>Artefact 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TRI 4</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08012">
                <a:tc>
                  <a:txBody>
                    <a:bodyPr/>
                    <a:lstStyle/>
                    <a:p>
                      <a:pPr marL="0" algn="l" defTabSz="914400" rtl="0" eaLnBrk="1" latinLnBrk="0" hangingPunct="1">
                        <a:lnSpc>
                          <a:spcPct val="115000"/>
                        </a:lnSpc>
                        <a:spcAft>
                          <a:spcPts val="0"/>
                        </a:spcAft>
                      </a:pPr>
                      <a:r>
                        <a:rPr lang="en-GB" sz="1000" kern="1200" dirty="0"/>
                        <a:t>Artefact 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TRI 5</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08012">
                <a:tc>
                  <a:txBody>
                    <a:bodyPr/>
                    <a:lstStyle/>
                    <a:p>
                      <a:pPr marL="0" algn="l" defTabSz="914400" rtl="0" eaLnBrk="1" latinLnBrk="0" hangingPunct="1">
                        <a:lnSpc>
                          <a:spcPct val="115000"/>
                        </a:lnSpc>
                        <a:spcAft>
                          <a:spcPts val="0"/>
                        </a:spcAft>
                      </a:pPr>
                      <a:r>
                        <a:rPr lang="en-GB" sz="1000" kern="1200" dirty="0"/>
                        <a:t>Artefact 6</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TRI 6</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08012">
                <a:tc>
                  <a:txBody>
                    <a:bodyPr/>
                    <a:lstStyle/>
                    <a:p>
                      <a:pPr marL="0" algn="l" defTabSz="914400" rtl="0" eaLnBrk="1" latinLnBrk="0" hangingPunct="1">
                        <a:lnSpc>
                          <a:spcPct val="115000"/>
                        </a:lnSpc>
                        <a:spcAft>
                          <a:spcPts val="0"/>
                        </a:spcAft>
                      </a:pPr>
                      <a:r>
                        <a:rPr lang="en-GB" sz="1000" kern="1200" dirty="0"/>
                        <a:t>Artefact 7</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TRI 7</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08012">
                <a:tc>
                  <a:txBody>
                    <a:bodyPr/>
                    <a:lstStyle/>
                    <a:p>
                      <a:pPr marL="0" algn="l" defTabSz="914400" rtl="0" eaLnBrk="1" latinLnBrk="0" hangingPunct="1">
                        <a:lnSpc>
                          <a:spcPct val="115000"/>
                        </a:lnSpc>
                        <a:spcAft>
                          <a:spcPts val="0"/>
                        </a:spcAft>
                      </a:pPr>
                      <a:r>
                        <a:rPr lang="en-GB" sz="1000" kern="1200" dirty="0"/>
                        <a:t>Artefact 8</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TRI 8</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108012">
                <a:tc>
                  <a:txBody>
                    <a:bodyPr/>
                    <a:lstStyle/>
                    <a:p>
                      <a:pPr marL="0" algn="l" defTabSz="914400" rtl="0" eaLnBrk="1" latinLnBrk="0" hangingPunct="1">
                        <a:lnSpc>
                          <a:spcPct val="115000"/>
                        </a:lnSpc>
                        <a:spcAft>
                          <a:spcPts val="0"/>
                        </a:spcAft>
                      </a:pPr>
                      <a:r>
                        <a:rPr lang="en-GB" sz="1000" kern="1200" dirty="0"/>
                        <a:t>Artefact 9</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TRI 9</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108012">
                <a:tc>
                  <a:txBody>
                    <a:bodyPr/>
                    <a:lstStyle/>
                    <a:p>
                      <a:pPr marL="0" algn="l" defTabSz="914400" rtl="0" eaLnBrk="1" latinLnBrk="0" hangingPunct="1">
                        <a:lnSpc>
                          <a:spcPct val="115000"/>
                        </a:lnSpc>
                        <a:spcAft>
                          <a:spcPts val="0"/>
                        </a:spcAft>
                      </a:pPr>
                      <a:r>
                        <a:rPr lang="en-GB" sz="1000" kern="1200" dirty="0"/>
                        <a:t>Artefact 10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TRI 10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F0197AF-564C-4F05-9B91-0134DE344002}"/>
              </a:ext>
            </a:extLst>
          </p:cNvPr>
          <p:cNvGrpSpPr/>
          <p:nvPr/>
        </p:nvGrpSpPr>
        <p:grpSpPr>
          <a:xfrm>
            <a:off x="1892240" y="1290246"/>
            <a:ext cx="8349160" cy="4608512"/>
            <a:chOff x="1892240" y="980728"/>
            <a:chExt cx="8349160" cy="4608512"/>
          </a:xfrm>
        </p:grpSpPr>
        <p:sp>
          <p:nvSpPr>
            <p:cNvPr id="12" name="Rounded Rectangle 11"/>
            <p:cNvSpPr/>
            <p:nvPr/>
          </p:nvSpPr>
          <p:spPr>
            <a:xfrm>
              <a:off x="2003534" y="980728"/>
              <a:ext cx="8224218" cy="4608512"/>
            </a:xfrm>
            <a:prstGeom prst="roundRect">
              <a:avLst>
                <a:gd name="adj" fmla="val 2388"/>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892240"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Top Riskiest Components</a:t>
              </a:r>
            </a:p>
          </p:txBody>
        </p:sp>
        <p:sp>
          <p:nvSpPr>
            <p:cNvPr id="14" name="TextBox 13"/>
            <p:cNvSpPr txBox="1"/>
            <p:nvPr/>
          </p:nvSpPr>
          <p:spPr>
            <a:xfrm>
              <a:off x="3610866" y="145748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TOP_RISKIEST_COMPONENTS</a:t>
              </a:r>
            </a:p>
          </p:txBody>
        </p:sp>
        <p:sp>
          <p:nvSpPr>
            <p:cNvPr id="15" name="TextBox 14"/>
            <p:cNvSpPr txBox="1"/>
            <p:nvPr/>
          </p:nvSpPr>
          <p:spPr>
            <a:xfrm>
              <a:off x="2163702" y="145748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10866" y="1835444"/>
              <a:ext cx="6630534" cy="1277273"/>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100" dirty="0"/>
                <a:t>SRC=PERF|ROB|SEC</a:t>
              </a:r>
            </a:p>
            <a:p>
              <a:r>
                <a:rPr lang="en-US" sz="1100" dirty="0"/>
                <a:t>(by default SRC=PERF) indicates the searched business criterion type</a:t>
              </a:r>
            </a:p>
            <a:p>
              <a:r>
                <a:rPr lang="en-US" sz="1100" dirty="0"/>
                <a:t>MOD=N (by default MOD is null)</a:t>
              </a:r>
            </a:p>
            <a:p>
              <a:r>
                <a:rPr lang="en-US" sz="1100" dirty="0"/>
                <a:t>where N indicates that the searched result will be applied on the module identified by this id and on the entire snapshot if this value isn’t indicated</a:t>
              </a:r>
            </a:p>
            <a:p>
              <a:r>
                <a:rPr lang="en-US" sz="1100" dirty="0"/>
                <a:t>COUNT=N (by default COUNT=5)</a:t>
              </a:r>
            </a:p>
            <a:p>
              <a:r>
                <a:rPr lang="en-US" sz="1100" dirty="0"/>
                <a:t>where N indicates the top N number (default value = 10)</a:t>
              </a:r>
            </a:p>
          </p:txBody>
        </p:sp>
        <p:sp>
          <p:nvSpPr>
            <p:cNvPr id="17" name="TextBox 16"/>
            <p:cNvSpPr txBox="1"/>
            <p:nvPr/>
          </p:nvSpPr>
          <p:spPr>
            <a:xfrm>
              <a:off x="2580484" y="180475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0" name="TextBox 9">
              <a:extLst>
                <a:ext uri="{FF2B5EF4-FFF2-40B4-BE49-F238E27FC236}">
                  <a16:creationId xmlns:a16="http://schemas.microsoft.com/office/drawing/2014/main" id="{8ADD936D-EE52-413E-BB40-BE781A3C9B91}"/>
                </a:ext>
              </a:extLst>
            </p:cNvPr>
            <p:cNvSpPr txBox="1"/>
            <p:nvPr/>
          </p:nvSpPr>
          <p:spPr>
            <a:xfrm>
              <a:off x="3071664" y="3628622"/>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1" name="TextBox 10">
              <a:extLst>
                <a:ext uri="{FF2B5EF4-FFF2-40B4-BE49-F238E27FC236}">
                  <a16:creationId xmlns:a16="http://schemas.microsoft.com/office/drawing/2014/main" id="{E313140F-3694-463B-9B7B-E89FCB2603D4}"/>
                </a:ext>
              </a:extLst>
            </p:cNvPr>
            <p:cNvSpPr txBox="1"/>
            <p:nvPr/>
          </p:nvSpPr>
          <p:spPr>
            <a:xfrm>
              <a:off x="2514067" y="3594502"/>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24" name="Title 1"/>
          <p:cNvSpPr>
            <a:spLocks noGrp="1"/>
          </p:cNvSpPr>
          <p:nvPr>
            <p:ph type="title"/>
          </p:nvPr>
        </p:nvSpPr>
        <p:spPr/>
        <p:txBody>
          <a:bodyPr>
            <a:noAutofit/>
          </a:bodyPr>
          <a:lstStyle/>
          <a:p>
            <a:pPr algn="l"/>
            <a:r>
              <a:rPr lang="fr-FR" dirty="0"/>
              <a:t>PowerPoint Templates – Tables</a:t>
            </a:r>
          </a:p>
        </p:txBody>
      </p:sp>
      <p:graphicFrame>
        <p:nvGraphicFramePr>
          <p:cNvPr id="18" name="Table 17" descr="TABLE;TOP_RISKIEST_COMPONENTS;COUNT=5,SRC=PERF"/>
          <p:cNvGraphicFramePr>
            <a:graphicFrameLocks noGrp="1"/>
          </p:cNvGraphicFramePr>
          <p:nvPr>
            <p:extLst>
              <p:ext uri="{D42A27DB-BD31-4B8C-83A1-F6EECF244321}">
                <p14:modId xmlns:p14="http://schemas.microsoft.com/office/powerpoint/2010/main" val="3933852896"/>
              </p:ext>
            </p:extLst>
          </p:nvPr>
        </p:nvGraphicFramePr>
        <p:xfrm>
          <a:off x="2711625" y="4458598"/>
          <a:ext cx="6768753" cy="1025649"/>
        </p:xfrm>
        <a:graphic>
          <a:graphicData uri="http://schemas.openxmlformats.org/drawingml/2006/table">
            <a:tbl>
              <a:tblPr firstRow="1" bandRow="1">
                <a:tableStyleId>{9DCAF9ED-07DC-4A11-8D7F-57B35C25682E}</a:tableStyleId>
              </a:tblPr>
              <a:tblGrid>
                <a:gridCol w="5472609">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tblGrid>
              <a:tr h="216024">
                <a:tc>
                  <a:txBody>
                    <a:bodyPr/>
                    <a:lstStyle/>
                    <a:p>
                      <a:pPr marL="0" algn="l" defTabSz="914400" rtl="0" eaLnBrk="1" latinLnBrk="0" hangingPunct="1">
                        <a:lnSpc>
                          <a:spcPct val="115000"/>
                        </a:lnSpc>
                        <a:spcAft>
                          <a:spcPts val="0"/>
                        </a:spcAft>
                      </a:pPr>
                      <a:r>
                        <a:rPr lang="en-GB" sz="1000" kern="1200" dirty="0"/>
                        <a:t>Artefact Name</a:t>
                      </a:r>
                      <a:endParaRPr lang="fr-FR" sz="1000" b="1" kern="1200" dirty="0">
                        <a:solidFill>
                          <a:schemeClr val="accent2">
                            <a:lumMod val="75000"/>
                          </a:schemeClr>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PRI</a:t>
                      </a:r>
                      <a:endParaRPr lang="fr-FR" sz="1000" b="1" kern="1200" dirty="0">
                        <a:solidFill>
                          <a:schemeClr val="accent2">
                            <a:lumMod val="75000"/>
                          </a:schemeClr>
                        </a:solidFill>
                        <a:latin typeface="+mn-lt"/>
                        <a:ea typeface="+mn-ea"/>
                        <a:cs typeface="+mn-cs"/>
                      </a:endParaRPr>
                    </a:p>
                  </a:txBody>
                  <a:tcPr marL="68580" marR="68580" marT="0" marB="0" anchor="ctr"/>
                </a:tc>
                <a:extLst>
                  <a:ext uri="{0D108BD9-81ED-4DB2-BD59-A6C34878D82A}">
                    <a16:rowId xmlns:a16="http://schemas.microsoft.com/office/drawing/2014/main" val="10000"/>
                  </a:ext>
                </a:extLst>
              </a:tr>
              <a:tr h="108012">
                <a:tc>
                  <a:txBody>
                    <a:bodyPr/>
                    <a:lstStyle/>
                    <a:p>
                      <a:pPr marL="0" algn="l" defTabSz="914400" rtl="0" eaLnBrk="1" latinLnBrk="0" hangingPunct="1">
                        <a:lnSpc>
                          <a:spcPct val="115000"/>
                        </a:lnSpc>
                        <a:spcAft>
                          <a:spcPts val="0"/>
                        </a:spcAft>
                      </a:pPr>
                      <a:r>
                        <a:rPr lang="en-GB" sz="1000" kern="1200" dirty="0"/>
                        <a:t>Artefact 1</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PRI 1</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08012">
                <a:tc>
                  <a:txBody>
                    <a:bodyPr/>
                    <a:lstStyle/>
                    <a:p>
                      <a:pPr marL="0" algn="l" defTabSz="914400" rtl="0" eaLnBrk="1" latinLnBrk="0" hangingPunct="1">
                        <a:lnSpc>
                          <a:spcPct val="115000"/>
                        </a:lnSpc>
                        <a:spcAft>
                          <a:spcPts val="0"/>
                        </a:spcAft>
                      </a:pPr>
                      <a:r>
                        <a:rPr lang="en-GB" sz="1000" kern="1200" dirty="0"/>
                        <a:t>Artefact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PRI 2</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08012">
                <a:tc>
                  <a:txBody>
                    <a:bodyPr/>
                    <a:lstStyle/>
                    <a:p>
                      <a:pPr marL="0" algn="l" defTabSz="914400" rtl="0" eaLnBrk="1" latinLnBrk="0" hangingPunct="1">
                        <a:lnSpc>
                          <a:spcPct val="115000"/>
                        </a:lnSpc>
                        <a:spcAft>
                          <a:spcPts val="0"/>
                        </a:spcAft>
                      </a:pPr>
                      <a:r>
                        <a:rPr lang="en-GB" sz="1000" kern="1200" dirty="0"/>
                        <a:t>Artefact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PRI 3</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08012">
                <a:tc>
                  <a:txBody>
                    <a:bodyPr/>
                    <a:lstStyle/>
                    <a:p>
                      <a:pPr marL="0" algn="l" defTabSz="914400" rtl="0" eaLnBrk="1" latinLnBrk="0" hangingPunct="1">
                        <a:lnSpc>
                          <a:spcPct val="115000"/>
                        </a:lnSpc>
                        <a:spcAft>
                          <a:spcPts val="0"/>
                        </a:spcAft>
                      </a:pPr>
                      <a:r>
                        <a:rPr lang="en-GB" sz="1000" kern="1200" dirty="0"/>
                        <a:t>Artefact 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PRI 4</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08012">
                <a:tc>
                  <a:txBody>
                    <a:bodyPr/>
                    <a:lstStyle/>
                    <a:p>
                      <a:pPr marL="0" algn="l" defTabSz="914400" rtl="0" eaLnBrk="1" latinLnBrk="0" hangingPunct="1">
                        <a:lnSpc>
                          <a:spcPct val="115000"/>
                        </a:lnSpc>
                        <a:spcAft>
                          <a:spcPts val="0"/>
                        </a:spcAft>
                      </a:pPr>
                      <a:r>
                        <a:rPr lang="en-GB" sz="1000" kern="1200" dirty="0"/>
                        <a:t>Artefact 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PRI 5</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C436E4F-5AC0-4ECD-AB86-4A30F940F853}"/>
              </a:ext>
            </a:extLst>
          </p:cNvPr>
          <p:cNvGrpSpPr/>
          <p:nvPr/>
        </p:nvGrpSpPr>
        <p:grpSpPr>
          <a:xfrm>
            <a:off x="1964248" y="1196752"/>
            <a:ext cx="8399984" cy="4729263"/>
            <a:chOff x="1964248" y="1196752"/>
            <a:chExt cx="8399984" cy="4729263"/>
          </a:xfrm>
        </p:grpSpPr>
        <p:sp>
          <p:nvSpPr>
            <p:cNvPr id="12" name="Rounded Rectangle 11"/>
            <p:cNvSpPr/>
            <p:nvPr/>
          </p:nvSpPr>
          <p:spPr>
            <a:xfrm>
              <a:off x="2017182" y="1196752"/>
              <a:ext cx="8157600" cy="4729263"/>
            </a:xfrm>
            <a:prstGeom prst="roundRect">
              <a:avLst>
                <a:gd name="adj" fmla="val 1013"/>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64248" y="123769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Action Plans</a:t>
              </a:r>
            </a:p>
          </p:txBody>
        </p:sp>
        <p:sp>
          <p:nvSpPr>
            <p:cNvPr id="14" name="TextBox 13"/>
            <p:cNvSpPr txBox="1"/>
            <p:nvPr/>
          </p:nvSpPr>
          <p:spPr>
            <a:xfrm>
              <a:off x="3713938" y="165609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ACTION_PLANS</a:t>
              </a:r>
            </a:p>
          </p:txBody>
        </p:sp>
        <p:sp>
          <p:nvSpPr>
            <p:cNvPr id="15" name="TextBox 14"/>
            <p:cNvSpPr txBox="1"/>
            <p:nvPr/>
          </p:nvSpPr>
          <p:spPr>
            <a:xfrm>
              <a:off x="2193356" y="1628800"/>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733698" y="2043057"/>
              <a:ext cx="6630534" cy="30777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400" dirty="0"/>
                <a:t>none</a:t>
              </a:r>
            </a:p>
          </p:txBody>
        </p:sp>
        <p:sp>
          <p:nvSpPr>
            <p:cNvPr id="17" name="TextBox 16"/>
            <p:cNvSpPr txBox="1"/>
            <p:nvPr/>
          </p:nvSpPr>
          <p:spPr>
            <a:xfrm>
              <a:off x="2607780" y="202601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0" name="TextBox 9">
              <a:extLst>
                <a:ext uri="{FF2B5EF4-FFF2-40B4-BE49-F238E27FC236}">
                  <a16:creationId xmlns:a16="http://schemas.microsoft.com/office/drawing/2014/main" id="{20E43597-F58A-43A8-B6C0-CCFD4CC59B74}"/>
                </a:ext>
              </a:extLst>
            </p:cNvPr>
            <p:cNvSpPr txBox="1"/>
            <p:nvPr/>
          </p:nvSpPr>
          <p:spPr>
            <a:xfrm>
              <a:off x="3071664" y="2815048"/>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1" name="TextBox 10">
              <a:extLst>
                <a:ext uri="{FF2B5EF4-FFF2-40B4-BE49-F238E27FC236}">
                  <a16:creationId xmlns:a16="http://schemas.microsoft.com/office/drawing/2014/main" id="{E5A1225B-ED8E-433B-90C6-DD7ABE6D71FB}"/>
                </a:ext>
              </a:extLst>
            </p:cNvPr>
            <p:cNvSpPr txBox="1"/>
            <p:nvPr/>
          </p:nvSpPr>
          <p:spPr>
            <a:xfrm>
              <a:off x="2514067" y="2780928"/>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24" name="Title 1"/>
          <p:cNvSpPr>
            <a:spLocks noGrp="1"/>
          </p:cNvSpPr>
          <p:nvPr>
            <p:ph type="title"/>
          </p:nvPr>
        </p:nvSpPr>
        <p:spPr/>
        <p:txBody>
          <a:bodyPr>
            <a:normAutofit/>
          </a:bodyPr>
          <a:lstStyle/>
          <a:p>
            <a:r>
              <a:rPr lang="fr-FR" dirty="0"/>
              <a:t>PowerPoint Templates – Tables</a:t>
            </a:r>
          </a:p>
        </p:txBody>
      </p:sp>
      <p:graphicFrame>
        <p:nvGraphicFramePr>
          <p:cNvPr id="18" name="Table 17" descr="TABLE;ACTION_PLANS"/>
          <p:cNvGraphicFramePr>
            <a:graphicFrameLocks noGrp="1"/>
          </p:cNvGraphicFramePr>
          <p:nvPr>
            <p:extLst>
              <p:ext uri="{D42A27DB-BD31-4B8C-83A1-F6EECF244321}">
                <p14:modId xmlns:p14="http://schemas.microsoft.com/office/powerpoint/2010/main" val="276043103"/>
              </p:ext>
            </p:extLst>
          </p:nvPr>
        </p:nvGraphicFramePr>
        <p:xfrm>
          <a:off x="2783651" y="3486120"/>
          <a:ext cx="6768753" cy="1956435"/>
        </p:xfrm>
        <a:graphic>
          <a:graphicData uri="http://schemas.openxmlformats.org/drawingml/2006/table">
            <a:tbl>
              <a:tblPr firstRow="1" bandRow="1">
                <a:tableStyleId>{9DCAF9ED-07DC-4A11-8D7F-57B35C25682E}</a:tableStyleId>
              </a:tblPr>
              <a:tblGrid>
                <a:gridCol w="46085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080121">
                  <a:extLst>
                    <a:ext uri="{9D8B030D-6E8A-4147-A177-3AD203B41FA5}">
                      <a16:colId xmlns:a16="http://schemas.microsoft.com/office/drawing/2014/main" val="20002"/>
                    </a:ext>
                  </a:extLst>
                </a:gridCol>
              </a:tblGrid>
              <a:tr h="108012">
                <a:tc>
                  <a:txBody>
                    <a:bodyPr/>
                    <a:lstStyle/>
                    <a:p>
                      <a:pPr marL="0" algn="l" defTabSz="914400" rtl="0" eaLnBrk="1" latinLnBrk="0" hangingPunct="1">
                        <a:lnSpc>
                          <a:spcPct val="115000"/>
                        </a:lnSpc>
                        <a:spcAft>
                          <a:spcPts val="0"/>
                        </a:spcAft>
                      </a:pPr>
                      <a:r>
                        <a:rPr lang="en-GB" sz="1000" kern="1200" dirty="0"/>
                        <a:t>Rule</a:t>
                      </a:r>
                      <a:endParaRPr lang="fr-FR" sz="1000" b="1" kern="1200" dirty="0">
                        <a:solidFill>
                          <a:schemeClr val="accent2">
                            <a:lumMod val="75000"/>
                          </a:schemeClr>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err="1"/>
                        <a:t>Still</a:t>
                      </a:r>
                      <a:r>
                        <a:rPr lang="fr-FR" sz="1000" kern="1200" dirty="0"/>
                        <a:t> Violation </a:t>
                      </a:r>
                      <a:r>
                        <a:rPr lang="fr-FR" sz="1000" kern="1200" baseline="0" dirty="0"/>
                        <a:t>(#)</a:t>
                      </a:r>
                      <a:endParaRPr lang="fr-FR" sz="1000" b="1" kern="1200" dirty="0">
                        <a:solidFill>
                          <a:schemeClr val="accent2">
                            <a:lumMod val="75000"/>
                          </a:schemeClr>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New Violation</a:t>
                      </a:r>
                      <a:r>
                        <a:rPr lang="fr-FR" sz="1000" kern="1200" baseline="0" dirty="0"/>
                        <a:t> (#)</a:t>
                      </a:r>
                      <a:endParaRPr lang="fr-FR" sz="1000" b="1" kern="1200" dirty="0">
                        <a:solidFill>
                          <a:schemeClr val="accent2">
                            <a:lumMod val="75000"/>
                          </a:schemeClr>
                        </a:solidFill>
                        <a:latin typeface="+mn-lt"/>
                        <a:ea typeface="+mn-ea"/>
                        <a:cs typeface="+mn-cs"/>
                      </a:endParaRPr>
                    </a:p>
                  </a:txBody>
                  <a:tcPr marL="68580" marR="68580" marT="0" marB="0" anchor="ctr"/>
                </a:tc>
                <a:extLst>
                  <a:ext uri="{0D108BD9-81ED-4DB2-BD59-A6C34878D82A}">
                    <a16:rowId xmlns:a16="http://schemas.microsoft.com/office/drawing/2014/main" val="10000"/>
                  </a:ext>
                </a:extLst>
              </a:tr>
              <a:tr h="108012">
                <a:tc>
                  <a:txBody>
                    <a:bodyPr/>
                    <a:lstStyle/>
                    <a:p>
                      <a:pPr marL="0" algn="l" defTabSz="914400" rtl="0" eaLnBrk="1" latinLnBrk="0" hangingPunct="1">
                        <a:lnSpc>
                          <a:spcPct val="115000"/>
                        </a:lnSpc>
                        <a:spcAft>
                          <a:spcPts val="0"/>
                        </a:spcAft>
                      </a:pPr>
                      <a:r>
                        <a:rPr lang="en-GB" sz="1000" kern="1200" dirty="0"/>
                        <a:t>Rule 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1</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1</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08012">
                <a:tc>
                  <a:txBody>
                    <a:bodyPr/>
                    <a:lstStyle/>
                    <a:p>
                      <a:pPr marL="0" algn="l" defTabSz="914400" rtl="0" eaLnBrk="1" latinLnBrk="0" hangingPunct="1">
                        <a:lnSpc>
                          <a:spcPct val="115000"/>
                        </a:lnSpc>
                        <a:spcAft>
                          <a:spcPts val="0"/>
                        </a:spcAft>
                      </a:pPr>
                      <a:r>
                        <a:rPr lang="en-GB" sz="1000" kern="1200" dirty="0"/>
                        <a:t>Rule 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2</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08012">
                <a:tc>
                  <a:txBody>
                    <a:bodyPr/>
                    <a:lstStyle/>
                    <a:p>
                      <a:pPr marL="0" algn="l" defTabSz="914400" rtl="0" eaLnBrk="1" latinLnBrk="0" hangingPunct="1">
                        <a:lnSpc>
                          <a:spcPct val="115000"/>
                        </a:lnSpc>
                        <a:spcAft>
                          <a:spcPts val="0"/>
                        </a:spcAft>
                      </a:pPr>
                      <a:r>
                        <a:rPr lang="en-GB" sz="1000" kern="1200" dirty="0"/>
                        <a:t>Rule 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3</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3</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08012">
                <a:tc>
                  <a:txBody>
                    <a:bodyPr/>
                    <a:lstStyle/>
                    <a:p>
                      <a:pPr marL="0" algn="l" defTabSz="914400" rtl="0" eaLnBrk="1" latinLnBrk="0" hangingPunct="1">
                        <a:lnSpc>
                          <a:spcPct val="115000"/>
                        </a:lnSpc>
                        <a:spcAft>
                          <a:spcPts val="0"/>
                        </a:spcAft>
                      </a:pPr>
                      <a:r>
                        <a:rPr lang="en-GB" sz="1000" kern="1200" dirty="0"/>
                        <a:t>Rule 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4</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4</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08012">
                <a:tc>
                  <a:txBody>
                    <a:bodyPr/>
                    <a:lstStyle/>
                    <a:p>
                      <a:pPr marL="0" algn="l" defTabSz="914400" rtl="0" eaLnBrk="1" latinLnBrk="0" hangingPunct="1">
                        <a:lnSpc>
                          <a:spcPct val="115000"/>
                        </a:lnSpc>
                        <a:spcAft>
                          <a:spcPts val="0"/>
                        </a:spcAft>
                      </a:pPr>
                      <a:r>
                        <a:rPr lang="en-GB" sz="1000" kern="1200" dirty="0"/>
                        <a:t>Rule 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5</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5</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08012">
                <a:tc>
                  <a:txBody>
                    <a:bodyPr/>
                    <a:lstStyle/>
                    <a:p>
                      <a:pPr marL="0" algn="l" defTabSz="914400" rtl="0" eaLnBrk="1" latinLnBrk="0" hangingPunct="1">
                        <a:lnSpc>
                          <a:spcPct val="115000"/>
                        </a:lnSpc>
                        <a:spcAft>
                          <a:spcPts val="0"/>
                        </a:spcAft>
                      </a:pPr>
                      <a:r>
                        <a:rPr lang="en-GB" sz="1000" kern="1200" dirty="0"/>
                        <a:t>Rule 6</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6</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6</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08012">
                <a:tc>
                  <a:txBody>
                    <a:bodyPr/>
                    <a:lstStyle/>
                    <a:p>
                      <a:pPr marL="0" algn="l" defTabSz="914400" rtl="0" eaLnBrk="1" latinLnBrk="0" hangingPunct="1">
                        <a:lnSpc>
                          <a:spcPct val="115000"/>
                        </a:lnSpc>
                        <a:spcAft>
                          <a:spcPts val="0"/>
                        </a:spcAft>
                      </a:pPr>
                      <a:r>
                        <a:rPr lang="en-GB" sz="1000" kern="1200" dirty="0"/>
                        <a:t>Rule 7</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7</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7</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08012">
                <a:tc>
                  <a:txBody>
                    <a:bodyPr/>
                    <a:lstStyle/>
                    <a:p>
                      <a:pPr marL="0" algn="l" defTabSz="914400" rtl="0" eaLnBrk="1" latinLnBrk="0" hangingPunct="1">
                        <a:lnSpc>
                          <a:spcPct val="115000"/>
                        </a:lnSpc>
                        <a:spcAft>
                          <a:spcPts val="0"/>
                        </a:spcAft>
                      </a:pPr>
                      <a:r>
                        <a:rPr lang="en-GB" sz="1000" kern="1200" dirty="0"/>
                        <a:t>Rule 8</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8</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8</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108012">
                <a:tc>
                  <a:txBody>
                    <a:bodyPr/>
                    <a:lstStyle/>
                    <a:p>
                      <a:pPr marL="0" algn="l" defTabSz="914400" rtl="0" eaLnBrk="1" latinLnBrk="0" hangingPunct="1">
                        <a:lnSpc>
                          <a:spcPct val="115000"/>
                        </a:lnSpc>
                        <a:spcAft>
                          <a:spcPts val="0"/>
                        </a:spcAft>
                      </a:pPr>
                      <a:r>
                        <a:rPr lang="en-GB" sz="1000" kern="1200" dirty="0"/>
                        <a:t>Rule 9</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9</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9</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108012">
                <a:tc>
                  <a:txBody>
                    <a:bodyPr/>
                    <a:lstStyle/>
                    <a:p>
                      <a:pPr marL="0" algn="l" defTabSz="914400" rtl="0" eaLnBrk="1" latinLnBrk="0" hangingPunct="1">
                        <a:lnSpc>
                          <a:spcPct val="115000"/>
                        </a:lnSpc>
                        <a:spcAft>
                          <a:spcPts val="0"/>
                        </a:spcAft>
                      </a:pPr>
                      <a:r>
                        <a:rPr lang="en-GB" sz="1000" kern="1200" dirty="0"/>
                        <a:t>Rule 10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10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10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19990AE-15F5-4135-B784-B821F98C7B26}"/>
              </a:ext>
            </a:extLst>
          </p:cNvPr>
          <p:cNvGrpSpPr/>
          <p:nvPr/>
        </p:nvGrpSpPr>
        <p:grpSpPr>
          <a:xfrm>
            <a:off x="410925" y="3786161"/>
            <a:ext cx="11300429" cy="2680114"/>
            <a:chOff x="1964248" y="3600312"/>
            <a:chExt cx="11300429" cy="2680114"/>
          </a:xfrm>
        </p:grpSpPr>
        <p:sp>
          <p:nvSpPr>
            <p:cNvPr id="27" name="Rounded Rectangle 26"/>
            <p:cNvSpPr/>
            <p:nvPr/>
          </p:nvSpPr>
          <p:spPr>
            <a:xfrm>
              <a:off x="2052095" y="3616129"/>
              <a:ext cx="11212582" cy="2664297"/>
            </a:xfrm>
            <a:prstGeom prst="roundRect">
              <a:avLst>
                <a:gd name="adj" fmla="val 2443"/>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9" name="TextBox 18"/>
            <p:cNvSpPr txBox="1"/>
            <p:nvPr/>
          </p:nvSpPr>
          <p:spPr>
            <a:xfrm>
              <a:off x="1964248" y="3600312"/>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CAST Distribution</a:t>
              </a:r>
            </a:p>
          </p:txBody>
        </p:sp>
        <p:sp>
          <p:nvSpPr>
            <p:cNvPr id="20" name="TextBox 19"/>
            <p:cNvSpPr txBox="1"/>
            <p:nvPr/>
          </p:nvSpPr>
          <p:spPr>
            <a:xfrm>
              <a:off x="3608351" y="396035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CAST_DISTRIBUTION</a:t>
              </a:r>
            </a:p>
          </p:txBody>
        </p:sp>
        <p:sp>
          <p:nvSpPr>
            <p:cNvPr id="21" name="TextBox 20"/>
            <p:cNvSpPr txBox="1"/>
            <p:nvPr/>
          </p:nvSpPr>
          <p:spPr>
            <a:xfrm>
              <a:off x="2161187" y="393305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22" name="TextBox 21"/>
            <p:cNvSpPr txBox="1"/>
            <p:nvPr/>
          </p:nvSpPr>
          <p:spPr>
            <a:xfrm>
              <a:off x="3180512" y="4265425"/>
              <a:ext cx="2964017" cy="646331"/>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dirty="0"/>
                <a:t>PAR = distribution id</a:t>
              </a:r>
            </a:p>
            <a:p>
              <a:r>
                <a:rPr lang="fr-FR" sz="1200" dirty="0"/>
                <a:t>MODULES=Y or N </a:t>
              </a:r>
              <a:r>
                <a:rPr lang="fr-FR" sz="1000" dirty="0"/>
                <a:t>(N by default)</a:t>
              </a:r>
              <a:endParaRPr lang="fr-FR" sz="1200" dirty="0"/>
            </a:p>
            <a:p>
              <a:r>
                <a:rPr lang="fr-FR" sz="1200" dirty="0"/>
                <a:t>TECHNOLOGIES=Y or N </a:t>
              </a:r>
              <a:r>
                <a:rPr lang="fr-FR" sz="1000" dirty="0"/>
                <a:t>(N by default)</a:t>
              </a:r>
              <a:endParaRPr lang="fr-FR" sz="1800" dirty="0"/>
            </a:p>
          </p:txBody>
        </p:sp>
        <p:sp>
          <p:nvSpPr>
            <p:cNvPr id="23" name="TextBox 22"/>
            <p:cNvSpPr txBox="1"/>
            <p:nvPr/>
          </p:nvSpPr>
          <p:spPr>
            <a:xfrm>
              <a:off x="2150130" y="422108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28" name="TextBox 27"/>
            <p:cNvSpPr txBox="1"/>
            <p:nvPr/>
          </p:nvSpPr>
          <p:spPr>
            <a:xfrm>
              <a:off x="2465557" y="5532993"/>
              <a:ext cx="3096344" cy="430887"/>
            </a:xfrm>
            <a:prstGeom prst="rect">
              <a:avLst/>
            </a:prstGeom>
            <a:solidFill>
              <a:schemeClr val="bg1">
                <a:lumMod val="85000"/>
              </a:schemeClr>
            </a:solidFill>
            <a:ln>
              <a:solidFill>
                <a:schemeClr val="bg1">
                  <a:lumMod val="75000"/>
                </a:schemeClr>
              </a:solidFill>
            </a:ln>
          </p:spPr>
          <p:txBody>
            <a:bodyPr wrap="square" rtlCol="0">
              <a:spAutoFit/>
            </a:bodyPr>
            <a:lstStyle/>
            <a:p>
              <a:r>
                <a:rPr lang="en-GB" sz="1050" dirty="0"/>
                <a:t>PAR = 65501 by default, </a:t>
              </a:r>
              <a:r>
                <a:rPr lang="en-GB" sz="1050" dirty="0" err="1"/>
                <a:t>Cyclomatic</a:t>
              </a:r>
              <a:r>
                <a:rPr lang="en-GB" sz="1050" dirty="0"/>
                <a:t> Complexity Distribution</a:t>
              </a:r>
            </a:p>
          </p:txBody>
        </p:sp>
        <p:sp>
          <p:nvSpPr>
            <p:cNvPr id="26" name="TextBox 25">
              <a:extLst>
                <a:ext uri="{FF2B5EF4-FFF2-40B4-BE49-F238E27FC236}">
                  <a16:creationId xmlns:a16="http://schemas.microsoft.com/office/drawing/2014/main" id="{8187FE0A-3B89-4119-B0B9-E20DF1DF4C13}"/>
                </a:ext>
              </a:extLst>
            </p:cNvPr>
            <p:cNvSpPr txBox="1"/>
            <p:nvPr/>
          </p:nvSpPr>
          <p:spPr>
            <a:xfrm>
              <a:off x="3071664" y="5034697"/>
              <a:ext cx="1972206" cy="43088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700" i="0" dirty="0"/>
                <a:t>This component is only relevant on an engineering database. It is empty on an analytics database.</a:t>
              </a:r>
            </a:p>
          </p:txBody>
        </p:sp>
        <p:sp>
          <p:nvSpPr>
            <p:cNvPr id="29" name="TextBox 28">
              <a:extLst>
                <a:ext uri="{FF2B5EF4-FFF2-40B4-BE49-F238E27FC236}">
                  <a16:creationId xmlns:a16="http://schemas.microsoft.com/office/drawing/2014/main" id="{D1C77085-829E-4B50-A13C-F5BE78D7110F}"/>
                </a:ext>
              </a:extLst>
            </p:cNvPr>
            <p:cNvSpPr txBox="1"/>
            <p:nvPr/>
          </p:nvSpPr>
          <p:spPr>
            <a:xfrm>
              <a:off x="2625570" y="5000578"/>
              <a:ext cx="530915" cy="230832"/>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900" dirty="0"/>
                <a:t>Note :</a:t>
              </a:r>
            </a:p>
          </p:txBody>
        </p:sp>
      </p:grpSp>
      <p:grpSp>
        <p:nvGrpSpPr>
          <p:cNvPr id="2" name="Group 1">
            <a:extLst>
              <a:ext uri="{FF2B5EF4-FFF2-40B4-BE49-F238E27FC236}">
                <a16:creationId xmlns:a16="http://schemas.microsoft.com/office/drawing/2014/main" id="{736E738D-4B34-4F54-B940-E0181421B750}"/>
              </a:ext>
            </a:extLst>
          </p:cNvPr>
          <p:cNvGrpSpPr/>
          <p:nvPr/>
        </p:nvGrpSpPr>
        <p:grpSpPr>
          <a:xfrm>
            <a:off x="1138272" y="1031053"/>
            <a:ext cx="9985248" cy="2664296"/>
            <a:chOff x="1919536" y="836712"/>
            <a:chExt cx="9985248" cy="2664296"/>
          </a:xfrm>
        </p:grpSpPr>
        <p:sp>
          <p:nvSpPr>
            <p:cNvPr id="12" name="Rounded Rectangle 11"/>
            <p:cNvSpPr/>
            <p:nvPr/>
          </p:nvSpPr>
          <p:spPr>
            <a:xfrm>
              <a:off x="2017181" y="836712"/>
              <a:ext cx="9887603" cy="2664296"/>
            </a:xfrm>
            <a:prstGeom prst="roundRect">
              <a:avLst>
                <a:gd name="adj" fmla="val 2443"/>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836712"/>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CAST Complexity Distribution</a:t>
              </a:r>
            </a:p>
          </p:txBody>
        </p:sp>
        <p:sp>
          <p:nvSpPr>
            <p:cNvPr id="14" name="TextBox 13"/>
            <p:cNvSpPr txBox="1"/>
            <p:nvPr/>
          </p:nvSpPr>
          <p:spPr>
            <a:xfrm>
              <a:off x="3641930" y="123769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CAST_COMPLEXITY</a:t>
              </a:r>
            </a:p>
          </p:txBody>
        </p:sp>
        <p:sp>
          <p:nvSpPr>
            <p:cNvPr id="15" name="TextBox 14"/>
            <p:cNvSpPr txBox="1"/>
            <p:nvPr/>
          </p:nvSpPr>
          <p:spPr>
            <a:xfrm>
              <a:off x="2194766" y="122404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1930" y="1515473"/>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17" name="TextBox 16"/>
            <p:cNvSpPr txBox="1"/>
            <p:nvPr/>
          </p:nvSpPr>
          <p:spPr>
            <a:xfrm>
              <a:off x="2611548" y="1512080"/>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30" name="TextBox 29">
              <a:extLst>
                <a:ext uri="{FF2B5EF4-FFF2-40B4-BE49-F238E27FC236}">
                  <a16:creationId xmlns:a16="http://schemas.microsoft.com/office/drawing/2014/main" id="{5A0E4E14-C4BB-448F-BF59-24F5D7DA89EC}"/>
                </a:ext>
              </a:extLst>
            </p:cNvPr>
            <p:cNvSpPr txBox="1"/>
            <p:nvPr/>
          </p:nvSpPr>
          <p:spPr>
            <a:xfrm>
              <a:off x="7464152" y="980367"/>
              <a:ext cx="2223864" cy="30777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700" i="0" dirty="0"/>
                <a:t>This component is only relevant on an engineering database.</a:t>
              </a:r>
            </a:p>
          </p:txBody>
        </p:sp>
        <p:sp>
          <p:nvSpPr>
            <p:cNvPr id="31" name="TextBox 30">
              <a:extLst>
                <a:ext uri="{FF2B5EF4-FFF2-40B4-BE49-F238E27FC236}">
                  <a16:creationId xmlns:a16="http://schemas.microsoft.com/office/drawing/2014/main" id="{B31ED0F3-72EA-4DA9-B9DD-F5ECBF89ED69}"/>
                </a:ext>
              </a:extLst>
            </p:cNvPr>
            <p:cNvSpPr txBox="1"/>
            <p:nvPr/>
          </p:nvSpPr>
          <p:spPr>
            <a:xfrm>
              <a:off x="6856120" y="956369"/>
              <a:ext cx="608033" cy="230832"/>
            </a:xfrm>
            <a:prstGeom prst="rect">
              <a:avLst/>
            </a:prstGeom>
            <a:noFill/>
          </p:spPr>
          <p:txBody>
            <a:bodyPr wrap="square" rtlCol="0">
              <a:spAutoFit/>
            </a:bodyPr>
            <a:lstStyle>
              <a:defPPr>
                <a:defRPr lang="fr-FR"/>
              </a:defPPr>
              <a:lvl1pPr algn="r">
                <a:defRPr sz="2000">
                  <a:solidFill>
                    <a:schemeClr val="bg1">
                      <a:lumMod val="50000"/>
                    </a:schemeClr>
                  </a:solidFill>
                </a:defRPr>
              </a:lvl1pPr>
            </a:lstStyle>
            <a:p>
              <a:r>
                <a:rPr lang="en-US" sz="900" dirty="0"/>
                <a:t>Note :</a:t>
              </a:r>
            </a:p>
          </p:txBody>
        </p:sp>
      </p:grpSp>
      <p:sp>
        <p:nvSpPr>
          <p:cNvPr id="24" name="Title 1"/>
          <p:cNvSpPr>
            <a:spLocks noGrp="1"/>
          </p:cNvSpPr>
          <p:nvPr>
            <p:ph type="title"/>
          </p:nvPr>
        </p:nvSpPr>
        <p:spPr/>
        <p:txBody>
          <a:bodyPr>
            <a:normAutofit/>
          </a:bodyPr>
          <a:lstStyle/>
          <a:p>
            <a:r>
              <a:rPr lang="fr-FR" dirty="0"/>
              <a:t>PowerPoint Templates – Tables</a:t>
            </a:r>
          </a:p>
        </p:txBody>
      </p:sp>
      <p:graphicFrame>
        <p:nvGraphicFramePr>
          <p:cNvPr id="18" name="Table 17" descr="TABLE;CAST_COMPLEXITY"/>
          <p:cNvGraphicFramePr>
            <a:graphicFrameLocks noGrp="1"/>
          </p:cNvGraphicFramePr>
          <p:nvPr>
            <p:extLst>
              <p:ext uri="{D42A27DB-BD31-4B8C-83A1-F6EECF244321}">
                <p14:modId xmlns:p14="http://schemas.microsoft.com/office/powerpoint/2010/main" val="943209628"/>
              </p:ext>
            </p:extLst>
          </p:nvPr>
        </p:nvGraphicFramePr>
        <p:xfrm>
          <a:off x="4145152" y="1802353"/>
          <a:ext cx="6738322" cy="1685925"/>
        </p:xfrm>
        <a:graphic>
          <a:graphicData uri="http://schemas.openxmlformats.org/drawingml/2006/table">
            <a:tbl>
              <a:tblPr firstRow="1" bandRow="1">
                <a:tableStyleId>{9DCAF9ED-07DC-4A11-8D7F-57B35C25682E}</a:tableStyleId>
              </a:tblPr>
              <a:tblGrid>
                <a:gridCol w="1664504">
                  <a:extLst>
                    <a:ext uri="{9D8B030D-6E8A-4147-A177-3AD203B41FA5}">
                      <a16:colId xmlns:a16="http://schemas.microsoft.com/office/drawing/2014/main" val="20000"/>
                    </a:ext>
                  </a:extLst>
                </a:gridCol>
                <a:gridCol w="928783">
                  <a:extLst>
                    <a:ext uri="{9D8B030D-6E8A-4147-A177-3AD203B41FA5}">
                      <a16:colId xmlns:a16="http://schemas.microsoft.com/office/drawing/2014/main" val="20001"/>
                    </a:ext>
                  </a:extLst>
                </a:gridCol>
                <a:gridCol w="989841">
                  <a:extLst>
                    <a:ext uri="{9D8B030D-6E8A-4147-A177-3AD203B41FA5}">
                      <a16:colId xmlns:a16="http://schemas.microsoft.com/office/drawing/2014/main" val="20002"/>
                    </a:ext>
                  </a:extLst>
                </a:gridCol>
                <a:gridCol w="769040">
                  <a:extLst>
                    <a:ext uri="{9D8B030D-6E8A-4147-A177-3AD203B41FA5}">
                      <a16:colId xmlns:a16="http://schemas.microsoft.com/office/drawing/2014/main" val="20003"/>
                    </a:ext>
                  </a:extLst>
                </a:gridCol>
                <a:gridCol w="817133">
                  <a:extLst>
                    <a:ext uri="{9D8B030D-6E8A-4147-A177-3AD203B41FA5}">
                      <a16:colId xmlns:a16="http://schemas.microsoft.com/office/drawing/2014/main" val="20004"/>
                    </a:ext>
                  </a:extLst>
                </a:gridCol>
                <a:gridCol w="1569021">
                  <a:extLst>
                    <a:ext uri="{9D8B030D-6E8A-4147-A177-3AD203B41FA5}">
                      <a16:colId xmlns:a16="http://schemas.microsoft.com/office/drawing/2014/main" val="20005"/>
                    </a:ext>
                  </a:extLst>
                </a:gridCol>
              </a:tblGrid>
              <a:tr h="108012">
                <a:tc>
                  <a:txBody>
                    <a:bodyPr/>
                    <a:lstStyle/>
                    <a:p>
                      <a:pPr marL="0" algn="l" defTabSz="914400" rtl="0" eaLnBrk="1" latinLnBrk="0" hangingPunct="1">
                        <a:lnSpc>
                          <a:spcPct val="115000"/>
                        </a:lnSpc>
                        <a:spcAft>
                          <a:spcPts val="0"/>
                        </a:spcAft>
                      </a:pPr>
                      <a:r>
                        <a:rPr lang="en-GB" sz="1000" kern="1200" dirty="0"/>
                        <a:t>Cast complexity</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Current</a:t>
                      </a:r>
                      <a:r>
                        <a:rPr lang="fr-FR" sz="1000" kern="1200" dirty="0"/>
                        <a:t> total</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Previous</a:t>
                      </a:r>
                      <a:r>
                        <a:rPr lang="fr-FR" sz="1000" kern="1200" dirty="0"/>
                        <a:t> total</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Evol</a:t>
                      </a:r>
                      <a:r>
                        <a:rPr lang="fr-FR" sz="1000" kern="1200" dirty="0"/>
                        <a:t>.</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Evol</a:t>
                      </a:r>
                      <a:r>
                        <a:rPr lang="fr-FR" sz="1000" kern="1200" dirty="0"/>
                        <a:t>. %</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on total </a:t>
                      </a:r>
                      <a:r>
                        <a:rPr lang="fr-FR" sz="1000" kern="1200" dirty="0" err="1"/>
                        <a:t>elements</a:t>
                      </a:r>
                      <a:endParaRPr lang="fr-FR" sz="1000" b="1" kern="1200" dirty="0">
                        <a:solidFill>
                          <a:schemeClr val="lt1"/>
                        </a:solidFill>
                        <a:latin typeface="+mn-lt"/>
                        <a:ea typeface="+mn-ea"/>
                        <a:cs typeface="+mn-cs"/>
                      </a:endParaRPr>
                    </a:p>
                  </a:txBody>
                  <a:tcPr marL="68580" marR="68580" marT="0" marB="0"/>
                </a:tc>
                <a:extLst>
                  <a:ext uri="{0D108BD9-81ED-4DB2-BD59-A6C34878D82A}">
                    <a16:rowId xmlns:a16="http://schemas.microsoft.com/office/drawing/2014/main" val="10000"/>
                  </a:ext>
                </a:extLst>
              </a:tr>
              <a:tr h="108012">
                <a:tc>
                  <a:txBody>
                    <a:bodyPr/>
                    <a:lstStyle/>
                    <a:p>
                      <a:pPr marL="0" algn="l" defTabSz="914400" rtl="0" eaLnBrk="1" latinLnBrk="0" hangingPunct="1">
                        <a:lnSpc>
                          <a:spcPct val="115000"/>
                        </a:lnSpc>
                        <a:spcAft>
                          <a:spcPts val="0"/>
                        </a:spcAft>
                      </a:pPr>
                      <a:r>
                        <a:rPr lang="en-GB" sz="1000" kern="1200" dirty="0"/>
                        <a:t>Low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A2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A1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A2 – A1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(A2-A1)/A1</a:t>
                      </a:r>
                      <a:endParaRPr lang="fr-FR" sz="1000" kern="1200" dirty="0">
                        <a:solidFill>
                          <a:schemeClr val="dk1"/>
                        </a:solidFill>
                        <a:latin typeface="+mn-lt"/>
                        <a:ea typeface="+mn-ea"/>
                        <a:cs typeface="+mn-cs"/>
                      </a:endParaRPr>
                    </a:p>
                  </a:txBody>
                  <a:tcPr marL="68580" marR="68580" marT="0" marB="0"/>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fr-FR" sz="1000" kern="1200" dirty="0"/>
                        <a:t>100*A2/(A2+B2+C2+D2)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1"/>
                  </a:ext>
                </a:extLst>
              </a:tr>
              <a:tr h="108012">
                <a:tc>
                  <a:txBody>
                    <a:bodyPr/>
                    <a:lstStyle/>
                    <a:p>
                      <a:pPr marL="0" algn="l" defTabSz="914400" rtl="0" eaLnBrk="1" latinLnBrk="0" hangingPunct="1">
                        <a:lnSpc>
                          <a:spcPct val="115000"/>
                        </a:lnSpc>
                        <a:spcAft>
                          <a:spcPts val="0"/>
                        </a:spcAft>
                      </a:pPr>
                      <a:r>
                        <a:rPr lang="en-GB" sz="1000" kern="1200" dirty="0"/>
                        <a:t>Average</a:t>
                      </a:r>
                      <a:r>
                        <a:rPr lang="en-GB" sz="1000" kern="1200" baseline="0" dirty="0"/>
                        <a:t>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B2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B1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B2 – B1</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(B2-B1)/B1</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t>100*B2/(A2+B2+C2+D2)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2"/>
                  </a:ext>
                </a:extLst>
              </a:tr>
              <a:tr h="108012">
                <a:tc>
                  <a:txBody>
                    <a:bodyPr/>
                    <a:lstStyle/>
                    <a:p>
                      <a:pPr marL="0" algn="l" defTabSz="914400" rtl="0" eaLnBrk="1" latinLnBrk="0" hangingPunct="1">
                        <a:lnSpc>
                          <a:spcPct val="115000"/>
                        </a:lnSpc>
                        <a:spcAft>
                          <a:spcPts val="0"/>
                        </a:spcAft>
                      </a:pPr>
                      <a:r>
                        <a:rPr lang="en-GB" sz="1000" kern="1200" dirty="0"/>
                        <a:t>High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 – C1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(C2-C1)/C1</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t>100*C2/(A2+B2+C2+D2)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3"/>
                  </a:ext>
                </a:extLst>
              </a:tr>
              <a:tr h="108012">
                <a:tc>
                  <a:txBody>
                    <a:bodyPr/>
                    <a:lstStyle/>
                    <a:p>
                      <a:pPr marL="0" algn="l" defTabSz="914400" rtl="0" eaLnBrk="1" latinLnBrk="0" hangingPunct="1">
                        <a:lnSpc>
                          <a:spcPct val="115000"/>
                        </a:lnSpc>
                        <a:spcAft>
                          <a:spcPts val="0"/>
                        </a:spcAft>
                      </a:pPr>
                      <a:r>
                        <a:rPr lang="en-GB" sz="1000" kern="1200" dirty="0"/>
                        <a:t>Very</a:t>
                      </a:r>
                      <a:r>
                        <a:rPr lang="en-GB" sz="1000" kern="1200" baseline="0" dirty="0"/>
                        <a:t> High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D2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D1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D2 – D1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(D2-D1)/D1</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t>100*D2/(A2+B2+C2+D2)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4"/>
                  </a:ext>
                </a:extLst>
              </a:tr>
            </a:tbl>
          </a:graphicData>
        </a:graphic>
      </p:graphicFrame>
      <p:graphicFrame>
        <p:nvGraphicFramePr>
          <p:cNvPr id="25" name="Table 24" descr="TABLE;CAST_DISTRIBUTION;PAR=65501"/>
          <p:cNvGraphicFramePr>
            <a:graphicFrameLocks noGrp="1"/>
          </p:cNvGraphicFramePr>
          <p:nvPr>
            <p:extLst>
              <p:ext uri="{D42A27DB-BD31-4B8C-83A1-F6EECF244321}">
                <p14:modId xmlns:p14="http://schemas.microsoft.com/office/powerpoint/2010/main" val="2379563428"/>
              </p:ext>
            </p:extLst>
          </p:nvPr>
        </p:nvGraphicFramePr>
        <p:xfrm>
          <a:off x="4579102" y="4381886"/>
          <a:ext cx="6938607" cy="1685925"/>
        </p:xfrm>
        <a:graphic>
          <a:graphicData uri="http://schemas.openxmlformats.org/drawingml/2006/table">
            <a:tbl>
              <a:tblPr firstRow="1" bandRow="1">
                <a:tableStyleId>{9DCAF9ED-07DC-4A11-8D7F-57B35C25682E}</a:tableStyleId>
              </a:tblPr>
              <a:tblGrid>
                <a:gridCol w="1713978">
                  <a:extLst>
                    <a:ext uri="{9D8B030D-6E8A-4147-A177-3AD203B41FA5}">
                      <a16:colId xmlns:a16="http://schemas.microsoft.com/office/drawing/2014/main" val="20000"/>
                    </a:ext>
                  </a:extLst>
                </a:gridCol>
                <a:gridCol w="956389">
                  <a:extLst>
                    <a:ext uri="{9D8B030D-6E8A-4147-A177-3AD203B41FA5}">
                      <a16:colId xmlns:a16="http://schemas.microsoft.com/office/drawing/2014/main" val="20001"/>
                    </a:ext>
                  </a:extLst>
                </a:gridCol>
                <a:gridCol w="1019263">
                  <a:extLst>
                    <a:ext uri="{9D8B030D-6E8A-4147-A177-3AD203B41FA5}">
                      <a16:colId xmlns:a16="http://schemas.microsoft.com/office/drawing/2014/main" val="20002"/>
                    </a:ext>
                  </a:extLst>
                </a:gridCol>
                <a:gridCol w="791899">
                  <a:extLst>
                    <a:ext uri="{9D8B030D-6E8A-4147-A177-3AD203B41FA5}">
                      <a16:colId xmlns:a16="http://schemas.microsoft.com/office/drawing/2014/main" val="20003"/>
                    </a:ext>
                  </a:extLst>
                </a:gridCol>
                <a:gridCol w="841421">
                  <a:extLst>
                    <a:ext uri="{9D8B030D-6E8A-4147-A177-3AD203B41FA5}">
                      <a16:colId xmlns:a16="http://schemas.microsoft.com/office/drawing/2014/main" val="20004"/>
                    </a:ext>
                  </a:extLst>
                </a:gridCol>
                <a:gridCol w="1615657">
                  <a:extLst>
                    <a:ext uri="{9D8B030D-6E8A-4147-A177-3AD203B41FA5}">
                      <a16:colId xmlns:a16="http://schemas.microsoft.com/office/drawing/2014/main" val="20005"/>
                    </a:ext>
                  </a:extLst>
                </a:gridCol>
              </a:tblGrid>
              <a:tr h="108012">
                <a:tc>
                  <a:txBody>
                    <a:bodyPr/>
                    <a:lstStyle/>
                    <a:p>
                      <a:pPr marL="0" algn="l" defTabSz="914400" rtl="0" eaLnBrk="1" latinLnBrk="0" hangingPunct="1">
                        <a:lnSpc>
                          <a:spcPct val="115000"/>
                        </a:lnSpc>
                        <a:spcAft>
                          <a:spcPts val="0"/>
                        </a:spcAft>
                      </a:pPr>
                      <a:r>
                        <a:rPr lang="en-GB" sz="1000" kern="1200" dirty="0"/>
                        <a:t>Cast complexity</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Current</a:t>
                      </a:r>
                      <a:r>
                        <a:rPr lang="fr-FR" sz="1000" kern="1200" dirty="0"/>
                        <a:t> total</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Previous</a:t>
                      </a:r>
                      <a:r>
                        <a:rPr lang="fr-FR" sz="1000" kern="1200" dirty="0"/>
                        <a:t> total</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Evol</a:t>
                      </a:r>
                      <a:r>
                        <a:rPr lang="fr-FR" sz="1000" kern="1200" dirty="0"/>
                        <a:t>.</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Evol</a:t>
                      </a:r>
                      <a:r>
                        <a:rPr lang="fr-FR" sz="1000" kern="1200" dirty="0"/>
                        <a:t>. %</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on total </a:t>
                      </a:r>
                      <a:r>
                        <a:rPr lang="fr-FR" sz="1000" kern="1200" dirty="0" err="1"/>
                        <a:t>elements</a:t>
                      </a:r>
                      <a:endParaRPr lang="fr-FR" sz="1000" b="1" kern="1200" dirty="0">
                        <a:solidFill>
                          <a:schemeClr val="lt1"/>
                        </a:solidFill>
                        <a:latin typeface="+mn-lt"/>
                        <a:ea typeface="+mn-ea"/>
                        <a:cs typeface="+mn-cs"/>
                      </a:endParaRPr>
                    </a:p>
                  </a:txBody>
                  <a:tcPr marL="68580" marR="68580" marT="0" marB="0"/>
                </a:tc>
                <a:extLst>
                  <a:ext uri="{0D108BD9-81ED-4DB2-BD59-A6C34878D82A}">
                    <a16:rowId xmlns:a16="http://schemas.microsoft.com/office/drawing/2014/main" val="10000"/>
                  </a:ext>
                </a:extLst>
              </a:tr>
              <a:tr h="108012">
                <a:tc>
                  <a:txBody>
                    <a:bodyPr/>
                    <a:lstStyle/>
                    <a:p>
                      <a:pPr marL="0" algn="l" defTabSz="914400" rtl="0" eaLnBrk="1" latinLnBrk="0" hangingPunct="1">
                        <a:lnSpc>
                          <a:spcPct val="115000"/>
                        </a:lnSpc>
                        <a:spcAft>
                          <a:spcPts val="0"/>
                        </a:spcAft>
                      </a:pPr>
                      <a:r>
                        <a:rPr lang="en-GB" sz="1000" kern="1200" dirty="0"/>
                        <a:t>Low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A2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A1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A2 – A1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(A2-A1)/A1</a:t>
                      </a:r>
                      <a:endParaRPr lang="fr-FR" sz="1000" kern="1200" dirty="0">
                        <a:solidFill>
                          <a:schemeClr val="dk1"/>
                        </a:solidFill>
                        <a:latin typeface="+mn-lt"/>
                        <a:ea typeface="+mn-ea"/>
                        <a:cs typeface="+mn-cs"/>
                      </a:endParaRPr>
                    </a:p>
                  </a:txBody>
                  <a:tcPr marL="68580" marR="68580" marT="0" marB="0"/>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fr-FR" sz="1000" kern="1200" dirty="0"/>
                        <a:t>100*A2/(A2+B2+C2+D2)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1"/>
                  </a:ext>
                </a:extLst>
              </a:tr>
              <a:tr h="108012">
                <a:tc>
                  <a:txBody>
                    <a:bodyPr/>
                    <a:lstStyle/>
                    <a:p>
                      <a:pPr marL="0" algn="l" defTabSz="914400" rtl="0" eaLnBrk="1" latinLnBrk="0" hangingPunct="1">
                        <a:lnSpc>
                          <a:spcPct val="115000"/>
                        </a:lnSpc>
                        <a:spcAft>
                          <a:spcPts val="0"/>
                        </a:spcAft>
                      </a:pPr>
                      <a:r>
                        <a:rPr lang="en-GB" sz="1000" kern="1200" dirty="0"/>
                        <a:t>Average</a:t>
                      </a:r>
                      <a:r>
                        <a:rPr lang="en-GB" sz="1000" kern="1200" baseline="0" dirty="0"/>
                        <a:t>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B2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B1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B2 – B1</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(B2-B1)/B1</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t>100*B2/(A2+B2+C2+D2)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2"/>
                  </a:ext>
                </a:extLst>
              </a:tr>
              <a:tr h="108012">
                <a:tc>
                  <a:txBody>
                    <a:bodyPr/>
                    <a:lstStyle/>
                    <a:p>
                      <a:pPr marL="0" algn="l" defTabSz="914400" rtl="0" eaLnBrk="1" latinLnBrk="0" hangingPunct="1">
                        <a:lnSpc>
                          <a:spcPct val="115000"/>
                        </a:lnSpc>
                        <a:spcAft>
                          <a:spcPts val="0"/>
                        </a:spcAft>
                      </a:pPr>
                      <a:r>
                        <a:rPr lang="en-GB" sz="1000" kern="1200" dirty="0"/>
                        <a:t>High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 – C1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(C2-C1)/C1</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t>100*C2/(A2+B2+C2+D2)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3"/>
                  </a:ext>
                </a:extLst>
              </a:tr>
              <a:tr h="108012">
                <a:tc>
                  <a:txBody>
                    <a:bodyPr/>
                    <a:lstStyle/>
                    <a:p>
                      <a:pPr marL="0" algn="l" defTabSz="914400" rtl="0" eaLnBrk="1" latinLnBrk="0" hangingPunct="1">
                        <a:lnSpc>
                          <a:spcPct val="115000"/>
                        </a:lnSpc>
                        <a:spcAft>
                          <a:spcPts val="0"/>
                        </a:spcAft>
                      </a:pPr>
                      <a:r>
                        <a:rPr lang="en-GB" sz="1000" kern="1200" dirty="0"/>
                        <a:t>Very</a:t>
                      </a:r>
                      <a:r>
                        <a:rPr lang="en-GB" sz="1000" kern="1200" baseline="0" dirty="0"/>
                        <a:t> High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D2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D1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D2 – D1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(D2-D1)/D1</a:t>
                      </a:r>
                      <a:endParaRPr lang="fr-FR" sz="1000" kern="1200" dirty="0">
                        <a:solidFill>
                          <a:schemeClr val="dk1"/>
                        </a:solidFill>
                        <a:latin typeface="+mn-lt"/>
                        <a:ea typeface="+mn-ea"/>
                        <a:cs typeface="+mn-cs"/>
                      </a:endParaRPr>
                    </a:p>
                  </a:txBody>
                  <a:tcPr marL="68580" marR="68580" marT="0" marB="0"/>
                </a:tc>
                <a:tc>
                  <a:txBody>
                    <a:bodyPr/>
                    <a:lstStyle/>
                    <a:p>
                      <a:pPr marL="0" algn="r" defTabSz="914400" rtl="0" eaLnBrk="1" latinLnBrk="0" hangingPunct="1">
                        <a:lnSpc>
                          <a:spcPct val="115000"/>
                        </a:lnSpc>
                        <a:spcAft>
                          <a:spcPts val="0"/>
                        </a:spcAft>
                      </a:pPr>
                      <a:r>
                        <a:rPr lang="fr-FR" sz="1000" kern="1200" dirty="0"/>
                        <a:t>100*D2/(A2+B2+C2+D2)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B2996F0-E672-4799-924C-A8F3AE344FA0}"/>
              </a:ext>
            </a:extLst>
          </p:cNvPr>
          <p:cNvGrpSpPr/>
          <p:nvPr/>
        </p:nvGrpSpPr>
        <p:grpSpPr>
          <a:xfrm>
            <a:off x="1964248" y="3717032"/>
            <a:ext cx="8321864" cy="2520280"/>
            <a:chOff x="1964248" y="3717032"/>
            <a:chExt cx="8321864" cy="2520280"/>
          </a:xfrm>
        </p:grpSpPr>
        <p:sp>
          <p:nvSpPr>
            <p:cNvPr id="27" name="Rounded Rectangle 26"/>
            <p:cNvSpPr/>
            <p:nvPr/>
          </p:nvSpPr>
          <p:spPr>
            <a:xfrm>
              <a:off x="2018840" y="3717032"/>
              <a:ext cx="8157600" cy="2520280"/>
            </a:xfrm>
            <a:prstGeom prst="roundRect">
              <a:avLst>
                <a:gd name="adj" fmla="val 4373"/>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9" name="TextBox 18"/>
            <p:cNvSpPr txBox="1"/>
            <p:nvPr/>
          </p:nvSpPr>
          <p:spPr>
            <a:xfrm>
              <a:off x="1964248" y="380268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CAST High and Very High Distribution</a:t>
              </a:r>
            </a:p>
          </p:txBody>
        </p:sp>
        <p:sp>
          <p:nvSpPr>
            <p:cNvPr id="20" name="TextBox 19"/>
            <p:cNvSpPr txBox="1"/>
            <p:nvPr/>
          </p:nvSpPr>
          <p:spPr>
            <a:xfrm>
              <a:off x="3641930" y="4217320"/>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CAST_HIGH_DISTRIBUTION</a:t>
              </a:r>
            </a:p>
          </p:txBody>
        </p:sp>
        <p:sp>
          <p:nvSpPr>
            <p:cNvPr id="21" name="TextBox 20"/>
            <p:cNvSpPr txBox="1"/>
            <p:nvPr/>
          </p:nvSpPr>
          <p:spPr>
            <a:xfrm>
              <a:off x="2194766" y="419002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22" name="TextBox 21"/>
            <p:cNvSpPr txBox="1"/>
            <p:nvPr/>
          </p:nvSpPr>
          <p:spPr>
            <a:xfrm>
              <a:off x="3655578" y="4570359"/>
              <a:ext cx="6630534" cy="30777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400" dirty="0"/>
                <a:t>PAR = distribution id</a:t>
              </a:r>
            </a:p>
          </p:txBody>
        </p:sp>
        <p:sp>
          <p:nvSpPr>
            <p:cNvPr id="23" name="TextBox 22"/>
            <p:cNvSpPr txBox="1"/>
            <p:nvPr/>
          </p:nvSpPr>
          <p:spPr>
            <a:xfrm>
              <a:off x="2611548" y="455331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28" name="TextBox 27"/>
            <p:cNvSpPr txBox="1"/>
            <p:nvPr/>
          </p:nvSpPr>
          <p:spPr>
            <a:xfrm>
              <a:off x="7176120" y="3903440"/>
              <a:ext cx="2880320" cy="430887"/>
            </a:xfrm>
            <a:prstGeom prst="rect">
              <a:avLst/>
            </a:prstGeom>
            <a:solidFill>
              <a:schemeClr val="bg1">
                <a:lumMod val="85000"/>
              </a:schemeClr>
            </a:solidFill>
            <a:ln>
              <a:solidFill>
                <a:schemeClr val="bg1">
                  <a:lumMod val="75000"/>
                </a:schemeClr>
              </a:solidFill>
            </a:ln>
          </p:spPr>
          <p:txBody>
            <a:bodyPr wrap="square" rtlCol="0">
              <a:spAutoFit/>
            </a:bodyPr>
            <a:lstStyle/>
            <a:p>
              <a:r>
                <a:rPr lang="en-GB" sz="1050" dirty="0"/>
                <a:t>PAR = 65501 by default, </a:t>
              </a:r>
              <a:r>
                <a:rPr lang="en-GB" sz="1050" dirty="0" err="1"/>
                <a:t>Cyclomatic</a:t>
              </a:r>
              <a:r>
                <a:rPr lang="en-GB" sz="1050" dirty="0"/>
                <a:t> Complexity Distribution</a:t>
              </a:r>
            </a:p>
          </p:txBody>
        </p:sp>
        <p:sp>
          <p:nvSpPr>
            <p:cNvPr id="26" name="TextBox 25">
              <a:extLst>
                <a:ext uri="{FF2B5EF4-FFF2-40B4-BE49-F238E27FC236}">
                  <a16:creationId xmlns:a16="http://schemas.microsoft.com/office/drawing/2014/main" id="{EC30DE6B-7693-44A2-900A-9028845597A9}"/>
                </a:ext>
              </a:extLst>
            </p:cNvPr>
            <p:cNvSpPr txBox="1"/>
            <p:nvPr/>
          </p:nvSpPr>
          <p:spPr>
            <a:xfrm>
              <a:off x="3071664" y="4924766"/>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29" name="TextBox 28">
              <a:extLst>
                <a:ext uri="{FF2B5EF4-FFF2-40B4-BE49-F238E27FC236}">
                  <a16:creationId xmlns:a16="http://schemas.microsoft.com/office/drawing/2014/main" id="{33C446D5-57A2-4B7F-8153-91958B208E2B}"/>
                </a:ext>
              </a:extLst>
            </p:cNvPr>
            <p:cNvSpPr txBox="1"/>
            <p:nvPr/>
          </p:nvSpPr>
          <p:spPr>
            <a:xfrm>
              <a:off x="2514067" y="4890646"/>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grpSp>
        <p:nvGrpSpPr>
          <p:cNvPr id="2" name="Group 1">
            <a:extLst>
              <a:ext uri="{FF2B5EF4-FFF2-40B4-BE49-F238E27FC236}">
                <a16:creationId xmlns:a16="http://schemas.microsoft.com/office/drawing/2014/main" id="{E9F6D119-E814-45C5-B1F5-7551C85A224E}"/>
              </a:ext>
            </a:extLst>
          </p:cNvPr>
          <p:cNvGrpSpPr/>
          <p:nvPr/>
        </p:nvGrpSpPr>
        <p:grpSpPr>
          <a:xfrm>
            <a:off x="1991544" y="980728"/>
            <a:ext cx="8424936" cy="2520280"/>
            <a:chOff x="1991544" y="980728"/>
            <a:chExt cx="8424936" cy="2520280"/>
          </a:xfrm>
        </p:grpSpPr>
        <p:sp>
          <p:nvSpPr>
            <p:cNvPr id="12" name="Rounded Rectangle 11"/>
            <p:cNvSpPr/>
            <p:nvPr/>
          </p:nvSpPr>
          <p:spPr>
            <a:xfrm>
              <a:off x="2017182" y="980728"/>
              <a:ext cx="8157600" cy="2520280"/>
            </a:xfrm>
            <a:prstGeom prst="roundRect">
              <a:avLst>
                <a:gd name="adj" fmla="val 4373"/>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91544" y="100802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CAST High and Very High Complexity</a:t>
              </a:r>
            </a:p>
          </p:txBody>
        </p:sp>
        <p:sp>
          <p:nvSpPr>
            <p:cNvPr id="14" name="TextBox 13"/>
            <p:cNvSpPr txBox="1"/>
            <p:nvPr/>
          </p:nvSpPr>
          <p:spPr>
            <a:xfrm>
              <a:off x="3678776" y="1453720"/>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CAST_HIGH_COMPLEXITY</a:t>
              </a:r>
            </a:p>
          </p:txBody>
        </p:sp>
        <p:sp>
          <p:nvSpPr>
            <p:cNvPr id="15" name="TextBox 14"/>
            <p:cNvSpPr txBox="1"/>
            <p:nvPr/>
          </p:nvSpPr>
          <p:spPr>
            <a:xfrm>
              <a:off x="2231612" y="144007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785946" y="1776584"/>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17" name="TextBox 16"/>
            <p:cNvSpPr txBox="1"/>
            <p:nvPr/>
          </p:nvSpPr>
          <p:spPr>
            <a:xfrm>
              <a:off x="2637434" y="180475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30" name="TextBox 29">
              <a:extLst>
                <a:ext uri="{FF2B5EF4-FFF2-40B4-BE49-F238E27FC236}">
                  <a16:creationId xmlns:a16="http://schemas.microsoft.com/office/drawing/2014/main" id="{78303904-91F9-48CF-B17C-66BC20343AED}"/>
                </a:ext>
              </a:extLst>
            </p:cNvPr>
            <p:cNvSpPr txBox="1"/>
            <p:nvPr/>
          </p:nvSpPr>
          <p:spPr>
            <a:xfrm>
              <a:off x="7760568" y="1763524"/>
              <a:ext cx="2223864" cy="307777"/>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700" i="0" dirty="0"/>
                <a:t>This component is only relevant on an engineering database.</a:t>
              </a:r>
            </a:p>
          </p:txBody>
        </p:sp>
        <p:sp>
          <p:nvSpPr>
            <p:cNvPr id="31" name="TextBox 30">
              <a:extLst>
                <a:ext uri="{FF2B5EF4-FFF2-40B4-BE49-F238E27FC236}">
                  <a16:creationId xmlns:a16="http://schemas.microsoft.com/office/drawing/2014/main" id="{B96AF788-C58F-4663-9311-2A7E17557539}"/>
                </a:ext>
              </a:extLst>
            </p:cNvPr>
            <p:cNvSpPr txBox="1"/>
            <p:nvPr/>
          </p:nvSpPr>
          <p:spPr>
            <a:xfrm>
              <a:off x="7152536" y="1739526"/>
              <a:ext cx="608033" cy="230832"/>
            </a:xfrm>
            <a:prstGeom prst="rect">
              <a:avLst/>
            </a:prstGeom>
            <a:noFill/>
          </p:spPr>
          <p:txBody>
            <a:bodyPr wrap="square" rtlCol="0">
              <a:spAutoFit/>
            </a:bodyPr>
            <a:lstStyle>
              <a:defPPr>
                <a:defRPr lang="fr-FR"/>
              </a:defPPr>
              <a:lvl1pPr algn="r">
                <a:defRPr sz="2000">
                  <a:solidFill>
                    <a:schemeClr val="bg1">
                      <a:lumMod val="50000"/>
                    </a:schemeClr>
                  </a:solidFill>
                </a:defRPr>
              </a:lvl1pPr>
            </a:lstStyle>
            <a:p>
              <a:r>
                <a:rPr lang="en-US" sz="900" dirty="0"/>
                <a:t>Note :</a:t>
              </a:r>
            </a:p>
          </p:txBody>
        </p:sp>
      </p:grpSp>
      <p:sp>
        <p:nvSpPr>
          <p:cNvPr id="24" name="Title 1"/>
          <p:cNvSpPr>
            <a:spLocks noGrp="1"/>
          </p:cNvSpPr>
          <p:nvPr>
            <p:ph type="title"/>
          </p:nvPr>
        </p:nvSpPr>
        <p:spPr/>
        <p:txBody>
          <a:bodyPr>
            <a:normAutofit/>
          </a:bodyPr>
          <a:lstStyle/>
          <a:p>
            <a:r>
              <a:rPr lang="fr-FR" dirty="0"/>
              <a:t>PowerPoint Templates – Tables</a:t>
            </a:r>
          </a:p>
        </p:txBody>
      </p:sp>
      <p:graphicFrame>
        <p:nvGraphicFramePr>
          <p:cNvPr id="18" name="Table 17" descr="TABLE;CAST_HIGH_COMPLEXITY"/>
          <p:cNvGraphicFramePr>
            <a:graphicFrameLocks noGrp="1"/>
          </p:cNvGraphicFramePr>
          <p:nvPr>
            <p:extLst>
              <p:ext uri="{D42A27DB-BD31-4B8C-83A1-F6EECF244321}">
                <p14:modId xmlns:p14="http://schemas.microsoft.com/office/powerpoint/2010/main" val="2522474382"/>
              </p:ext>
            </p:extLst>
          </p:nvPr>
        </p:nvGraphicFramePr>
        <p:xfrm>
          <a:off x="3071664" y="2471172"/>
          <a:ext cx="6272952" cy="674370"/>
        </p:xfrm>
        <a:graphic>
          <a:graphicData uri="http://schemas.openxmlformats.org/drawingml/2006/table">
            <a:tbl>
              <a:tblPr firstRow="1" bandRow="1">
                <a:tableStyleId>{9DCAF9ED-07DC-4A11-8D7F-57B35C25682E}</a:tableStyleId>
              </a:tblPr>
              <a:tblGrid>
                <a:gridCol w="1959440">
                  <a:extLst>
                    <a:ext uri="{9D8B030D-6E8A-4147-A177-3AD203B41FA5}">
                      <a16:colId xmlns:a16="http://schemas.microsoft.com/office/drawing/2014/main" val="20000"/>
                    </a:ext>
                  </a:extLst>
                </a:gridCol>
                <a:gridCol w="941182">
                  <a:extLst>
                    <a:ext uri="{9D8B030D-6E8A-4147-A177-3AD203B41FA5}">
                      <a16:colId xmlns:a16="http://schemas.microsoft.com/office/drawing/2014/main" val="20001"/>
                    </a:ext>
                  </a:extLst>
                </a:gridCol>
                <a:gridCol w="1003056">
                  <a:extLst>
                    <a:ext uri="{9D8B030D-6E8A-4147-A177-3AD203B41FA5}">
                      <a16:colId xmlns:a16="http://schemas.microsoft.com/office/drawing/2014/main" val="20002"/>
                    </a:ext>
                  </a:extLst>
                </a:gridCol>
                <a:gridCol w="779307">
                  <a:extLst>
                    <a:ext uri="{9D8B030D-6E8A-4147-A177-3AD203B41FA5}">
                      <a16:colId xmlns:a16="http://schemas.microsoft.com/office/drawing/2014/main" val="20003"/>
                    </a:ext>
                  </a:extLst>
                </a:gridCol>
                <a:gridCol w="1589967">
                  <a:extLst>
                    <a:ext uri="{9D8B030D-6E8A-4147-A177-3AD203B41FA5}">
                      <a16:colId xmlns:a16="http://schemas.microsoft.com/office/drawing/2014/main" val="20004"/>
                    </a:ext>
                  </a:extLst>
                </a:gridCol>
              </a:tblGrid>
              <a:tr h="108012">
                <a:tc>
                  <a:txBody>
                    <a:bodyPr/>
                    <a:lstStyle/>
                    <a:p>
                      <a:pPr marL="0" algn="l" defTabSz="914400" rtl="0" eaLnBrk="1" latinLnBrk="0" hangingPunct="1">
                        <a:lnSpc>
                          <a:spcPct val="115000"/>
                        </a:lnSpc>
                        <a:spcAft>
                          <a:spcPts val="0"/>
                        </a:spcAft>
                      </a:pPr>
                      <a:r>
                        <a:rPr lang="en-GB" sz="1000" kern="1200" dirty="0"/>
                        <a:t>Cast complexity</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Current</a:t>
                      </a:r>
                      <a:r>
                        <a:rPr lang="fr-FR" sz="1000" kern="1200" dirty="0"/>
                        <a:t> total</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Previous</a:t>
                      </a:r>
                      <a:r>
                        <a:rPr lang="fr-FR" sz="1000" kern="1200" dirty="0"/>
                        <a:t> total</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Evol</a:t>
                      </a:r>
                      <a:r>
                        <a:rPr lang="fr-FR" sz="1000" kern="1200" dirty="0"/>
                        <a:t>.</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on total </a:t>
                      </a:r>
                      <a:r>
                        <a:rPr lang="fr-FR" sz="1000" kern="1200" dirty="0" err="1"/>
                        <a:t>elements</a:t>
                      </a:r>
                      <a:endParaRPr lang="fr-FR" sz="1000" b="1" kern="1200" dirty="0">
                        <a:solidFill>
                          <a:schemeClr val="lt1"/>
                        </a:solidFill>
                        <a:latin typeface="+mn-lt"/>
                        <a:ea typeface="+mn-ea"/>
                        <a:cs typeface="+mn-cs"/>
                      </a:endParaRPr>
                    </a:p>
                  </a:txBody>
                  <a:tcPr marL="68580" marR="68580" marT="0" marB="0"/>
                </a:tc>
                <a:extLst>
                  <a:ext uri="{0D108BD9-81ED-4DB2-BD59-A6C34878D82A}">
                    <a16:rowId xmlns:a16="http://schemas.microsoft.com/office/drawing/2014/main" val="10000"/>
                  </a:ext>
                </a:extLst>
              </a:tr>
              <a:tr h="108012">
                <a:tc>
                  <a:txBody>
                    <a:bodyPr/>
                    <a:lstStyle/>
                    <a:p>
                      <a:pPr marL="0" algn="l" defTabSz="914400" rtl="0" eaLnBrk="1" latinLnBrk="0" hangingPunct="1">
                        <a:lnSpc>
                          <a:spcPct val="115000"/>
                        </a:lnSpc>
                        <a:spcAft>
                          <a:spcPts val="0"/>
                        </a:spcAft>
                      </a:pPr>
                      <a:r>
                        <a:rPr lang="en-GB" sz="1000" kern="1200" dirty="0"/>
                        <a:t>High</a:t>
                      </a:r>
                      <a:r>
                        <a:rPr lang="en-GB" sz="1000" kern="1200" baseline="0" dirty="0"/>
                        <a:t> and Very High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C2+D2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C1+D1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(C2+D2)-(C1+D1)</a:t>
                      </a:r>
                      <a:endParaRPr lang="fr-FR" sz="1000" kern="1200" dirty="0">
                        <a:solidFill>
                          <a:schemeClr val="dk1"/>
                        </a:solidFill>
                        <a:latin typeface="+mn-lt"/>
                        <a:ea typeface="+mn-ea"/>
                        <a:cs typeface="+mn-cs"/>
                      </a:endParaRPr>
                    </a:p>
                  </a:txBody>
                  <a:tcPr marL="68580" marR="68580" marT="0" marB="0"/>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fr-FR" sz="1000" kern="1200" dirty="0"/>
                        <a:t>100*(C2+D2)/(A2+B2+C2+D2)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1"/>
                  </a:ext>
                </a:extLst>
              </a:tr>
            </a:tbl>
          </a:graphicData>
        </a:graphic>
      </p:graphicFrame>
      <p:graphicFrame>
        <p:nvGraphicFramePr>
          <p:cNvPr id="25" name="Table 24" descr="TABLE;CAST_HIGH_DISTRIBUTION;PAR=65501"/>
          <p:cNvGraphicFramePr>
            <a:graphicFrameLocks noGrp="1"/>
          </p:cNvGraphicFramePr>
          <p:nvPr>
            <p:extLst>
              <p:ext uri="{D42A27DB-BD31-4B8C-83A1-F6EECF244321}">
                <p14:modId xmlns:p14="http://schemas.microsoft.com/office/powerpoint/2010/main" val="206823754"/>
              </p:ext>
            </p:extLst>
          </p:nvPr>
        </p:nvGraphicFramePr>
        <p:xfrm>
          <a:off x="3155703" y="5351492"/>
          <a:ext cx="6252666" cy="674370"/>
        </p:xfrm>
        <a:graphic>
          <a:graphicData uri="http://schemas.openxmlformats.org/drawingml/2006/table">
            <a:tbl>
              <a:tblPr firstRow="1" bandRow="1">
                <a:tableStyleId>{9DCAF9ED-07DC-4A11-8D7F-57B35C25682E}</a:tableStyleId>
              </a:tblPr>
              <a:tblGrid>
                <a:gridCol w="1953104">
                  <a:extLst>
                    <a:ext uri="{9D8B030D-6E8A-4147-A177-3AD203B41FA5}">
                      <a16:colId xmlns:a16="http://schemas.microsoft.com/office/drawing/2014/main" val="20000"/>
                    </a:ext>
                  </a:extLst>
                </a:gridCol>
                <a:gridCol w="938138">
                  <a:extLst>
                    <a:ext uri="{9D8B030D-6E8A-4147-A177-3AD203B41FA5}">
                      <a16:colId xmlns:a16="http://schemas.microsoft.com/office/drawing/2014/main" val="20001"/>
                    </a:ext>
                  </a:extLst>
                </a:gridCol>
                <a:gridCol w="999811">
                  <a:extLst>
                    <a:ext uri="{9D8B030D-6E8A-4147-A177-3AD203B41FA5}">
                      <a16:colId xmlns:a16="http://schemas.microsoft.com/office/drawing/2014/main" val="20002"/>
                    </a:ext>
                  </a:extLst>
                </a:gridCol>
                <a:gridCol w="776787">
                  <a:extLst>
                    <a:ext uri="{9D8B030D-6E8A-4147-A177-3AD203B41FA5}">
                      <a16:colId xmlns:a16="http://schemas.microsoft.com/office/drawing/2014/main" val="20003"/>
                    </a:ext>
                  </a:extLst>
                </a:gridCol>
                <a:gridCol w="1584826">
                  <a:extLst>
                    <a:ext uri="{9D8B030D-6E8A-4147-A177-3AD203B41FA5}">
                      <a16:colId xmlns:a16="http://schemas.microsoft.com/office/drawing/2014/main" val="20004"/>
                    </a:ext>
                  </a:extLst>
                </a:gridCol>
              </a:tblGrid>
              <a:tr h="108012">
                <a:tc>
                  <a:txBody>
                    <a:bodyPr/>
                    <a:lstStyle/>
                    <a:p>
                      <a:pPr marL="0" algn="l" defTabSz="914400" rtl="0" eaLnBrk="1" latinLnBrk="0" hangingPunct="1">
                        <a:lnSpc>
                          <a:spcPct val="115000"/>
                        </a:lnSpc>
                        <a:spcAft>
                          <a:spcPts val="0"/>
                        </a:spcAft>
                      </a:pPr>
                      <a:r>
                        <a:rPr lang="en-GB" sz="1000" kern="1200" dirty="0" err="1"/>
                        <a:t>Cyclomatic</a:t>
                      </a:r>
                      <a:r>
                        <a:rPr lang="en-GB" sz="1000" kern="1200" dirty="0"/>
                        <a:t> Complexity Distribution</a:t>
                      </a:r>
                      <a:endParaRPr lang="fr-FR" sz="1000" b="1" kern="1200" dirty="0">
                        <a:solidFill>
                          <a:schemeClr val="accent2">
                            <a:lumMod val="75000"/>
                          </a:schemeClr>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Current</a:t>
                      </a:r>
                      <a:r>
                        <a:rPr lang="fr-FR" sz="1000" kern="1200" dirty="0"/>
                        <a:t> total</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Previous</a:t>
                      </a:r>
                      <a:r>
                        <a:rPr lang="fr-FR" sz="1000" kern="1200" dirty="0"/>
                        <a:t> total</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Evol</a:t>
                      </a:r>
                      <a:r>
                        <a:rPr lang="fr-FR" sz="1000" kern="1200" dirty="0"/>
                        <a:t>.</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on total </a:t>
                      </a:r>
                      <a:r>
                        <a:rPr lang="fr-FR" sz="1000" kern="1200" dirty="0" err="1"/>
                        <a:t>elements</a:t>
                      </a:r>
                      <a:endParaRPr lang="fr-FR" sz="1000" b="1" kern="1200" dirty="0">
                        <a:solidFill>
                          <a:schemeClr val="lt1"/>
                        </a:solidFill>
                        <a:latin typeface="+mn-lt"/>
                        <a:ea typeface="+mn-ea"/>
                        <a:cs typeface="+mn-cs"/>
                      </a:endParaRPr>
                    </a:p>
                  </a:txBody>
                  <a:tcPr marL="68580" marR="68580" marT="0" marB="0"/>
                </a:tc>
                <a:extLst>
                  <a:ext uri="{0D108BD9-81ED-4DB2-BD59-A6C34878D82A}">
                    <a16:rowId xmlns:a16="http://schemas.microsoft.com/office/drawing/2014/main" val="10000"/>
                  </a:ext>
                </a:extLst>
              </a:tr>
              <a:tr h="108012">
                <a:tc>
                  <a:txBody>
                    <a:bodyPr/>
                    <a:lstStyle/>
                    <a:p>
                      <a:pPr marL="0" algn="l" defTabSz="914400" rtl="0" eaLnBrk="1" latinLnBrk="0" hangingPunct="1">
                        <a:lnSpc>
                          <a:spcPct val="115000"/>
                        </a:lnSpc>
                        <a:spcAft>
                          <a:spcPts val="0"/>
                        </a:spcAft>
                      </a:pPr>
                      <a:r>
                        <a:rPr lang="en-GB" sz="1000" kern="1200" dirty="0"/>
                        <a:t>High</a:t>
                      </a:r>
                      <a:r>
                        <a:rPr lang="en-GB" sz="1000" kern="1200" baseline="0" dirty="0"/>
                        <a:t> and Very High Complexity</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C2+D2</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C1+D1</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(C2+D2)-(C1+D1)</a:t>
                      </a:r>
                      <a:endParaRPr lang="fr-FR" sz="1000" kern="1200" dirty="0">
                        <a:solidFill>
                          <a:schemeClr val="dk1"/>
                        </a:solidFill>
                        <a:latin typeface="+mn-lt"/>
                        <a:ea typeface="+mn-ea"/>
                        <a:cs typeface="+mn-cs"/>
                      </a:endParaRPr>
                    </a:p>
                  </a:txBody>
                  <a:tcPr marL="68580" marR="68580" marT="0" marB="0"/>
                </a:tc>
                <a:tc>
                  <a:txBody>
                    <a:bodyPr/>
                    <a:lstStyle/>
                    <a:p>
                      <a:pPr marL="0" marR="0" indent="0" algn="r" defTabSz="914400" rtl="0" eaLnBrk="1" fontAlgn="auto" latinLnBrk="0" hangingPunct="1">
                        <a:lnSpc>
                          <a:spcPct val="115000"/>
                        </a:lnSpc>
                        <a:spcBef>
                          <a:spcPts val="0"/>
                        </a:spcBef>
                        <a:spcAft>
                          <a:spcPts val="0"/>
                        </a:spcAft>
                        <a:buClrTx/>
                        <a:buSzTx/>
                        <a:buFontTx/>
                        <a:buNone/>
                        <a:tabLst/>
                        <a:defRPr/>
                      </a:pPr>
                      <a:r>
                        <a:rPr lang="fr-FR" sz="1000" kern="1200" dirty="0"/>
                        <a:t>100*(C2+D2)/(A2+B2+C2+D2)</a:t>
                      </a:r>
                      <a:endParaRPr lang="fr-FR" sz="1000" kern="1200" dirty="0">
                        <a:solidFill>
                          <a:schemeClr val="dk1"/>
                        </a:solidFill>
                        <a:latin typeface="+mn-lt"/>
                        <a:ea typeface="+mn-ea"/>
                        <a:cs typeface="+mn-cs"/>
                      </a:endParaRPr>
                    </a:p>
                  </a:txBody>
                  <a:tcPr marL="68580" marR="432000" marT="0" marB="0"/>
                </a:tc>
                <a:extLst>
                  <a:ext uri="{0D108BD9-81ED-4DB2-BD59-A6C34878D82A}">
                    <a16:rowId xmlns:a16="http://schemas.microsoft.com/office/drawing/2014/main" val="10001"/>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PowerPoint Templates – Tables</a:t>
            </a:r>
          </a:p>
        </p:txBody>
      </p:sp>
      <p:grpSp>
        <p:nvGrpSpPr>
          <p:cNvPr id="3" name="Group 2">
            <a:extLst>
              <a:ext uri="{FF2B5EF4-FFF2-40B4-BE49-F238E27FC236}">
                <a16:creationId xmlns:a16="http://schemas.microsoft.com/office/drawing/2014/main" id="{6C897E11-7D32-484C-95AF-9BF6D05C31D7}"/>
              </a:ext>
            </a:extLst>
          </p:cNvPr>
          <p:cNvGrpSpPr/>
          <p:nvPr/>
        </p:nvGrpSpPr>
        <p:grpSpPr>
          <a:xfrm>
            <a:off x="1913240" y="1209328"/>
            <a:ext cx="8503240" cy="4896544"/>
            <a:chOff x="1913240" y="980728"/>
            <a:chExt cx="8503240" cy="4896544"/>
          </a:xfrm>
        </p:grpSpPr>
        <p:sp>
          <p:nvSpPr>
            <p:cNvPr id="5" name="Rounded Rectangle 4"/>
            <p:cNvSpPr/>
            <p:nvPr/>
          </p:nvSpPr>
          <p:spPr>
            <a:xfrm>
              <a:off x="2017200" y="980728"/>
              <a:ext cx="8157600" cy="4896544"/>
            </a:xfrm>
            <a:prstGeom prst="roundRect">
              <a:avLst>
                <a:gd name="adj" fmla="val 124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6" name="TextBox 5"/>
            <p:cNvSpPr txBox="1"/>
            <p:nvPr/>
          </p:nvSpPr>
          <p:spPr>
            <a:xfrm>
              <a:off x="1913240" y="980728"/>
              <a:ext cx="850324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Health Factor Score by Modules &amp; Evolution on Previous version</a:t>
              </a:r>
            </a:p>
          </p:txBody>
        </p:sp>
        <p:sp>
          <p:nvSpPr>
            <p:cNvPr id="7" name="TextBox 6"/>
            <p:cNvSpPr txBox="1"/>
            <p:nvPr/>
          </p:nvSpPr>
          <p:spPr>
            <a:xfrm>
              <a:off x="3620746" y="1426424"/>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HF_BY_MODULE</a:t>
              </a:r>
            </a:p>
          </p:txBody>
        </p:sp>
        <p:sp>
          <p:nvSpPr>
            <p:cNvPr id="8" name="TextBox 7"/>
            <p:cNvSpPr txBox="1"/>
            <p:nvPr/>
          </p:nvSpPr>
          <p:spPr>
            <a:xfrm>
              <a:off x="2173582" y="139912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01243" y="1807001"/>
              <a:ext cx="6696839"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dirty="0"/>
                <a:t>HEADER=SHORT (by default HEADER=SHORT)</a:t>
              </a:r>
            </a:p>
            <a:p>
              <a:r>
                <a:rPr lang="en-US" sz="1200" dirty="0"/>
                <a:t>Indicates that short headers will be shown, obviously long headers will be shown</a:t>
              </a:r>
            </a:p>
          </p:txBody>
        </p:sp>
        <p:sp>
          <p:nvSpPr>
            <p:cNvPr id="10" name="TextBox 9"/>
            <p:cNvSpPr txBox="1"/>
            <p:nvPr/>
          </p:nvSpPr>
          <p:spPr>
            <a:xfrm>
              <a:off x="2590364"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1" name="Table 10" descr="TABLE;HF_BY_MODULE;HEADER=SHORT"/>
          <p:cNvGraphicFramePr>
            <a:graphicFrameLocks noGrp="1"/>
          </p:cNvGraphicFramePr>
          <p:nvPr>
            <p:extLst>
              <p:ext uri="{D42A27DB-BD31-4B8C-83A1-F6EECF244321}">
                <p14:modId xmlns:p14="http://schemas.microsoft.com/office/powerpoint/2010/main" val="3281290425"/>
              </p:ext>
            </p:extLst>
          </p:nvPr>
        </p:nvGraphicFramePr>
        <p:xfrm>
          <a:off x="2569072" y="2740165"/>
          <a:ext cx="7127330" cy="3123932"/>
        </p:xfrm>
        <a:graphic>
          <a:graphicData uri="http://schemas.openxmlformats.org/drawingml/2006/table">
            <a:tbl>
              <a:tblPr firstRow="1" bandRow="1">
                <a:tableStyleId>{9DCAF9ED-07DC-4A11-8D7F-57B35C25682E}</a:tableStyleId>
              </a:tblPr>
              <a:tblGrid>
                <a:gridCol w="1681730">
                  <a:extLst>
                    <a:ext uri="{9D8B030D-6E8A-4147-A177-3AD203B41FA5}">
                      <a16:colId xmlns:a16="http://schemas.microsoft.com/office/drawing/2014/main" val="20000"/>
                    </a:ext>
                  </a:extLst>
                </a:gridCol>
                <a:gridCol w="907600">
                  <a:extLst>
                    <a:ext uri="{9D8B030D-6E8A-4147-A177-3AD203B41FA5}">
                      <a16:colId xmlns:a16="http://schemas.microsoft.com/office/drawing/2014/main" val="20001"/>
                    </a:ext>
                  </a:extLst>
                </a:gridCol>
                <a:gridCol w="907600">
                  <a:extLst>
                    <a:ext uri="{9D8B030D-6E8A-4147-A177-3AD203B41FA5}">
                      <a16:colId xmlns:a16="http://schemas.microsoft.com/office/drawing/2014/main" val="20002"/>
                    </a:ext>
                  </a:extLst>
                </a:gridCol>
                <a:gridCol w="907600">
                  <a:extLst>
                    <a:ext uri="{9D8B030D-6E8A-4147-A177-3AD203B41FA5}">
                      <a16:colId xmlns:a16="http://schemas.microsoft.com/office/drawing/2014/main" val="20003"/>
                    </a:ext>
                  </a:extLst>
                </a:gridCol>
                <a:gridCol w="907600">
                  <a:extLst>
                    <a:ext uri="{9D8B030D-6E8A-4147-A177-3AD203B41FA5}">
                      <a16:colId xmlns:a16="http://schemas.microsoft.com/office/drawing/2014/main" val="20004"/>
                    </a:ext>
                  </a:extLst>
                </a:gridCol>
                <a:gridCol w="907600">
                  <a:extLst>
                    <a:ext uri="{9D8B030D-6E8A-4147-A177-3AD203B41FA5}">
                      <a16:colId xmlns:a16="http://schemas.microsoft.com/office/drawing/2014/main" val="20005"/>
                    </a:ext>
                  </a:extLst>
                </a:gridCol>
                <a:gridCol w="907600">
                  <a:extLst>
                    <a:ext uri="{9D8B030D-6E8A-4147-A177-3AD203B41FA5}">
                      <a16:colId xmlns:a16="http://schemas.microsoft.com/office/drawing/2014/main" val="20006"/>
                    </a:ext>
                  </a:extLst>
                </a:gridCol>
              </a:tblGrid>
              <a:tr h="168019">
                <a:tc>
                  <a:txBody>
                    <a:bodyPr/>
                    <a:lstStyle/>
                    <a:p>
                      <a:pPr>
                        <a:lnSpc>
                          <a:spcPct val="115000"/>
                        </a:lnSpc>
                        <a:spcAft>
                          <a:spcPts val="0"/>
                        </a:spcAft>
                      </a:pP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TQI</a:t>
                      </a:r>
                      <a:endParaRPr lang="fr-FR" sz="1100" dirty="0">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Robu.</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Effy</a:t>
                      </a:r>
                      <a:r>
                        <a:rPr lang="fr-FR" sz="1000" kern="1200" dirty="0"/>
                        <a:t>.</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Secu.</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Trans.</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Chang.</a:t>
                      </a:r>
                      <a:endParaRPr lang="fr-FR" sz="1000" b="1" kern="1200" dirty="0">
                        <a:solidFill>
                          <a:schemeClr val="lt1"/>
                        </a:solidFill>
                        <a:latin typeface="+mn-lt"/>
                        <a:ea typeface="+mn-ea"/>
                        <a:cs typeface="+mn-cs"/>
                      </a:endParaRPr>
                    </a:p>
                  </a:txBody>
                  <a:tcPr marL="68580" marR="68580" marT="0" marB="0"/>
                </a:tc>
                <a:extLst>
                  <a:ext uri="{0D108BD9-81ED-4DB2-BD59-A6C34878D82A}">
                    <a16:rowId xmlns:a16="http://schemas.microsoft.com/office/drawing/2014/main" val="10000"/>
                  </a:ext>
                </a:extLst>
              </a:tr>
              <a:tr h="168019">
                <a:tc>
                  <a:txBody>
                    <a:bodyPr/>
                    <a:lstStyle/>
                    <a:p>
                      <a:pPr>
                        <a:lnSpc>
                          <a:spcPct val="115000"/>
                        </a:lnSpc>
                        <a:spcAft>
                          <a:spcPts val="0"/>
                        </a:spcAft>
                      </a:pPr>
                      <a:r>
                        <a:rPr lang="en-GB" sz="1000" dirty="0"/>
                        <a:t>Current Version</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68019">
                <a:tc>
                  <a:txBody>
                    <a:bodyPr/>
                    <a:lstStyle/>
                    <a:p>
                      <a:pPr>
                        <a:lnSpc>
                          <a:spcPct val="115000"/>
                        </a:lnSpc>
                        <a:spcAft>
                          <a:spcPts val="0"/>
                        </a:spcAft>
                      </a:pPr>
                      <a:r>
                        <a:rPr lang="en-GB" sz="1100" dirty="0"/>
                        <a:t>Module 1</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68019">
                <a:tc>
                  <a:txBody>
                    <a:bodyPr/>
                    <a:lstStyle/>
                    <a:p>
                      <a:pPr>
                        <a:lnSpc>
                          <a:spcPct val="115000"/>
                        </a:lnSpc>
                        <a:spcAft>
                          <a:spcPts val="0"/>
                        </a:spcAft>
                      </a:pPr>
                      <a:r>
                        <a:rPr lang="en-GB" sz="1000" dirty="0"/>
                        <a:t>Module  2</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68019">
                <a:tc>
                  <a:txBody>
                    <a:bodyPr/>
                    <a:lstStyle/>
                    <a:p>
                      <a:pPr>
                        <a:lnSpc>
                          <a:spcPct val="115000"/>
                        </a:lnSpc>
                        <a:spcAft>
                          <a:spcPts val="0"/>
                        </a:spcAft>
                      </a:pPr>
                      <a:r>
                        <a:rPr lang="en-GB" sz="1000" dirty="0"/>
                        <a:t>Module  3</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68019">
                <a:tc>
                  <a:txBody>
                    <a:bodyPr/>
                    <a:lstStyle/>
                    <a:p>
                      <a:pPr>
                        <a:lnSpc>
                          <a:spcPct val="115000"/>
                        </a:lnSpc>
                        <a:spcAft>
                          <a:spcPts val="0"/>
                        </a:spcAft>
                      </a:pPr>
                      <a:r>
                        <a:rPr lang="en-GB" sz="1000" dirty="0"/>
                        <a:t>Module 4</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68019">
                <a:tc>
                  <a:txBody>
                    <a:bodyPr/>
                    <a:lstStyle/>
                    <a:p>
                      <a:pPr>
                        <a:lnSpc>
                          <a:spcPct val="115000"/>
                        </a:lnSpc>
                        <a:spcAft>
                          <a:spcPts val="0"/>
                        </a:spcAft>
                      </a:pPr>
                      <a:r>
                        <a:rPr lang="fr-FR" sz="1100" dirty="0"/>
                        <a:t>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68019">
                <a:tc>
                  <a:txBody>
                    <a:bodyPr/>
                    <a:lstStyle/>
                    <a:p>
                      <a:pPr>
                        <a:lnSpc>
                          <a:spcPct val="115000"/>
                        </a:lnSpc>
                        <a:spcAft>
                          <a:spcPts val="0"/>
                        </a:spcAft>
                      </a:pPr>
                      <a:r>
                        <a:rPr lang="en-GB" sz="1000" dirty="0"/>
                        <a:t>Previous Version</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68019">
                <a:tc>
                  <a:txBody>
                    <a:bodyPr/>
                    <a:lstStyle/>
                    <a:p>
                      <a:pPr>
                        <a:lnSpc>
                          <a:spcPct val="115000"/>
                        </a:lnSpc>
                        <a:spcAft>
                          <a:spcPts val="0"/>
                        </a:spcAft>
                      </a:pPr>
                      <a:r>
                        <a:rPr lang="en-GB" sz="1100" dirty="0"/>
                        <a:t>Module 1</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168019">
                <a:tc>
                  <a:txBody>
                    <a:bodyPr/>
                    <a:lstStyle/>
                    <a:p>
                      <a:pPr>
                        <a:lnSpc>
                          <a:spcPct val="115000"/>
                        </a:lnSpc>
                        <a:spcAft>
                          <a:spcPts val="0"/>
                        </a:spcAft>
                      </a:pPr>
                      <a:r>
                        <a:rPr lang="en-GB" sz="1000" dirty="0"/>
                        <a:t>Module  2</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168019">
                <a:tc>
                  <a:txBody>
                    <a:bodyPr/>
                    <a:lstStyle/>
                    <a:p>
                      <a:pPr>
                        <a:lnSpc>
                          <a:spcPct val="115000"/>
                        </a:lnSpc>
                        <a:spcAft>
                          <a:spcPts val="0"/>
                        </a:spcAft>
                      </a:pPr>
                      <a:r>
                        <a:rPr lang="en-GB" sz="1000" dirty="0"/>
                        <a:t>Module  3</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r h="168019">
                <a:tc>
                  <a:txBody>
                    <a:bodyPr/>
                    <a:lstStyle/>
                    <a:p>
                      <a:pPr>
                        <a:lnSpc>
                          <a:spcPct val="115000"/>
                        </a:lnSpc>
                        <a:spcAft>
                          <a:spcPts val="0"/>
                        </a:spcAft>
                      </a:pPr>
                      <a:r>
                        <a:rPr lang="en-GB" sz="1000" dirty="0"/>
                        <a:t>Module 4</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1"/>
                  </a:ext>
                </a:extLst>
              </a:tr>
              <a:tr h="168019">
                <a:tc>
                  <a:txBody>
                    <a:bodyPr/>
                    <a:lstStyle/>
                    <a:p>
                      <a:pPr>
                        <a:lnSpc>
                          <a:spcPct val="115000"/>
                        </a:lnSpc>
                        <a:spcAft>
                          <a:spcPts val="0"/>
                        </a:spcAft>
                      </a:pPr>
                      <a:r>
                        <a:rPr lang="fr-FR" sz="1100" dirty="0"/>
                        <a:t>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2"/>
                  </a:ext>
                </a:extLst>
              </a:tr>
              <a:tr h="168019">
                <a:tc>
                  <a:txBody>
                    <a:bodyPr/>
                    <a:lstStyle/>
                    <a:p>
                      <a:pPr>
                        <a:lnSpc>
                          <a:spcPct val="115000"/>
                        </a:lnSpc>
                        <a:spcAft>
                          <a:spcPts val="0"/>
                        </a:spcAft>
                      </a:pPr>
                      <a:r>
                        <a:rPr lang="en-GB" sz="1000" dirty="0"/>
                        <a:t>Variation</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3"/>
                  </a:ext>
                </a:extLst>
              </a:tr>
              <a:tr h="168019">
                <a:tc>
                  <a:txBody>
                    <a:bodyPr/>
                    <a:lstStyle/>
                    <a:p>
                      <a:pPr>
                        <a:lnSpc>
                          <a:spcPct val="115000"/>
                        </a:lnSpc>
                        <a:spcAft>
                          <a:spcPts val="0"/>
                        </a:spcAft>
                      </a:pPr>
                      <a:r>
                        <a:rPr lang="en-GB" sz="1100" dirty="0"/>
                        <a:t>Module 1</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4"/>
                  </a:ext>
                </a:extLst>
              </a:tr>
              <a:tr h="168019">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GB" sz="1100" dirty="0"/>
                        <a:t>Module 2</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5"/>
                  </a:ext>
                </a:extLst>
              </a:tr>
              <a:tr h="168019">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GB" sz="1100" dirty="0"/>
                        <a:t>Module </a:t>
                      </a:r>
                      <a:r>
                        <a:rPr lang="en-GB" sz="1100" baseline="0" dirty="0"/>
                        <a:t>3</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6"/>
                  </a:ext>
                </a:extLst>
              </a:tr>
              <a:tr h="168019">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GB" sz="1100" dirty="0"/>
                        <a:t>Module </a:t>
                      </a:r>
                      <a:r>
                        <a:rPr lang="en-GB" sz="1100" baseline="0" dirty="0"/>
                        <a:t>4</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14721509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C326BE2-33C5-4A86-B695-76450FA9801F}"/>
              </a:ext>
            </a:extLst>
          </p:cNvPr>
          <p:cNvGrpSpPr/>
          <p:nvPr/>
        </p:nvGrpSpPr>
        <p:grpSpPr>
          <a:xfrm>
            <a:off x="1919536" y="3933056"/>
            <a:ext cx="8469648" cy="2232248"/>
            <a:chOff x="1919536" y="3933056"/>
            <a:chExt cx="8469648" cy="2232248"/>
          </a:xfrm>
        </p:grpSpPr>
        <p:sp>
          <p:nvSpPr>
            <p:cNvPr id="12" name="Rounded Rectangle 11"/>
            <p:cNvSpPr/>
            <p:nvPr/>
          </p:nvSpPr>
          <p:spPr>
            <a:xfrm>
              <a:off x="1991544" y="3933056"/>
              <a:ext cx="8157600" cy="2232248"/>
            </a:xfrm>
            <a:prstGeom prst="roundRect">
              <a:avLst>
                <a:gd name="adj" fmla="val 1970"/>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8" name="TextBox 17"/>
            <p:cNvSpPr txBox="1"/>
            <p:nvPr/>
          </p:nvSpPr>
          <p:spPr>
            <a:xfrm>
              <a:off x="1919536" y="393305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Total Quality index Grade &amp; Evolution</a:t>
              </a:r>
            </a:p>
          </p:txBody>
        </p:sp>
        <p:sp>
          <p:nvSpPr>
            <p:cNvPr id="19" name="TextBox 18"/>
            <p:cNvSpPr txBox="1"/>
            <p:nvPr/>
          </p:nvSpPr>
          <p:spPr>
            <a:xfrm>
              <a:off x="3732184" y="434768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TQI</a:t>
              </a:r>
            </a:p>
          </p:txBody>
        </p:sp>
        <p:sp>
          <p:nvSpPr>
            <p:cNvPr id="20" name="TextBox 19"/>
            <p:cNvSpPr txBox="1"/>
            <p:nvPr/>
          </p:nvSpPr>
          <p:spPr>
            <a:xfrm>
              <a:off x="2189484" y="4334040"/>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25" name="TextBox 24"/>
            <p:cNvSpPr txBox="1"/>
            <p:nvPr/>
          </p:nvSpPr>
          <p:spPr>
            <a:xfrm>
              <a:off x="3758650" y="4671426"/>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26" name="TextBox 25"/>
            <p:cNvSpPr txBox="1"/>
            <p:nvPr/>
          </p:nvSpPr>
          <p:spPr>
            <a:xfrm>
              <a:off x="2610138" y="468507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pSp>
        <p:nvGrpSpPr>
          <p:cNvPr id="3" name="Group 2">
            <a:extLst>
              <a:ext uri="{FF2B5EF4-FFF2-40B4-BE49-F238E27FC236}">
                <a16:creationId xmlns:a16="http://schemas.microsoft.com/office/drawing/2014/main" id="{756029FF-009B-4D3C-89D1-87809832CF35}"/>
              </a:ext>
            </a:extLst>
          </p:cNvPr>
          <p:cNvGrpSpPr/>
          <p:nvPr/>
        </p:nvGrpSpPr>
        <p:grpSpPr>
          <a:xfrm>
            <a:off x="1919536" y="1083854"/>
            <a:ext cx="8374942" cy="2609037"/>
            <a:chOff x="1919536" y="908720"/>
            <a:chExt cx="8374942" cy="2609037"/>
          </a:xfrm>
        </p:grpSpPr>
        <p:sp>
          <p:nvSpPr>
            <p:cNvPr id="6" name="Rounded Rectangle 5"/>
            <p:cNvSpPr/>
            <p:nvPr/>
          </p:nvSpPr>
          <p:spPr>
            <a:xfrm>
              <a:off x="1919536" y="908720"/>
              <a:ext cx="8157600" cy="2609037"/>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44304" y="908720"/>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List of Modules</a:t>
              </a:r>
            </a:p>
          </p:txBody>
        </p:sp>
        <p:sp>
          <p:nvSpPr>
            <p:cNvPr id="14" name="TextBox 13"/>
            <p:cNvSpPr txBox="1"/>
            <p:nvPr/>
          </p:nvSpPr>
          <p:spPr>
            <a:xfrm>
              <a:off x="3663944" y="128240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MODULE_LIST</a:t>
              </a:r>
            </a:p>
          </p:txBody>
        </p:sp>
        <p:sp>
          <p:nvSpPr>
            <p:cNvPr id="15" name="TextBox 14"/>
            <p:cNvSpPr txBox="1"/>
            <p:nvPr/>
          </p:nvSpPr>
          <p:spPr>
            <a:xfrm>
              <a:off x="2203132" y="1268760"/>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50296" y="1619420"/>
              <a:ext cx="6630534"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b="1" dirty="0"/>
                <a:t>HEADER=SHORT </a:t>
              </a:r>
              <a:r>
                <a:rPr lang="en-US" sz="1200" dirty="0"/>
                <a:t>(by default HEADER=SHORT)</a:t>
              </a:r>
            </a:p>
            <a:p>
              <a:r>
                <a:rPr lang="en-US" sz="1200" dirty="0"/>
                <a:t>Indicates that short headers will be shown, obviously long headers will be shown</a:t>
              </a:r>
            </a:p>
          </p:txBody>
        </p:sp>
        <p:sp>
          <p:nvSpPr>
            <p:cNvPr id="17" name="TextBox 16"/>
            <p:cNvSpPr txBox="1"/>
            <p:nvPr/>
          </p:nvSpPr>
          <p:spPr>
            <a:xfrm>
              <a:off x="2619914" y="1588730"/>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sp>
        <p:nvSpPr>
          <p:cNvPr id="2" name="Title 1"/>
          <p:cNvSpPr>
            <a:spLocks noGrp="1"/>
          </p:cNvSpPr>
          <p:nvPr>
            <p:ph type="title"/>
          </p:nvPr>
        </p:nvSpPr>
        <p:spPr/>
        <p:txBody>
          <a:bodyPr/>
          <a:lstStyle/>
          <a:p>
            <a:r>
              <a:rPr lang="fr-FR" dirty="0"/>
              <a:t>PowerPoint </a:t>
            </a:r>
            <a:r>
              <a:rPr lang="fr-FR" dirty="0" err="1"/>
              <a:t>Templates</a:t>
            </a:r>
            <a:r>
              <a:rPr lang="fr-FR" dirty="0"/>
              <a:t> – Tables</a:t>
            </a:r>
            <a:endParaRPr lang="en-US" dirty="0"/>
          </a:p>
        </p:txBody>
      </p:sp>
      <p:graphicFrame>
        <p:nvGraphicFramePr>
          <p:cNvPr id="22" name="Table 17" descr="TABLE;TQI"/>
          <p:cNvGraphicFramePr>
            <a:graphicFrameLocks noGrp="1"/>
          </p:cNvGraphicFramePr>
          <p:nvPr>
            <p:extLst>
              <p:ext uri="{D42A27DB-BD31-4B8C-83A1-F6EECF244321}">
                <p14:modId xmlns:p14="http://schemas.microsoft.com/office/powerpoint/2010/main" val="3358851563"/>
              </p:ext>
            </p:extLst>
          </p:nvPr>
        </p:nvGraphicFramePr>
        <p:xfrm>
          <a:off x="4575858" y="5157192"/>
          <a:ext cx="3248334" cy="353315"/>
        </p:xfrm>
        <a:graphic>
          <a:graphicData uri="http://schemas.openxmlformats.org/drawingml/2006/table">
            <a:tbl>
              <a:tblPr firstRow="1" bandRow="1">
                <a:tableStyleId>{9DCAF9ED-07DC-4A11-8D7F-57B35C25682E}</a:tableStyleId>
              </a:tblPr>
              <a:tblGrid>
                <a:gridCol w="1337548">
                  <a:extLst>
                    <a:ext uri="{9D8B030D-6E8A-4147-A177-3AD203B41FA5}">
                      <a16:colId xmlns:a16="http://schemas.microsoft.com/office/drawing/2014/main" val="20000"/>
                    </a:ext>
                  </a:extLst>
                </a:gridCol>
                <a:gridCol w="955393">
                  <a:extLst>
                    <a:ext uri="{9D8B030D-6E8A-4147-A177-3AD203B41FA5}">
                      <a16:colId xmlns:a16="http://schemas.microsoft.com/office/drawing/2014/main" val="20001"/>
                    </a:ext>
                  </a:extLst>
                </a:gridCol>
                <a:gridCol w="955393">
                  <a:extLst>
                    <a:ext uri="{9D8B030D-6E8A-4147-A177-3AD203B41FA5}">
                      <a16:colId xmlns:a16="http://schemas.microsoft.com/office/drawing/2014/main" val="20002"/>
                    </a:ext>
                  </a:extLst>
                </a:gridCol>
              </a:tblGrid>
              <a:tr h="168019">
                <a:tc>
                  <a:txBody>
                    <a:bodyPr/>
                    <a:lstStyle/>
                    <a:p>
                      <a:pPr>
                        <a:lnSpc>
                          <a:spcPct val="115000"/>
                        </a:lnSpc>
                        <a:spcAft>
                          <a:spcPts val="0"/>
                        </a:spcAft>
                      </a:pPr>
                      <a:r>
                        <a:rPr lang="en-GB" sz="1000" dirty="0"/>
                        <a:t>Statistics</a:t>
                      </a:r>
                      <a:endParaRPr lang="fr-FR" sz="1100" dirty="0">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Current</a:t>
                      </a:r>
                      <a:endParaRPr lang="fr-FR" sz="1100" dirty="0">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100" dirty="0" err="1"/>
                        <a:t>Previous</a:t>
                      </a:r>
                      <a:endParaRPr lang="fr-FR" sz="1100" dirty="0">
                        <a:latin typeface="Calibri"/>
                        <a:ea typeface="Calibri"/>
                        <a:cs typeface="Times New Roman"/>
                      </a:endParaRPr>
                    </a:p>
                  </a:txBody>
                  <a:tcPr marL="68580" marR="68580" marT="0" marB="0" anchor="ctr" anchorCtr="1"/>
                </a:tc>
                <a:extLst>
                  <a:ext uri="{0D108BD9-81ED-4DB2-BD59-A6C34878D82A}">
                    <a16:rowId xmlns:a16="http://schemas.microsoft.com/office/drawing/2014/main" val="10000"/>
                  </a:ext>
                </a:extLst>
              </a:tr>
              <a:tr h="168019">
                <a:tc>
                  <a:txBody>
                    <a:bodyPr/>
                    <a:lstStyle/>
                    <a:p>
                      <a:pPr>
                        <a:lnSpc>
                          <a:spcPct val="115000"/>
                        </a:lnSpc>
                        <a:spcAft>
                          <a:spcPts val="0"/>
                        </a:spcAft>
                      </a:pPr>
                      <a:r>
                        <a:rPr lang="en-GB" sz="1000" dirty="0"/>
                        <a:t>TQI</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nchor="ctr" anchorCtr="1"/>
                </a:tc>
                <a:tc>
                  <a:txBody>
                    <a:bodyPr/>
                    <a:lstStyle/>
                    <a:p>
                      <a:pPr algn="r">
                        <a:lnSpc>
                          <a:spcPct val="115000"/>
                        </a:lnSpc>
                        <a:spcAft>
                          <a:spcPts val="0"/>
                        </a:spcAft>
                      </a:pPr>
                      <a:r>
                        <a:rPr lang="fr-FR" sz="1050" dirty="0"/>
                        <a:t>0</a:t>
                      </a:r>
                      <a:endParaRPr lang="fr-FR" sz="1050" dirty="0">
                        <a:solidFill>
                          <a:schemeClr val="tx1"/>
                        </a:solidFill>
                        <a:latin typeface="Calibri"/>
                        <a:ea typeface="Calibri"/>
                        <a:cs typeface="Times New Roman"/>
                      </a:endParaRPr>
                    </a:p>
                  </a:txBody>
                  <a:tcPr marL="68580" marR="68580" marT="0" marB="0" anchor="ctr" anchorCtr="1"/>
                </a:tc>
                <a:extLst>
                  <a:ext uri="{0D108BD9-81ED-4DB2-BD59-A6C34878D82A}">
                    <a16:rowId xmlns:a16="http://schemas.microsoft.com/office/drawing/2014/main" val="10001"/>
                  </a:ext>
                </a:extLst>
              </a:tr>
            </a:tbl>
          </a:graphicData>
        </a:graphic>
      </p:graphicFrame>
      <p:graphicFrame>
        <p:nvGraphicFramePr>
          <p:cNvPr id="11" name="Table 17" descr="TABLE;MODULE_LIST"/>
          <p:cNvGraphicFramePr>
            <a:graphicFrameLocks noGrp="1"/>
          </p:cNvGraphicFramePr>
          <p:nvPr>
            <p:extLst>
              <p:ext uri="{D42A27DB-BD31-4B8C-83A1-F6EECF244321}">
                <p14:modId xmlns:p14="http://schemas.microsoft.com/office/powerpoint/2010/main" val="2966848300"/>
              </p:ext>
            </p:extLst>
          </p:nvPr>
        </p:nvGraphicFramePr>
        <p:xfrm>
          <a:off x="4655840" y="2564904"/>
          <a:ext cx="3312368" cy="342456"/>
        </p:xfrm>
        <a:graphic>
          <a:graphicData uri="http://schemas.openxmlformats.org/drawingml/2006/table">
            <a:tbl>
              <a:tblPr firstRow="1" bandRow="1">
                <a:tableStyleId>{9DCAF9ED-07DC-4A11-8D7F-57B35C25682E}</a:tableStyleId>
              </a:tblPr>
              <a:tblGrid>
                <a:gridCol w="3312368">
                  <a:extLst>
                    <a:ext uri="{9D8B030D-6E8A-4147-A177-3AD203B41FA5}">
                      <a16:colId xmlns:a16="http://schemas.microsoft.com/office/drawing/2014/main" val="20000"/>
                    </a:ext>
                  </a:extLst>
                </a:gridCol>
              </a:tblGrid>
              <a:tr h="140556">
                <a:tc>
                  <a:txBody>
                    <a:bodyPr/>
                    <a:lstStyle/>
                    <a:p>
                      <a:pPr>
                        <a:lnSpc>
                          <a:spcPct val="115000"/>
                        </a:lnSpc>
                        <a:spcAft>
                          <a:spcPts val="0"/>
                        </a:spcAft>
                      </a:pPr>
                      <a:r>
                        <a:rPr lang="en-GB" sz="1000" dirty="0"/>
                        <a:t>Module</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119908">
                <a:tc>
                  <a:txBody>
                    <a:bodyPr/>
                    <a:lstStyle/>
                    <a:p>
                      <a:pPr>
                        <a:lnSpc>
                          <a:spcPct val="115000"/>
                        </a:lnSpc>
                        <a:spcAft>
                          <a:spcPts val="0"/>
                        </a:spcAft>
                      </a:pPr>
                      <a:r>
                        <a:rPr lang="fr-FR" sz="1100" kern="1200" dirty="0"/>
                        <a:t>Module</a:t>
                      </a:r>
                      <a:r>
                        <a:rPr lang="fr-FR" sz="1100" baseline="0" dirty="0"/>
                        <a:t> </a:t>
                      </a:r>
                      <a:r>
                        <a:rPr lang="fr-FR" sz="1100" kern="1200" dirty="0"/>
                        <a:t>1</a:t>
                      </a:r>
                      <a:endParaRPr lang="fr-FR" sz="11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848824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BC6D95A-6B0E-4D12-9799-168383ABA7BA}"/>
              </a:ext>
            </a:extLst>
          </p:cNvPr>
          <p:cNvGrpSpPr/>
          <p:nvPr/>
        </p:nvGrpSpPr>
        <p:grpSpPr>
          <a:xfrm>
            <a:off x="1892240" y="1239810"/>
            <a:ext cx="8338766" cy="4999616"/>
            <a:chOff x="1892240" y="949664"/>
            <a:chExt cx="8338766" cy="4999616"/>
          </a:xfrm>
        </p:grpSpPr>
        <p:sp>
          <p:nvSpPr>
            <p:cNvPr id="6" name="Rounded Rectangle 5"/>
            <p:cNvSpPr/>
            <p:nvPr/>
          </p:nvSpPr>
          <p:spPr>
            <a:xfrm>
              <a:off x="1991544" y="949664"/>
              <a:ext cx="8157600" cy="4999616"/>
            </a:xfrm>
            <a:prstGeom prst="roundRect">
              <a:avLst>
                <a:gd name="adj" fmla="val 1298"/>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892240" y="1021672"/>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Total Quality Index by Module &amp; Evolution</a:t>
              </a:r>
            </a:p>
          </p:txBody>
        </p:sp>
        <p:sp>
          <p:nvSpPr>
            <p:cNvPr id="14" name="TextBox 13"/>
            <p:cNvSpPr txBox="1"/>
            <p:nvPr/>
          </p:nvSpPr>
          <p:spPr>
            <a:xfrm>
              <a:off x="3600472" y="1440073"/>
              <a:ext cx="6630534" cy="523220"/>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TQI_BY_MODULE</a:t>
              </a:r>
            </a:p>
            <a:p>
              <a:endParaRPr lang="fr-FR" sz="1400" dirty="0"/>
            </a:p>
          </p:txBody>
        </p:sp>
        <p:sp>
          <p:nvSpPr>
            <p:cNvPr id="15" name="TextBox 14"/>
            <p:cNvSpPr txBox="1"/>
            <p:nvPr/>
          </p:nvSpPr>
          <p:spPr>
            <a:xfrm>
              <a:off x="2153308" y="142642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00472" y="1846860"/>
              <a:ext cx="6630534"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dirty="0"/>
                <a:t>HEADER=SHORT (by default HEADER=SHORT)</a:t>
              </a:r>
            </a:p>
            <a:p>
              <a:r>
                <a:rPr lang="en-US" sz="1200" dirty="0"/>
                <a:t>Indicates that short headers will be shown, obviously long headers will be shown</a:t>
              </a:r>
            </a:p>
          </p:txBody>
        </p:sp>
        <p:sp>
          <p:nvSpPr>
            <p:cNvPr id="17" name="TextBox 16"/>
            <p:cNvSpPr txBox="1"/>
            <p:nvPr/>
          </p:nvSpPr>
          <p:spPr>
            <a:xfrm>
              <a:off x="2570090" y="1816170"/>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2" name="Table 10" descr="TABLE;TQI_BY_MODULE;HEADER=SHORT"/>
          <p:cNvGraphicFramePr>
            <a:graphicFrameLocks noGrp="1"/>
          </p:cNvGraphicFramePr>
          <p:nvPr>
            <p:extLst>
              <p:ext uri="{D42A27DB-BD31-4B8C-83A1-F6EECF244321}">
                <p14:modId xmlns:p14="http://schemas.microsoft.com/office/powerpoint/2010/main" val="3263544287"/>
              </p:ext>
            </p:extLst>
          </p:nvPr>
        </p:nvGraphicFramePr>
        <p:xfrm>
          <a:off x="3143673" y="3181913"/>
          <a:ext cx="5786295" cy="1346413"/>
        </p:xfrm>
        <a:graphic>
          <a:graphicData uri="http://schemas.openxmlformats.org/drawingml/2006/table">
            <a:tbl>
              <a:tblPr firstRow="1" bandRow="1">
                <a:tableStyleId>{9DCAF9ED-07DC-4A11-8D7F-57B35C25682E}</a:tableStyleId>
              </a:tblPr>
              <a:tblGrid>
                <a:gridCol w="2111215">
                  <a:extLst>
                    <a:ext uri="{9D8B030D-6E8A-4147-A177-3AD203B41FA5}">
                      <a16:colId xmlns:a16="http://schemas.microsoft.com/office/drawing/2014/main" val="20000"/>
                    </a:ext>
                  </a:extLst>
                </a:gridCol>
                <a:gridCol w="1417014">
                  <a:extLst>
                    <a:ext uri="{9D8B030D-6E8A-4147-A177-3AD203B41FA5}">
                      <a16:colId xmlns:a16="http://schemas.microsoft.com/office/drawing/2014/main" val="20001"/>
                    </a:ext>
                  </a:extLst>
                </a:gridCol>
                <a:gridCol w="1129033">
                  <a:extLst>
                    <a:ext uri="{9D8B030D-6E8A-4147-A177-3AD203B41FA5}">
                      <a16:colId xmlns:a16="http://schemas.microsoft.com/office/drawing/2014/main" val="20002"/>
                    </a:ext>
                  </a:extLst>
                </a:gridCol>
                <a:gridCol w="1129033">
                  <a:extLst>
                    <a:ext uri="{9D8B030D-6E8A-4147-A177-3AD203B41FA5}">
                      <a16:colId xmlns:a16="http://schemas.microsoft.com/office/drawing/2014/main" val="20003"/>
                    </a:ext>
                  </a:extLst>
                </a:gridCol>
              </a:tblGrid>
              <a:tr h="247088">
                <a:tc>
                  <a:txBody>
                    <a:bodyPr/>
                    <a:lstStyle/>
                    <a:p>
                      <a:pPr>
                        <a:lnSpc>
                          <a:spcPct val="115000"/>
                        </a:lnSpc>
                        <a:spcAft>
                          <a:spcPts val="0"/>
                        </a:spcAft>
                      </a:pPr>
                      <a:endParaRPr lang="fr-FR" sz="1100" dirty="0">
                        <a:latin typeface="Calibri"/>
                        <a:ea typeface="Calibri"/>
                        <a:cs typeface="Times New Roman"/>
                      </a:endParaRPr>
                    </a:p>
                  </a:txBody>
                  <a:tcPr marL="68580" marR="68580" marT="0" marB="0" anchor="ctr"/>
                </a:tc>
                <a:tc>
                  <a:txBody>
                    <a:bodyPr/>
                    <a:lstStyle/>
                    <a:p>
                      <a:pPr algn="ctr">
                        <a:lnSpc>
                          <a:spcPct val="115000"/>
                        </a:lnSpc>
                        <a:spcAft>
                          <a:spcPts val="0"/>
                        </a:spcAft>
                      </a:pPr>
                      <a:r>
                        <a:rPr lang="en-GB" sz="1000" dirty="0"/>
                        <a:t>Current TQI</a:t>
                      </a:r>
                      <a:endParaRPr lang="fr-FR" sz="1100" dirty="0">
                        <a:latin typeface="Calibri"/>
                        <a:ea typeface="Calibri"/>
                        <a:cs typeface="Times New Roman"/>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err="1"/>
                        <a:t>Previous</a:t>
                      </a:r>
                      <a:r>
                        <a:rPr lang="fr-FR" sz="1000" kern="1200" dirty="0"/>
                        <a:t> TQI</a:t>
                      </a:r>
                      <a:endParaRPr lang="fr-FR" sz="1000" b="1" kern="1200" dirty="0">
                        <a:solidFill>
                          <a:schemeClr val="lt1"/>
                        </a:solidFill>
                        <a:latin typeface="+mn-lt"/>
                        <a:ea typeface="+mn-ea"/>
                        <a:cs typeface="+mn-cs"/>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err="1"/>
                        <a:t>Varariaion</a:t>
                      </a:r>
                      <a:r>
                        <a:rPr lang="fr-FR" sz="1000" kern="1200" dirty="0"/>
                        <a:t>.</a:t>
                      </a:r>
                      <a:endParaRPr lang="fr-FR" sz="1000" b="1" kern="1200" dirty="0">
                        <a:solidFill>
                          <a:schemeClr val="lt1"/>
                        </a:solidFill>
                        <a:latin typeface="+mn-lt"/>
                        <a:ea typeface="+mn-ea"/>
                        <a:cs typeface="+mn-cs"/>
                      </a:endParaRPr>
                    </a:p>
                  </a:txBody>
                  <a:tcPr marL="68580" marR="68580" marT="0" marB="0" anchor="ctr"/>
                </a:tc>
                <a:extLst>
                  <a:ext uri="{0D108BD9-81ED-4DB2-BD59-A6C34878D82A}">
                    <a16:rowId xmlns:a16="http://schemas.microsoft.com/office/drawing/2014/main" val="10000"/>
                  </a:ext>
                </a:extLst>
              </a:tr>
              <a:tr h="294941">
                <a:tc>
                  <a:txBody>
                    <a:bodyPr/>
                    <a:lstStyle/>
                    <a:p>
                      <a:pPr>
                        <a:lnSpc>
                          <a:spcPct val="115000"/>
                        </a:lnSpc>
                        <a:spcAft>
                          <a:spcPts val="0"/>
                        </a:spcAft>
                      </a:pPr>
                      <a:r>
                        <a:rPr lang="en-GB" sz="1100" dirty="0"/>
                        <a:t>Module 1</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268128">
                <a:tc>
                  <a:txBody>
                    <a:bodyPr/>
                    <a:lstStyle/>
                    <a:p>
                      <a:pPr>
                        <a:lnSpc>
                          <a:spcPct val="115000"/>
                        </a:lnSpc>
                        <a:spcAft>
                          <a:spcPts val="0"/>
                        </a:spcAft>
                      </a:pPr>
                      <a:r>
                        <a:rPr lang="en-GB" sz="1000" dirty="0"/>
                        <a:t>Module  2</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268128">
                <a:tc>
                  <a:txBody>
                    <a:bodyPr/>
                    <a:lstStyle/>
                    <a:p>
                      <a:pPr>
                        <a:lnSpc>
                          <a:spcPct val="115000"/>
                        </a:lnSpc>
                        <a:spcAft>
                          <a:spcPts val="0"/>
                        </a:spcAft>
                      </a:pPr>
                      <a:r>
                        <a:rPr lang="en-GB" sz="1000" dirty="0"/>
                        <a:t>Module  3</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268128">
                <a:tc>
                  <a:txBody>
                    <a:bodyPr/>
                    <a:lstStyle/>
                    <a:p>
                      <a:pPr>
                        <a:lnSpc>
                          <a:spcPct val="115000"/>
                        </a:lnSpc>
                        <a:spcAft>
                          <a:spcPts val="0"/>
                        </a:spcAft>
                      </a:pPr>
                      <a:r>
                        <a:rPr lang="en-GB" sz="1000" dirty="0"/>
                        <a:t>Module 4</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0.00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bl>
          </a:graphicData>
        </a:graphic>
      </p:graphicFrame>
      <p:sp>
        <p:nvSpPr>
          <p:cNvPr id="2" name="Title 1"/>
          <p:cNvSpPr>
            <a:spLocks noGrp="1"/>
          </p:cNvSpPr>
          <p:nvPr>
            <p:ph type="title"/>
          </p:nvPr>
        </p:nvSpPr>
        <p:spPr/>
        <p:txBody>
          <a:bodyPr/>
          <a:lstStyle/>
          <a:p>
            <a:r>
              <a:rPr lang="fr-FR" dirty="0"/>
              <a:t>PowerPoint </a:t>
            </a:r>
            <a:r>
              <a:rPr lang="fr-FR" dirty="0" err="1"/>
              <a:t>Templates</a:t>
            </a:r>
            <a:r>
              <a:rPr lang="fr-FR" dirty="0"/>
              <a:t> – Tables</a:t>
            </a:r>
            <a:endParaRPr lang="en-US" dirty="0"/>
          </a:p>
        </p:txBody>
      </p:sp>
    </p:spTree>
    <p:extLst>
      <p:ext uri="{BB962C8B-B14F-4D97-AF65-F5344CB8AC3E}">
        <p14:creationId xmlns:p14="http://schemas.microsoft.com/office/powerpoint/2010/main" val="42742026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F5D0D6-B78D-4448-B7F3-0DF3B106516E}"/>
              </a:ext>
            </a:extLst>
          </p:cNvPr>
          <p:cNvGrpSpPr/>
          <p:nvPr/>
        </p:nvGrpSpPr>
        <p:grpSpPr>
          <a:xfrm>
            <a:off x="1847528" y="1391290"/>
            <a:ext cx="8487064" cy="4392488"/>
            <a:chOff x="1847528" y="980728"/>
            <a:chExt cx="8487064" cy="4392488"/>
          </a:xfrm>
        </p:grpSpPr>
        <p:sp>
          <p:nvSpPr>
            <p:cNvPr id="6" name="Rounded Rectangle 5"/>
            <p:cNvSpPr/>
            <p:nvPr/>
          </p:nvSpPr>
          <p:spPr>
            <a:xfrm>
              <a:off x="1919536" y="980728"/>
              <a:ext cx="8157600" cy="439248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847528" y="1052736"/>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Technology distribution by Module</a:t>
              </a:r>
            </a:p>
          </p:txBody>
        </p:sp>
        <p:sp>
          <p:nvSpPr>
            <p:cNvPr id="14" name="TextBox 13"/>
            <p:cNvSpPr txBox="1"/>
            <p:nvPr/>
          </p:nvSpPr>
          <p:spPr>
            <a:xfrm>
              <a:off x="3651810" y="1525728"/>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TECHNO_LOC_BY_MODULE</a:t>
              </a:r>
            </a:p>
          </p:txBody>
        </p:sp>
        <p:sp>
          <p:nvSpPr>
            <p:cNvPr id="15" name="TextBox 14"/>
            <p:cNvSpPr txBox="1"/>
            <p:nvPr/>
          </p:nvSpPr>
          <p:spPr>
            <a:xfrm>
              <a:off x="2122758" y="1512080"/>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1" name="TextBox 10"/>
            <p:cNvSpPr txBox="1"/>
            <p:nvPr/>
          </p:nvSpPr>
          <p:spPr>
            <a:xfrm>
              <a:off x="3704058" y="1879656"/>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12" name="TextBox 11"/>
            <p:cNvSpPr txBox="1"/>
            <p:nvPr/>
          </p:nvSpPr>
          <p:spPr>
            <a:xfrm>
              <a:off x="2555546" y="1893304"/>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9" name="Table 10" descr="TABLE;TECHNO_LOC_BY_MODULE;HEADER=SHORT"/>
          <p:cNvGraphicFramePr>
            <a:graphicFrameLocks noGrp="1"/>
          </p:cNvGraphicFramePr>
          <p:nvPr>
            <p:extLst>
              <p:ext uri="{D42A27DB-BD31-4B8C-83A1-F6EECF244321}">
                <p14:modId xmlns:p14="http://schemas.microsoft.com/office/powerpoint/2010/main" val="679652044"/>
              </p:ext>
            </p:extLst>
          </p:nvPr>
        </p:nvGraphicFramePr>
        <p:xfrm>
          <a:off x="2613960" y="2975467"/>
          <a:ext cx="6794408" cy="1690729"/>
        </p:xfrm>
        <a:graphic>
          <a:graphicData uri="http://schemas.openxmlformats.org/drawingml/2006/table">
            <a:tbl>
              <a:tblPr firstRow="1" bandRow="1">
                <a:tableStyleId>{9DCAF9ED-07DC-4A11-8D7F-57B35C25682E}</a:tableStyleId>
              </a:tblPr>
              <a:tblGrid>
                <a:gridCol w="2948517">
                  <a:extLst>
                    <a:ext uri="{9D8B030D-6E8A-4147-A177-3AD203B41FA5}">
                      <a16:colId xmlns:a16="http://schemas.microsoft.com/office/drawing/2014/main" val="20000"/>
                    </a:ext>
                  </a:extLst>
                </a:gridCol>
                <a:gridCol w="2034725">
                  <a:extLst>
                    <a:ext uri="{9D8B030D-6E8A-4147-A177-3AD203B41FA5}">
                      <a16:colId xmlns:a16="http://schemas.microsoft.com/office/drawing/2014/main" val="20001"/>
                    </a:ext>
                  </a:extLst>
                </a:gridCol>
                <a:gridCol w="1811166">
                  <a:extLst>
                    <a:ext uri="{9D8B030D-6E8A-4147-A177-3AD203B41FA5}">
                      <a16:colId xmlns:a16="http://schemas.microsoft.com/office/drawing/2014/main" val="20002"/>
                    </a:ext>
                  </a:extLst>
                </a:gridCol>
              </a:tblGrid>
              <a:tr h="216024">
                <a:tc>
                  <a:txBody>
                    <a:bodyPr/>
                    <a:lstStyle/>
                    <a:p>
                      <a:pPr>
                        <a:lnSpc>
                          <a:spcPct val="115000"/>
                        </a:lnSpc>
                        <a:spcAft>
                          <a:spcPts val="0"/>
                        </a:spcAft>
                      </a:pPr>
                      <a:endParaRPr lang="fr-FR" sz="1100" dirty="0">
                        <a:latin typeface="Calibri"/>
                        <a:ea typeface="Calibri"/>
                        <a:cs typeface="Times New Roman"/>
                      </a:endParaRPr>
                    </a:p>
                  </a:txBody>
                  <a:tcPr marL="68580" marR="68580" marT="0" marB="0" anchor="ctr"/>
                </a:tc>
                <a:tc>
                  <a:txBody>
                    <a:bodyPr/>
                    <a:lstStyle/>
                    <a:p>
                      <a:pPr algn="ctr">
                        <a:lnSpc>
                          <a:spcPct val="115000"/>
                        </a:lnSpc>
                        <a:spcAft>
                          <a:spcPts val="0"/>
                        </a:spcAft>
                      </a:pPr>
                      <a:r>
                        <a:rPr lang="en-GB" sz="1000" dirty="0"/>
                        <a:t>Tech 1</a:t>
                      </a:r>
                      <a:endParaRPr lang="fr-FR" sz="1100" dirty="0">
                        <a:latin typeface="Calibri"/>
                        <a:ea typeface="Calibri"/>
                        <a:cs typeface="Times New Roman"/>
                      </a:endParaRPr>
                    </a:p>
                  </a:txBody>
                  <a:tcPr marL="68580" marR="68580" marT="0" marB="0" anchor="ctr"/>
                </a:tc>
                <a:tc>
                  <a:txBody>
                    <a:bodyPr/>
                    <a:lstStyle/>
                    <a:p>
                      <a:pPr marL="0" algn="ctr" defTabSz="914400" rtl="0" eaLnBrk="1" latinLnBrk="0" hangingPunct="1">
                        <a:lnSpc>
                          <a:spcPct val="115000"/>
                        </a:lnSpc>
                        <a:spcAft>
                          <a:spcPts val="0"/>
                        </a:spcAft>
                      </a:pPr>
                      <a:r>
                        <a:rPr lang="fr-FR" sz="1000" kern="1200" dirty="0"/>
                        <a:t>Tech 2</a:t>
                      </a:r>
                      <a:endParaRPr lang="fr-FR" sz="1000" b="1" kern="1200" dirty="0">
                        <a:solidFill>
                          <a:schemeClr val="lt1"/>
                        </a:solidFill>
                        <a:latin typeface="+mn-lt"/>
                        <a:ea typeface="+mn-ea"/>
                        <a:cs typeface="+mn-cs"/>
                      </a:endParaRPr>
                    </a:p>
                  </a:txBody>
                  <a:tcPr marL="68580" marR="68580" marT="0" marB="0" anchor="ctr"/>
                </a:tc>
                <a:extLst>
                  <a:ext uri="{0D108BD9-81ED-4DB2-BD59-A6C34878D82A}">
                    <a16:rowId xmlns:a16="http://schemas.microsoft.com/office/drawing/2014/main" val="10000"/>
                  </a:ext>
                </a:extLst>
              </a:tr>
              <a:tr h="294941">
                <a:tc>
                  <a:txBody>
                    <a:bodyPr/>
                    <a:lstStyle/>
                    <a:p>
                      <a:pPr>
                        <a:lnSpc>
                          <a:spcPct val="115000"/>
                        </a:lnSpc>
                        <a:spcAft>
                          <a:spcPts val="0"/>
                        </a:spcAft>
                      </a:pPr>
                      <a:r>
                        <a:rPr lang="en-GB" sz="1100" dirty="0"/>
                        <a:t>Module 1</a:t>
                      </a:r>
                      <a:endParaRPr lang="fr-FR" sz="1400" dirty="0">
                        <a:solidFill>
                          <a:schemeClr val="accent3">
                            <a:lumMod val="50000"/>
                          </a:schemeClr>
                        </a:solidFill>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GB" sz="1000" kern="1200" dirty="0"/>
                        <a:t>-</a:t>
                      </a:r>
                      <a:endParaRPr lang="fr-FR" sz="1000" kern="1200" dirty="0">
                        <a:solidFill>
                          <a:schemeClr val="dk1"/>
                        </a:solidFill>
                        <a:latin typeface="+mn-lt"/>
                        <a:ea typeface="+mn-ea"/>
                        <a:cs typeface="+mn-cs"/>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1"/>
                  </a:ext>
                </a:extLst>
              </a:tr>
              <a:tr h="294941">
                <a:tc>
                  <a:txBody>
                    <a:bodyPr/>
                    <a:lstStyle/>
                    <a:p>
                      <a:pPr>
                        <a:lnSpc>
                          <a:spcPct val="115000"/>
                        </a:lnSpc>
                        <a:spcAft>
                          <a:spcPts val="0"/>
                        </a:spcAft>
                      </a:pPr>
                      <a:r>
                        <a:rPr lang="en-GB" sz="1100" dirty="0"/>
                        <a:t>Module</a:t>
                      </a:r>
                      <a:r>
                        <a:rPr lang="en-GB" sz="1100" baseline="0" dirty="0"/>
                        <a:t> 2</a:t>
                      </a:r>
                      <a:endParaRPr lang="fr-FR" sz="1400" dirty="0">
                        <a:solidFill>
                          <a:schemeClr val="accent3">
                            <a:lumMod val="50000"/>
                          </a:schemeClr>
                        </a:solidFill>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GB" sz="1000" kern="1200" dirty="0"/>
                        <a:t>-</a:t>
                      </a:r>
                      <a:endParaRPr lang="fr-FR" sz="1000" kern="1200" dirty="0">
                        <a:solidFill>
                          <a:schemeClr val="dk1"/>
                        </a:solidFill>
                        <a:latin typeface="+mn-lt"/>
                        <a:ea typeface="+mn-ea"/>
                        <a:cs typeface="+mn-cs"/>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2"/>
                  </a:ext>
                </a:extLst>
              </a:tr>
              <a:tr h="294941">
                <a:tc>
                  <a:txBody>
                    <a:bodyPr/>
                    <a:lstStyle/>
                    <a:p>
                      <a:pPr>
                        <a:lnSpc>
                          <a:spcPct val="115000"/>
                        </a:lnSpc>
                        <a:spcAft>
                          <a:spcPts val="0"/>
                        </a:spcAft>
                      </a:pPr>
                      <a:r>
                        <a:rPr lang="en-GB" sz="1100" dirty="0"/>
                        <a:t>Module</a:t>
                      </a:r>
                      <a:r>
                        <a:rPr lang="en-GB" sz="1100" baseline="0" dirty="0"/>
                        <a:t> 3</a:t>
                      </a:r>
                      <a:endParaRPr lang="fr-FR" sz="1400" dirty="0">
                        <a:solidFill>
                          <a:schemeClr val="accent3">
                            <a:lumMod val="50000"/>
                          </a:schemeClr>
                        </a:solidFill>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GB" sz="1000" kern="1200" dirty="0"/>
                        <a:t>-</a:t>
                      </a:r>
                      <a:endParaRPr lang="fr-FR" sz="1000" kern="1200" dirty="0">
                        <a:solidFill>
                          <a:schemeClr val="dk1"/>
                        </a:solidFill>
                        <a:latin typeface="+mn-lt"/>
                        <a:ea typeface="+mn-ea"/>
                        <a:cs typeface="+mn-cs"/>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3"/>
                  </a:ext>
                </a:extLst>
              </a:tr>
              <a:tr h="294941">
                <a:tc>
                  <a:txBody>
                    <a:bodyPr/>
                    <a:lstStyle/>
                    <a:p>
                      <a:pPr>
                        <a:lnSpc>
                          <a:spcPct val="115000"/>
                        </a:lnSpc>
                        <a:spcAft>
                          <a:spcPts val="0"/>
                        </a:spcAft>
                      </a:pPr>
                      <a:r>
                        <a:rPr lang="en-GB" sz="1100" dirty="0"/>
                        <a:t>Module</a:t>
                      </a:r>
                      <a:r>
                        <a:rPr lang="en-GB" sz="1100" baseline="0" dirty="0"/>
                        <a:t> 4</a:t>
                      </a:r>
                      <a:endParaRPr lang="fr-FR" sz="1400" dirty="0">
                        <a:solidFill>
                          <a:schemeClr val="accent3">
                            <a:lumMod val="50000"/>
                          </a:schemeClr>
                        </a:solidFill>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GB" sz="1000" kern="1200" dirty="0"/>
                        <a:t>-</a:t>
                      </a:r>
                      <a:endParaRPr lang="fr-FR" sz="1000" kern="1200" dirty="0">
                        <a:solidFill>
                          <a:schemeClr val="dk1"/>
                        </a:solidFill>
                        <a:latin typeface="+mn-lt"/>
                        <a:ea typeface="+mn-ea"/>
                        <a:cs typeface="+mn-cs"/>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4"/>
                  </a:ext>
                </a:extLst>
              </a:tr>
              <a:tr h="294941">
                <a:tc>
                  <a:txBody>
                    <a:bodyPr/>
                    <a:lstStyle/>
                    <a:p>
                      <a:pPr>
                        <a:lnSpc>
                          <a:spcPct val="115000"/>
                        </a:lnSpc>
                        <a:spcAft>
                          <a:spcPts val="0"/>
                        </a:spcAft>
                      </a:pPr>
                      <a:r>
                        <a:rPr lang="en-GB" sz="1100" dirty="0"/>
                        <a:t>Module</a:t>
                      </a:r>
                      <a:r>
                        <a:rPr lang="en-GB" sz="1100" baseline="0" dirty="0"/>
                        <a:t> 4</a:t>
                      </a:r>
                      <a:endParaRPr lang="fr-FR" sz="1400" dirty="0">
                        <a:solidFill>
                          <a:schemeClr val="accent3">
                            <a:lumMod val="50000"/>
                          </a:schemeClr>
                        </a:solidFill>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GB" sz="1000" kern="1200" dirty="0"/>
                        <a:t>-</a:t>
                      </a:r>
                      <a:endParaRPr lang="fr-FR" sz="1000" kern="1200" dirty="0">
                        <a:solidFill>
                          <a:schemeClr val="dk1"/>
                        </a:solidFill>
                        <a:latin typeface="+mn-lt"/>
                        <a:ea typeface="+mn-ea"/>
                        <a:cs typeface="+mn-cs"/>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PowerPoint Templates – Tables</a:t>
            </a:r>
          </a:p>
        </p:txBody>
      </p:sp>
    </p:spTree>
    <p:extLst>
      <p:ext uri="{BB962C8B-B14F-4D97-AF65-F5344CB8AC3E}">
        <p14:creationId xmlns:p14="http://schemas.microsoft.com/office/powerpoint/2010/main" val="18038427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FE78CED-B494-42D6-914C-5DB54F28E9A9}"/>
              </a:ext>
            </a:extLst>
          </p:cNvPr>
          <p:cNvGrpSpPr/>
          <p:nvPr/>
        </p:nvGrpSpPr>
        <p:grpSpPr>
          <a:xfrm>
            <a:off x="1985248" y="1594520"/>
            <a:ext cx="8433246" cy="4104456"/>
            <a:chOff x="1985248" y="908720"/>
            <a:chExt cx="8433246" cy="4104456"/>
          </a:xfrm>
        </p:grpSpPr>
        <p:sp>
          <p:nvSpPr>
            <p:cNvPr id="6" name="Rounded Rectangle 5"/>
            <p:cNvSpPr/>
            <p:nvPr/>
          </p:nvSpPr>
          <p:spPr>
            <a:xfrm>
              <a:off x="1991544" y="908720"/>
              <a:ext cx="8157600" cy="4104456"/>
            </a:xfrm>
            <a:prstGeom prst="roundRect">
              <a:avLst>
                <a:gd name="adj" fmla="val 1746"/>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85248" y="980728"/>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Statistics about Artifacts – CAST Complexity &amp; Violations</a:t>
              </a:r>
            </a:p>
          </p:txBody>
        </p:sp>
        <p:sp>
          <p:nvSpPr>
            <p:cNvPr id="14" name="TextBox 13"/>
            <p:cNvSpPr txBox="1"/>
            <p:nvPr/>
          </p:nvSpPr>
          <p:spPr>
            <a:xfrm>
              <a:off x="3787960" y="1497860"/>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CAST_COMPLEXITY_WITH_VIOL</a:t>
              </a:r>
            </a:p>
          </p:txBody>
        </p:sp>
        <p:sp>
          <p:nvSpPr>
            <p:cNvPr id="15" name="TextBox 14"/>
            <p:cNvSpPr txBox="1"/>
            <p:nvPr/>
          </p:nvSpPr>
          <p:spPr>
            <a:xfrm>
              <a:off x="2231612" y="1470564"/>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1" name="TextBox 10"/>
            <p:cNvSpPr txBox="1"/>
            <p:nvPr/>
          </p:nvSpPr>
          <p:spPr>
            <a:xfrm>
              <a:off x="3785946" y="1838712"/>
              <a:ext cx="6630534"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dirty="0"/>
                <a:t>none</a:t>
              </a:r>
            </a:p>
          </p:txBody>
        </p:sp>
        <p:sp>
          <p:nvSpPr>
            <p:cNvPr id="12" name="TextBox 11"/>
            <p:cNvSpPr txBox="1"/>
            <p:nvPr/>
          </p:nvSpPr>
          <p:spPr>
            <a:xfrm>
              <a:off x="2637434" y="1852360"/>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0" name="TextBox 9">
              <a:extLst>
                <a:ext uri="{FF2B5EF4-FFF2-40B4-BE49-F238E27FC236}">
                  <a16:creationId xmlns:a16="http://schemas.microsoft.com/office/drawing/2014/main" id="{003F6E4F-BB7E-4CF1-82AA-91004A0254DC}"/>
                </a:ext>
              </a:extLst>
            </p:cNvPr>
            <p:cNvSpPr txBox="1"/>
            <p:nvPr/>
          </p:nvSpPr>
          <p:spPr>
            <a:xfrm>
              <a:off x="3071664" y="2455008"/>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6" name="TextBox 15">
              <a:extLst>
                <a:ext uri="{FF2B5EF4-FFF2-40B4-BE49-F238E27FC236}">
                  <a16:creationId xmlns:a16="http://schemas.microsoft.com/office/drawing/2014/main" id="{5B9C1290-E227-4E7E-9D9A-5B1BD193BC65}"/>
                </a:ext>
              </a:extLst>
            </p:cNvPr>
            <p:cNvSpPr txBox="1"/>
            <p:nvPr/>
          </p:nvSpPr>
          <p:spPr>
            <a:xfrm>
              <a:off x="2514067" y="2420888"/>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graphicFrame>
        <p:nvGraphicFramePr>
          <p:cNvPr id="9" name="Table 10" descr="TABLE;CAST_COMPLEXITY_WITH_VIOL;HEADER=SHORT"/>
          <p:cNvGraphicFramePr>
            <a:graphicFrameLocks noGrp="1"/>
          </p:cNvGraphicFramePr>
          <p:nvPr>
            <p:extLst>
              <p:ext uri="{D42A27DB-BD31-4B8C-83A1-F6EECF244321}">
                <p14:modId xmlns:p14="http://schemas.microsoft.com/office/powerpoint/2010/main" val="2416186701"/>
              </p:ext>
            </p:extLst>
          </p:nvPr>
        </p:nvGraphicFramePr>
        <p:xfrm>
          <a:off x="3696650" y="3610745"/>
          <a:ext cx="4199551" cy="1474705"/>
        </p:xfrm>
        <a:graphic>
          <a:graphicData uri="http://schemas.openxmlformats.org/drawingml/2006/table">
            <a:tbl>
              <a:tblPr firstRow="1" bandRow="1">
                <a:tableStyleId>{9DCAF9ED-07DC-4A11-8D7F-57B35C25682E}</a:tableStyleId>
              </a:tblPr>
              <a:tblGrid>
                <a:gridCol w="1741128">
                  <a:extLst>
                    <a:ext uri="{9D8B030D-6E8A-4147-A177-3AD203B41FA5}">
                      <a16:colId xmlns:a16="http://schemas.microsoft.com/office/drawing/2014/main" val="20000"/>
                    </a:ext>
                  </a:extLst>
                </a:gridCol>
                <a:gridCol w="1245780">
                  <a:extLst>
                    <a:ext uri="{9D8B030D-6E8A-4147-A177-3AD203B41FA5}">
                      <a16:colId xmlns:a16="http://schemas.microsoft.com/office/drawing/2014/main" val="20001"/>
                    </a:ext>
                  </a:extLst>
                </a:gridCol>
                <a:gridCol w="1212643">
                  <a:extLst>
                    <a:ext uri="{9D8B030D-6E8A-4147-A177-3AD203B41FA5}">
                      <a16:colId xmlns:a16="http://schemas.microsoft.com/office/drawing/2014/main" val="20002"/>
                    </a:ext>
                  </a:extLst>
                </a:gridCol>
              </a:tblGrid>
              <a:tr h="294941">
                <a:tc>
                  <a:txBody>
                    <a:bodyPr/>
                    <a:lstStyle/>
                    <a:p>
                      <a:pPr>
                        <a:lnSpc>
                          <a:spcPct val="115000"/>
                        </a:lnSpc>
                        <a:spcAft>
                          <a:spcPts val="0"/>
                        </a:spcAft>
                      </a:pPr>
                      <a:r>
                        <a:rPr lang="en-US" sz="1100" noProof="0" dirty="0"/>
                        <a:t>Complexity level</a:t>
                      </a:r>
                      <a:endParaRPr lang="en-US" sz="1100" noProof="0" dirty="0">
                        <a:latin typeface="Calibri"/>
                        <a:ea typeface="Calibri"/>
                        <a:cs typeface="Times New Roman"/>
                      </a:endParaRPr>
                    </a:p>
                  </a:txBody>
                  <a:tcPr marL="68580" marR="68580" marT="0" marB="0" anchor="ctr"/>
                </a:tc>
                <a:tc>
                  <a:txBody>
                    <a:bodyPr/>
                    <a:lstStyle/>
                    <a:p>
                      <a:pPr algn="ctr">
                        <a:lnSpc>
                          <a:spcPct val="115000"/>
                        </a:lnSpc>
                        <a:spcAft>
                          <a:spcPts val="0"/>
                        </a:spcAft>
                      </a:pPr>
                      <a:r>
                        <a:rPr lang="en-GB" sz="1000" dirty="0"/>
                        <a:t>Artifacts</a:t>
                      </a:r>
                      <a:endParaRPr lang="fr-FR" sz="1100" dirty="0">
                        <a:latin typeface="Calibri"/>
                        <a:ea typeface="Calibri"/>
                        <a:cs typeface="Times New Roman"/>
                      </a:endParaRPr>
                    </a:p>
                  </a:txBody>
                  <a:tcPr marL="68580" marR="68580" marT="0" marB="0" anchor="ctr"/>
                </a:tc>
                <a:tc>
                  <a:txBody>
                    <a:bodyPr/>
                    <a:lstStyle/>
                    <a:p>
                      <a:pPr marL="0" algn="ctr" defTabSz="914400" rtl="0" eaLnBrk="1" latinLnBrk="0" hangingPunct="1">
                        <a:lnSpc>
                          <a:spcPct val="115000"/>
                        </a:lnSpc>
                        <a:spcAft>
                          <a:spcPts val="0"/>
                        </a:spcAft>
                      </a:pPr>
                      <a:r>
                        <a:rPr lang="en-US" sz="1000" kern="1200" noProof="0" dirty="0"/>
                        <a:t>w/ violations</a:t>
                      </a:r>
                      <a:endParaRPr lang="en-US" sz="1000" b="1" kern="1200" noProof="0" dirty="0">
                        <a:solidFill>
                          <a:schemeClr val="lt1"/>
                        </a:solidFill>
                        <a:latin typeface="+mn-lt"/>
                        <a:ea typeface="+mn-ea"/>
                        <a:cs typeface="+mn-cs"/>
                      </a:endParaRPr>
                    </a:p>
                  </a:txBody>
                  <a:tcPr marL="68580" marR="68580" marT="0" marB="0" anchor="ctr"/>
                </a:tc>
                <a:extLst>
                  <a:ext uri="{0D108BD9-81ED-4DB2-BD59-A6C34878D82A}">
                    <a16:rowId xmlns:a16="http://schemas.microsoft.com/office/drawing/2014/main" val="10000"/>
                  </a:ext>
                </a:extLst>
              </a:tr>
              <a:tr h="294941">
                <a:tc>
                  <a:txBody>
                    <a:bodyPr/>
                    <a:lstStyle/>
                    <a:p>
                      <a:pPr>
                        <a:lnSpc>
                          <a:spcPct val="115000"/>
                        </a:lnSpc>
                        <a:spcAft>
                          <a:spcPts val="0"/>
                        </a:spcAft>
                      </a:pPr>
                      <a:r>
                        <a:rPr lang="en-GB" sz="1100" dirty="0"/>
                        <a:t>Extreme</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294941">
                <a:tc>
                  <a:txBody>
                    <a:bodyPr/>
                    <a:lstStyle/>
                    <a:p>
                      <a:pPr>
                        <a:lnSpc>
                          <a:spcPct val="115000"/>
                        </a:lnSpc>
                        <a:spcAft>
                          <a:spcPts val="0"/>
                        </a:spcAft>
                      </a:pPr>
                      <a:r>
                        <a:rPr lang="en-GB" sz="1100" dirty="0"/>
                        <a:t>High</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294941">
                <a:tc>
                  <a:txBody>
                    <a:bodyPr/>
                    <a:lstStyle/>
                    <a:p>
                      <a:pPr>
                        <a:lnSpc>
                          <a:spcPct val="115000"/>
                        </a:lnSpc>
                        <a:spcAft>
                          <a:spcPts val="0"/>
                        </a:spcAft>
                      </a:pPr>
                      <a:r>
                        <a:rPr lang="en-GB" sz="1100" dirty="0"/>
                        <a:t>Average</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294941">
                <a:tc>
                  <a:txBody>
                    <a:bodyPr/>
                    <a:lstStyle/>
                    <a:p>
                      <a:pPr>
                        <a:lnSpc>
                          <a:spcPct val="115000"/>
                        </a:lnSpc>
                        <a:spcAft>
                          <a:spcPts val="0"/>
                        </a:spcAft>
                      </a:pPr>
                      <a:r>
                        <a:rPr lang="en-GB" sz="1100" dirty="0"/>
                        <a:t>Low</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bl>
          </a:graphicData>
        </a:graphic>
      </p:graphicFrame>
      <p:sp>
        <p:nvSpPr>
          <p:cNvPr id="2" name="Title 1"/>
          <p:cNvSpPr>
            <a:spLocks noGrp="1"/>
          </p:cNvSpPr>
          <p:nvPr>
            <p:ph type="title"/>
          </p:nvPr>
        </p:nvSpPr>
        <p:spPr/>
        <p:txBody>
          <a:bodyPr/>
          <a:lstStyle/>
          <a:p>
            <a:r>
              <a:rPr lang="fr-FR" dirty="0"/>
              <a:t>PowerPoint </a:t>
            </a:r>
            <a:r>
              <a:rPr lang="fr-FR" dirty="0" err="1"/>
              <a:t>Templates</a:t>
            </a:r>
            <a:r>
              <a:rPr lang="fr-FR" dirty="0"/>
              <a:t> – Tables</a:t>
            </a:r>
            <a:endParaRPr lang="en-US" dirty="0"/>
          </a:p>
        </p:txBody>
      </p:sp>
    </p:spTree>
    <p:extLst>
      <p:ext uri="{BB962C8B-B14F-4D97-AF65-F5344CB8AC3E}">
        <p14:creationId xmlns:p14="http://schemas.microsoft.com/office/powerpoint/2010/main" val="4684960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C351D38-FC28-4A58-A5FB-FF8B7BE57793}"/>
              </a:ext>
            </a:extLst>
          </p:cNvPr>
          <p:cNvGrpSpPr/>
          <p:nvPr/>
        </p:nvGrpSpPr>
        <p:grpSpPr>
          <a:xfrm>
            <a:off x="1919536" y="1075773"/>
            <a:ext cx="8335638" cy="5301670"/>
            <a:chOff x="1919536" y="908720"/>
            <a:chExt cx="8335638" cy="5301670"/>
          </a:xfrm>
        </p:grpSpPr>
        <p:sp>
          <p:nvSpPr>
            <p:cNvPr id="6" name="Rounded Rectangle 5"/>
            <p:cNvSpPr/>
            <p:nvPr/>
          </p:nvSpPr>
          <p:spPr>
            <a:xfrm>
              <a:off x="1991544" y="908720"/>
              <a:ext cx="8157600" cy="5301670"/>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908720"/>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Critical Violations by Module</a:t>
              </a:r>
            </a:p>
          </p:txBody>
        </p:sp>
        <p:sp>
          <p:nvSpPr>
            <p:cNvPr id="14" name="TextBox 13"/>
            <p:cNvSpPr txBox="1"/>
            <p:nvPr/>
          </p:nvSpPr>
          <p:spPr>
            <a:xfrm>
              <a:off x="3624640" y="132335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CRITICAL_VIOL_BY_MODULE</a:t>
              </a:r>
            </a:p>
          </p:txBody>
        </p:sp>
        <p:sp>
          <p:nvSpPr>
            <p:cNvPr id="15" name="TextBox 14"/>
            <p:cNvSpPr txBox="1"/>
            <p:nvPr/>
          </p:nvSpPr>
          <p:spPr>
            <a:xfrm>
              <a:off x="2177476" y="129605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24640" y="1646715"/>
              <a:ext cx="6630534" cy="307777"/>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400" b="1" dirty="0"/>
                <a:t>HEADER=SHORT</a:t>
              </a:r>
              <a:r>
                <a:rPr lang="fr-FR" sz="1400" dirty="0"/>
                <a:t> (by default HEADER=SHORT)</a:t>
              </a:r>
            </a:p>
          </p:txBody>
        </p:sp>
        <p:sp>
          <p:nvSpPr>
            <p:cNvPr id="17" name="TextBox 16"/>
            <p:cNvSpPr txBox="1"/>
            <p:nvPr/>
          </p:nvSpPr>
          <p:spPr>
            <a:xfrm>
              <a:off x="2594258" y="161602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1" name="Table 10" descr="TABLE;CRITICAL_VIOL_BY_MODULE;HEADER=SHORT"/>
          <p:cNvGraphicFramePr>
            <a:graphicFrameLocks noGrp="1"/>
          </p:cNvGraphicFramePr>
          <p:nvPr>
            <p:extLst>
              <p:ext uri="{D42A27DB-BD31-4B8C-83A1-F6EECF244321}">
                <p14:modId xmlns:p14="http://schemas.microsoft.com/office/powerpoint/2010/main" val="3880429120"/>
              </p:ext>
            </p:extLst>
          </p:nvPr>
        </p:nvGraphicFramePr>
        <p:xfrm>
          <a:off x="2572970" y="2561019"/>
          <a:ext cx="6809747" cy="3448495"/>
        </p:xfrm>
        <a:graphic>
          <a:graphicData uri="http://schemas.openxmlformats.org/drawingml/2006/table">
            <a:tbl>
              <a:tblPr firstRow="1" bandRow="1">
                <a:tableStyleId>{9DCAF9ED-07DC-4A11-8D7F-57B35C25682E}</a:tableStyleId>
              </a:tblPr>
              <a:tblGrid>
                <a:gridCol w="1781009">
                  <a:extLst>
                    <a:ext uri="{9D8B030D-6E8A-4147-A177-3AD203B41FA5}">
                      <a16:colId xmlns:a16="http://schemas.microsoft.com/office/drawing/2014/main" val="20000"/>
                    </a:ext>
                  </a:extLst>
                </a:gridCol>
                <a:gridCol w="838123">
                  <a:extLst>
                    <a:ext uri="{9D8B030D-6E8A-4147-A177-3AD203B41FA5}">
                      <a16:colId xmlns:a16="http://schemas.microsoft.com/office/drawing/2014/main" val="20001"/>
                    </a:ext>
                  </a:extLst>
                </a:gridCol>
                <a:gridCol w="838123">
                  <a:extLst>
                    <a:ext uri="{9D8B030D-6E8A-4147-A177-3AD203B41FA5}">
                      <a16:colId xmlns:a16="http://schemas.microsoft.com/office/drawing/2014/main" val="20002"/>
                    </a:ext>
                  </a:extLst>
                </a:gridCol>
                <a:gridCol w="838123">
                  <a:extLst>
                    <a:ext uri="{9D8B030D-6E8A-4147-A177-3AD203B41FA5}">
                      <a16:colId xmlns:a16="http://schemas.microsoft.com/office/drawing/2014/main" val="20003"/>
                    </a:ext>
                  </a:extLst>
                </a:gridCol>
                <a:gridCol w="838123">
                  <a:extLst>
                    <a:ext uri="{9D8B030D-6E8A-4147-A177-3AD203B41FA5}">
                      <a16:colId xmlns:a16="http://schemas.microsoft.com/office/drawing/2014/main" val="20004"/>
                    </a:ext>
                  </a:extLst>
                </a:gridCol>
                <a:gridCol w="838123">
                  <a:extLst>
                    <a:ext uri="{9D8B030D-6E8A-4147-A177-3AD203B41FA5}">
                      <a16:colId xmlns:a16="http://schemas.microsoft.com/office/drawing/2014/main" val="20005"/>
                    </a:ext>
                  </a:extLst>
                </a:gridCol>
                <a:gridCol w="838123">
                  <a:extLst>
                    <a:ext uri="{9D8B030D-6E8A-4147-A177-3AD203B41FA5}">
                      <a16:colId xmlns:a16="http://schemas.microsoft.com/office/drawing/2014/main" val="20006"/>
                    </a:ext>
                  </a:extLst>
                </a:gridCol>
              </a:tblGrid>
              <a:tr h="177748">
                <a:tc>
                  <a:txBody>
                    <a:bodyPr/>
                    <a:lstStyle/>
                    <a:p>
                      <a:pPr>
                        <a:lnSpc>
                          <a:spcPct val="115000"/>
                        </a:lnSpc>
                        <a:spcAft>
                          <a:spcPts val="0"/>
                        </a:spcAft>
                      </a:pPr>
                      <a:r>
                        <a:rPr lang="fr-FR" sz="1100" dirty="0"/>
                        <a:t>Name</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TQI</a:t>
                      </a:r>
                      <a:endParaRPr lang="fr-FR" sz="1100" dirty="0">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Robu.</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Effy</a:t>
                      </a:r>
                      <a:r>
                        <a:rPr lang="fr-FR" sz="1000" kern="1200" dirty="0"/>
                        <a:t>.</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Secu.</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Trans.</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Chang.</a:t>
                      </a:r>
                      <a:endParaRPr lang="fr-FR" sz="1000" b="1" kern="1200" dirty="0">
                        <a:solidFill>
                          <a:schemeClr val="lt1"/>
                        </a:solidFill>
                        <a:latin typeface="+mn-lt"/>
                        <a:ea typeface="+mn-ea"/>
                        <a:cs typeface="+mn-cs"/>
                      </a:endParaRPr>
                    </a:p>
                  </a:txBody>
                  <a:tcPr marL="68580" marR="68580" marT="0" marB="0"/>
                </a:tc>
                <a:extLst>
                  <a:ext uri="{0D108BD9-81ED-4DB2-BD59-A6C34878D82A}">
                    <a16:rowId xmlns:a16="http://schemas.microsoft.com/office/drawing/2014/main" val="10000"/>
                  </a:ext>
                </a:extLst>
              </a:tr>
              <a:tr h="161589">
                <a:tc>
                  <a:txBody>
                    <a:bodyPr/>
                    <a:lstStyle/>
                    <a:p>
                      <a:pPr>
                        <a:lnSpc>
                          <a:spcPct val="115000"/>
                        </a:lnSpc>
                        <a:spcAft>
                          <a:spcPts val="0"/>
                        </a:spcAft>
                      </a:pPr>
                      <a:r>
                        <a:rPr lang="en-GB" sz="1000" dirty="0"/>
                        <a:t>Current</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61589">
                <a:tc>
                  <a:txBody>
                    <a:bodyPr/>
                    <a:lstStyle/>
                    <a:p>
                      <a:pPr>
                        <a:lnSpc>
                          <a:spcPct val="115000"/>
                        </a:lnSpc>
                        <a:spcAft>
                          <a:spcPts val="0"/>
                        </a:spcAft>
                      </a:pPr>
                      <a:r>
                        <a:rPr lang="en-GB" sz="1000" dirty="0"/>
                        <a:t>Module 1</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61589">
                <a:tc>
                  <a:txBody>
                    <a:bodyPr/>
                    <a:lstStyle/>
                    <a:p>
                      <a:pPr>
                        <a:lnSpc>
                          <a:spcPct val="115000"/>
                        </a:lnSpc>
                        <a:spcAft>
                          <a:spcPts val="0"/>
                        </a:spcAft>
                      </a:pPr>
                      <a:r>
                        <a:rPr lang="en-GB" sz="1000" dirty="0"/>
                        <a:t>Module 2</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161589">
                <a:tc>
                  <a:txBody>
                    <a:bodyPr/>
                    <a:lstStyle/>
                    <a:p>
                      <a:pPr>
                        <a:lnSpc>
                          <a:spcPct val="115000"/>
                        </a:lnSpc>
                        <a:spcAft>
                          <a:spcPts val="0"/>
                        </a:spcAft>
                      </a:pPr>
                      <a:r>
                        <a:rPr lang="en-GB" sz="1000" dirty="0"/>
                        <a:t>Module 3</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161589">
                <a:tc>
                  <a:txBody>
                    <a:bodyPr/>
                    <a:lstStyle/>
                    <a:p>
                      <a:pPr>
                        <a:lnSpc>
                          <a:spcPct val="115000"/>
                        </a:lnSpc>
                        <a:spcAft>
                          <a:spcPts val="0"/>
                        </a:spcAft>
                      </a:pPr>
                      <a:r>
                        <a:rPr lang="en-GB" sz="1000" dirty="0"/>
                        <a:t>Module 4</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161589">
                <a:tc>
                  <a:txBody>
                    <a:bodyPr/>
                    <a:lstStyle/>
                    <a:p>
                      <a:pPr>
                        <a:lnSpc>
                          <a:spcPct val="115000"/>
                        </a:lnSpc>
                        <a:spcAft>
                          <a:spcPts val="0"/>
                        </a:spcAft>
                      </a:pPr>
                      <a:r>
                        <a:rPr lang="en-GB" sz="1000" dirty="0"/>
                        <a:t>Module 5</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177748">
                <a:tc>
                  <a:txBody>
                    <a:bodyPr/>
                    <a:lstStyle/>
                    <a:p>
                      <a:pPr>
                        <a:lnSpc>
                          <a:spcPct val="115000"/>
                        </a:lnSpc>
                        <a:spcAft>
                          <a:spcPts val="0"/>
                        </a:spcAft>
                      </a:pP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161589">
                <a:tc>
                  <a:txBody>
                    <a:bodyPr/>
                    <a:lstStyle/>
                    <a:p>
                      <a:pPr>
                        <a:lnSpc>
                          <a:spcPct val="115000"/>
                        </a:lnSpc>
                        <a:spcAft>
                          <a:spcPts val="0"/>
                        </a:spcAft>
                      </a:pPr>
                      <a:r>
                        <a:rPr lang="en-GB" sz="1000" dirty="0"/>
                        <a:t> Added</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en-GB" sz="1000" dirty="0"/>
                        <a:t>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161589">
                <a:tc>
                  <a:txBody>
                    <a:bodyPr/>
                    <a:lstStyle/>
                    <a:p>
                      <a:pPr>
                        <a:lnSpc>
                          <a:spcPct val="115000"/>
                        </a:lnSpc>
                        <a:spcAft>
                          <a:spcPts val="0"/>
                        </a:spcAft>
                      </a:pPr>
                      <a:r>
                        <a:rPr lang="en-GB" sz="1000" dirty="0"/>
                        <a:t>Module 1</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161589">
                <a:tc>
                  <a:txBody>
                    <a:bodyPr/>
                    <a:lstStyle/>
                    <a:p>
                      <a:pPr>
                        <a:lnSpc>
                          <a:spcPct val="115000"/>
                        </a:lnSpc>
                        <a:spcAft>
                          <a:spcPts val="0"/>
                        </a:spcAft>
                      </a:pPr>
                      <a:r>
                        <a:rPr lang="en-GB" sz="1000" dirty="0"/>
                        <a:t>Module 2</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r h="161589">
                <a:tc>
                  <a:txBody>
                    <a:bodyPr/>
                    <a:lstStyle/>
                    <a:p>
                      <a:pPr>
                        <a:lnSpc>
                          <a:spcPct val="115000"/>
                        </a:lnSpc>
                        <a:spcAft>
                          <a:spcPts val="0"/>
                        </a:spcAft>
                      </a:pPr>
                      <a:r>
                        <a:rPr lang="en-GB" sz="1000" dirty="0"/>
                        <a:t>Module 3</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1"/>
                  </a:ext>
                </a:extLst>
              </a:tr>
              <a:tr h="161589">
                <a:tc>
                  <a:txBody>
                    <a:bodyPr/>
                    <a:lstStyle/>
                    <a:p>
                      <a:pPr>
                        <a:lnSpc>
                          <a:spcPct val="115000"/>
                        </a:lnSpc>
                        <a:spcAft>
                          <a:spcPts val="0"/>
                        </a:spcAft>
                      </a:pPr>
                      <a:r>
                        <a:rPr lang="en-GB" sz="1000" dirty="0"/>
                        <a:t>Module 4</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2"/>
                  </a:ext>
                </a:extLst>
              </a:tr>
              <a:tr h="161589">
                <a:tc>
                  <a:txBody>
                    <a:bodyPr/>
                    <a:lstStyle/>
                    <a:p>
                      <a:pPr>
                        <a:lnSpc>
                          <a:spcPct val="115000"/>
                        </a:lnSpc>
                        <a:spcAft>
                          <a:spcPts val="0"/>
                        </a:spcAft>
                      </a:pPr>
                      <a:r>
                        <a:rPr lang="en-GB" sz="1000" dirty="0"/>
                        <a:t>Module 5</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3"/>
                  </a:ext>
                </a:extLst>
              </a:tr>
              <a:tr h="161589">
                <a:tc>
                  <a:txBody>
                    <a:bodyPr/>
                    <a:lstStyle/>
                    <a:p>
                      <a:pPr>
                        <a:lnSpc>
                          <a:spcPct val="115000"/>
                        </a:lnSpc>
                        <a:spcAft>
                          <a:spcPts val="0"/>
                        </a:spcAft>
                      </a:pPr>
                      <a:r>
                        <a:rPr lang="en-GB" sz="1000" dirty="0"/>
                        <a:t>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4"/>
                  </a:ext>
                </a:extLst>
              </a:tr>
              <a:tr h="161589">
                <a:tc>
                  <a:txBody>
                    <a:bodyPr/>
                    <a:lstStyle/>
                    <a:p>
                      <a:pPr>
                        <a:lnSpc>
                          <a:spcPct val="115000"/>
                        </a:lnSpc>
                        <a:spcAft>
                          <a:spcPts val="0"/>
                        </a:spcAft>
                      </a:pPr>
                      <a:r>
                        <a:rPr lang="en-GB" sz="1000" dirty="0"/>
                        <a:t>Deleted</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 </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5"/>
                  </a:ext>
                </a:extLst>
              </a:tr>
              <a:tr h="161589">
                <a:tc>
                  <a:txBody>
                    <a:bodyPr/>
                    <a:lstStyle/>
                    <a:p>
                      <a:pPr>
                        <a:lnSpc>
                          <a:spcPct val="115000"/>
                        </a:lnSpc>
                        <a:spcAft>
                          <a:spcPts val="0"/>
                        </a:spcAft>
                      </a:pPr>
                      <a:r>
                        <a:rPr lang="en-GB" sz="1000"/>
                        <a:t>Module 1</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6"/>
                  </a:ext>
                </a:extLst>
              </a:tr>
              <a:tr h="161589">
                <a:tc>
                  <a:txBody>
                    <a:bodyPr/>
                    <a:lstStyle/>
                    <a:p>
                      <a:pPr>
                        <a:lnSpc>
                          <a:spcPct val="115000"/>
                        </a:lnSpc>
                        <a:spcAft>
                          <a:spcPts val="0"/>
                        </a:spcAft>
                      </a:pPr>
                      <a:r>
                        <a:rPr lang="en-GB" sz="1000" dirty="0"/>
                        <a:t>Module 2</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7"/>
                  </a:ext>
                </a:extLst>
              </a:tr>
              <a:tr h="161589">
                <a:tc>
                  <a:txBody>
                    <a:bodyPr/>
                    <a:lstStyle/>
                    <a:p>
                      <a:pPr>
                        <a:lnSpc>
                          <a:spcPct val="115000"/>
                        </a:lnSpc>
                        <a:spcAft>
                          <a:spcPts val="0"/>
                        </a:spcAft>
                      </a:pPr>
                      <a:r>
                        <a:rPr lang="en-GB" sz="1000" dirty="0"/>
                        <a:t>Module 3</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8"/>
                  </a:ext>
                </a:extLst>
              </a:tr>
              <a:tr h="161589">
                <a:tc>
                  <a:txBody>
                    <a:bodyPr/>
                    <a:lstStyle/>
                    <a:p>
                      <a:pPr>
                        <a:lnSpc>
                          <a:spcPct val="115000"/>
                        </a:lnSpc>
                        <a:spcAft>
                          <a:spcPts val="0"/>
                        </a:spcAft>
                      </a:pPr>
                      <a:r>
                        <a:rPr lang="en-GB" sz="1000" dirty="0"/>
                        <a:t>Module 4</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19"/>
                  </a:ext>
                </a:extLst>
              </a:tr>
              <a:tr h="161589">
                <a:tc>
                  <a:txBody>
                    <a:bodyPr/>
                    <a:lstStyle/>
                    <a:p>
                      <a:pPr>
                        <a:lnSpc>
                          <a:spcPct val="115000"/>
                        </a:lnSpc>
                        <a:spcAft>
                          <a:spcPts val="0"/>
                        </a:spcAft>
                      </a:pPr>
                      <a:r>
                        <a:rPr lang="en-GB" sz="1000" dirty="0"/>
                        <a:t>Module 5</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20"/>
                  </a:ext>
                </a:extLst>
              </a:tr>
            </a:tbl>
          </a:graphicData>
        </a:graphic>
      </p:graphicFrame>
      <p:sp>
        <p:nvSpPr>
          <p:cNvPr id="3" name="Title 2"/>
          <p:cNvSpPr>
            <a:spLocks noGrp="1"/>
          </p:cNvSpPr>
          <p:nvPr>
            <p:ph type="title"/>
          </p:nvPr>
        </p:nvSpPr>
        <p:spPr/>
        <p:txBody>
          <a:bodyPr/>
          <a:lstStyle/>
          <a:p>
            <a:r>
              <a:rPr lang="en-US" dirty="0"/>
              <a:t>PowerPoint Templates – Tables</a:t>
            </a:r>
          </a:p>
        </p:txBody>
      </p:sp>
    </p:spTree>
    <p:extLst>
      <p:ext uri="{BB962C8B-B14F-4D97-AF65-F5344CB8AC3E}">
        <p14:creationId xmlns:p14="http://schemas.microsoft.com/office/powerpoint/2010/main" val="11223197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4B52F-36F3-40FC-B058-3DA424B776AC}"/>
              </a:ext>
            </a:extLst>
          </p:cNvPr>
          <p:cNvGrpSpPr/>
          <p:nvPr/>
        </p:nvGrpSpPr>
        <p:grpSpPr>
          <a:xfrm>
            <a:off x="1919536" y="1497804"/>
            <a:ext cx="8335638" cy="4410626"/>
            <a:chOff x="1919536" y="908720"/>
            <a:chExt cx="8335638" cy="4410626"/>
          </a:xfrm>
        </p:grpSpPr>
        <p:sp>
          <p:nvSpPr>
            <p:cNvPr id="6" name="Rounded Rectangle 5"/>
            <p:cNvSpPr/>
            <p:nvPr/>
          </p:nvSpPr>
          <p:spPr>
            <a:xfrm>
              <a:off x="1991544" y="908720"/>
              <a:ext cx="8157600" cy="4410626"/>
            </a:xfrm>
            <a:prstGeom prst="roundRect">
              <a:avLst>
                <a:gd name="adj" fmla="val 1298"/>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933688"/>
              <a:ext cx="8305088"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Compliance to objectives </a:t>
              </a:r>
            </a:p>
          </p:txBody>
        </p:sp>
        <p:sp>
          <p:nvSpPr>
            <p:cNvPr id="14" name="TextBox 13"/>
            <p:cNvSpPr txBox="1"/>
            <p:nvPr/>
          </p:nvSpPr>
          <p:spPr>
            <a:xfrm>
              <a:off x="3624640" y="135441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COMPLIANCE_TO_OBJ_TABLE</a:t>
              </a:r>
            </a:p>
          </p:txBody>
        </p:sp>
        <p:sp>
          <p:nvSpPr>
            <p:cNvPr id="15" name="TextBox 14"/>
            <p:cNvSpPr txBox="1"/>
            <p:nvPr/>
          </p:nvSpPr>
          <p:spPr>
            <a:xfrm>
              <a:off x="2177476" y="135441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24640" y="1763435"/>
              <a:ext cx="6630534" cy="276999"/>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dirty="0"/>
                <a:t>HEADER=SHORT (by default HEADER=SHORT)</a:t>
              </a:r>
            </a:p>
          </p:txBody>
        </p:sp>
        <p:sp>
          <p:nvSpPr>
            <p:cNvPr id="17" name="TextBox 16"/>
            <p:cNvSpPr txBox="1"/>
            <p:nvPr/>
          </p:nvSpPr>
          <p:spPr>
            <a:xfrm>
              <a:off x="2594258" y="1719098"/>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3" name="TextBox 2"/>
            <p:cNvSpPr txBox="1"/>
            <p:nvPr/>
          </p:nvSpPr>
          <p:spPr>
            <a:xfrm>
              <a:off x="2279576" y="4005064"/>
              <a:ext cx="7200800" cy="1200329"/>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dirty="0"/>
                <a:t>This component works only if current snapshot and previous snapshot selected are continuous snapshots</a:t>
              </a:r>
            </a:p>
            <a:p>
              <a:r>
                <a:rPr lang="en-US" sz="1200" dirty="0"/>
                <a:t>Objectives corresponds to the number of critical rules in the current snapshot</a:t>
              </a:r>
            </a:p>
            <a:p>
              <a:r>
                <a:rPr lang="en-US" sz="1200" dirty="0"/>
                <a:t>Achievement corresponds to the number of critical rules with no violation for each critical rule</a:t>
              </a:r>
            </a:p>
            <a:p>
              <a:endParaRPr lang="en-US" sz="1200" dirty="0"/>
            </a:p>
          </p:txBody>
        </p:sp>
      </p:grpSp>
      <p:graphicFrame>
        <p:nvGraphicFramePr>
          <p:cNvPr id="10" name="Table 10" descr="TABLE;COMPLIANCE_TO_OBJ_TABLE;"/>
          <p:cNvGraphicFramePr>
            <a:graphicFrameLocks noGrp="1"/>
          </p:cNvGraphicFramePr>
          <p:nvPr>
            <p:extLst>
              <p:ext uri="{D42A27DB-BD31-4B8C-83A1-F6EECF244321}">
                <p14:modId xmlns:p14="http://schemas.microsoft.com/office/powerpoint/2010/main" val="4102314714"/>
              </p:ext>
            </p:extLst>
          </p:nvPr>
        </p:nvGraphicFramePr>
        <p:xfrm>
          <a:off x="2958868" y="3056240"/>
          <a:ext cx="6497751" cy="985527"/>
        </p:xfrm>
        <a:graphic>
          <a:graphicData uri="http://schemas.openxmlformats.org/drawingml/2006/table">
            <a:tbl>
              <a:tblPr firstRow="1" bandRow="1">
                <a:tableStyleId>{9DCAF9ED-07DC-4A11-8D7F-57B35C25682E}</a:tableStyleId>
              </a:tblPr>
              <a:tblGrid>
                <a:gridCol w="2208848">
                  <a:extLst>
                    <a:ext uri="{9D8B030D-6E8A-4147-A177-3AD203B41FA5}">
                      <a16:colId xmlns:a16="http://schemas.microsoft.com/office/drawing/2014/main" val="20000"/>
                    </a:ext>
                  </a:extLst>
                </a:gridCol>
                <a:gridCol w="1055730">
                  <a:extLst>
                    <a:ext uri="{9D8B030D-6E8A-4147-A177-3AD203B41FA5}">
                      <a16:colId xmlns:a16="http://schemas.microsoft.com/office/drawing/2014/main" val="20001"/>
                    </a:ext>
                  </a:extLst>
                </a:gridCol>
                <a:gridCol w="1055730">
                  <a:extLst>
                    <a:ext uri="{9D8B030D-6E8A-4147-A177-3AD203B41FA5}">
                      <a16:colId xmlns:a16="http://schemas.microsoft.com/office/drawing/2014/main" val="20002"/>
                    </a:ext>
                  </a:extLst>
                </a:gridCol>
                <a:gridCol w="2177443">
                  <a:extLst>
                    <a:ext uri="{9D8B030D-6E8A-4147-A177-3AD203B41FA5}">
                      <a16:colId xmlns:a16="http://schemas.microsoft.com/office/drawing/2014/main" val="20003"/>
                    </a:ext>
                  </a:extLst>
                </a:gridCol>
              </a:tblGrid>
              <a:tr h="243719">
                <a:tc>
                  <a:txBody>
                    <a:bodyPr/>
                    <a:lstStyle/>
                    <a:p>
                      <a:pPr>
                        <a:lnSpc>
                          <a:spcPct val="115000"/>
                        </a:lnSpc>
                        <a:spcAft>
                          <a:spcPts val="0"/>
                        </a:spcAft>
                      </a:pP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Objectives</a:t>
                      </a:r>
                      <a:endParaRPr lang="fr-FR" sz="1100" dirty="0">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en-US" sz="1000" kern="1200" noProof="0" dirty="0"/>
                        <a:t>Achievement</a:t>
                      </a:r>
                      <a:endParaRPr lang="en-US" sz="1000" b="1" kern="1200" noProof="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en-US" sz="1000" kern="1200" noProof="0" dirty="0"/>
                        <a:t>Achievement ratio</a:t>
                      </a:r>
                      <a:endParaRPr lang="en-US" sz="1000" b="1" kern="1200" noProof="0" dirty="0">
                        <a:solidFill>
                          <a:schemeClr val="lt1"/>
                        </a:solidFill>
                        <a:latin typeface="+mn-lt"/>
                        <a:ea typeface="+mn-ea"/>
                        <a:cs typeface="+mn-cs"/>
                      </a:endParaRPr>
                    </a:p>
                  </a:txBody>
                  <a:tcPr marL="68580" marR="68580" marT="0" marB="0"/>
                </a:tc>
                <a:extLst>
                  <a:ext uri="{0D108BD9-81ED-4DB2-BD59-A6C34878D82A}">
                    <a16:rowId xmlns:a16="http://schemas.microsoft.com/office/drawing/2014/main" val="10000"/>
                  </a:ext>
                </a:extLst>
              </a:tr>
              <a:tr h="131738">
                <a:tc>
                  <a:txBody>
                    <a:bodyPr/>
                    <a:lstStyle/>
                    <a:p>
                      <a:pPr>
                        <a:lnSpc>
                          <a:spcPct val="115000"/>
                        </a:lnSpc>
                        <a:spcAft>
                          <a:spcPts val="0"/>
                        </a:spcAft>
                      </a:pPr>
                      <a:r>
                        <a:rPr lang="en-GB" sz="1100" dirty="0"/>
                        <a:t>Entire Application (whole code)</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31738">
                <a:tc>
                  <a:txBody>
                    <a:bodyPr/>
                    <a:lstStyle/>
                    <a:p>
                      <a:pPr>
                        <a:lnSpc>
                          <a:spcPct val="115000"/>
                        </a:lnSpc>
                        <a:spcAft>
                          <a:spcPts val="0"/>
                        </a:spcAft>
                      </a:pPr>
                      <a:r>
                        <a:rPr lang="en-GB" sz="1100" dirty="0"/>
                        <a:t>Last Delivery (new and modified)</a:t>
                      </a:r>
                      <a:endParaRPr lang="fr-FR" sz="1400" dirty="0">
                        <a:solidFill>
                          <a:schemeClr val="accent3">
                            <a:lumMod val="50000"/>
                          </a:schemeClr>
                        </a:solidFill>
                        <a:latin typeface="+mn-lt"/>
                        <a:ea typeface="Calibri"/>
                        <a:cs typeface="Times New Roman"/>
                      </a:endParaRPr>
                    </a:p>
                  </a:txBody>
                  <a:tcPr marL="68580" marR="68580" marT="0" marB="0"/>
                </a:tc>
                <a:tc>
                  <a:txBody>
                    <a:bodyPr/>
                    <a:lstStyle/>
                    <a:p>
                      <a:pPr algn="ctr">
                        <a:lnSpc>
                          <a:spcPct val="115000"/>
                        </a:lnSpc>
                        <a:spcAft>
                          <a:spcPts val="0"/>
                        </a:spcAft>
                      </a:pPr>
                      <a:r>
                        <a:rPr lang="en-GB" sz="1000" dirty="0"/>
                        <a:t>0</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0.00 %</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bl>
          </a:graphicData>
        </a:graphic>
      </p:graphicFrame>
      <p:sp>
        <p:nvSpPr>
          <p:cNvPr id="2" name="Title 1"/>
          <p:cNvSpPr>
            <a:spLocks noGrp="1"/>
          </p:cNvSpPr>
          <p:nvPr>
            <p:ph type="title"/>
          </p:nvPr>
        </p:nvSpPr>
        <p:spPr/>
        <p:txBody>
          <a:bodyPr/>
          <a:lstStyle/>
          <a:p>
            <a:r>
              <a:rPr lang="en-US" dirty="0"/>
              <a:t>PowerPoint Templates – Tables</a:t>
            </a:r>
          </a:p>
        </p:txBody>
      </p:sp>
    </p:spTree>
    <p:extLst>
      <p:ext uri="{BB962C8B-B14F-4D97-AF65-F5344CB8AC3E}">
        <p14:creationId xmlns:p14="http://schemas.microsoft.com/office/powerpoint/2010/main" val="14140802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B0DA24E-6FAE-4DB9-A754-D02772CE8233}"/>
              </a:ext>
            </a:extLst>
          </p:cNvPr>
          <p:cNvGrpSpPr/>
          <p:nvPr/>
        </p:nvGrpSpPr>
        <p:grpSpPr>
          <a:xfrm>
            <a:off x="1919536" y="1437487"/>
            <a:ext cx="8352928" cy="4419418"/>
            <a:chOff x="1919536" y="908720"/>
            <a:chExt cx="8352928" cy="4419418"/>
          </a:xfrm>
        </p:grpSpPr>
        <p:sp>
          <p:nvSpPr>
            <p:cNvPr id="6" name="Rounded Rectangle 5"/>
            <p:cNvSpPr/>
            <p:nvPr/>
          </p:nvSpPr>
          <p:spPr>
            <a:xfrm>
              <a:off x="2008834" y="908720"/>
              <a:ext cx="8157600" cy="4419418"/>
            </a:xfrm>
            <a:prstGeom prst="roundRect">
              <a:avLst>
                <a:gd name="adj" fmla="val 1298"/>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97652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Technical debt Information</a:t>
              </a:r>
            </a:p>
          </p:txBody>
        </p:sp>
        <p:sp>
          <p:nvSpPr>
            <p:cNvPr id="14" name="TextBox 13"/>
            <p:cNvSpPr txBox="1"/>
            <p:nvPr/>
          </p:nvSpPr>
          <p:spPr>
            <a:xfrm>
              <a:off x="3641930" y="141277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TECHNICAL_DEBT </a:t>
              </a:r>
              <a:r>
                <a:rPr lang="en-US" sz="1400" dirty="0"/>
                <a:t>– </a:t>
              </a:r>
              <a:r>
                <a:rPr lang="en-US" sz="1400" dirty="0">
                  <a:solidFill>
                    <a:schemeClr val="accent1"/>
                  </a:solidFill>
                </a:rPr>
                <a:t>DEPRECATED (old CAST formula)</a:t>
              </a:r>
              <a:endParaRPr lang="fr-FR" sz="1400" dirty="0"/>
            </a:p>
          </p:txBody>
        </p:sp>
        <p:sp>
          <p:nvSpPr>
            <p:cNvPr id="15" name="TextBox 14"/>
            <p:cNvSpPr txBox="1"/>
            <p:nvPr/>
          </p:nvSpPr>
          <p:spPr>
            <a:xfrm>
              <a:off x="2194766" y="139912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1930" y="1778759"/>
              <a:ext cx="6630534" cy="276999"/>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b="1" dirty="0"/>
                <a:t>HEADER=SHORT</a:t>
              </a:r>
              <a:r>
                <a:rPr lang="fr-FR" sz="1200" dirty="0"/>
                <a:t> (by default HEADER=SHORT)</a:t>
              </a:r>
            </a:p>
          </p:txBody>
        </p:sp>
        <p:sp>
          <p:nvSpPr>
            <p:cNvPr id="17" name="TextBox 16"/>
            <p:cNvSpPr txBox="1"/>
            <p:nvPr/>
          </p:nvSpPr>
          <p:spPr>
            <a:xfrm>
              <a:off x="2611548"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1" name="TextBox 10"/>
            <p:cNvSpPr txBox="1"/>
            <p:nvPr/>
          </p:nvSpPr>
          <p:spPr>
            <a:xfrm>
              <a:off x="2207568" y="4182180"/>
              <a:ext cx="7200800"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dirty="0"/>
                <a:t>if current snapshot and previous snapshot selected are not continuous snapshots, results will be the sum of Technical Debt added and Technical Debt removed</a:t>
              </a:r>
            </a:p>
          </p:txBody>
        </p:sp>
      </p:grpSp>
      <p:graphicFrame>
        <p:nvGraphicFramePr>
          <p:cNvPr id="10" name="Table 10" descr="TABLE;TECHNICAL_DEBT;"/>
          <p:cNvGraphicFramePr>
            <a:graphicFrameLocks noGrp="1"/>
          </p:cNvGraphicFramePr>
          <p:nvPr>
            <p:extLst>
              <p:ext uri="{D42A27DB-BD31-4B8C-83A1-F6EECF244321}">
                <p14:modId xmlns:p14="http://schemas.microsoft.com/office/powerpoint/2010/main" val="3895547837"/>
              </p:ext>
            </p:extLst>
          </p:nvPr>
        </p:nvGraphicFramePr>
        <p:xfrm>
          <a:off x="3279322" y="3021666"/>
          <a:ext cx="5616624" cy="1154297"/>
        </p:xfrm>
        <a:graphic>
          <a:graphicData uri="http://schemas.openxmlformats.org/drawingml/2006/table">
            <a:tbl>
              <a:tblPr firstRow="1" bandRow="1">
                <a:tableStyleId>{9DCAF9ED-07DC-4A11-8D7F-57B35C25682E}</a:tableStyleId>
              </a:tblPr>
              <a:tblGrid>
                <a:gridCol w="3819305">
                  <a:extLst>
                    <a:ext uri="{9D8B030D-6E8A-4147-A177-3AD203B41FA5}">
                      <a16:colId xmlns:a16="http://schemas.microsoft.com/office/drawing/2014/main" val="20000"/>
                    </a:ext>
                  </a:extLst>
                </a:gridCol>
                <a:gridCol w="1797319">
                  <a:extLst>
                    <a:ext uri="{9D8B030D-6E8A-4147-A177-3AD203B41FA5}">
                      <a16:colId xmlns:a16="http://schemas.microsoft.com/office/drawing/2014/main" val="20001"/>
                    </a:ext>
                  </a:extLst>
                </a:gridCol>
              </a:tblGrid>
              <a:tr h="206260">
                <a:tc>
                  <a:txBody>
                    <a:bodyPr/>
                    <a:lstStyle/>
                    <a:p>
                      <a:pPr marL="0" algn="l" defTabSz="914400" rtl="0" eaLnBrk="1" latinLnBrk="0" hangingPunct="1">
                        <a:lnSpc>
                          <a:spcPct val="100000"/>
                        </a:lnSpc>
                        <a:spcAft>
                          <a:spcPts val="0"/>
                        </a:spcAft>
                      </a:pPr>
                      <a:r>
                        <a:rPr lang="fr-FR" sz="1000" kern="1200" dirty="0"/>
                        <a:t>Name</a:t>
                      </a:r>
                      <a:endParaRPr lang="fr-FR" sz="1000" b="1" kern="1200" dirty="0">
                        <a:solidFill>
                          <a:schemeClr val="bg1"/>
                        </a:solidFill>
                        <a:latin typeface="+mn-lt"/>
                        <a:ea typeface="+mn-ea"/>
                        <a:cs typeface="+mn-cs"/>
                      </a:endParaRPr>
                    </a:p>
                  </a:txBody>
                  <a:tcPr marL="68580" marR="68580" marT="0" marB="0" anchor="ctr"/>
                </a:tc>
                <a:tc>
                  <a:txBody>
                    <a:bodyPr/>
                    <a:lstStyle/>
                    <a:p>
                      <a:pPr marL="0" algn="l" defTabSz="914400" rtl="0" eaLnBrk="1" latinLnBrk="0" hangingPunct="1">
                        <a:lnSpc>
                          <a:spcPct val="100000"/>
                        </a:lnSpc>
                        <a:spcAft>
                          <a:spcPts val="0"/>
                        </a:spcAft>
                      </a:pPr>
                      <a:r>
                        <a:rPr lang="fr-FR" sz="1000" kern="1200" dirty="0"/>
                        <a:t>Value</a:t>
                      </a:r>
                      <a:endParaRPr lang="fr-FR" sz="1000" b="1" kern="1200" dirty="0">
                        <a:solidFill>
                          <a:schemeClr val="bg1"/>
                        </a:solidFill>
                        <a:latin typeface="+mn-lt"/>
                        <a:ea typeface="+mn-ea"/>
                        <a:cs typeface="+mn-cs"/>
                      </a:endParaRPr>
                    </a:p>
                  </a:txBody>
                  <a:tcPr marL="68580" marR="68580" marT="0" marB="0" anchor="ctr"/>
                </a:tc>
                <a:extLst>
                  <a:ext uri="{0D108BD9-81ED-4DB2-BD59-A6C34878D82A}">
                    <a16:rowId xmlns:a16="http://schemas.microsoft.com/office/drawing/2014/main" val="10000"/>
                  </a:ext>
                </a:extLst>
              </a:tr>
              <a:tr h="297794">
                <a:tc>
                  <a:txBody>
                    <a:bodyPr/>
                    <a:lstStyle/>
                    <a:p>
                      <a:pPr marL="0" algn="l" defTabSz="914400" rtl="0" eaLnBrk="1" latinLnBrk="0" hangingPunct="1">
                        <a:lnSpc>
                          <a:spcPct val="100000"/>
                        </a:lnSpc>
                        <a:spcAft>
                          <a:spcPts val="0"/>
                        </a:spcAft>
                      </a:pPr>
                      <a:r>
                        <a:rPr lang="en-GB" sz="1100" kern="1200" dirty="0"/>
                        <a:t>Technical Debt</a:t>
                      </a:r>
                      <a:endParaRPr lang="fr-FR" sz="11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100" kern="1200" dirty="0"/>
                        <a:t>-</a:t>
                      </a:r>
                      <a:endParaRPr lang="fr-FR" sz="11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1"/>
                  </a:ext>
                </a:extLst>
              </a:tr>
              <a:tr h="320499">
                <a:tc>
                  <a:txBody>
                    <a:bodyPr/>
                    <a:lstStyle/>
                    <a:p>
                      <a:pPr marL="0" algn="l" defTabSz="914400" rtl="0" eaLnBrk="1" latinLnBrk="0" hangingPunct="1">
                        <a:lnSpc>
                          <a:spcPct val="100000"/>
                        </a:lnSpc>
                        <a:spcAft>
                          <a:spcPts val="0"/>
                        </a:spcAft>
                      </a:pPr>
                      <a:r>
                        <a:rPr lang="en-GB" sz="1100" kern="1200" dirty="0"/>
                        <a:t>Technical Debt added</a:t>
                      </a:r>
                      <a:endParaRPr lang="fr-FR" sz="11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100" kern="1200" dirty="0"/>
                        <a:t>-</a:t>
                      </a:r>
                      <a:endParaRPr lang="fr-FR" sz="11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2"/>
                  </a:ext>
                </a:extLst>
              </a:tr>
              <a:tr h="329744">
                <a:tc>
                  <a:txBody>
                    <a:bodyPr/>
                    <a:lstStyle/>
                    <a:p>
                      <a:pPr marL="0" algn="l" defTabSz="914400" rtl="0" eaLnBrk="1" latinLnBrk="0" hangingPunct="1">
                        <a:lnSpc>
                          <a:spcPct val="100000"/>
                        </a:lnSpc>
                        <a:spcAft>
                          <a:spcPts val="0"/>
                        </a:spcAft>
                      </a:pPr>
                      <a:r>
                        <a:rPr lang="en-GB" sz="1100" kern="1200" dirty="0"/>
                        <a:t>Technical Debt removed</a:t>
                      </a:r>
                      <a:endParaRPr lang="fr-FR" sz="11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100" kern="1200" dirty="0"/>
                        <a:t>-</a:t>
                      </a:r>
                      <a:endParaRPr lang="fr-FR" sz="11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 name="Title 1"/>
          <p:cNvSpPr>
            <a:spLocks noGrp="1"/>
          </p:cNvSpPr>
          <p:nvPr>
            <p:ph type="title"/>
          </p:nvPr>
        </p:nvSpPr>
        <p:spPr/>
        <p:txBody>
          <a:bodyPr/>
          <a:lstStyle/>
          <a:p>
            <a:r>
              <a:rPr lang="en-US" dirty="0"/>
              <a:t>PowerPoint Templates – Tables</a:t>
            </a:r>
          </a:p>
        </p:txBody>
      </p:sp>
    </p:spTree>
    <p:extLst>
      <p:ext uri="{BB962C8B-B14F-4D97-AF65-F5344CB8AC3E}">
        <p14:creationId xmlns:p14="http://schemas.microsoft.com/office/powerpoint/2010/main" val="12213361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B0DA24E-6FAE-4DB9-A754-D02772CE8233}"/>
              </a:ext>
            </a:extLst>
          </p:cNvPr>
          <p:cNvGrpSpPr/>
          <p:nvPr/>
        </p:nvGrpSpPr>
        <p:grpSpPr>
          <a:xfrm>
            <a:off x="1919536" y="1437487"/>
            <a:ext cx="8352928" cy="4419418"/>
            <a:chOff x="1919536" y="908720"/>
            <a:chExt cx="8352928" cy="4419418"/>
          </a:xfrm>
        </p:grpSpPr>
        <p:sp>
          <p:nvSpPr>
            <p:cNvPr id="6" name="Rounded Rectangle 5"/>
            <p:cNvSpPr/>
            <p:nvPr/>
          </p:nvSpPr>
          <p:spPr>
            <a:xfrm>
              <a:off x="2008834" y="908720"/>
              <a:ext cx="8157600" cy="4419418"/>
            </a:xfrm>
            <a:prstGeom prst="roundRect">
              <a:avLst>
                <a:gd name="adj" fmla="val 1298"/>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97652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OMG Technical debt Information</a:t>
              </a:r>
              <a:endParaRPr lang="en-US" sz="1600" dirty="0">
                <a:solidFill>
                  <a:schemeClr val="accent1"/>
                </a:solidFill>
              </a:endParaRPr>
            </a:p>
          </p:txBody>
        </p:sp>
        <p:sp>
          <p:nvSpPr>
            <p:cNvPr id="14" name="TextBox 13"/>
            <p:cNvSpPr txBox="1"/>
            <p:nvPr/>
          </p:nvSpPr>
          <p:spPr>
            <a:xfrm>
              <a:off x="3641930" y="141277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OMG_TECHNICAL_DEBT_TABLE</a:t>
              </a:r>
            </a:p>
          </p:txBody>
        </p:sp>
        <p:sp>
          <p:nvSpPr>
            <p:cNvPr id="15" name="TextBox 14"/>
            <p:cNvSpPr txBox="1"/>
            <p:nvPr/>
          </p:nvSpPr>
          <p:spPr>
            <a:xfrm>
              <a:off x="2194766" y="139912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1930" y="1778759"/>
              <a:ext cx="6630534" cy="646331"/>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b="1" dirty="0"/>
                <a:t>HEADER=SHORT</a:t>
              </a:r>
              <a:r>
                <a:rPr lang="fr-FR" sz="1200" dirty="0"/>
                <a:t> (by default HEADER=SHORT)</a:t>
              </a:r>
            </a:p>
            <a:p>
              <a:r>
                <a:rPr lang="en-US" sz="1200" b="1" dirty="0"/>
                <a:t>ID</a:t>
              </a:r>
              <a:r>
                <a:rPr lang="en-US" sz="1200" dirty="0"/>
                <a:t>:AIP|CISQ|ISO (by default or if nothing selected, ISO)</a:t>
              </a:r>
            </a:p>
            <a:p>
              <a:r>
                <a:rPr lang="en-US" sz="1200" b="1" dirty="0"/>
                <a:t>SNAPSHOT</a:t>
              </a:r>
              <a:r>
                <a:rPr lang="en-US" sz="1200" dirty="0"/>
                <a:t>:CURRENT|PREVIOUS (by default or if nothing, CURRENT)</a:t>
              </a:r>
              <a:endParaRPr lang="fr-FR" sz="1200" dirty="0"/>
            </a:p>
          </p:txBody>
        </p:sp>
        <p:sp>
          <p:nvSpPr>
            <p:cNvPr id="17" name="TextBox 16"/>
            <p:cNvSpPr txBox="1"/>
            <p:nvPr/>
          </p:nvSpPr>
          <p:spPr>
            <a:xfrm>
              <a:off x="2611548"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0" name="Table 10" descr="TABLE;OMG_TECHNICAL_DEBT_TABLE;"/>
          <p:cNvGraphicFramePr>
            <a:graphicFrameLocks noGrp="1"/>
          </p:cNvGraphicFramePr>
          <p:nvPr>
            <p:extLst>
              <p:ext uri="{D42A27DB-BD31-4B8C-83A1-F6EECF244321}">
                <p14:modId xmlns:p14="http://schemas.microsoft.com/office/powerpoint/2010/main" val="1140550370"/>
              </p:ext>
            </p:extLst>
          </p:nvPr>
        </p:nvGraphicFramePr>
        <p:xfrm>
          <a:off x="3279322" y="3223032"/>
          <a:ext cx="5616624" cy="1154297"/>
        </p:xfrm>
        <a:graphic>
          <a:graphicData uri="http://schemas.openxmlformats.org/drawingml/2006/table">
            <a:tbl>
              <a:tblPr firstRow="1" bandRow="1">
                <a:tableStyleId>{9DCAF9ED-07DC-4A11-8D7F-57B35C25682E}</a:tableStyleId>
              </a:tblPr>
              <a:tblGrid>
                <a:gridCol w="3819305">
                  <a:extLst>
                    <a:ext uri="{9D8B030D-6E8A-4147-A177-3AD203B41FA5}">
                      <a16:colId xmlns:a16="http://schemas.microsoft.com/office/drawing/2014/main" val="20000"/>
                    </a:ext>
                  </a:extLst>
                </a:gridCol>
                <a:gridCol w="1797319">
                  <a:extLst>
                    <a:ext uri="{9D8B030D-6E8A-4147-A177-3AD203B41FA5}">
                      <a16:colId xmlns:a16="http://schemas.microsoft.com/office/drawing/2014/main" val="20001"/>
                    </a:ext>
                  </a:extLst>
                </a:gridCol>
              </a:tblGrid>
              <a:tr h="206260">
                <a:tc>
                  <a:txBody>
                    <a:bodyPr/>
                    <a:lstStyle/>
                    <a:p>
                      <a:pPr marL="0" algn="l" defTabSz="914400" rtl="0" eaLnBrk="1" latinLnBrk="0" hangingPunct="1">
                        <a:lnSpc>
                          <a:spcPct val="100000"/>
                        </a:lnSpc>
                        <a:spcAft>
                          <a:spcPts val="0"/>
                        </a:spcAft>
                      </a:pPr>
                      <a:r>
                        <a:rPr lang="fr-FR" sz="1000" kern="1200" dirty="0"/>
                        <a:t>Name</a:t>
                      </a:r>
                      <a:endParaRPr lang="fr-FR" sz="1000" b="1" kern="1200" dirty="0">
                        <a:solidFill>
                          <a:schemeClr val="bg1"/>
                        </a:solidFill>
                        <a:latin typeface="+mn-lt"/>
                        <a:ea typeface="+mn-ea"/>
                        <a:cs typeface="+mn-cs"/>
                      </a:endParaRPr>
                    </a:p>
                  </a:txBody>
                  <a:tcPr marL="68580" marR="68580" marT="0" marB="0" anchor="ctr"/>
                </a:tc>
                <a:tc>
                  <a:txBody>
                    <a:bodyPr/>
                    <a:lstStyle/>
                    <a:p>
                      <a:pPr marL="0" algn="l" defTabSz="914400" rtl="0" eaLnBrk="1" latinLnBrk="0" hangingPunct="1">
                        <a:lnSpc>
                          <a:spcPct val="100000"/>
                        </a:lnSpc>
                        <a:spcAft>
                          <a:spcPts val="0"/>
                        </a:spcAft>
                      </a:pPr>
                      <a:r>
                        <a:rPr lang="fr-FR" sz="1000" kern="1200" dirty="0"/>
                        <a:t>Value</a:t>
                      </a:r>
                      <a:endParaRPr lang="fr-FR" sz="1000" b="1" kern="1200" dirty="0">
                        <a:solidFill>
                          <a:schemeClr val="bg1"/>
                        </a:solidFill>
                        <a:latin typeface="+mn-lt"/>
                        <a:ea typeface="+mn-ea"/>
                        <a:cs typeface="+mn-cs"/>
                      </a:endParaRPr>
                    </a:p>
                  </a:txBody>
                  <a:tcPr marL="68580" marR="68580" marT="0" marB="0" anchor="ctr"/>
                </a:tc>
                <a:extLst>
                  <a:ext uri="{0D108BD9-81ED-4DB2-BD59-A6C34878D82A}">
                    <a16:rowId xmlns:a16="http://schemas.microsoft.com/office/drawing/2014/main" val="10000"/>
                  </a:ext>
                </a:extLst>
              </a:tr>
              <a:tr h="297794">
                <a:tc>
                  <a:txBody>
                    <a:bodyPr/>
                    <a:lstStyle/>
                    <a:p>
                      <a:pPr marL="0" algn="l" defTabSz="914400" rtl="0" eaLnBrk="1" latinLnBrk="0" hangingPunct="1">
                        <a:lnSpc>
                          <a:spcPct val="100000"/>
                        </a:lnSpc>
                        <a:spcAft>
                          <a:spcPts val="0"/>
                        </a:spcAft>
                      </a:pPr>
                      <a:r>
                        <a:rPr lang="en-GB" sz="1100" kern="1200" dirty="0"/>
                        <a:t>Technical Debt</a:t>
                      </a:r>
                      <a:endParaRPr lang="fr-FR" sz="11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100" kern="1200" dirty="0"/>
                        <a:t>-</a:t>
                      </a:r>
                      <a:endParaRPr lang="fr-FR" sz="11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1"/>
                  </a:ext>
                </a:extLst>
              </a:tr>
              <a:tr h="320499">
                <a:tc>
                  <a:txBody>
                    <a:bodyPr/>
                    <a:lstStyle/>
                    <a:p>
                      <a:pPr marL="0" algn="l" defTabSz="914400" rtl="0" eaLnBrk="1" latinLnBrk="0" hangingPunct="1">
                        <a:lnSpc>
                          <a:spcPct val="100000"/>
                        </a:lnSpc>
                        <a:spcAft>
                          <a:spcPts val="0"/>
                        </a:spcAft>
                      </a:pPr>
                      <a:r>
                        <a:rPr lang="en-GB" sz="1100" kern="1200" dirty="0"/>
                        <a:t>Technical Debt added</a:t>
                      </a:r>
                      <a:endParaRPr lang="fr-FR" sz="11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100" kern="1200" dirty="0"/>
                        <a:t>-</a:t>
                      </a:r>
                      <a:endParaRPr lang="fr-FR" sz="11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2"/>
                  </a:ext>
                </a:extLst>
              </a:tr>
              <a:tr h="329744">
                <a:tc>
                  <a:txBody>
                    <a:bodyPr/>
                    <a:lstStyle/>
                    <a:p>
                      <a:pPr marL="0" algn="l" defTabSz="914400" rtl="0" eaLnBrk="1" latinLnBrk="0" hangingPunct="1">
                        <a:lnSpc>
                          <a:spcPct val="100000"/>
                        </a:lnSpc>
                        <a:spcAft>
                          <a:spcPts val="0"/>
                        </a:spcAft>
                      </a:pPr>
                      <a:r>
                        <a:rPr lang="en-GB" sz="1100" kern="1200" dirty="0"/>
                        <a:t>Technical Debt removed</a:t>
                      </a:r>
                      <a:endParaRPr lang="fr-FR" sz="11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100" kern="1200" dirty="0"/>
                        <a:t>-</a:t>
                      </a:r>
                      <a:endParaRPr lang="fr-FR" sz="11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 name="Title 1"/>
          <p:cNvSpPr>
            <a:spLocks noGrp="1"/>
          </p:cNvSpPr>
          <p:nvPr>
            <p:ph type="title"/>
          </p:nvPr>
        </p:nvSpPr>
        <p:spPr/>
        <p:txBody>
          <a:bodyPr/>
          <a:lstStyle/>
          <a:p>
            <a:r>
              <a:rPr lang="en-US" dirty="0"/>
              <a:t>PowerPoint Templates – Tables</a:t>
            </a:r>
          </a:p>
        </p:txBody>
      </p:sp>
      <p:sp>
        <p:nvSpPr>
          <p:cNvPr id="12" name="TextBox 11">
            <a:extLst>
              <a:ext uri="{FF2B5EF4-FFF2-40B4-BE49-F238E27FC236}">
                <a16:creationId xmlns:a16="http://schemas.microsoft.com/office/drawing/2014/main" id="{EF557107-FD9B-4011-ABE7-B6F08FDD4720}"/>
              </a:ext>
            </a:extLst>
          </p:cNvPr>
          <p:cNvSpPr txBox="1"/>
          <p:nvPr/>
        </p:nvSpPr>
        <p:spPr>
          <a:xfrm>
            <a:off x="40900" y="5911942"/>
            <a:ext cx="11940527" cy="648289"/>
          </a:xfrm>
          <a:prstGeom prst="rect">
            <a:avLst/>
          </a:prstGeom>
        </p:spPr>
        <p:txBody>
          <a:bodyPr vert="horz" wrap="square" lIns="91440" tIns="45720" rIns="91440" bIns="45720" rtlCol="0" anchor="t">
            <a:noAutofit/>
          </a:bodyPr>
          <a:lstStyle/>
          <a:p>
            <a:r>
              <a:rPr lang="en-US" sz="1100" dirty="0">
                <a:solidFill>
                  <a:srgbClr val="0070C0"/>
                </a:solidFill>
              </a:rPr>
              <a:t>* ISO option is the recommended technical debt to be used. Requires installation of OMG Technical Debt Measure (&gt;2.0.0 </a:t>
            </a:r>
            <a:r>
              <a:rPr lang="en-US" sz="1100" dirty="0" err="1">
                <a:solidFill>
                  <a:srgbClr val="0070C0"/>
                </a:solidFill>
              </a:rPr>
              <a:t>funcrel</a:t>
            </a:r>
            <a:r>
              <a:rPr lang="en-US" sz="1100" dirty="0">
                <a:solidFill>
                  <a:srgbClr val="0070C0"/>
                </a:solidFill>
              </a:rPr>
              <a:t>) and ISO-5055 Index extensions during analysis </a:t>
            </a:r>
          </a:p>
          <a:p>
            <a:r>
              <a:rPr lang="en-US" sz="1100" dirty="0">
                <a:solidFill>
                  <a:srgbClr val="0070C0"/>
                </a:solidFill>
              </a:rPr>
              <a:t>** CISQ option required installation of OMG Technical Debt Measure and CISQ Index extensions during analysis. Scope of rules is reduced</a:t>
            </a:r>
          </a:p>
        </p:txBody>
      </p:sp>
    </p:spTree>
    <p:extLst>
      <p:ext uri="{BB962C8B-B14F-4D97-AF65-F5344CB8AC3E}">
        <p14:creationId xmlns:p14="http://schemas.microsoft.com/office/powerpoint/2010/main" val="40896984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B0DA24E-6FAE-4DB9-A754-D02772CE8233}"/>
              </a:ext>
            </a:extLst>
          </p:cNvPr>
          <p:cNvGrpSpPr/>
          <p:nvPr/>
        </p:nvGrpSpPr>
        <p:grpSpPr>
          <a:xfrm>
            <a:off x="1919536" y="1437487"/>
            <a:ext cx="8352928" cy="4419418"/>
            <a:chOff x="1919536" y="908720"/>
            <a:chExt cx="8352928" cy="4419418"/>
          </a:xfrm>
        </p:grpSpPr>
        <p:sp>
          <p:nvSpPr>
            <p:cNvPr id="6" name="Rounded Rectangle 5"/>
            <p:cNvSpPr/>
            <p:nvPr/>
          </p:nvSpPr>
          <p:spPr>
            <a:xfrm>
              <a:off x="2008834" y="908720"/>
              <a:ext cx="8157600" cy="4419418"/>
            </a:xfrm>
            <a:prstGeom prst="roundRect">
              <a:avLst>
                <a:gd name="adj" fmla="val 1298"/>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97652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OMG Technical debt Information on contributing TC for specified index</a:t>
              </a:r>
              <a:endParaRPr lang="en-US" sz="1600" dirty="0">
                <a:solidFill>
                  <a:schemeClr val="accent1"/>
                </a:solidFill>
              </a:endParaRPr>
            </a:p>
          </p:txBody>
        </p:sp>
        <p:sp>
          <p:nvSpPr>
            <p:cNvPr id="14" name="TextBox 13"/>
            <p:cNvSpPr txBox="1"/>
            <p:nvPr/>
          </p:nvSpPr>
          <p:spPr>
            <a:xfrm>
              <a:off x="3641930" y="1412776"/>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OMG_TECHNICAL_DEBT_DETAILS_TABLE</a:t>
              </a:r>
            </a:p>
          </p:txBody>
        </p:sp>
        <p:sp>
          <p:nvSpPr>
            <p:cNvPr id="15" name="TextBox 14"/>
            <p:cNvSpPr txBox="1"/>
            <p:nvPr/>
          </p:nvSpPr>
          <p:spPr>
            <a:xfrm>
              <a:off x="2194766" y="1399128"/>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41930" y="1778759"/>
              <a:ext cx="6630534"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b="1" dirty="0"/>
                <a:t>ID</a:t>
              </a:r>
              <a:r>
                <a:rPr lang="en-US" sz="1200" dirty="0"/>
                <a:t>:AIP|CISQ|ISO (by default or if nothing selected, ISO)</a:t>
              </a:r>
            </a:p>
            <a:p>
              <a:r>
                <a:rPr lang="en-US" sz="1200" b="1" dirty="0"/>
                <a:t>SNAPSHOT</a:t>
              </a:r>
              <a:r>
                <a:rPr lang="en-US" sz="1200" dirty="0"/>
                <a:t>:CURRENT|PREVIOUS (by default or if nothing, CURRENT)</a:t>
              </a:r>
              <a:endParaRPr lang="fr-FR" sz="1200" dirty="0"/>
            </a:p>
          </p:txBody>
        </p:sp>
        <p:sp>
          <p:nvSpPr>
            <p:cNvPr id="17" name="TextBox 16"/>
            <p:cNvSpPr txBox="1"/>
            <p:nvPr/>
          </p:nvSpPr>
          <p:spPr>
            <a:xfrm>
              <a:off x="2611548" y="173274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0" name="Table 10" descr="TABLE;OMG_TECHNICAL_DEBT_DETAILS_TABLE;"/>
          <p:cNvGraphicFramePr>
            <a:graphicFrameLocks noGrp="1"/>
          </p:cNvGraphicFramePr>
          <p:nvPr>
            <p:extLst>
              <p:ext uri="{D42A27DB-BD31-4B8C-83A1-F6EECF244321}">
                <p14:modId xmlns:p14="http://schemas.microsoft.com/office/powerpoint/2010/main" val="3962333122"/>
              </p:ext>
            </p:extLst>
          </p:nvPr>
        </p:nvGraphicFramePr>
        <p:xfrm>
          <a:off x="2327564" y="2956936"/>
          <a:ext cx="7629236" cy="1846983"/>
        </p:xfrm>
        <a:graphic>
          <a:graphicData uri="http://schemas.openxmlformats.org/drawingml/2006/table">
            <a:tbl>
              <a:tblPr firstRow="1" bandRow="1">
                <a:tableStyleId>{9DCAF9ED-07DC-4A11-8D7F-57B35C25682E}</a:tableStyleId>
              </a:tblPr>
              <a:tblGrid>
                <a:gridCol w="3491345">
                  <a:extLst>
                    <a:ext uri="{9D8B030D-6E8A-4147-A177-3AD203B41FA5}">
                      <a16:colId xmlns:a16="http://schemas.microsoft.com/office/drawing/2014/main" val="3646158313"/>
                    </a:ext>
                  </a:extLst>
                </a:gridCol>
                <a:gridCol w="1311564">
                  <a:extLst>
                    <a:ext uri="{9D8B030D-6E8A-4147-A177-3AD203B41FA5}">
                      <a16:colId xmlns:a16="http://schemas.microsoft.com/office/drawing/2014/main" val="3314212982"/>
                    </a:ext>
                  </a:extLst>
                </a:gridCol>
                <a:gridCol w="1311563">
                  <a:extLst>
                    <a:ext uri="{9D8B030D-6E8A-4147-A177-3AD203B41FA5}">
                      <a16:colId xmlns:a16="http://schemas.microsoft.com/office/drawing/2014/main" val="20000"/>
                    </a:ext>
                  </a:extLst>
                </a:gridCol>
                <a:gridCol w="1514764">
                  <a:extLst>
                    <a:ext uri="{9D8B030D-6E8A-4147-A177-3AD203B41FA5}">
                      <a16:colId xmlns:a16="http://schemas.microsoft.com/office/drawing/2014/main" val="20001"/>
                    </a:ext>
                  </a:extLst>
                </a:gridCol>
              </a:tblGrid>
              <a:tr h="722839">
                <a:tc>
                  <a:txBody>
                    <a:bodyPr/>
                    <a:lstStyle/>
                    <a:p>
                      <a:pPr marL="0" algn="l" defTabSz="914400" rtl="0" eaLnBrk="1" latinLnBrk="0" hangingPunct="1">
                        <a:lnSpc>
                          <a:spcPct val="100000"/>
                        </a:lnSpc>
                        <a:spcAft>
                          <a:spcPts val="0"/>
                        </a:spcAft>
                      </a:pPr>
                      <a:r>
                        <a:rPr lang="fr-FR" sz="1000" kern="1200" dirty="0"/>
                        <a:t>Name</a:t>
                      </a:r>
                      <a:endParaRPr lang="fr-FR" sz="1000" b="1" kern="1200" dirty="0">
                        <a:solidFill>
                          <a:schemeClr val="bg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000" b="1" kern="1200" dirty="0" err="1">
                          <a:solidFill>
                            <a:schemeClr val="bg1"/>
                          </a:solidFill>
                          <a:latin typeface="+mn-lt"/>
                          <a:ea typeface="+mn-ea"/>
                          <a:cs typeface="+mn-cs"/>
                        </a:rPr>
                        <a:t>Technical</a:t>
                      </a:r>
                      <a:r>
                        <a:rPr lang="fr-FR" sz="1000" b="1" kern="1200" dirty="0">
                          <a:solidFill>
                            <a:schemeClr val="bg1"/>
                          </a:solidFill>
                          <a:latin typeface="+mn-lt"/>
                          <a:ea typeface="+mn-ea"/>
                          <a:cs typeface="+mn-cs"/>
                        </a:rPr>
                        <a:t> </a:t>
                      </a:r>
                      <a:r>
                        <a:rPr lang="fr-FR" sz="1000" b="1" kern="1200" dirty="0" err="1">
                          <a:solidFill>
                            <a:schemeClr val="bg1"/>
                          </a:solidFill>
                          <a:latin typeface="+mn-lt"/>
                          <a:ea typeface="+mn-ea"/>
                          <a:cs typeface="+mn-cs"/>
                        </a:rPr>
                        <a:t>Debt</a:t>
                      </a:r>
                      <a:r>
                        <a:rPr lang="fr-FR" sz="1000" b="1" kern="1200" dirty="0">
                          <a:solidFill>
                            <a:schemeClr val="bg1"/>
                          </a:solidFill>
                          <a:latin typeface="+mn-lt"/>
                          <a:ea typeface="+mn-ea"/>
                          <a:cs typeface="+mn-cs"/>
                        </a:rPr>
                        <a:t> (Days)</a:t>
                      </a:r>
                    </a:p>
                  </a:txBody>
                  <a:tcPr marL="68580" marR="68580" marT="0" marB="0" anchor="ctr"/>
                </a:tc>
                <a:tc>
                  <a:txBody>
                    <a:bodyPr/>
                    <a:lstStyle/>
                    <a:p>
                      <a:pPr marL="0" algn="ctr" defTabSz="914400" rtl="0" eaLnBrk="1" latinLnBrk="0" hangingPunct="1">
                        <a:lnSpc>
                          <a:spcPct val="100000"/>
                        </a:lnSpc>
                        <a:spcAft>
                          <a:spcPts val="0"/>
                        </a:spcAft>
                      </a:pPr>
                      <a:r>
                        <a:rPr lang="fr-FR" sz="1000" kern="1200" dirty="0" err="1"/>
                        <a:t>Technical</a:t>
                      </a:r>
                      <a:r>
                        <a:rPr lang="fr-FR" sz="1000" kern="1200" dirty="0"/>
                        <a:t> </a:t>
                      </a:r>
                      <a:r>
                        <a:rPr lang="fr-FR" sz="1000" kern="1200" dirty="0" err="1"/>
                        <a:t>Debt</a:t>
                      </a:r>
                      <a:r>
                        <a:rPr lang="fr-FR" sz="1000" kern="1200" dirty="0"/>
                        <a:t> Added (Days)</a:t>
                      </a:r>
                      <a:endParaRPr lang="fr-FR" sz="1000" b="1" kern="1200" dirty="0">
                        <a:solidFill>
                          <a:schemeClr val="bg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000" kern="1200" dirty="0" err="1"/>
                        <a:t>Technical</a:t>
                      </a:r>
                      <a:r>
                        <a:rPr lang="fr-FR" sz="1000" kern="1200" dirty="0"/>
                        <a:t> </a:t>
                      </a:r>
                      <a:r>
                        <a:rPr lang="fr-FR" sz="1000" kern="1200" dirty="0" err="1"/>
                        <a:t>Debt</a:t>
                      </a:r>
                      <a:r>
                        <a:rPr lang="fr-FR" sz="1000" kern="1200" dirty="0"/>
                        <a:t> </a:t>
                      </a:r>
                      <a:r>
                        <a:rPr lang="fr-FR" sz="1000" kern="1200" dirty="0" err="1"/>
                        <a:t>Removed</a:t>
                      </a:r>
                      <a:r>
                        <a:rPr lang="fr-FR" sz="1000" kern="1200" dirty="0"/>
                        <a:t> (Days)</a:t>
                      </a:r>
                      <a:endParaRPr lang="fr-FR" sz="1000" b="1" kern="1200" dirty="0">
                        <a:solidFill>
                          <a:schemeClr val="bg1"/>
                        </a:solidFill>
                        <a:latin typeface="+mn-lt"/>
                        <a:ea typeface="+mn-ea"/>
                        <a:cs typeface="+mn-cs"/>
                      </a:endParaRPr>
                    </a:p>
                  </a:txBody>
                  <a:tcPr marL="68580" marR="68580" marT="0" marB="0" anchor="ctr"/>
                </a:tc>
                <a:extLst>
                  <a:ext uri="{0D108BD9-81ED-4DB2-BD59-A6C34878D82A}">
                    <a16:rowId xmlns:a16="http://schemas.microsoft.com/office/drawing/2014/main" val="10000"/>
                  </a:ext>
                </a:extLst>
              </a:tr>
              <a:tr h="353112">
                <a:tc>
                  <a:txBody>
                    <a:bodyPr/>
                    <a:lstStyle/>
                    <a:p>
                      <a:pPr marL="0" algn="l" defTabSz="914400" rtl="0" eaLnBrk="1" latinLnBrk="0" hangingPunct="1">
                        <a:lnSpc>
                          <a:spcPct val="100000"/>
                        </a:lnSpc>
                        <a:spcAft>
                          <a:spcPts val="0"/>
                        </a:spcAft>
                      </a:pPr>
                      <a:r>
                        <a:rPr lang="fr-FR" sz="1100" kern="1200" dirty="0">
                          <a:solidFill>
                            <a:schemeClr val="dk1"/>
                          </a:solidFill>
                          <a:latin typeface="+mn-lt"/>
                          <a:ea typeface="+mn-ea"/>
                          <a:cs typeface="+mn-cs"/>
                        </a:rPr>
                        <a:t>TC-1</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Gotham Book"/>
                          <a:ea typeface="+mn-ea"/>
                          <a:cs typeface="+mn-cs"/>
                        </a:rPr>
                        <a: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Gotham Book"/>
                          <a:ea typeface="+mn-ea"/>
                          <a:cs typeface="+mn-cs"/>
                        </a:rPr>
                        <a:t>-</a:t>
                      </a:r>
                    </a:p>
                  </a:txBody>
                  <a:tcPr marL="68580" marR="68580" marT="0" marB="0" anchor="ctr"/>
                </a:tc>
                <a:tc>
                  <a:txBody>
                    <a:bodyPr/>
                    <a:lstStyle/>
                    <a:p>
                      <a:pPr marL="0" algn="ctr" defTabSz="914400" rtl="0" eaLnBrk="1" latinLnBrk="0" hangingPunct="1">
                        <a:lnSpc>
                          <a:spcPct val="100000"/>
                        </a:lnSpc>
                        <a:spcAft>
                          <a:spcPts val="0"/>
                        </a:spcAft>
                      </a:pPr>
                      <a:r>
                        <a:rPr lang="fr-FR" sz="1100" kern="1200" dirty="0"/>
                        <a:t>-</a:t>
                      </a:r>
                      <a:endParaRPr lang="fr-FR" sz="11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1"/>
                  </a:ext>
                </a:extLst>
              </a:tr>
              <a:tr h="380035">
                <a:tc>
                  <a:txBody>
                    <a:bodyPr/>
                    <a:lstStyle/>
                    <a:p>
                      <a:pPr marL="0" algn="l" defTabSz="914400" rtl="0" eaLnBrk="1" latinLnBrk="0" hangingPunct="1">
                        <a:lnSpc>
                          <a:spcPct val="100000"/>
                        </a:lnSpc>
                        <a:spcAft>
                          <a:spcPts val="0"/>
                        </a:spcAft>
                      </a:pPr>
                      <a:r>
                        <a:rPr lang="fr-FR" sz="1100" kern="1200" dirty="0">
                          <a:solidFill>
                            <a:schemeClr val="dk1"/>
                          </a:solidFill>
                          <a:latin typeface="+mn-lt"/>
                          <a:ea typeface="+mn-ea"/>
                          <a:cs typeface="+mn-cs"/>
                        </a:rPr>
                        <a:t>TC-2</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kern="1200" dirty="0"/>
                        <a:t>-</a:t>
                      </a:r>
                      <a:endParaRPr lang="fr-FR" sz="1100" kern="1200" dirty="0">
                        <a:solidFill>
                          <a:schemeClr val="dk1"/>
                        </a:solidFill>
                        <a:latin typeface="+mn-lt"/>
                        <a:ea typeface="+mn-ea"/>
                        <a:cs typeface="+mn-cs"/>
                      </a:endParaRPr>
                    </a:p>
                    <a:p>
                      <a:pPr marL="0" algn="ctr" defTabSz="914400" rtl="0" eaLnBrk="1" latinLnBrk="0" hangingPunct="1">
                        <a:lnSpc>
                          <a:spcPct val="100000"/>
                        </a:lnSpc>
                        <a:spcAft>
                          <a:spcPts val="0"/>
                        </a:spcAft>
                      </a:pPr>
                      <a:endParaRPr lang="fr-FR" sz="1100" kern="1200" dirty="0">
                        <a:solidFill>
                          <a:schemeClr val="dk1"/>
                        </a:solidFill>
                        <a:latin typeface="+mn-lt"/>
                        <a:ea typeface="+mn-ea"/>
                        <a:cs typeface="+mn-cs"/>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kern="1200" dirty="0"/>
                        <a:t>-</a:t>
                      </a:r>
                      <a:endParaRPr lang="fr-FR" sz="1100" kern="1200" dirty="0">
                        <a:solidFill>
                          <a:schemeClr val="dk1"/>
                        </a:solidFill>
                        <a:latin typeface="+mn-lt"/>
                        <a:ea typeface="+mn-ea"/>
                        <a:cs typeface="+mn-cs"/>
                      </a:endParaRPr>
                    </a:p>
                    <a:p>
                      <a:pPr marL="0" algn="ctr" defTabSz="914400" rtl="0" eaLnBrk="1" latinLnBrk="0" hangingPunct="1">
                        <a:lnSpc>
                          <a:spcPct val="100000"/>
                        </a:lnSpc>
                        <a:spcAft>
                          <a:spcPts val="0"/>
                        </a:spcAft>
                      </a:pPr>
                      <a:endParaRPr lang="fr-FR" sz="11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100" kern="1200" dirty="0"/>
                        <a:t>-</a:t>
                      </a:r>
                      <a:endParaRPr lang="fr-FR" sz="11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2"/>
                  </a:ext>
                </a:extLst>
              </a:tr>
              <a:tr h="390997">
                <a:tc>
                  <a:txBody>
                    <a:bodyPr/>
                    <a:lstStyle/>
                    <a:p>
                      <a:pPr marL="0" algn="l" defTabSz="914400" rtl="0" eaLnBrk="1" latinLnBrk="0" hangingPunct="1">
                        <a:lnSpc>
                          <a:spcPct val="100000"/>
                        </a:lnSpc>
                        <a:spcAft>
                          <a:spcPts val="0"/>
                        </a:spcAft>
                      </a:pPr>
                      <a:r>
                        <a:rPr lang="fr-FR" sz="1100" kern="1200" dirty="0">
                          <a:solidFill>
                            <a:schemeClr val="dk1"/>
                          </a:solidFill>
                          <a:latin typeface="+mn-lt"/>
                          <a:ea typeface="+mn-ea"/>
                          <a:cs typeface="+mn-cs"/>
                        </a:rPr>
                        <a:t>TC-3</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kern="1200" dirty="0"/>
                        <a:t>-</a:t>
                      </a:r>
                      <a:endParaRPr lang="fr-FR" sz="1100" kern="1200" dirty="0">
                        <a:solidFill>
                          <a:schemeClr val="dk1"/>
                        </a:solidFill>
                        <a:latin typeface="+mn-lt"/>
                        <a:ea typeface="+mn-ea"/>
                        <a:cs typeface="+mn-cs"/>
                      </a:endParaRPr>
                    </a:p>
                    <a:p>
                      <a:pPr marL="0" algn="ctr" defTabSz="914400" rtl="0" eaLnBrk="1" latinLnBrk="0" hangingPunct="1">
                        <a:lnSpc>
                          <a:spcPct val="100000"/>
                        </a:lnSpc>
                        <a:spcAft>
                          <a:spcPts val="0"/>
                        </a:spcAft>
                      </a:pPr>
                      <a:endParaRPr lang="fr-FR" sz="1100" kern="1200" dirty="0">
                        <a:solidFill>
                          <a:schemeClr val="dk1"/>
                        </a:solidFill>
                        <a:latin typeface="+mn-lt"/>
                        <a:ea typeface="+mn-ea"/>
                        <a:cs typeface="+mn-cs"/>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kern="1200" dirty="0"/>
                        <a:t>-</a:t>
                      </a:r>
                      <a:endParaRPr lang="fr-FR" sz="1100" kern="1200" dirty="0">
                        <a:solidFill>
                          <a:schemeClr val="dk1"/>
                        </a:solidFill>
                        <a:latin typeface="+mn-lt"/>
                        <a:ea typeface="+mn-ea"/>
                        <a:cs typeface="+mn-cs"/>
                      </a:endParaRPr>
                    </a:p>
                    <a:p>
                      <a:pPr marL="0" algn="ctr" defTabSz="914400" rtl="0" eaLnBrk="1" latinLnBrk="0" hangingPunct="1">
                        <a:lnSpc>
                          <a:spcPct val="100000"/>
                        </a:lnSpc>
                        <a:spcAft>
                          <a:spcPts val="0"/>
                        </a:spcAft>
                      </a:pPr>
                      <a:endParaRPr lang="fr-FR" sz="1100" kern="1200" dirty="0">
                        <a:solidFill>
                          <a:schemeClr val="dk1"/>
                        </a:solidFill>
                        <a:latin typeface="+mn-lt"/>
                        <a:ea typeface="+mn-ea"/>
                        <a:cs typeface="+mn-cs"/>
                      </a:endParaRPr>
                    </a:p>
                  </a:txBody>
                  <a:tcPr marL="68580" marR="68580" marT="0" marB="0" anchor="ctr"/>
                </a:tc>
                <a:tc>
                  <a:txBody>
                    <a:bodyPr/>
                    <a:lstStyle/>
                    <a:p>
                      <a:pPr marL="0" algn="ctr" defTabSz="914400" rtl="0" eaLnBrk="1" latinLnBrk="0" hangingPunct="1">
                        <a:lnSpc>
                          <a:spcPct val="100000"/>
                        </a:lnSpc>
                        <a:spcAft>
                          <a:spcPts val="0"/>
                        </a:spcAft>
                      </a:pPr>
                      <a:r>
                        <a:rPr lang="fr-FR" sz="1100" kern="1200" dirty="0"/>
                        <a:t>-</a:t>
                      </a:r>
                      <a:endParaRPr lang="fr-FR" sz="1100" kern="1200" dirty="0">
                        <a:solidFill>
                          <a:schemeClr val="dk1"/>
                        </a:solidFill>
                        <a:latin typeface="+mn-lt"/>
                        <a:ea typeface="+mn-ea"/>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 name="Title 1"/>
          <p:cNvSpPr>
            <a:spLocks noGrp="1"/>
          </p:cNvSpPr>
          <p:nvPr>
            <p:ph type="title"/>
          </p:nvPr>
        </p:nvSpPr>
        <p:spPr/>
        <p:txBody>
          <a:bodyPr/>
          <a:lstStyle/>
          <a:p>
            <a:r>
              <a:rPr lang="en-US" dirty="0"/>
              <a:t>PowerPoint Templates – Tables</a:t>
            </a:r>
          </a:p>
        </p:txBody>
      </p:sp>
      <p:sp>
        <p:nvSpPr>
          <p:cNvPr id="12" name="TextBox 11">
            <a:extLst>
              <a:ext uri="{FF2B5EF4-FFF2-40B4-BE49-F238E27FC236}">
                <a16:creationId xmlns:a16="http://schemas.microsoft.com/office/drawing/2014/main" id="{ABA3A709-B0E4-47C1-88B1-3B35503BF6D0}"/>
              </a:ext>
            </a:extLst>
          </p:cNvPr>
          <p:cNvSpPr txBox="1"/>
          <p:nvPr/>
        </p:nvSpPr>
        <p:spPr>
          <a:xfrm>
            <a:off x="2207568" y="4951585"/>
            <a:ext cx="7200800" cy="646331"/>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dirty="0"/>
              <a:t>If a TC has no omg technical debt, it will not be displayed in the table</a:t>
            </a:r>
          </a:p>
          <a:p>
            <a:r>
              <a:rPr lang="en-US" sz="1200" dirty="0"/>
              <a:t>This component can also display the list of rules for a TC (for that you can put the ID of the TC instead of AIP/CISQ or ISO)</a:t>
            </a:r>
          </a:p>
        </p:txBody>
      </p:sp>
      <p:sp>
        <p:nvSpPr>
          <p:cNvPr id="19" name="TextBox 18">
            <a:extLst>
              <a:ext uri="{FF2B5EF4-FFF2-40B4-BE49-F238E27FC236}">
                <a16:creationId xmlns:a16="http://schemas.microsoft.com/office/drawing/2014/main" id="{E236D494-A575-4AB2-87BA-82CB4486B18B}"/>
              </a:ext>
            </a:extLst>
          </p:cNvPr>
          <p:cNvSpPr txBox="1"/>
          <p:nvPr/>
        </p:nvSpPr>
        <p:spPr>
          <a:xfrm>
            <a:off x="40900" y="5911942"/>
            <a:ext cx="11940527" cy="648289"/>
          </a:xfrm>
          <a:prstGeom prst="rect">
            <a:avLst/>
          </a:prstGeom>
        </p:spPr>
        <p:txBody>
          <a:bodyPr vert="horz" wrap="square" lIns="91440" tIns="45720" rIns="91440" bIns="45720" rtlCol="0" anchor="t">
            <a:noAutofit/>
          </a:bodyPr>
          <a:lstStyle/>
          <a:p>
            <a:r>
              <a:rPr lang="en-US" sz="1100" dirty="0">
                <a:solidFill>
                  <a:srgbClr val="0070C0"/>
                </a:solidFill>
              </a:rPr>
              <a:t>* ISO option is the recommended technical debt to be used. Requires installation of OMG Technical Debt Measure (&gt;2.0.0 </a:t>
            </a:r>
            <a:r>
              <a:rPr lang="en-US" sz="1100" dirty="0" err="1">
                <a:solidFill>
                  <a:srgbClr val="0070C0"/>
                </a:solidFill>
              </a:rPr>
              <a:t>funcrel</a:t>
            </a:r>
            <a:r>
              <a:rPr lang="en-US" sz="1100" dirty="0">
                <a:solidFill>
                  <a:srgbClr val="0070C0"/>
                </a:solidFill>
              </a:rPr>
              <a:t>) and ISO-5055 Index extensions during analysis </a:t>
            </a:r>
          </a:p>
          <a:p>
            <a:r>
              <a:rPr lang="en-US" sz="1100" dirty="0">
                <a:solidFill>
                  <a:srgbClr val="0070C0"/>
                </a:solidFill>
              </a:rPr>
              <a:t>** CISQ option required installation of OMG Technical Debt Measure and CISQ Index extensions during analysis. Scope of rules is reduced</a:t>
            </a:r>
          </a:p>
        </p:txBody>
      </p:sp>
    </p:spTree>
    <p:extLst>
      <p:ext uri="{BB962C8B-B14F-4D97-AF65-F5344CB8AC3E}">
        <p14:creationId xmlns:p14="http://schemas.microsoft.com/office/powerpoint/2010/main" val="34342868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p:cNvSpPr>
            <a:spLocks noGrp="1"/>
          </p:cNvSpPr>
          <p:nvPr>
            <p:ph type="title"/>
          </p:nvPr>
        </p:nvSpPr>
        <p:spPr/>
        <p:txBody>
          <a:bodyPr>
            <a:normAutofit/>
          </a:bodyPr>
          <a:lstStyle/>
          <a:p>
            <a:r>
              <a:rPr lang="fr-FR" dirty="0"/>
              <a:t>PowerPoint Templates – Tables</a:t>
            </a:r>
          </a:p>
        </p:txBody>
      </p:sp>
      <p:grpSp>
        <p:nvGrpSpPr>
          <p:cNvPr id="2" name="Group 1">
            <a:extLst>
              <a:ext uri="{FF2B5EF4-FFF2-40B4-BE49-F238E27FC236}">
                <a16:creationId xmlns:a16="http://schemas.microsoft.com/office/drawing/2014/main" id="{30E9D170-D5B5-4097-B1CD-406966E4C602}"/>
              </a:ext>
            </a:extLst>
          </p:cNvPr>
          <p:cNvGrpSpPr/>
          <p:nvPr/>
        </p:nvGrpSpPr>
        <p:grpSpPr>
          <a:xfrm>
            <a:off x="1919536" y="2222281"/>
            <a:ext cx="8317303" cy="2880320"/>
            <a:chOff x="1919536" y="836712"/>
            <a:chExt cx="8317303" cy="2880320"/>
          </a:xfrm>
        </p:grpSpPr>
        <p:sp>
          <p:nvSpPr>
            <p:cNvPr id="33" name="Rounded Rectangle 32"/>
            <p:cNvSpPr/>
            <p:nvPr/>
          </p:nvSpPr>
          <p:spPr>
            <a:xfrm>
              <a:off x="2017200" y="836712"/>
              <a:ext cx="8157600" cy="2880320"/>
            </a:xfrm>
            <a:prstGeom prst="roundRect">
              <a:avLst>
                <a:gd name="adj" fmla="val 376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34" name="TextBox 33"/>
            <p:cNvSpPr txBox="1"/>
            <p:nvPr/>
          </p:nvSpPr>
          <p:spPr>
            <a:xfrm>
              <a:off x="1919536" y="836712"/>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fr-FR" sz="1600" dirty="0"/>
                <a:t>List of all versions</a:t>
              </a:r>
            </a:p>
          </p:txBody>
        </p:sp>
        <p:sp>
          <p:nvSpPr>
            <p:cNvPr id="36" name="TextBox 35"/>
            <p:cNvSpPr txBox="1"/>
            <p:nvPr/>
          </p:nvSpPr>
          <p:spPr>
            <a:xfrm>
              <a:off x="3575720" y="119675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LIST_OF_ALL_VERSIONS</a:t>
              </a:r>
            </a:p>
          </p:txBody>
        </p:sp>
        <p:sp>
          <p:nvSpPr>
            <p:cNvPr id="37" name="TextBox 36"/>
            <p:cNvSpPr txBox="1"/>
            <p:nvPr/>
          </p:nvSpPr>
          <p:spPr>
            <a:xfrm>
              <a:off x="2159141" y="119675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38" name="TextBox 37"/>
            <p:cNvSpPr txBox="1"/>
            <p:nvPr/>
          </p:nvSpPr>
          <p:spPr>
            <a:xfrm>
              <a:off x="3606305" y="1559912"/>
              <a:ext cx="6630534" cy="276999"/>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fr-FR" sz="1200" dirty="0"/>
                <a:t>none</a:t>
              </a:r>
            </a:p>
          </p:txBody>
        </p:sp>
        <p:sp>
          <p:nvSpPr>
            <p:cNvPr id="39" name="TextBox 38"/>
            <p:cNvSpPr txBox="1"/>
            <p:nvPr/>
          </p:nvSpPr>
          <p:spPr>
            <a:xfrm>
              <a:off x="2575923" y="1516722"/>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0" name="Table 9" descr="TABLE;LIST_OF_ALL_VERSIONS"/>
          <p:cNvGraphicFramePr>
            <a:graphicFrameLocks noGrp="1"/>
          </p:cNvGraphicFramePr>
          <p:nvPr>
            <p:extLst>
              <p:ext uri="{D42A27DB-BD31-4B8C-83A1-F6EECF244321}">
                <p14:modId xmlns:p14="http://schemas.microsoft.com/office/powerpoint/2010/main" val="108091944"/>
              </p:ext>
            </p:extLst>
          </p:nvPr>
        </p:nvGraphicFramePr>
        <p:xfrm>
          <a:off x="5051884" y="3607850"/>
          <a:ext cx="2268252" cy="862183"/>
        </p:xfrm>
        <a:graphic>
          <a:graphicData uri="http://schemas.openxmlformats.org/drawingml/2006/table">
            <a:tbl>
              <a:tblPr firstRow="1" bandRow="1">
                <a:tableStyleId>{9DCAF9ED-07DC-4A11-8D7F-57B35C25682E}</a:tableStyleId>
              </a:tblPr>
              <a:tblGrid>
                <a:gridCol w="1329665">
                  <a:extLst>
                    <a:ext uri="{9D8B030D-6E8A-4147-A177-3AD203B41FA5}">
                      <a16:colId xmlns:a16="http://schemas.microsoft.com/office/drawing/2014/main" val="20000"/>
                    </a:ext>
                  </a:extLst>
                </a:gridCol>
                <a:gridCol w="938587">
                  <a:extLst>
                    <a:ext uri="{9D8B030D-6E8A-4147-A177-3AD203B41FA5}">
                      <a16:colId xmlns:a16="http://schemas.microsoft.com/office/drawing/2014/main" val="20001"/>
                    </a:ext>
                  </a:extLst>
                </a:gridCol>
              </a:tblGrid>
              <a:tr h="216980">
                <a:tc>
                  <a:txBody>
                    <a:bodyPr/>
                    <a:lstStyle/>
                    <a:p>
                      <a:pPr>
                        <a:lnSpc>
                          <a:spcPct val="115000"/>
                        </a:lnSpc>
                        <a:spcAft>
                          <a:spcPts val="0"/>
                        </a:spcAft>
                      </a:pPr>
                      <a:r>
                        <a:rPr lang="en-GB" sz="1000" dirty="0"/>
                        <a:t>Name</a:t>
                      </a:r>
                      <a:endParaRPr lang="fr-FR" sz="1100" dirty="0">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Date</a:t>
                      </a:r>
                      <a:endParaRPr lang="fr-FR" sz="1100" dirty="0">
                        <a:latin typeface="Calibri"/>
                        <a:ea typeface="Calibri"/>
                        <a:cs typeface="Times New Roman"/>
                      </a:endParaRPr>
                    </a:p>
                  </a:txBody>
                  <a:tcPr marL="68580" marR="68580" marT="0" marB="0"/>
                </a:tc>
                <a:extLst>
                  <a:ext uri="{0D108BD9-81ED-4DB2-BD59-A6C34878D82A}">
                    <a16:rowId xmlns:a16="http://schemas.microsoft.com/office/drawing/2014/main" val="10000"/>
                  </a:ext>
                </a:extLst>
              </a:tr>
              <a:tr h="211243">
                <a:tc>
                  <a:txBody>
                    <a:bodyPr/>
                    <a:lstStyle/>
                    <a:p>
                      <a:pPr>
                        <a:lnSpc>
                          <a:spcPct val="115000"/>
                        </a:lnSpc>
                        <a:spcAft>
                          <a:spcPts val="0"/>
                        </a:spcAft>
                      </a:pPr>
                      <a:r>
                        <a:rPr lang="en-GB" sz="1000" dirty="0"/>
                        <a:t>V1</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1 </a:t>
                      </a:r>
                      <a:r>
                        <a:rPr lang="en-GB" sz="1000" dirty="0" err="1"/>
                        <a:t>jan</a:t>
                      </a:r>
                      <a:r>
                        <a:rPr lang="en-GB" sz="1000" baseline="0" dirty="0"/>
                        <a:t> 2010</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16980">
                <a:tc>
                  <a:txBody>
                    <a:bodyPr/>
                    <a:lstStyle/>
                    <a:p>
                      <a:pPr>
                        <a:lnSpc>
                          <a:spcPct val="115000"/>
                        </a:lnSpc>
                        <a:spcAft>
                          <a:spcPts val="0"/>
                        </a:spcAft>
                      </a:pPr>
                      <a:r>
                        <a:rPr lang="en-GB" sz="1000" dirty="0"/>
                        <a:t>V2</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1 </a:t>
                      </a:r>
                      <a:r>
                        <a:rPr lang="en-GB" sz="1000" dirty="0" err="1"/>
                        <a:t>jan</a:t>
                      </a:r>
                      <a:r>
                        <a:rPr lang="en-GB" sz="1000" dirty="0"/>
                        <a:t> 2011</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2"/>
                  </a:ext>
                </a:extLst>
              </a:tr>
              <a:tr h="216980">
                <a:tc>
                  <a:txBody>
                    <a:bodyPr/>
                    <a:lstStyle/>
                    <a:p>
                      <a:pPr>
                        <a:lnSpc>
                          <a:spcPct val="115000"/>
                        </a:lnSpc>
                        <a:spcAft>
                          <a:spcPts val="0"/>
                        </a:spcAft>
                      </a:pPr>
                      <a:r>
                        <a:rPr lang="en-GB" sz="1000" dirty="0"/>
                        <a:t>V3</a:t>
                      </a:r>
                      <a:endParaRPr lang="fr-FR" sz="1100" dirty="0">
                        <a:solidFill>
                          <a:schemeClr val="accent3">
                            <a:lumMod val="50000"/>
                          </a:schemeClr>
                        </a:solidFill>
                        <a:latin typeface="Calibri"/>
                        <a:ea typeface="Calibri"/>
                        <a:cs typeface="Times New Roman"/>
                      </a:endParaRPr>
                    </a:p>
                  </a:txBody>
                  <a:tcPr marL="68580" marR="68580" marT="0" marB="0"/>
                </a:tc>
                <a:tc>
                  <a:txBody>
                    <a:bodyPr/>
                    <a:lstStyle/>
                    <a:p>
                      <a:pPr algn="r">
                        <a:lnSpc>
                          <a:spcPct val="115000"/>
                        </a:lnSpc>
                        <a:spcAft>
                          <a:spcPts val="0"/>
                        </a:spcAft>
                      </a:pPr>
                      <a:r>
                        <a:rPr lang="en-GB" sz="1000" dirty="0"/>
                        <a:t>1 </a:t>
                      </a:r>
                      <a:r>
                        <a:rPr lang="en-GB" sz="1000" dirty="0" err="1"/>
                        <a:t>jan</a:t>
                      </a:r>
                      <a:r>
                        <a:rPr lang="en-GB" sz="1000" dirty="0"/>
                        <a:t> 2012</a:t>
                      </a:r>
                      <a:endParaRPr lang="fr-FR" sz="1100" dirty="0">
                        <a:solidFill>
                          <a:schemeClr val="accent3">
                            <a:lumMod val="50000"/>
                          </a:schemeClr>
                        </a:solidFill>
                        <a:latin typeface="Calibri"/>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398181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C9C23A0-85AC-4BD0-9995-588606C9C688}"/>
              </a:ext>
            </a:extLst>
          </p:cNvPr>
          <p:cNvGrpSpPr/>
          <p:nvPr/>
        </p:nvGrpSpPr>
        <p:grpSpPr>
          <a:xfrm>
            <a:off x="1919536" y="1796743"/>
            <a:ext cx="8335638" cy="3656234"/>
            <a:chOff x="1919536" y="908720"/>
            <a:chExt cx="8335638" cy="3656234"/>
          </a:xfrm>
        </p:grpSpPr>
        <p:sp>
          <p:nvSpPr>
            <p:cNvPr id="6" name="Rounded Rectangle 5"/>
            <p:cNvSpPr/>
            <p:nvPr/>
          </p:nvSpPr>
          <p:spPr>
            <a:xfrm>
              <a:off x="1991544" y="908720"/>
              <a:ext cx="8157600" cy="3656234"/>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908720"/>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Critical Violations by Application</a:t>
              </a:r>
            </a:p>
          </p:txBody>
        </p:sp>
        <p:sp>
          <p:nvSpPr>
            <p:cNvPr id="14" name="TextBox 13"/>
            <p:cNvSpPr txBox="1"/>
            <p:nvPr/>
          </p:nvSpPr>
          <p:spPr>
            <a:xfrm>
              <a:off x="3624640" y="132335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CRITICAL_VIOL_BY_APPLICATION</a:t>
              </a:r>
            </a:p>
          </p:txBody>
        </p:sp>
        <p:sp>
          <p:nvSpPr>
            <p:cNvPr id="15" name="TextBox 14"/>
            <p:cNvSpPr txBox="1"/>
            <p:nvPr/>
          </p:nvSpPr>
          <p:spPr>
            <a:xfrm>
              <a:off x="2177476" y="129605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24640" y="1646716"/>
              <a:ext cx="6630534" cy="523220"/>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400" b="1" dirty="0"/>
                <a:t>HEADER=SHORT</a:t>
              </a:r>
              <a:r>
                <a:rPr lang="fr-FR" sz="1400" dirty="0"/>
                <a:t> (by default HEADER=SHORT)</a:t>
              </a:r>
            </a:p>
            <a:p>
              <a:r>
                <a:rPr lang="fr-FR" sz="1400" b="1" dirty="0"/>
                <a:t>SHOW_PREVIOUS=1</a:t>
              </a:r>
              <a:r>
                <a:rPr lang="fr-FR" sz="1400" dirty="0"/>
                <a:t> (by default SHOW_PREVIOUS=0)</a:t>
              </a:r>
            </a:p>
          </p:txBody>
        </p:sp>
        <p:sp>
          <p:nvSpPr>
            <p:cNvPr id="17" name="TextBox 16"/>
            <p:cNvSpPr txBox="1"/>
            <p:nvPr/>
          </p:nvSpPr>
          <p:spPr>
            <a:xfrm>
              <a:off x="2594258" y="161602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graphicFrame>
        <p:nvGraphicFramePr>
          <p:cNvPr id="11" name="Table 10" descr="TABLE;CRITICAL_VIOL_BY_APPLICATION"/>
          <p:cNvGraphicFramePr>
            <a:graphicFrameLocks noGrp="1"/>
          </p:cNvGraphicFramePr>
          <p:nvPr>
            <p:extLst>
              <p:ext uri="{D42A27DB-BD31-4B8C-83A1-F6EECF244321}">
                <p14:modId xmlns:p14="http://schemas.microsoft.com/office/powerpoint/2010/main" val="1621109859"/>
              </p:ext>
            </p:extLst>
          </p:nvPr>
        </p:nvGraphicFramePr>
        <p:xfrm>
          <a:off x="2572970" y="3452928"/>
          <a:ext cx="6809747" cy="666560"/>
        </p:xfrm>
        <a:graphic>
          <a:graphicData uri="http://schemas.openxmlformats.org/drawingml/2006/table">
            <a:tbl>
              <a:tblPr firstRow="1" bandRow="1">
                <a:tableStyleId>{9DCAF9ED-07DC-4A11-8D7F-57B35C25682E}</a:tableStyleId>
              </a:tblPr>
              <a:tblGrid>
                <a:gridCol w="1781009">
                  <a:extLst>
                    <a:ext uri="{9D8B030D-6E8A-4147-A177-3AD203B41FA5}">
                      <a16:colId xmlns:a16="http://schemas.microsoft.com/office/drawing/2014/main" val="20000"/>
                    </a:ext>
                  </a:extLst>
                </a:gridCol>
                <a:gridCol w="838123">
                  <a:extLst>
                    <a:ext uri="{9D8B030D-6E8A-4147-A177-3AD203B41FA5}">
                      <a16:colId xmlns:a16="http://schemas.microsoft.com/office/drawing/2014/main" val="20001"/>
                    </a:ext>
                  </a:extLst>
                </a:gridCol>
                <a:gridCol w="838123">
                  <a:extLst>
                    <a:ext uri="{9D8B030D-6E8A-4147-A177-3AD203B41FA5}">
                      <a16:colId xmlns:a16="http://schemas.microsoft.com/office/drawing/2014/main" val="20002"/>
                    </a:ext>
                  </a:extLst>
                </a:gridCol>
                <a:gridCol w="838123">
                  <a:extLst>
                    <a:ext uri="{9D8B030D-6E8A-4147-A177-3AD203B41FA5}">
                      <a16:colId xmlns:a16="http://schemas.microsoft.com/office/drawing/2014/main" val="20003"/>
                    </a:ext>
                  </a:extLst>
                </a:gridCol>
                <a:gridCol w="838123">
                  <a:extLst>
                    <a:ext uri="{9D8B030D-6E8A-4147-A177-3AD203B41FA5}">
                      <a16:colId xmlns:a16="http://schemas.microsoft.com/office/drawing/2014/main" val="20004"/>
                    </a:ext>
                  </a:extLst>
                </a:gridCol>
                <a:gridCol w="838123">
                  <a:extLst>
                    <a:ext uri="{9D8B030D-6E8A-4147-A177-3AD203B41FA5}">
                      <a16:colId xmlns:a16="http://schemas.microsoft.com/office/drawing/2014/main" val="20005"/>
                    </a:ext>
                  </a:extLst>
                </a:gridCol>
                <a:gridCol w="838123">
                  <a:extLst>
                    <a:ext uri="{9D8B030D-6E8A-4147-A177-3AD203B41FA5}">
                      <a16:colId xmlns:a16="http://schemas.microsoft.com/office/drawing/2014/main" val="20006"/>
                    </a:ext>
                  </a:extLst>
                </a:gridCol>
              </a:tblGrid>
              <a:tr h="177748">
                <a:tc>
                  <a:txBody>
                    <a:bodyPr/>
                    <a:lstStyle/>
                    <a:p>
                      <a:pPr>
                        <a:lnSpc>
                          <a:spcPct val="115000"/>
                        </a:lnSpc>
                        <a:spcAft>
                          <a:spcPts val="0"/>
                        </a:spcAft>
                      </a:pPr>
                      <a:r>
                        <a:rPr lang="fr-FR" sz="1100" dirty="0"/>
                        <a:t>Name</a:t>
                      </a:r>
                      <a:endParaRPr lang="fr-FR" sz="1100" dirty="0">
                        <a:latin typeface="Calibri"/>
                        <a:ea typeface="Calibri"/>
                        <a:cs typeface="Times New Roman"/>
                      </a:endParaRPr>
                    </a:p>
                  </a:txBody>
                  <a:tcPr marL="68580" marR="68580" marT="0" marB="0"/>
                </a:tc>
                <a:tc>
                  <a:txBody>
                    <a:bodyPr/>
                    <a:lstStyle/>
                    <a:p>
                      <a:pPr algn="ctr">
                        <a:lnSpc>
                          <a:spcPct val="115000"/>
                        </a:lnSpc>
                        <a:spcAft>
                          <a:spcPts val="0"/>
                        </a:spcAft>
                      </a:pPr>
                      <a:r>
                        <a:rPr lang="en-GB" sz="1000" dirty="0"/>
                        <a:t>TQI</a:t>
                      </a:r>
                      <a:endParaRPr lang="fr-FR" sz="1100" dirty="0">
                        <a:latin typeface="Calibri"/>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Robu.</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err="1"/>
                        <a:t>Effy</a:t>
                      </a:r>
                      <a:r>
                        <a:rPr lang="fr-FR" sz="1000" kern="1200" dirty="0"/>
                        <a:t>.</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Secu.</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Trans.</a:t>
                      </a:r>
                      <a:endParaRPr lang="fr-FR" sz="1000" b="1" kern="1200" dirty="0">
                        <a:solidFill>
                          <a:schemeClr val="lt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Chang.</a:t>
                      </a:r>
                      <a:endParaRPr lang="fr-FR" sz="1000" b="1" kern="1200" dirty="0">
                        <a:solidFill>
                          <a:schemeClr val="lt1"/>
                        </a:solidFill>
                        <a:latin typeface="+mn-lt"/>
                        <a:ea typeface="+mn-ea"/>
                        <a:cs typeface="+mn-cs"/>
                      </a:endParaRPr>
                    </a:p>
                  </a:txBody>
                  <a:tcPr marL="68580" marR="68580" marT="0" marB="0"/>
                </a:tc>
                <a:extLst>
                  <a:ext uri="{0D108BD9-81ED-4DB2-BD59-A6C34878D82A}">
                    <a16:rowId xmlns:a16="http://schemas.microsoft.com/office/drawing/2014/main" val="10000"/>
                  </a:ext>
                </a:extLst>
              </a:tr>
              <a:tr h="161589">
                <a:tc>
                  <a:txBody>
                    <a:bodyPr/>
                    <a:lstStyle/>
                    <a:p>
                      <a:pPr>
                        <a:lnSpc>
                          <a:spcPct val="115000"/>
                        </a:lnSpc>
                        <a:spcAft>
                          <a:spcPts val="0"/>
                        </a:spcAft>
                      </a:pPr>
                      <a:r>
                        <a:rPr lang="en-GB" sz="1000" dirty="0"/>
                        <a:t>Current version</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1"/>
                  </a:ext>
                </a:extLst>
              </a:tr>
              <a:tr h="161589">
                <a:tc>
                  <a:txBody>
                    <a:bodyPr/>
                    <a:lstStyle/>
                    <a:p>
                      <a:pPr>
                        <a:lnSpc>
                          <a:spcPct val="115000"/>
                        </a:lnSpc>
                        <a:spcAft>
                          <a:spcPts val="0"/>
                        </a:spcAft>
                      </a:pPr>
                      <a:r>
                        <a:rPr lang="en-GB" sz="1000" dirty="0"/>
                        <a:t>   Added</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161589">
                <a:tc>
                  <a:txBody>
                    <a:bodyPr/>
                    <a:lstStyle/>
                    <a:p>
                      <a:pPr>
                        <a:lnSpc>
                          <a:spcPct val="115000"/>
                        </a:lnSpc>
                        <a:spcAft>
                          <a:spcPts val="0"/>
                        </a:spcAft>
                      </a:pPr>
                      <a:r>
                        <a:rPr lang="en-GB" sz="1000" dirty="0"/>
                        <a:t>   Removed</a:t>
                      </a:r>
                      <a:endParaRPr lang="fr-FR" sz="1100" dirty="0">
                        <a:solidFill>
                          <a:schemeClr val="accent3">
                            <a:lumMod val="50000"/>
                          </a:schemeClr>
                        </a:solidFill>
                        <a:latin typeface="+mn-lt"/>
                        <a:ea typeface="Calibri"/>
                        <a:cs typeface="Times New Roman"/>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tc>
                  <a:txBody>
                    <a:bodyPr/>
                    <a:lstStyle/>
                    <a:p>
                      <a:pPr marL="0" algn="ctr" defTabSz="914400" rtl="0" eaLnBrk="1" latinLnBrk="0" hangingPunct="1">
                        <a:lnSpc>
                          <a:spcPct val="115000"/>
                        </a:lnSpc>
                        <a:spcAft>
                          <a:spcPts val="0"/>
                        </a:spcAft>
                      </a:pPr>
                      <a:r>
                        <a:rPr lang="fr-FR" sz="1000" kern="1200" dirty="0"/>
                        <a:t>-0</a:t>
                      </a:r>
                      <a:endParaRPr lang="fr-FR" sz="1000" kern="1200" dirty="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bl>
          </a:graphicData>
        </a:graphic>
      </p:graphicFrame>
      <p:sp>
        <p:nvSpPr>
          <p:cNvPr id="3" name="Title 2"/>
          <p:cNvSpPr>
            <a:spLocks noGrp="1"/>
          </p:cNvSpPr>
          <p:nvPr>
            <p:ph type="title"/>
          </p:nvPr>
        </p:nvSpPr>
        <p:spPr/>
        <p:txBody>
          <a:bodyPr/>
          <a:lstStyle/>
          <a:p>
            <a:r>
              <a:rPr lang="en-US" dirty="0"/>
              <a:t>PowerPoint Templates – Tables</a:t>
            </a:r>
          </a:p>
        </p:txBody>
      </p:sp>
    </p:spTree>
    <p:extLst>
      <p:ext uri="{BB962C8B-B14F-4D97-AF65-F5344CB8AC3E}">
        <p14:creationId xmlns:p14="http://schemas.microsoft.com/office/powerpoint/2010/main" val="1388325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B38523B-3C52-435E-B012-8EA595B3F21D}"/>
              </a:ext>
            </a:extLst>
          </p:cNvPr>
          <p:cNvGrpSpPr/>
          <p:nvPr/>
        </p:nvGrpSpPr>
        <p:grpSpPr>
          <a:xfrm>
            <a:off x="1919536" y="1374018"/>
            <a:ext cx="8335638" cy="4653224"/>
            <a:chOff x="1919536" y="908720"/>
            <a:chExt cx="8335638" cy="4653224"/>
          </a:xfrm>
        </p:grpSpPr>
        <p:sp>
          <p:nvSpPr>
            <p:cNvPr id="6" name="Rounded Rectangle 5"/>
            <p:cNvSpPr/>
            <p:nvPr/>
          </p:nvSpPr>
          <p:spPr>
            <a:xfrm>
              <a:off x="1991544" y="908720"/>
              <a:ext cx="8157600" cy="4653224"/>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19536" y="908720"/>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Automated Function Points</a:t>
              </a:r>
            </a:p>
          </p:txBody>
        </p:sp>
        <p:sp>
          <p:nvSpPr>
            <p:cNvPr id="14" name="TextBox 13"/>
            <p:cNvSpPr txBox="1"/>
            <p:nvPr/>
          </p:nvSpPr>
          <p:spPr>
            <a:xfrm>
              <a:off x="3624640" y="1323352"/>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IFPUG_FUNCTIONS</a:t>
              </a:r>
            </a:p>
          </p:txBody>
        </p:sp>
        <p:sp>
          <p:nvSpPr>
            <p:cNvPr id="15" name="TextBox 14"/>
            <p:cNvSpPr txBox="1"/>
            <p:nvPr/>
          </p:nvSpPr>
          <p:spPr>
            <a:xfrm>
              <a:off x="2177476" y="1296056"/>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6" name="TextBox 15"/>
            <p:cNvSpPr txBox="1"/>
            <p:nvPr/>
          </p:nvSpPr>
          <p:spPr>
            <a:xfrm>
              <a:off x="3624640" y="1646715"/>
              <a:ext cx="6524504" cy="1815882"/>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400" b="1" dirty="0"/>
                <a:t>COUNT=N</a:t>
              </a:r>
              <a:r>
                <a:rPr lang="fr-FR" sz="1400" dirty="0"/>
                <a:t> to </a:t>
              </a:r>
              <a:r>
                <a:rPr lang="fr-FR" sz="1400" dirty="0" err="1"/>
                <a:t>limit</a:t>
              </a:r>
              <a:r>
                <a:rPr lang="fr-FR" sz="1400" dirty="0"/>
                <a:t> </a:t>
              </a:r>
              <a:r>
                <a:rPr lang="fr-FR" sz="1400" dirty="0" err="1"/>
                <a:t>number</a:t>
              </a:r>
              <a:r>
                <a:rPr lang="fr-FR" sz="1400" dirty="0"/>
                <a:t> of items </a:t>
              </a:r>
              <a:r>
                <a:rPr lang="fr-FR" sz="1400" dirty="0" err="1"/>
                <a:t>displayed</a:t>
              </a:r>
              <a:r>
                <a:rPr lang="fr-FR" sz="1400" dirty="0"/>
                <a:t> (by default N=5) – </a:t>
              </a:r>
              <a:r>
                <a:rPr lang="fr-FR" sz="1400" dirty="0" err="1"/>
                <a:t>this</a:t>
              </a:r>
              <a:r>
                <a:rPr lang="fr-FR" sz="1400" dirty="0"/>
                <a:t> </a:t>
              </a:r>
              <a:r>
                <a:rPr lang="fr-FR" sz="1400" dirty="0" err="1"/>
                <a:t>list</a:t>
              </a:r>
              <a:r>
                <a:rPr lang="fr-FR" sz="1400" dirty="0"/>
                <a:t> </a:t>
              </a:r>
              <a:r>
                <a:rPr lang="fr-FR" sz="1400" dirty="0" err="1"/>
                <a:t>will</a:t>
              </a:r>
              <a:r>
                <a:rPr lang="fr-FR" sz="1400" dirty="0"/>
                <a:t> </a:t>
              </a:r>
              <a:r>
                <a:rPr lang="fr-FR" sz="1400" dirty="0" err="1"/>
                <a:t>usually</a:t>
              </a:r>
              <a:r>
                <a:rPr lang="fr-FR" sz="1400" dirty="0"/>
                <a:t> </a:t>
              </a:r>
              <a:r>
                <a:rPr lang="fr-FR" sz="1400" dirty="0" err="1"/>
                <a:t>be</a:t>
              </a:r>
              <a:r>
                <a:rPr lang="fr-FR" sz="1400" dirty="0"/>
                <a:t> </a:t>
              </a:r>
              <a:r>
                <a:rPr lang="fr-FR" sz="1400" dirty="0" err="1"/>
                <a:t>quite</a:t>
              </a:r>
              <a:r>
                <a:rPr lang="fr-FR" sz="1400" dirty="0"/>
                <a:t> large and </a:t>
              </a:r>
              <a:r>
                <a:rPr lang="fr-FR" sz="1400" dirty="0" err="1"/>
                <a:t>will</a:t>
              </a:r>
              <a:r>
                <a:rPr lang="fr-FR" sz="1400" dirty="0"/>
                <a:t> </a:t>
              </a:r>
              <a:r>
                <a:rPr lang="fr-FR" sz="1400" dirty="0" err="1"/>
                <a:t>be</a:t>
              </a:r>
              <a:r>
                <a:rPr lang="fr-FR" sz="1400" dirty="0"/>
                <a:t> best </a:t>
              </a:r>
              <a:r>
                <a:rPr lang="fr-FR" sz="1400" dirty="0" err="1"/>
                <a:t>used</a:t>
              </a:r>
              <a:r>
                <a:rPr lang="fr-FR" sz="1400" dirty="0"/>
                <a:t> in Excel reports</a:t>
              </a:r>
            </a:p>
            <a:p>
              <a:r>
                <a:rPr lang="fr-FR" sz="1400" b="1" dirty="0"/>
                <a:t>TYPE=T</a:t>
              </a:r>
              <a:r>
                <a:rPr lang="fr-FR" sz="1400" dirty="0"/>
                <a:t> to </a:t>
              </a:r>
              <a:r>
                <a:rPr lang="fr-FR" sz="1400" dirty="0" err="1"/>
                <a:t>filter</a:t>
              </a:r>
              <a:r>
                <a:rPr lang="fr-FR" sz="1400" dirty="0"/>
                <a:t> </a:t>
              </a:r>
              <a:r>
                <a:rPr lang="fr-FR" sz="1400" dirty="0" err="1"/>
                <a:t>list</a:t>
              </a:r>
              <a:r>
                <a:rPr lang="fr-FR" sz="1400" dirty="0"/>
                <a:t> by </a:t>
              </a:r>
              <a:r>
                <a:rPr lang="fr-FR" sz="1400" dirty="0" err="1"/>
                <a:t>function</a:t>
              </a:r>
              <a:r>
                <a:rPr lang="fr-FR" sz="1400" dirty="0"/>
                <a:t> types. T </a:t>
              </a:r>
              <a:r>
                <a:rPr lang="fr-FR" sz="1400" dirty="0" err="1"/>
                <a:t>may</a:t>
              </a:r>
              <a:r>
                <a:rPr lang="fr-FR" sz="1400" dirty="0"/>
                <a:t> </a:t>
              </a:r>
              <a:r>
                <a:rPr lang="fr-FR" sz="1400" dirty="0" err="1"/>
                <a:t>be</a:t>
              </a:r>
              <a:r>
                <a:rPr lang="fr-FR" sz="1400" dirty="0"/>
                <a:t> ‘TF’ for </a:t>
              </a:r>
              <a:r>
                <a:rPr lang="fr-FR" sz="1400" dirty="0" err="1"/>
                <a:t>transactional</a:t>
              </a:r>
              <a:r>
                <a:rPr lang="fr-FR" sz="1400" dirty="0"/>
                <a:t> </a:t>
              </a:r>
              <a:r>
                <a:rPr lang="fr-FR" sz="1400" dirty="0" err="1"/>
                <a:t>functions</a:t>
              </a:r>
              <a:r>
                <a:rPr lang="fr-FR" sz="1400" dirty="0"/>
                <a:t>, or ‘DF’ for data </a:t>
              </a:r>
              <a:r>
                <a:rPr lang="fr-FR" sz="1400" dirty="0" err="1"/>
                <a:t>functions</a:t>
              </a:r>
              <a:r>
                <a:rPr lang="fr-FR" sz="1400" dirty="0"/>
                <a:t> (by default no </a:t>
              </a:r>
              <a:r>
                <a:rPr lang="fr-FR" sz="1400" dirty="0" err="1"/>
                <a:t>filtering</a:t>
              </a:r>
              <a:r>
                <a:rPr lang="fr-FR" sz="1400" dirty="0"/>
                <a:t> </a:t>
              </a:r>
              <a:r>
                <a:rPr lang="fr-FR" sz="1400" dirty="0" err="1"/>
                <a:t>will</a:t>
              </a:r>
              <a:r>
                <a:rPr lang="fr-FR" sz="1400" dirty="0"/>
                <a:t> </a:t>
              </a:r>
              <a:r>
                <a:rPr lang="fr-FR" sz="1400" dirty="0" err="1"/>
                <a:t>be</a:t>
              </a:r>
              <a:r>
                <a:rPr lang="fr-FR" sz="1400" dirty="0"/>
                <a:t> </a:t>
              </a:r>
              <a:r>
                <a:rPr lang="fr-FR" sz="1400" dirty="0" err="1"/>
                <a:t>applied</a:t>
              </a:r>
              <a:r>
                <a:rPr lang="fr-FR" sz="1400" dirty="0"/>
                <a:t>)</a:t>
              </a:r>
            </a:p>
            <a:p>
              <a:r>
                <a:rPr lang="fr-FR" sz="1400" dirty="0"/>
                <a:t>PREVIOUS=YES|NO to display the AFP value for </a:t>
              </a:r>
              <a:r>
                <a:rPr lang="fr-FR" sz="1400" dirty="0" err="1"/>
                <a:t>previous</a:t>
              </a:r>
              <a:r>
                <a:rPr lang="fr-FR" sz="1400" dirty="0"/>
                <a:t> snapshot (no by default)</a:t>
              </a:r>
            </a:p>
            <a:p>
              <a:r>
                <a:rPr lang="fr-FR" sz="1400" dirty="0"/>
                <a:t>ZERO=YES|NO to display the </a:t>
              </a:r>
              <a:r>
                <a:rPr lang="fr-FR" sz="1400" dirty="0" err="1"/>
                <a:t>function</a:t>
              </a:r>
              <a:r>
                <a:rPr lang="fr-FR" sz="1400" dirty="0"/>
                <a:t> </a:t>
              </a:r>
              <a:r>
                <a:rPr lang="fr-FR" sz="1400" dirty="0" err="1"/>
                <a:t>with</a:t>
              </a:r>
              <a:r>
                <a:rPr lang="fr-FR" sz="1400" dirty="0"/>
                <a:t> 0 AFP (yes by default)</a:t>
              </a:r>
            </a:p>
          </p:txBody>
        </p:sp>
        <p:sp>
          <p:nvSpPr>
            <p:cNvPr id="17" name="TextBox 16"/>
            <p:cNvSpPr txBox="1"/>
            <p:nvPr/>
          </p:nvSpPr>
          <p:spPr>
            <a:xfrm>
              <a:off x="2594258" y="1616026"/>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0" name="TextBox 9">
              <a:extLst>
                <a:ext uri="{FF2B5EF4-FFF2-40B4-BE49-F238E27FC236}">
                  <a16:creationId xmlns:a16="http://schemas.microsoft.com/office/drawing/2014/main" id="{ACBE7E57-9999-4619-B071-E82DC7BAB299}"/>
                </a:ext>
              </a:extLst>
            </p:cNvPr>
            <p:cNvSpPr txBox="1"/>
            <p:nvPr/>
          </p:nvSpPr>
          <p:spPr>
            <a:xfrm>
              <a:off x="3071664" y="3700630"/>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2" name="TextBox 11">
              <a:extLst>
                <a:ext uri="{FF2B5EF4-FFF2-40B4-BE49-F238E27FC236}">
                  <a16:creationId xmlns:a16="http://schemas.microsoft.com/office/drawing/2014/main" id="{26FD42C4-B362-4662-B9BB-8CD49AA224AF}"/>
                </a:ext>
              </a:extLst>
            </p:cNvPr>
            <p:cNvSpPr txBox="1"/>
            <p:nvPr/>
          </p:nvSpPr>
          <p:spPr>
            <a:xfrm>
              <a:off x="2514067" y="3666510"/>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graphicFrame>
        <p:nvGraphicFramePr>
          <p:cNvPr id="11" name="Table 10" descr="TABLE;IFPUG_FUNCTIONS;COUNT=10"/>
          <p:cNvGraphicFramePr>
            <a:graphicFrameLocks noGrp="1"/>
          </p:cNvGraphicFramePr>
          <p:nvPr>
            <p:extLst>
              <p:ext uri="{D42A27DB-BD31-4B8C-83A1-F6EECF244321}">
                <p14:modId xmlns:p14="http://schemas.microsoft.com/office/powerpoint/2010/main" val="3610344564"/>
              </p:ext>
            </p:extLst>
          </p:nvPr>
        </p:nvGraphicFramePr>
        <p:xfrm>
          <a:off x="2279577" y="4791152"/>
          <a:ext cx="7560839" cy="888429"/>
        </p:xfrm>
        <a:graphic>
          <a:graphicData uri="http://schemas.openxmlformats.org/drawingml/2006/table">
            <a:tbl>
              <a:tblPr firstRow="1" bandRow="1">
                <a:tableStyleId>{9DCAF9ED-07DC-4A11-8D7F-57B35C25682E}</a:tableStyleId>
              </a:tblPr>
              <a:tblGrid>
                <a:gridCol w="1101093">
                  <a:extLst>
                    <a:ext uri="{9D8B030D-6E8A-4147-A177-3AD203B41FA5}">
                      <a16:colId xmlns:a16="http://schemas.microsoft.com/office/drawing/2014/main" val="20000"/>
                    </a:ext>
                  </a:extLst>
                </a:gridCol>
                <a:gridCol w="1537265">
                  <a:extLst>
                    <a:ext uri="{9D8B030D-6E8A-4147-A177-3AD203B41FA5}">
                      <a16:colId xmlns:a16="http://schemas.microsoft.com/office/drawing/2014/main" val="20001"/>
                    </a:ext>
                  </a:extLst>
                </a:gridCol>
                <a:gridCol w="664921">
                  <a:extLst>
                    <a:ext uri="{9D8B030D-6E8A-4147-A177-3AD203B41FA5}">
                      <a16:colId xmlns:a16="http://schemas.microsoft.com/office/drawing/2014/main" val="20002"/>
                    </a:ext>
                  </a:extLst>
                </a:gridCol>
                <a:gridCol w="1321312">
                  <a:extLst>
                    <a:ext uri="{9D8B030D-6E8A-4147-A177-3AD203B41FA5}">
                      <a16:colId xmlns:a16="http://schemas.microsoft.com/office/drawing/2014/main" val="20003"/>
                    </a:ext>
                  </a:extLst>
                </a:gridCol>
                <a:gridCol w="1211776">
                  <a:extLst>
                    <a:ext uri="{9D8B030D-6E8A-4147-A177-3AD203B41FA5}">
                      <a16:colId xmlns:a16="http://schemas.microsoft.com/office/drawing/2014/main" val="20004"/>
                    </a:ext>
                  </a:extLst>
                </a:gridCol>
                <a:gridCol w="932385">
                  <a:extLst>
                    <a:ext uri="{9D8B030D-6E8A-4147-A177-3AD203B41FA5}">
                      <a16:colId xmlns:a16="http://schemas.microsoft.com/office/drawing/2014/main" val="20005"/>
                    </a:ext>
                  </a:extLst>
                </a:gridCol>
                <a:gridCol w="792087">
                  <a:extLst>
                    <a:ext uri="{9D8B030D-6E8A-4147-A177-3AD203B41FA5}">
                      <a16:colId xmlns:a16="http://schemas.microsoft.com/office/drawing/2014/main" val="20006"/>
                    </a:ext>
                  </a:extLst>
                </a:gridCol>
              </a:tblGrid>
              <a:tr h="177748">
                <a:tc>
                  <a:txBody>
                    <a:bodyPr/>
                    <a:lstStyle/>
                    <a:p>
                      <a:pPr>
                        <a:lnSpc>
                          <a:spcPct val="115000"/>
                        </a:lnSpc>
                        <a:spcAft>
                          <a:spcPts val="0"/>
                        </a:spcAft>
                      </a:pPr>
                      <a:r>
                        <a:rPr lang="en-GB" sz="1100" dirty="0">
                          <a:effectLst/>
                        </a:rPr>
                        <a:t>Element Type</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a:effectLst/>
                        </a:rPr>
                        <a:t>Object Name</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dirty="0">
                          <a:effectLst/>
                        </a:rPr>
                        <a:t>AFP</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a:effectLst/>
                        </a:rPr>
                        <a:t>FP Details</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a:effectLst/>
                        </a:rPr>
                        <a:t>Object Type</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dirty="0">
                          <a:effectLst/>
                        </a:rPr>
                        <a:t>Module name</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a:effectLst/>
                        </a:rPr>
                        <a:t>Technology</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61589">
                <a:tc>
                  <a:txBody>
                    <a:bodyPr/>
                    <a:lstStyle/>
                    <a:p>
                      <a:pPr>
                        <a:lnSpc>
                          <a:spcPct val="115000"/>
                        </a:lnSpc>
                        <a:spcAft>
                          <a:spcPts val="0"/>
                        </a:spcAft>
                      </a:pPr>
                      <a:r>
                        <a:rPr lang="en-US" sz="1000" dirty="0">
                          <a:effectLst/>
                        </a:rPr>
                        <a:t>Data Function</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dirty="0">
                          <a:effectLst/>
                        </a:rPr>
                        <a:t>Object Name</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dirty="0">
                          <a:effectLst/>
                        </a:rPr>
                        <a:t>7</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a:effectLst/>
                        </a:rPr>
                        <a:t>DET: 1, RET: 1, ILF: 7 (Internal)</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a:effectLst/>
                        </a:rPr>
                        <a:t>NodeJS Mongoose model</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dirty="0">
                          <a:effectLst/>
                        </a:rPr>
                        <a:t>Module</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000" dirty="0">
                          <a:effectLst/>
                        </a:rPr>
                        <a:t>HTML5</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sp>
        <p:nvSpPr>
          <p:cNvPr id="3" name="Title 2"/>
          <p:cNvSpPr>
            <a:spLocks noGrp="1"/>
          </p:cNvSpPr>
          <p:nvPr>
            <p:ph type="title"/>
          </p:nvPr>
        </p:nvSpPr>
        <p:spPr/>
        <p:txBody>
          <a:bodyPr/>
          <a:lstStyle/>
          <a:p>
            <a:r>
              <a:rPr lang="en-US" dirty="0"/>
              <a:t>PowerPoint Templates – Tables</a:t>
            </a:r>
          </a:p>
        </p:txBody>
      </p:sp>
    </p:spTree>
    <p:extLst>
      <p:ext uri="{BB962C8B-B14F-4D97-AF65-F5344CB8AC3E}">
        <p14:creationId xmlns:p14="http://schemas.microsoft.com/office/powerpoint/2010/main" val="39552299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368F1E7-B789-4C83-895F-A60CB3825787}"/>
              </a:ext>
            </a:extLst>
          </p:cNvPr>
          <p:cNvGrpSpPr/>
          <p:nvPr/>
        </p:nvGrpSpPr>
        <p:grpSpPr>
          <a:xfrm>
            <a:off x="1955882" y="1276500"/>
            <a:ext cx="8343878" cy="4823865"/>
            <a:chOff x="1955882" y="908720"/>
            <a:chExt cx="8343878" cy="4823865"/>
          </a:xfrm>
        </p:grpSpPr>
        <p:sp>
          <p:nvSpPr>
            <p:cNvPr id="6" name="Rounded Rectangle 5"/>
            <p:cNvSpPr/>
            <p:nvPr/>
          </p:nvSpPr>
          <p:spPr>
            <a:xfrm>
              <a:off x="2008834" y="908720"/>
              <a:ext cx="8157600" cy="4823865"/>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Mapping Name: Violation Summary per application or modules</a:t>
              </a:r>
              <a:endParaRPr lang="fr-FR" sz="1600" dirty="0"/>
            </a:p>
          </p:txBody>
        </p:sp>
        <p:sp>
          <p:nvSpPr>
            <p:cNvPr id="14" name="TextBox 13"/>
            <p:cNvSpPr txBox="1"/>
            <p:nvPr/>
          </p:nvSpPr>
          <p:spPr>
            <a:xfrm>
              <a:off x="3669226" y="1471510"/>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en-US" sz="1400" dirty="0"/>
                <a:t>VIOLATION_SUMMARY</a:t>
              </a:r>
              <a:endParaRPr lang="fr-FR" sz="14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1869743"/>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fr-FR" sz="1050" b="1" dirty="0"/>
                <a:t>MODULES=1|0</a:t>
              </a:r>
              <a:r>
                <a:rPr lang="fr-FR" sz="1050" dirty="0"/>
                <a:t> to display violations for the </a:t>
              </a:r>
              <a:r>
                <a:rPr lang="fr-FR" sz="1050" dirty="0" err="1"/>
                <a:t>whole</a:t>
              </a:r>
              <a:r>
                <a:rPr lang="fr-FR" sz="1050" dirty="0"/>
                <a:t> application (=0 by default) or per modules (=1)</a:t>
              </a:r>
            </a:p>
            <a:p>
              <a:r>
                <a:rPr lang="en-US" sz="1050" b="1" dirty="0"/>
                <a:t>CRITICAL=1|0</a:t>
              </a:r>
              <a:r>
                <a:rPr lang="en-US" sz="1050" dirty="0"/>
                <a:t> to include critical violations (=1 by default) or not (=0)</a:t>
              </a:r>
            </a:p>
            <a:p>
              <a:r>
                <a:rPr lang="en-US" sz="1050" b="1" dirty="0"/>
                <a:t>NONCRITICAL=1|0 </a:t>
              </a:r>
              <a:r>
                <a:rPr lang="en-US" sz="1050" dirty="0"/>
                <a:t>to include the non-critical violations (=1) or not (=0 by default)</a:t>
              </a:r>
            </a:p>
            <a:p>
              <a:r>
                <a:rPr lang="en-US" sz="1050" b="1" dirty="0"/>
                <a:t>GRADE=1|0</a:t>
              </a:r>
              <a:r>
                <a:rPr lang="en-US" sz="1050" dirty="0"/>
                <a:t> to show the “Grade” column (1 by default)</a:t>
              </a:r>
            </a:p>
            <a:p>
              <a:r>
                <a:rPr lang="en-US" sz="1050" b="1" dirty="0"/>
                <a:t>TOTAL=1|0 </a:t>
              </a:r>
              <a:r>
                <a:rPr lang="en-US" sz="1050" dirty="0"/>
                <a:t>to show the “Total Checks” column (1 by default)</a:t>
              </a:r>
            </a:p>
            <a:p>
              <a:r>
                <a:rPr lang="en-US" sz="1050" b="1" dirty="0"/>
                <a:t>FAILED=1|0 </a:t>
              </a:r>
              <a:r>
                <a:rPr lang="en-US" sz="1050" dirty="0"/>
                <a:t>to show the “Failed Checks” column (0 by default)</a:t>
              </a:r>
            </a:p>
            <a:p>
              <a:r>
                <a:rPr lang="en-US" sz="1050" b="1" dirty="0"/>
                <a:t>SUCCESSFUL=1|0 </a:t>
              </a:r>
              <a:r>
                <a:rPr lang="en-US" sz="1050" dirty="0"/>
                <a:t>to show the “Successful Checks” column (0 by default)</a:t>
              </a:r>
            </a:p>
            <a:p>
              <a:r>
                <a:rPr lang="en-US" sz="1050" b="1" dirty="0"/>
                <a:t>ADDEDREMOVED=1|0</a:t>
              </a:r>
              <a:r>
                <a:rPr lang="en-US" sz="1050" dirty="0"/>
                <a:t> to show the “Added” and “Removed” columns (0 by default)</a:t>
              </a:r>
            </a:p>
            <a:p>
              <a:r>
                <a:rPr lang="en-US" sz="1050" b="1" dirty="0"/>
                <a:t>COMPLIANCE=1|0 </a:t>
              </a:r>
              <a:r>
                <a:rPr lang="en-US" sz="1050" dirty="0"/>
                <a:t>to show the “Compliance Ratio” column (0 by default)</a:t>
              </a:r>
            </a:p>
            <a:p>
              <a:r>
                <a:rPr lang="en-US" sz="1050" b="1" dirty="0"/>
                <a:t>COUNT=-1|N </a:t>
              </a:r>
              <a:r>
                <a:rPr lang="en-US" sz="1050" dirty="0"/>
                <a:t>display only N results, or all results if -1 (5 by default)</a:t>
              </a:r>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2" name="Table 1" descr="TABLE;VIOLATION_SUMMARY;MODULES=0,CRITICAL=1,NONCRITICAL=0,GRADE=1,TOTAL=0,FAILED=1,SUCCESSFUL=0,ADDEDREMOVED=1,COMPLIANCE=0,COUNT=5"/>
          <p:cNvGraphicFramePr>
            <a:graphicFrameLocks noGrp="1"/>
          </p:cNvGraphicFramePr>
          <p:nvPr>
            <p:extLst>
              <p:ext uri="{D42A27DB-BD31-4B8C-83A1-F6EECF244321}">
                <p14:modId xmlns:p14="http://schemas.microsoft.com/office/powerpoint/2010/main" val="2573868683"/>
              </p:ext>
            </p:extLst>
          </p:nvPr>
        </p:nvGraphicFramePr>
        <p:xfrm>
          <a:off x="2343218" y="4444852"/>
          <a:ext cx="7488832" cy="1226820"/>
        </p:xfrm>
        <a:graphic>
          <a:graphicData uri="http://schemas.openxmlformats.org/drawingml/2006/table">
            <a:tbl>
              <a:tblPr firstRow="1" bandRow="1">
                <a:tableStyleId>{9DCAF9ED-07DC-4A11-8D7F-57B35C25682E}</a:tableStyleId>
              </a:tblPr>
              <a:tblGrid>
                <a:gridCol w="3384376">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gridCol w="720080">
                  <a:extLst>
                    <a:ext uri="{9D8B030D-6E8A-4147-A177-3AD203B41FA5}">
                      <a16:colId xmlns:a16="http://schemas.microsoft.com/office/drawing/2014/main" val="20005"/>
                    </a:ext>
                  </a:extLst>
                </a:gridCol>
              </a:tblGrid>
              <a:tr h="226695">
                <a:tc>
                  <a:txBody>
                    <a:bodyPr/>
                    <a:lstStyle/>
                    <a:p>
                      <a:r>
                        <a:rPr lang="fr-FR" sz="1050" dirty="0" err="1"/>
                        <a:t>Rule</a:t>
                      </a:r>
                      <a:r>
                        <a:rPr lang="fr-FR" sz="1050" dirty="0"/>
                        <a:t> Name</a:t>
                      </a:r>
                    </a:p>
                  </a:txBody>
                  <a:tcPr/>
                </a:tc>
                <a:tc>
                  <a:txBody>
                    <a:bodyPr/>
                    <a:lstStyle/>
                    <a:p>
                      <a:r>
                        <a:rPr lang="fr-FR" sz="1050" dirty="0"/>
                        <a:t>Grade</a:t>
                      </a:r>
                    </a:p>
                  </a:txBody>
                  <a:tcPr/>
                </a:tc>
                <a:tc>
                  <a:txBody>
                    <a:bodyPr/>
                    <a:lstStyle/>
                    <a:p>
                      <a:pPr algn="ctr"/>
                      <a:r>
                        <a:rPr lang="fr-FR" sz="1050" dirty="0"/>
                        <a:t># Violations</a:t>
                      </a:r>
                    </a:p>
                  </a:txBody>
                  <a:tcPr/>
                </a:tc>
                <a:tc>
                  <a:txBody>
                    <a:bodyPr/>
                    <a:lstStyle/>
                    <a:p>
                      <a:pPr algn="ctr"/>
                      <a:r>
                        <a:rPr lang="fr-FR" sz="1050" dirty="0" err="1"/>
                        <a:t>Added</a:t>
                      </a:r>
                      <a:endParaRPr lang="fr-FR" sz="1050" dirty="0"/>
                    </a:p>
                  </a:txBody>
                  <a:tcPr/>
                </a:tc>
                <a:tc>
                  <a:txBody>
                    <a:bodyPr/>
                    <a:lstStyle/>
                    <a:p>
                      <a:pPr algn="ctr"/>
                      <a:r>
                        <a:rPr lang="fr-FR" sz="1050" dirty="0" err="1"/>
                        <a:t>Removed</a:t>
                      </a:r>
                      <a:endParaRPr lang="fr-FR" sz="1050" dirty="0"/>
                    </a:p>
                  </a:txBody>
                  <a:tcPr/>
                </a:tc>
                <a:tc>
                  <a:txBody>
                    <a:bodyPr/>
                    <a:lstStyle/>
                    <a:p>
                      <a:r>
                        <a:rPr lang="fr-FR" sz="1050" dirty="0"/>
                        <a:t>Critical</a:t>
                      </a:r>
                    </a:p>
                  </a:txBody>
                  <a:tcPr/>
                </a:tc>
                <a:extLst>
                  <a:ext uri="{0D108BD9-81ED-4DB2-BD59-A6C34878D82A}">
                    <a16:rowId xmlns:a16="http://schemas.microsoft.com/office/drawing/2014/main" val="10000"/>
                  </a:ext>
                </a:extLst>
              </a:tr>
              <a:tr h="203342">
                <a:tc>
                  <a:txBody>
                    <a:bodyPr/>
                    <a:lstStyle/>
                    <a:p>
                      <a:pPr marL="0" algn="l" defTabSz="914400" rtl="0" eaLnBrk="1" latinLnBrk="0" hangingPunct="1"/>
                      <a:r>
                        <a:rPr lang="fr-FR" sz="1000" kern="1200" dirty="0"/>
                        <a:t>Rule1</a:t>
                      </a:r>
                      <a:endParaRPr lang="fr-FR" sz="10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000" kern="1200" dirty="0"/>
                        <a:t>2.8</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4321</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4</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1</a:t>
                      </a:r>
                      <a:endParaRPr lang="fr-FR" sz="10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000" kern="1200" dirty="0"/>
                        <a:t>X</a:t>
                      </a:r>
                    </a:p>
                  </a:txBody>
                  <a:tcPr anchor="ctr"/>
                </a:tc>
                <a:extLst>
                  <a:ext uri="{0D108BD9-81ED-4DB2-BD59-A6C34878D82A}">
                    <a16:rowId xmlns:a16="http://schemas.microsoft.com/office/drawing/2014/main" val="10001"/>
                  </a:ext>
                </a:extLst>
              </a:tr>
              <a:tr h="192691">
                <a:tc>
                  <a:txBody>
                    <a:bodyPr/>
                    <a:lstStyle/>
                    <a:p>
                      <a:pPr marL="0" algn="l" defTabSz="914400" rtl="0" eaLnBrk="1" latinLnBrk="0" hangingPunct="1"/>
                      <a:r>
                        <a:rPr lang="fr-FR" sz="1000" kern="1200" dirty="0"/>
                        <a:t>Rule2</a:t>
                      </a:r>
                    </a:p>
                  </a:txBody>
                  <a:tcPr anchor="ctr"/>
                </a:tc>
                <a:tc>
                  <a:txBody>
                    <a:bodyPr/>
                    <a:lstStyle/>
                    <a:p>
                      <a:pPr marL="0" algn="l" defTabSz="914400" rtl="0" eaLnBrk="1" latinLnBrk="0" hangingPunct="1"/>
                      <a:r>
                        <a:rPr lang="fr-FR" sz="1000" kern="1200" dirty="0"/>
                        <a:t>2.9</a:t>
                      </a:r>
                    </a:p>
                  </a:txBody>
                  <a:tcPr anchor="ctr"/>
                </a:tc>
                <a:tc>
                  <a:txBody>
                    <a:bodyPr/>
                    <a:lstStyle/>
                    <a:p>
                      <a:pPr marL="0" algn="r" defTabSz="914400" rtl="0" eaLnBrk="1" latinLnBrk="0" hangingPunct="1"/>
                      <a:r>
                        <a:rPr lang="fr-FR" sz="1000" kern="1200" dirty="0"/>
                        <a:t>321</a:t>
                      </a:r>
                    </a:p>
                  </a:txBody>
                  <a:tcPr anchor="ctr"/>
                </a:tc>
                <a:tc>
                  <a:txBody>
                    <a:bodyPr/>
                    <a:lstStyle/>
                    <a:p>
                      <a:pPr marL="0" algn="r" defTabSz="914400" rtl="0" eaLnBrk="1" latinLnBrk="0" hangingPunct="1"/>
                      <a:r>
                        <a:rPr lang="fr-FR" sz="1000" kern="1200" dirty="0"/>
                        <a:t>3</a:t>
                      </a:r>
                    </a:p>
                  </a:txBody>
                  <a:tcPr anchor="ctr"/>
                </a:tc>
                <a:tc>
                  <a:txBody>
                    <a:bodyPr/>
                    <a:lstStyle/>
                    <a:p>
                      <a:pPr marL="0" algn="r" defTabSz="914400" rtl="0" eaLnBrk="1" latinLnBrk="0" hangingPunct="1"/>
                      <a:r>
                        <a:rPr lang="fr-FR" sz="1000" kern="1200" dirty="0"/>
                        <a:t>1</a:t>
                      </a:r>
                    </a:p>
                  </a:txBody>
                  <a:tcPr anchor="ctr"/>
                </a:tc>
                <a:tc>
                  <a:txBody>
                    <a:bodyPr/>
                    <a:lstStyle/>
                    <a:p>
                      <a:pPr marL="0" algn="l" defTabSz="914400" rtl="0" eaLnBrk="1" latinLnBrk="0" hangingPunct="1"/>
                      <a:r>
                        <a:rPr lang="fr-FR" sz="1000" kern="1200" dirty="0"/>
                        <a:t>X</a:t>
                      </a:r>
                      <a:endParaRPr lang="fr-FR" sz="1000" kern="1200" dirty="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192691">
                <a:tc>
                  <a:txBody>
                    <a:bodyPr/>
                    <a:lstStyle/>
                    <a:p>
                      <a:pPr marL="0" algn="l" defTabSz="914400" rtl="0" eaLnBrk="1" latinLnBrk="0" hangingPunct="1"/>
                      <a:r>
                        <a:rPr lang="fr-FR" sz="1000" kern="1200" dirty="0"/>
                        <a:t>Rule3</a:t>
                      </a:r>
                      <a:endParaRPr lang="fr-FR" sz="10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000" kern="1200" dirty="0"/>
                        <a:t>3.0</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21</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2</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0</a:t>
                      </a:r>
                      <a:endParaRPr lang="fr-FR" sz="10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000" kern="1200" dirty="0"/>
                        <a:t>X</a:t>
                      </a:r>
                      <a:endParaRPr lang="fr-FR" sz="1000" kern="1200" dirty="0">
                        <a:solidFill>
                          <a:schemeClr val="dk1"/>
                        </a:solidFill>
                        <a:latin typeface="+mn-lt"/>
                        <a:ea typeface="+mn-ea"/>
                        <a:cs typeface="+mn-cs"/>
                      </a:endParaRPr>
                    </a:p>
                  </a:txBody>
                  <a:tcPr anchor="ctr"/>
                </a:tc>
                <a:extLst>
                  <a:ext uri="{0D108BD9-81ED-4DB2-BD59-A6C34878D82A}">
                    <a16:rowId xmlns:a16="http://schemas.microsoft.com/office/drawing/2014/main" val="10003"/>
                  </a:ext>
                </a:extLst>
              </a:tr>
              <a:tr h="192691">
                <a:tc>
                  <a:txBody>
                    <a:bodyPr/>
                    <a:lstStyle/>
                    <a:p>
                      <a:pPr marL="0" algn="l" defTabSz="914400" rtl="0" eaLnBrk="1" latinLnBrk="0" hangingPunct="1"/>
                      <a:r>
                        <a:rPr lang="fr-FR" sz="1000" kern="1200" dirty="0"/>
                        <a:t>Rule4</a:t>
                      </a:r>
                      <a:endParaRPr lang="fr-FR" sz="10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000" kern="1200" dirty="0"/>
                        <a:t>3.1</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1</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1</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0</a:t>
                      </a:r>
                      <a:endParaRPr lang="fr-FR" sz="10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000" kern="1200" dirty="0"/>
                        <a:t>X</a:t>
                      </a:r>
                      <a:endParaRPr lang="fr-FR" sz="1000" kern="1200" dirty="0">
                        <a:solidFill>
                          <a:schemeClr val="dk1"/>
                        </a:solidFill>
                        <a:latin typeface="+mn-lt"/>
                        <a:ea typeface="+mn-ea"/>
                        <a:cs typeface="+mn-cs"/>
                      </a:endParaRP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052659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980CB96-2E0E-47D6-8383-CA074A3CF1B4}"/>
              </a:ext>
            </a:extLst>
          </p:cNvPr>
          <p:cNvGrpSpPr/>
          <p:nvPr/>
        </p:nvGrpSpPr>
        <p:grpSpPr>
          <a:xfrm>
            <a:off x="1955882" y="1093358"/>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violations for a rule</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b="0" dirty="0"/>
                <a:t>QUALITY_RULE_VIOLATIONS</a:t>
              </a:r>
              <a:endParaRPr lang="fr-FR" sz="14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1669688"/>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GB" sz="1050" dirty="0"/>
                <a:t>- </a:t>
              </a:r>
              <a:r>
                <a:rPr lang="en-GB" sz="1050" b="1" dirty="0"/>
                <a:t>BCID= </a:t>
              </a:r>
              <a:r>
                <a:rPr lang="en-GB" sz="1050" dirty="0"/>
                <a:t>The Id of the business criterion. If this id correspond to efficiency (60014), robustness (60013), or security (60016), the </a:t>
              </a:r>
              <a:r>
                <a:rPr lang="en-GB" sz="1050" dirty="0" err="1"/>
                <a:t>propagatedRiskIndex</a:t>
              </a:r>
              <a:r>
                <a:rPr lang="en-GB" sz="1050" dirty="0"/>
                <a:t> is displayed. By default, BCID = 60013</a:t>
              </a:r>
              <a:br>
                <a:rPr lang="en-GB" sz="1050" dirty="0"/>
              </a:br>
              <a:r>
                <a:rPr lang="en-GB" sz="1050" dirty="0"/>
                <a:t>- </a:t>
              </a:r>
              <a:r>
                <a:rPr lang="en-GB" sz="1050" b="1" dirty="0"/>
                <a:t>ID=</a:t>
              </a:r>
              <a:r>
                <a:rPr lang="en-GB" sz="1050" dirty="0"/>
                <a:t> The Id of the quality rule for which you want to display the list of violations. By default, ID=7788 (Avoid empty </a:t>
              </a:r>
              <a:r>
                <a:rPr lang="en-GB" sz="1050"/>
                <a:t>catch block)</a:t>
              </a:r>
              <a:br>
                <a:rPr lang="en-GB" sz="1050" dirty="0"/>
              </a:br>
              <a:r>
                <a:rPr lang="en-GB" sz="1050" dirty="0"/>
                <a:t>- </a:t>
              </a:r>
              <a:r>
                <a:rPr lang="en-GB" sz="1050" b="1" dirty="0"/>
                <a:t>COUNT=N</a:t>
              </a:r>
              <a:r>
                <a:rPr lang="en-GB" sz="1050" dirty="0"/>
                <a:t> where N indicates the top N number ; default value = 10</a:t>
              </a:r>
              <a:endParaRPr lang="en-US" sz="1050" dirty="0"/>
            </a:p>
            <a:p>
              <a:r>
                <a:rPr lang="en-GB" sz="1050" dirty="0"/>
                <a:t>- </a:t>
              </a:r>
              <a:r>
                <a:rPr lang="en-GB" sz="1050" b="1" dirty="0"/>
                <a:t>NAME=FULL|SHORT</a:t>
              </a:r>
              <a:r>
                <a:rPr lang="en-GB" sz="1050" dirty="0"/>
                <a:t> to display short name or full name of objects (full name by default)</a:t>
              </a:r>
              <a:endParaRPr lang="en-US" sz="1050" dirty="0"/>
            </a:p>
            <a:p>
              <a:r>
                <a:rPr lang="en-GB" sz="1050" dirty="0"/>
                <a:t>- </a:t>
              </a:r>
              <a:r>
                <a:rPr lang="en-GB" sz="1050" b="1" dirty="0"/>
                <a:t>SNAPSHOT=CURRENT|PREVIOUS</a:t>
              </a:r>
              <a:r>
                <a:rPr lang="en-GB" sz="1050" dirty="0"/>
                <a:t> to select from which snapshot we take results; default is Current</a:t>
              </a:r>
              <a:endParaRPr lang="en-US" sz="1050" dirty="0"/>
            </a:p>
            <a:p>
              <a:r>
                <a:rPr lang="en-GB" sz="1050" dirty="0"/>
                <a:t>If there is no previous snapshot, column Status is not displayed</a:t>
              </a:r>
              <a:endParaRPr lang="en-US" sz="1050" dirty="0"/>
            </a:p>
            <a:p>
              <a:endParaRPr lang="en-US" sz="7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2" name="TextBox 11">
              <a:extLst>
                <a:ext uri="{FF2B5EF4-FFF2-40B4-BE49-F238E27FC236}">
                  <a16:creationId xmlns:a16="http://schemas.microsoft.com/office/drawing/2014/main" id="{4750D274-4F63-4C7D-A8E5-8E17BCFA7CAE}"/>
                </a:ext>
              </a:extLst>
            </p:cNvPr>
            <p:cNvSpPr txBox="1"/>
            <p:nvPr/>
          </p:nvSpPr>
          <p:spPr>
            <a:xfrm>
              <a:off x="3071664" y="3772638"/>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6" name="TextBox 15">
              <a:extLst>
                <a:ext uri="{FF2B5EF4-FFF2-40B4-BE49-F238E27FC236}">
                  <a16:creationId xmlns:a16="http://schemas.microsoft.com/office/drawing/2014/main" id="{7C216C8A-29DC-47E1-8542-08256935B43A}"/>
                </a:ext>
              </a:extLst>
            </p:cNvPr>
            <p:cNvSpPr txBox="1"/>
            <p:nvPr/>
          </p:nvSpPr>
          <p:spPr>
            <a:xfrm>
              <a:off x="2514067" y="3738518"/>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2" name="Table 1" descr="TABLE;QUALITY_RULE_VIOLATIONS;BCID=60013,ID=7788,COUNT=10"/>
          <p:cNvGraphicFramePr>
            <a:graphicFrameLocks noGrp="1"/>
          </p:cNvGraphicFramePr>
          <p:nvPr>
            <p:extLst>
              <p:ext uri="{D42A27DB-BD31-4B8C-83A1-F6EECF244321}">
                <p14:modId xmlns:p14="http://schemas.microsoft.com/office/powerpoint/2010/main" val="3893033375"/>
              </p:ext>
            </p:extLst>
          </p:nvPr>
        </p:nvGraphicFramePr>
        <p:xfrm>
          <a:off x="2711624" y="4691074"/>
          <a:ext cx="6840760" cy="1226820"/>
        </p:xfrm>
        <a:graphic>
          <a:graphicData uri="http://schemas.openxmlformats.org/drawingml/2006/table">
            <a:tbl>
              <a:tblPr firstRow="1" bandRow="1">
                <a:tableStyleId>{9DCAF9ED-07DC-4A11-8D7F-57B35C25682E}</a:tableStyleId>
              </a:tblPr>
              <a:tblGrid>
                <a:gridCol w="4545762">
                  <a:extLst>
                    <a:ext uri="{9D8B030D-6E8A-4147-A177-3AD203B41FA5}">
                      <a16:colId xmlns:a16="http://schemas.microsoft.com/office/drawing/2014/main" val="20000"/>
                    </a:ext>
                  </a:extLst>
                </a:gridCol>
                <a:gridCol w="1297173">
                  <a:extLst>
                    <a:ext uri="{9D8B030D-6E8A-4147-A177-3AD203B41FA5}">
                      <a16:colId xmlns:a16="http://schemas.microsoft.com/office/drawing/2014/main" val="20004"/>
                    </a:ext>
                  </a:extLst>
                </a:gridCol>
                <a:gridCol w="997825">
                  <a:extLst>
                    <a:ext uri="{9D8B030D-6E8A-4147-A177-3AD203B41FA5}">
                      <a16:colId xmlns:a16="http://schemas.microsoft.com/office/drawing/2014/main" val="20005"/>
                    </a:ext>
                  </a:extLst>
                </a:gridCol>
              </a:tblGrid>
              <a:tr h="226695">
                <a:tc>
                  <a:txBody>
                    <a:bodyPr/>
                    <a:lstStyle/>
                    <a:p>
                      <a:r>
                        <a:rPr lang="fr-FR" sz="1050" dirty="0"/>
                        <a:t>Object Name</a:t>
                      </a:r>
                    </a:p>
                  </a:txBody>
                  <a:tcPr/>
                </a:tc>
                <a:tc>
                  <a:txBody>
                    <a:bodyPr/>
                    <a:lstStyle/>
                    <a:p>
                      <a:r>
                        <a:rPr lang="fr-FR" sz="1050" dirty="0"/>
                        <a:t>PRI</a:t>
                      </a:r>
                    </a:p>
                  </a:txBody>
                  <a:tcPr/>
                </a:tc>
                <a:tc>
                  <a:txBody>
                    <a:bodyPr/>
                    <a:lstStyle/>
                    <a:p>
                      <a:r>
                        <a:rPr lang="fr-FR" sz="1050" dirty="0" err="1"/>
                        <a:t>Status</a:t>
                      </a:r>
                      <a:endParaRPr lang="fr-FR" sz="1050" dirty="0"/>
                    </a:p>
                  </a:txBody>
                  <a:tcPr/>
                </a:tc>
                <a:extLst>
                  <a:ext uri="{0D108BD9-81ED-4DB2-BD59-A6C34878D82A}">
                    <a16:rowId xmlns:a16="http://schemas.microsoft.com/office/drawing/2014/main" val="10000"/>
                  </a:ext>
                </a:extLst>
              </a:tr>
              <a:tr h="203342">
                <a:tc>
                  <a:txBody>
                    <a:bodyPr/>
                    <a:lstStyle/>
                    <a:p>
                      <a:pPr marL="0" algn="l" defTabSz="914400" rtl="0" eaLnBrk="1" latinLnBrk="0" hangingPunct="1"/>
                      <a:r>
                        <a:rPr lang="fr-FR" sz="1000" kern="1200" dirty="0"/>
                        <a:t>Object1</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1,234</a:t>
                      </a:r>
                      <a:endParaRPr lang="fr-FR" sz="10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000" kern="1200" dirty="0" err="1"/>
                        <a:t>added</a:t>
                      </a:r>
                      <a:endParaRPr lang="fr-FR" sz="1000" kern="1200" dirty="0"/>
                    </a:p>
                  </a:txBody>
                  <a:tcPr anchor="ctr"/>
                </a:tc>
                <a:extLst>
                  <a:ext uri="{0D108BD9-81ED-4DB2-BD59-A6C34878D82A}">
                    <a16:rowId xmlns:a16="http://schemas.microsoft.com/office/drawing/2014/main" val="10001"/>
                  </a:ext>
                </a:extLst>
              </a:tr>
              <a:tr h="192691">
                <a:tc>
                  <a:txBody>
                    <a:bodyPr/>
                    <a:lstStyle/>
                    <a:p>
                      <a:pPr marL="0" algn="l" defTabSz="914400" rtl="0" eaLnBrk="1" latinLnBrk="0" hangingPunct="1"/>
                      <a:r>
                        <a:rPr lang="fr-FR" sz="1000" kern="1200" dirty="0"/>
                        <a:t>Object2</a:t>
                      </a:r>
                    </a:p>
                  </a:txBody>
                  <a:tcPr anchor="ctr"/>
                </a:tc>
                <a:tc>
                  <a:txBody>
                    <a:bodyPr/>
                    <a:lstStyle/>
                    <a:p>
                      <a:pPr marL="0" algn="r" defTabSz="914400" rtl="0" eaLnBrk="1" latinLnBrk="0" hangingPunct="1"/>
                      <a:r>
                        <a:rPr lang="fr-FR" sz="1000" kern="1200" dirty="0"/>
                        <a:t>123</a:t>
                      </a:r>
                    </a:p>
                  </a:txBody>
                  <a:tcPr anchor="ctr"/>
                </a:tc>
                <a:tc>
                  <a:txBody>
                    <a:bodyPr/>
                    <a:lstStyle/>
                    <a:p>
                      <a:pPr marL="0" algn="l" defTabSz="914400" rtl="0" eaLnBrk="1" latinLnBrk="0" hangingPunct="1"/>
                      <a:r>
                        <a:rPr lang="fr-FR" sz="1000" kern="1200" dirty="0" err="1"/>
                        <a:t>updated</a:t>
                      </a:r>
                      <a:endParaRPr lang="fr-FR" sz="1000" kern="1200" dirty="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192691">
                <a:tc>
                  <a:txBody>
                    <a:bodyPr/>
                    <a:lstStyle/>
                    <a:p>
                      <a:pPr marL="0" algn="l" defTabSz="914400" rtl="0" eaLnBrk="1" latinLnBrk="0" hangingPunct="1"/>
                      <a:r>
                        <a:rPr lang="fr-FR" sz="1000" kern="1200" dirty="0"/>
                        <a:t>Object3</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12</a:t>
                      </a:r>
                      <a:endParaRPr lang="fr-FR" sz="10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000" kern="1200" dirty="0" err="1"/>
                        <a:t>unchanged</a:t>
                      </a:r>
                      <a:endParaRPr lang="fr-FR" sz="1000" kern="1200" dirty="0">
                        <a:solidFill>
                          <a:schemeClr val="dk1"/>
                        </a:solidFill>
                        <a:latin typeface="+mn-lt"/>
                        <a:ea typeface="+mn-ea"/>
                        <a:cs typeface="+mn-cs"/>
                      </a:endParaRPr>
                    </a:p>
                  </a:txBody>
                  <a:tcPr anchor="ctr"/>
                </a:tc>
                <a:extLst>
                  <a:ext uri="{0D108BD9-81ED-4DB2-BD59-A6C34878D82A}">
                    <a16:rowId xmlns:a16="http://schemas.microsoft.com/office/drawing/2014/main" val="10003"/>
                  </a:ext>
                </a:extLst>
              </a:tr>
              <a:tr h="192691">
                <a:tc>
                  <a:txBody>
                    <a:bodyPr/>
                    <a:lstStyle/>
                    <a:p>
                      <a:pPr marL="0" algn="l" defTabSz="914400" rtl="0" eaLnBrk="1" latinLnBrk="0" hangingPunct="1"/>
                      <a:r>
                        <a:rPr lang="fr-FR" sz="1000" kern="1200" dirty="0"/>
                        <a:t>Object4</a:t>
                      </a:r>
                      <a:endParaRPr lang="fr-FR" sz="1000" kern="1200" dirty="0">
                        <a:solidFill>
                          <a:schemeClr val="dk1"/>
                        </a:solidFill>
                        <a:latin typeface="+mn-lt"/>
                        <a:ea typeface="+mn-ea"/>
                        <a:cs typeface="+mn-cs"/>
                      </a:endParaRPr>
                    </a:p>
                  </a:txBody>
                  <a:tcPr anchor="ctr"/>
                </a:tc>
                <a:tc>
                  <a:txBody>
                    <a:bodyPr/>
                    <a:lstStyle/>
                    <a:p>
                      <a:pPr marL="0" algn="r" defTabSz="914400" rtl="0" eaLnBrk="1" latinLnBrk="0" hangingPunct="1"/>
                      <a:r>
                        <a:rPr lang="fr-FR" sz="1000" kern="1200" dirty="0"/>
                        <a:t>1</a:t>
                      </a:r>
                      <a:endParaRPr lang="fr-FR" sz="10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000" kern="1200" dirty="0" err="1"/>
                        <a:t>unchanged</a:t>
                      </a:r>
                      <a:endParaRPr lang="fr-FR" sz="1000" kern="1200" dirty="0">
                        <a:solidFill>
                          <a:schemeClr val="dk1"/>
                        </a:solidFill>
                        <a:latin typeface="+mn-lt"/>
                        <a:ea typeface="+mn-ea"/>
                        <a:cs typeface="+mn-cs"/>
                      </a:endParaRP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381779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94D651E-FE58-4D17-B5E6-33C2C20C71B0}"/>
              </a:ext>
            </a:extLst>
          </p:cNvPr>
          <p:cNvGrpSpPr/>
          <p:nvPr/>
        </p:nvGrpSpPr>
        <p:grpSpPr>
          <a:xfrm>
            <a:off x="1955882" y="1093359"/>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violations in </a:t>
              </a:r>
              <a:r>
                <a:rPr lang="en-US" sz="1600"/>
                <a:t>action plan</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b="0" dirty="0"/>
                <a:t>ACTION_PLAN_VIOLATIONS</a:t>
              </a:r>
              <a:endParaRPr lang="fr-FR" sz="14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1"/>
              <a:ext cx="6524504" cy="900246"/>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GB" sz="1050" dirty="0"/>
                <a:t>- </a:t>
              </a:r>
              <a:r>
                <a:rPr lang="en-GB" sz="1050" b="1" dirty="0"/>
                <a:t>COUNT=N|ALL</a:t>
              </a:r>
              <a:r>
                <a:rPr lang="en-GB" sz="1050" dirty="0"/>
                <a:t> where N indicates the top N number ; default value = 10 (ALL for all violations)</a:t>
              </a:r>
              <a:endParaRPr lang="en-US" sz="1050" dirty="0"/>
            </a:p>
            <a:p>
              <a:r>
                <a:rPr lang="en-GB" sz="1050" dirty="0"/>
                <a:t>- </a:t>
              </a:r>
              <a:r>
                <a:rPr lang="en-GB" sz="1050" b="1" dirty="0"/>
                <a:t>NAME=FULL|SHORT</a:t>
              </a:r>
              <a:r>
                <a:rPr lang="en-GB" sz="1050" dirty="0"/>
                <a:t> to display short name or full name of objects (full name by default)</a:t>
              </a:r>
              <a:endParaRPr lang="en-US" sz="1050" dirty="0"/>
            </a:p>
            <a:p>
              <a:r>
                <a:rPr lang="en-GB" sz="1050" dirty="0"/>
                <a:t>- </a:t>
              </a:r>
              <a:r>
                <a:rPr lang="en-GB" sz="1050" b="1" dirty="0"/>
                <a:t>FILTER=ADDED|SOLVED|PENDING|ALL</a:t>
              </a:r>
              <a:r>
                <a:rPr lang="en-GB" sz="1050" dirty="0"/>
                <a:t> to filter the list by the remedial action status; default is ALL</a:t>
              </a:r>
              <a:endParaRPr lang="en-US" sz="7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6" name="TextBox 15">
              <a:extLst>
                <a:ext uri="{FF2B5EF4-FFF2-40B4-BE49-F238E27FC236}">
                  <a16:creationId xmlns:a16="http://schemas.microsoft.com/office/drawing/2014/main" id="{87D9D11F-85A9-4326-B787-2DA683DFA1C9}"/>
                </a:ext>
              </a:extLst>
            </p:cNvPr>
            <p:cNvSpPr txBox="1"/>
            <p:nvPr/>
          </p:nvSpPr>
          <p:spPr>
            <a:xfrm>
              <a:off x="3071664" y="3247096"/>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7" name="TextBox 16">
              <a:extLst>
                <a:ext uri="{FF2B5EF4-FFF2-40B4-BE49-F238E27FC236}">
                  <a16:creationId xmlns:a16="http://schemas.microsoft.com/office/drawing/2014/main" id="{F2D79465-4F37-4980-9E55-D67D7D76298E}"/>
                </a:ext>
              </a:extLst>
            </p:cNvPr>
            <p:cNvSpPr txBox="1"/>
            <p:nvPr/>
          </p:nvSpPr>
          <p:spPr>
            <a:xfrm>
              <a:off x="2514067" y="3212976"/>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2" name="Table 11" descr="TABLE;ACTION_PLAN_VIOLATIONS;COUNT=10,NAME=SHORT">
            <a:extLst>
              <a:ext uri="{FF2B5EF4-FFF2-40B4-BE49-F238E27FC236}">
                <a16:creationId xmlns:a16="http://schemas.microsoft.com/office/drawing/2014/main" id="{859D7656-1CF3-4BB0-B948-E4C7E1DCA147}"/>
              </a:ext>
            </a:extLst>
          </p:cNvPr>
          <p:cNvGraphicFramePr>
            <a:graphicFrameLocks noGrp="1"/>
          </p:cNvGraphicFramePr>
          <p:nvPr>
            <p:extLst>
              <p:ext uri="{D42A27DB-BD31-4B8C-83A1-F6EECF244321}">
                <p14:modId xmlns:p14="http://schemas.microsoft.com/office/powerpoint/2010/main" val="602338285"/>
              </p:ext>
            </p:extLst>
          </p:nvPr>
        </p:nvGraphicFramePr>
        <p:xfrm>
          <a:off x="2351584" y="4164672"/>
          <a:ext cx="7488832" cy="1194054"/>
        </p:xfrm>
        <a:graphic>
          <a:graphicData uri="http://schemas.openxmlformats.org/drawingml/2006/table">
            <a:tbl>
              <a:tblPr firstRow="1" bandRow="1">
                <a:tableStyleId>{9DCAF9ED-07DC-4A11-8D7F-57B35C25682E}</a:tableStyleId>
              </a:tblPr>
              <a:tblGrid>
                <a:gridCol w="2016224">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gridCol w="720080">
                  <a:extLst>
                    <a:ext uri="{9D8B030D-6E8A-4147-A177-3AD203B41FA5}">
                      <a16:colId xmlns:a16="http://schemas.microsoft.com/office/drawing/2014/main" val="20005"/>
                    </a:ext>
                  </a:extLst>
                </a:gridCol>
              </a:tblGrid>
              <a:tr h="226695">
                <a:tc>
                  <a:txBody>
                    <a:bodyPr/>
                    <a:lstStyle/>
                    <a:p>
                      <a:pPr marL="0" marR="0">
                        <a:lnSpc>
                          <a:spcPct val="115000"/>
                        </a:lnSpc>
                        <a:spcBef>
                          <a:spcPts val="0"/>
                        </a:spcBef>
                        <a:spcAft>
                          <a:spcPts val="0"/>
                        </a:spcAft>
                      </a:pPr>
                      <a:r>
                        <a:rPr lang="en-GB" sz="1000" dirty="0">
                          <a:effectLst/>
                        </a:rPr>
                        <a:t>Rule Name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1000">
                          <a:effectLst/>
                        </a:rPr>
                        <a:t>Object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Comment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Priority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Status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Last Updated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03342">
                <a:tc>
                  <a:txBody>
                    <a:bodyPr/>
                    <a:lstStyle/>
                    <a:p>
                      <a:pPr marL="0" marR="0">
                        <a:lnSpc>
                          <a:spcPct val="115000"/>
                        </a:lnSpc>
                        <a:spcBef>
                          <a:spcPts val="0"/>
                        </a:spcBef>
                        <a:spcAft>
                          <a:spcPts val="0"/>
                        </a:spcAft>
                      </a:pPr>
                      <a:r>
                        <a:rPr lang="en-GB" sz="1000">
                          <a:effectLst/>
                        </a:rPr>
                        <a:t>Rule 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1000">
                          <a:effectLst/>
                        </a:rPr>
                        <a:t>Artefact one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Comment 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Low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updated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01/01/2010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92691">
                <a:tc>
                  <a:txBody>
                    <a:bodyPr/>
                    <a:lstStyle/>
                    <a:p>
                      <a:pPr marL="0" marR="0">
                        <a:lnSpc>
                          <a:spcPct val="115000"/>
                        </a:lnSpc>
                        <a:spcBef>
                          <a:spcPts val="0"/>
                        </a:spcBef>
                        <a:spcAft>
                          <a:spcPts val="0"/>
                        </a:spcAft>
                      </a:pPr>
                      <a:r>
                        <a:rPr lang="en-GB" sz="1000" dirty="0">
                          <a:effectLst/>
                        </a:rPr>
                        <a:t>Rule 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GB" sz="1000" dirty="0">
                          <a:effectLst/>
                        </a:rPr>
                        <a:t>Artefact two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Comment 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Extreme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a:effectLst/>
                        </a:rPr>
                        <a:t>added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r">
                        <a:lnSpc>
                          <a:spcPct val="115000"/>
                        </a:lnSpc>
                        <a:spcBef>
                          <a:spcPts val="0"/>
                        </a:spcBef>
                        <a:spcAft>
                          <a:spcPts val="0"/>
                        </a:spcAft>
                      </a:pPr>
                      <a:r>
                        <a:rPr lang="en-GB" sz="1000" dirty="0">
                          <a:effectLst/>
                        </a:rPr>
                        <a:t>02/02/2012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282427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1955882" y="1109212"/>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violations for health factor</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b="0" dirty="0"/>
                <a:t>VIOLATIONS_LIST</a:t>
              </a:r>
              <a:endParaRPr lang="fr-FR" sz="14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2031325"/>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GB" sz="1050" dirty="0"/>
                <a:t>-   </a:t>
              </a:r>
              <a:r>
                <a:rPr lang="en-GB" sz="1050" b="1" dirty="0"/>
                <a:t>BCID= </a:t>
              </a:r>
              <a:r>
                <a:rPr lang="en-GB" sz="1050" dirty="0"/>
                <a:t>list of ids of business criterion separated by | : </a:t>
              </a:r>
              <a:r>
                <a:rPr lang="en-GB" sz="1050" b="1" dirty="0"/>
                <a:t>60011|60012|60013|60014|60016|60017</a:t>
              </a:r>
              <a:r>
                <a:rPr lang="en-GB" sz="1050" dirty="0"/>
                <a:t> one or several ; default value = 60016 (Security)</a:t>
              </a:r>
              <a:endParaRPr lang="en-US" sz="1050" dirty="0"/>
            </a:p>
            <a:p>
              <a:r>
                <a:rPr lang="en-GB" sz="1050" dirty="0"/>
                <a:t>-   </a:t>
              </a:r>
              <a:r>
                <a:rPr lang="en-GB" sz="1050" b="1" dirty="0"/>
                <a:t>COUNT=N|ALL</a:t>
              </a:r>
              <a:r>
                <a:rPr lang="en-GB" sz="1050" dirty="0"/>
                <a:t> where N indicates the top N number ; default value = 10 (ALL for all violations)</a:t>
              </a:r>
              <a:endParaRPr lang="en-US" sz="1050" dirty="0"/>
            </a:p>
            <a:p>
              <a:r>
                <a:rPr lang="en-GB" sz="1050" dirty="0"/>
                <a:t>-   </a:t>
              </a:r>
              <a:r>
                <a:rPr lang="en-GB" sz="1050" b="1" dirty="0"/>
                <a:t>NAME=FULL|SHORT</a:t>
              </a:r>
              <a:r>
                <a:rPr lang="en-GB" sz="1050" dirty="0"/>
                <a:t> to display short name or full name of objects (full name by default)</a:t>
              </a:r>
              <a:endParaRPr lang="en-US" sz="1050" dirty="0"/>
            </a:p>
            <a:p>
              <a:pPr marL="171450" indent="-171450">
                <a:buFontTx/>
                <a:buChar char="-"/>
              </a:pPr>
              <a:r>
                <a:rPr lang="en-GB" sz="1050" b="1" dirty="0"/>
                <a:t>FILTER=ADDED|UNCHANGED|UPDATED|ALL</a:t>
              </a:r>
              <a:r>
                <a:rPr lang="en-GB" sz="1050" dirty="0"/>
                <a:t> to filter the list by the violation status; default is ALL</a:t>
              </a:r>
            </a:p>
            <a:p>
              <a:pPr marL="171450" indent="-171450">
                <a:buFontTx/>
                <a:buChar char="-"/>
              </a:pPr>
              <a:r>
                <a:rPr lang="en-US" sz="1050" b="1" dirty="0"/>
                <a:t>VIOLATIONS=CRITICAL|ALL </a:t>
              </a:r>
              <a:r>
                <a:rPr lang="en-US" sz="1050" dirty="0"/>
                <a:t>by default, only CRITICAL violations are listed</a:t>
              </a:r>
              <a:endParaRPr lang="en-GB" sz="1050" dirty="0"/>
            </a:p>
            <a:p>
              <a:pPr marL="171450" indent="-171450">
                <a:buFontTx/>
                <a:buChar char="-"/>
              </a:pPr>
              <a:r>
                <a:rPr lang="en-US" sz="1050" b="1" dirty="0"/>
                <a:t>MODULE=</a:t>
              </a:r>
              <a:r>
                <a:rPr lang="en-US" sz="1050" b="1" dirty="0" err="1"/>
                <a:t>ModuleName</a:t>
              </a:r>
              <a:r>
                <a:rPr lang="en-US" sz="1050" dirty="0"/>
                <a:t>, parameter used to restrict the list for one module, by default violation are listed for the application</a:t>
              </a:r>
            </a:p>
            <a:p>
              <a:pPr marL="171450" indent="-171450">
                <a:buFontTx/>
                <a:buChar char="-"/>
              </a:pPr>
              <a:r>
                <a:rPr lang="en-US" sz="1050" b="1" dirty="0"/>
                <a:t>TECHNOLOGIES=techno1|techno2</a:t>
              </a:r>
              <a:r>
                <a:rPr lang="en-US" sz="1050" dirty="0"/>
                <a:t>, parameter used to restrict the list of violations, by default all technologies</a:t>
              </a:r>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2" name="TextBox 11">
              <a:extLst>
                <a:ext uri="{FF2B5EF4-FFF2-40B4-BE49-F238E27FC236}">
                  <a16:creationId xmlns:a16="http://schemas.microsoft.com/office/drawing/2014/main" id="{B612763E-F360-4DC8-9971-93D9C02EB45D}"/>
                </a:ext>
              </a:extLst>
            </p:cNvPr>
            <p:cNvSpPr txBox="1"/>
            <p:nvPr/>
          </p:nvSpPr>
          <p:spPr>
            <a:xfrm>
              <a:off x="3071664" y="4276694"/>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7" name="TextBox 16">
              <a:extLst>
                <a:ext uri="{FF2B5EF4-FFF2-40B4-BE49-F238E27FC236}">
                  <a16:creationId xmlns:a16="http://schemas.microsoft.com/office/drawing/2014/main" id="{2255320D-AEAD-43CA-B5F8-55466354914A}"/>
                </a:ext>
              </a:extLst>
            </p:cNvPr>
            <p:cNvSpPr txBox="1"/>
            <p:nvPr/>
          </p:nvSpPr>
          <p:spPr>
            <a:xfrm>
              <a:off x="2514067" y="4242574"/>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VIOLATIONS_LIST;BCID=60016,COUNT=10,NAME=SHORT,FILTER=ALL">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1262532686"/>
              </p:ext>
            </p:extLst>
          </p:nvPr>
        </p:nvGraphicFramePr>
        <p:xfrm>
          <a:off x="2067660" y="4996642"/>
          <a:ext cx="7964210" cy="1086740"/>
        </p:xfrm>
        <a:graphic>
          <a:graphicData uri="http://schemas.openxmlformats.org/drawingml/2006/table">
            <a:tbl>
              <a:tblPr firstRow="1" bandRow="1">
                <a:tableStyleId>{9DCAF9ED-07DC-4A11-8D7F-57B35C25682E}</a:tableStyleId>
              </a:tblPr>
              <a:tblGrid>
                <a:gridCol w="823358">
                  <a:extLst>
                    <a:ext uri="{9D8B030D-6E8A-4147-A177-3AD203B41FA5}">
                      <a16:colId xmlns:a16="http://schemas.microsoft.com/office/drawing/2014/main" val="20000"/>
                    </a:ext>
                  </a:extLst>
                </a:gridCol>
                <a:gridCol w="596131">
                  <a:extLst>
                    <a:ext uri="{9D8B030D-6E8A-4147-A177-3AD203B41FA5}">
                      <a16:colId xmlns:a16="http://schemas.microsoft.com/office/drawing/2014/main" val="20001"/>
                    </a:ext>
                  </a:extLst>
                </a:gridCol>
                <a:gridCol w="812759">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1512168">
                  <a:extLst>
                    <a:ext uri="{9D8B030D-6E8A-4147-A177-3AD203B41FA5}">
                      <a16:colId xmlns:a16="http://schemas.microsoft.com/office/drawing/2014/main" val="20004"/>
                    </a:ext>
                  </a:extLst>
                </a:gridCol>
                <a:gridCol w="1224136">
                  <a:extLst>
                    <a:ext uri="{9D8B030D-6E8A-4147-A177-3AD203B41FA5}">
                      <a16:colId xmlns:a16="http://schemas.microsoft.com/office/drawing/2014/main" val="20005"/>
                    </a:ext>
                  </a:extLst>
                </a:gridCol>
                <a:gridCol w="1368152">
                  <a:extLst>
                    <a:ext uri="{9D8B030D-6E8A-4147-A177-3AD203B41FA5}">
                      <a16:colId xmlns:a16="http://schemas.microsoft.com/office/drawing/2014/main" val="768148408"/>
                    </a:ext>
                  </a:extLst>
                </a:gridCol>
                <a:gridCol w="907426">
                  <a:extLst>
                    <a:ext uri="{9D8B030D-6E8A-4147-A177-3AD203B41FA5}">
                      <a16:colId xmlns:a16="http://schemas.microsoft.com/office/drawing/2014/main" val="2204979982"/>
                    </a:ext>
                  </a:extLst>
                </a:gridCol>
              </a:tblGrid>
              <a:tr h="226695">
                <a:tc>
                  <a:txBody>
                    <a:bodyPr/>
                    <a:lstStyle/>
                    <a:p>
                      <a:pPr marL="0" marR="0" algn="ctr">
                        <a:lnSpc>
                          <a:spcPct val="115000"/>
                        </a:lnSpc>
                        <a:spcBef>
                          <a:spcPts val="0"/>
                        </a:spcBef>
                        <a:spcAft>
                          <a:spcPts val="0"/>
                        </a:spcAft>
                      </a:pPr>
                      <a:r>
                        <a:rPr lang="en-GB" sz="1000" dirty="0">
                          <a:effectLst/>
                        </a:rPr>
                        <a:t>Violation Status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PRI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Exclusion Status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Action Status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l">
                        <a:lnSpc>
                          <a:spcPct val="115000"/>
                        </a:lnSpc>
                        <a:spcBef>
                          <a:spcPts val="0"/>
                        </a:spcBef>
                        <a:spcAft>
                          <a:spcPts val="0"/>
                        </a:spcAft>
                      </a:pPr>
                      <a:r>
                        <a:rPr lang="en-GB" sz="1000" dirty="0">
                          <a:effectLst/>
                        </a:rPr>
                        <a:t>Rule Name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Business Criterion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US" sz="1100" dirty="0">
                          <a:effectLst/>
                        </a:rPr>
                        <a:t>Object Name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US" sz="1100" dirty="0">
                          <a:effectLst/>
                        </a:rPr>
                        <a:t>Object Status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03342">
                <a:tc>
                  <a:txBody>
                    <a:bodyPr/>
                    <a:lstStyle/>
                    <a:p>
                      <a:pPr marL="0" marR="0" algn="ctr">
                        <a:lnSpc>
                          <a:spcPct val="115000"/>
                        </a:lnSpc>
                        <a:spcBef>
                          <a:spcPts val="0"/>
                        </a:spcBef>
                        <a:spcAft>
                          <a:spcPts val="0"/>
                        </a:spcAft>
                      </a:pPr>
                      <a:r>
                        <a:rPr lang="en-GB" sz="1000" dirty="0">
                          <a:effectLst/>
                        </a:rPr>
                        <a:t>added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1,235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US" sz="1100" dirty="0">
                          <a:effectLst/>
                        </a:rPr>
                        <a:t>n/a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pending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l">
                        <a:lnSpc>
                          <a:spcPct val="115000"/>
                        </a:lnSpc>
                        <a:spcBef>
                          <a:spcPts val="0"/>
                        </a:spcBef>
                        <a:spcAft>
                          <a:spcPts val="0"/>
                        </a:spcAft>
                      </a:pPr>
                      <a:r>
                        <a:rPr lang="en-GB" sz="1000" dirty="0">
                          <a:effectLst/>
                        </a:rPr>
                        <a:t>Rule 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Security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US" sz="1100" dirty="0">
                          <a:effectLst/>
                        </a:rPr>
                        <a:t>Object 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US" sz="1100" dirty="0">
                          <a:effectLst/>
                        </a:rPr>
                        <a:t>Updated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92691">
                <a:tc>
                  <a:txBody>
                    <a:bodyPr/>
                    <a:lstStyle/>
                    <a:p>
                      <a:pPr marL="0" marR="0" algn="ctr">
                        <a:lnSpc>
                          <a:spcPct val="115000"/>
                        </a:lnSpc>
                        <a:spcBef>
                          <a:spcPts val="0"/>
                        </a:spcBef>
                        <a:spcAft>
                          <a:spcPts val="0"/>
                        </a:spcAft>
                      </a:pPr>
                      <a:r>
                        <a:rPr lang="en-GB" sz="1000" dirty="0">
                          <a:effectLst/>
                        </a:rPr>
                        <a:t>unchanged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12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added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n/a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l">
                        <a:lnSpc>
                          <a:spcPct val="115000"/>
                        </a:lnSpc>
                        <a:spcBef>
                          <a:spcPts val="0"/>
                        </a:spcBef>
                        <a:spcAft>
                          <a:spcPts val="0"/>
                        </a:spcAft>
                      </a:pPr>
                      <a:r>
                        <a:rPr lang="en-GB" sz="1000" dirty="0">
                          <a:effectLst/>
                        </a:rPr>
                        <a:t>Rule 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Security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US" sz="1100" dirty="0">
                          <a:effectLst/>
                        </a:rPr>
                        <a:t>Object 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US" sz="1100" dirty="0">
                          <a:effectLst/>
                        </a:rPr>
                        <a:t>unchanged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562087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1955882" y="1109212"/>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violations for health factor</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RULES_LIST_STATISTICS_RATIO</a:t>
              </a:r>
              <a:endParaRPr lang="fr-FR" sz="11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2062103"/>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r>
                <a:rPr lang="en-GB" sz="800" dirty="0"/>
                <a:t>-   </a:t>
              </a:r>
              <a:r>
                <a:rPr lang="en-US" sz="800" b="1" dirty="0"/>
                <a:t>METRICS</a:t>
              </a:r>
              <a:r>
                <a:rPr lang="en-GB" sz="800" b="1" dirty="0"/>
                <a:t>= </a:t>
              </a:r>
              <a:r>
                <a:rPr lang="en-GB" sz="800" dirty="0"/>
                <a:t>list of ids or standard tags, separated by | (can be Business or Technical Criterion, quality rules or quality standard tags, it can also be the name for a BC or a </a:t>
              </a:r>
              <a:r>
                <a:rPr lang="en-GB" sz="800" dirty="0" err="1"/>
                <a:t>shortName</a:t>
              </a:r>
              <a:r>
                <a:rPr lang="en-GB" sz="800" dirty="0"/>
                <a:t> for a TC)</a:t>
              </a:r>
              <a:endParaRPr lang="en-US" sz="800" dirty="0"/>
            </a:p>
            <a:p>
              <a:r>
                <a:rPr lang="en-GB" sz="800" dirty="0"/>
                <a:t>-   </a:t>
              </a:r>
              <a:r>
                <a:rPr lang="en-GB" sz="800" b="1" dirty="0"/>
                <a:t>COMPLIANCE=true or false</a:t>
              </a:r>
              <a:r>
                <a:rPr lang="en-GB" sz="800" dirty="0"/>
                <a:t> if you want to display the Compliance ratio column (default false)</a:t>
              </a:r>
              <a:endParaRPr lang="en-US" sz="800" dirty="0"/>
            </a:p>
            <a:p>
              <a:pPr marL="171450" indent="-171450">
                <a:buFontTx/>
                <a:buChar char="-"/>
              </a:pPr>
              <a:r>
                <a:rPr lang="en-GB" sz="800" b="1" dirty="0"/>
                <a:t>CRITICAL=true or false </a:t>
              </a:r>
              <a:r>
                <a:rPr lang="en-GB" sz="800" dirty="0"/>
                <a:t>if you want to filter the metrics from the Business or Technical Criteria by critical metrics (default false)</a:t>
              </a:r>
              <a:endParaRPr lang="en-US" sz="800" dirty="0"/>
            </a:p>
            <a:p>
              <a:pPr marL="171450" indent="-171450">
                <a:buFontTx/>
                <a:buChar char="-"/>
              </a:pPr>
              <a:r>
                <a:rPr lang="en-GB" sz="800" b="1" dirty="0"/>
                <a:t>SORTED=TOTAL|COMPLIANCE</a:t>
              </a:r>
              <a:r>
                <a:rPr lang="en-GB" sz="800" dirty="0"/>
                <a:t> to sort the results from max number of violations to min, or by compliance score by worse to better (if compliance score column is displayed), default is TOTAL</a:t>
              </a:r>
            </a:p>
            <a:p>
              <a:pPr marL="171450" indent="-171450">
                <a:buFontTx/>
                <a:buChar char="-"/>
              </a:pPr>
              <a:r>
                <a:rPr lang="en-GB" sz="800" b="1" dirty="0"/>
                <a:t>LBL= </a:t>
              </a:r>
              <a:r>
                <a:rPr lang="en-GB" sz="800" dirty="0"/>
                <a:t>violations or vulnerabilities (vulnerabilities if not set), this change the headers from Vulnerabilities to Violations</a:t>
              </a:r>
            </a:p>
            <a:p>
              <a:pPr marL="171450" indent="-171450">
                <a:buFontTx/>
                <a:buChar char="-"/>
              </a:pPr>
              <a:r>
                <a:rPr lang="en-GB" sz="800" b="1" dirty="0"/>
                <a:t>EVOLUTION</a:t>
              </a:r>
              <a:r>
                <a:rPr lang="en-GB" sz="800" dirty="0"/>
                <a:t>=</a:t>
              </a:r>
              <a:r>
                <a:rPr lang="en-GB" sz="800" dirty="0" err="1"/>
                <a:t>true|false</a:t>
              </a:r>
              <a:r>
                <a:rPr lang="en-GB" sz="800" dirty="0"/>
                <a:t>. For display of added and removed columns. If not exists, the </a:t>
              </a:r>
              <a:r>
                <a:rPr lang="en-GB" sz="800" dirty="0" err="1"/>
                <a:t>colums</a:t>
              </a:r>
              <a:r>
                <a:rPr lang="en-GB" sz="800" dirty="0"/>
                <a:t> are displayed only if there is a previous snapshot</a:t>
              </a:r>
            </a:p>
            <a:p>
              <a:pPr marL="171450" indent="-171450">
                <a:buFontTx/>
                <a:buChar char="-"/>
              </a:pPr>
              <a:r>
                <a:rPr lang="en-GB" sz="800" b="1" dirty="0"/>
                <a:t>DESC</a:t>
              </a:r>
              <a:r>
                <a:rPr lang="en-GB" sz="800" dirty="0"/>
                <a:t>=</a:t>
              </a:r>
              <a:r>
                <a:rPr lang="en-GB" sz="800" dirty="0" err="1"/>
                <a:t>true|false</a:t>
              </a:r>
              <a:r>
                <a:rPr lang="en-GB" sz="800" dirty="0"/>
                <a:t>. For display rationale, description and remediation of the rule. By default if not present, it is false</a:t>
              </a:r>
              <a:endParaRPr lang="en-US" sz="800" dirty="0"/>
            </a:p>
            <a:p>
              <a:pPr marL="171450" indent="-171450">
                <a:buFontTx/>
                <a:buChar char="-"/>
              </a:pPr>
              <a:r>
                <a:rPr lang="en-US" sz="800" dirty="0"/>
                <a:t> </a:t>
              </a:r>
              <a:r>
                <a:rPr lang="en-US" sz="800" b="1" dirty="0"/>
                <a:t>HEADER</a:t>
              </a:r>
              <a:r>
                <a:rPr lang="en-US" sz="800" dirty="0"/>
                <a:t>=NO to not display headers (useful for excel report when you want to define your own customized headers). By default if option is not present or different from NO, headers are displayed</a:t>
              </a:r>
            </a:p>
            <a:p>
              <a:pPr marL="171450" indent="-171450">
                <a:buFontTx/>
                <a:buChar char="-"/>
              </a:pPr>
              <a:r>
                <a:rPr lang="en-US" sz="800" b="1" dirty="0"/>
                <a:t>NOVIOLATIONS</a:t>
              </a:r>
              <a:r>
                <a:rPr lang="en-US" sz="800" dirty="0"/>
                <a:t>=</a:t>
              </a:r>
              <a:r>
                <a:rPr lang="en-US" sz="800" dirty="0" err="1"/>
                <a:t>true|false</a:t>
              </a:r>
              <a:r>
                <a:rPr lang="en-US" sz="800" dirty="0"/>
                <a:t> to not display rules that do not have violations. By default if option is not present or different from false, it will be true (we display everything)</a:t>
              </a:r>
            </a:p>
            <a:p>
              <a:pPr marL="171450" indent="-171450">
                <a:buFontTx/>
                <a:buChar char="-"/>
              </a:pPr>
              <a:endParaRPr lang="en-US" sz="8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2" name="TextBox 11">
              <a:extLst>
                <a:ext uri="{FF2B5EF4-FFF2-40B4-BE49-F238E27FC236}">
                  <a16:creationId xmlns:a16="http://schemas.microsoft.com/office/drawing/2014/main" id="{B612763E-F360-4DC8-9971-93D9C02EB45D}"/>
                </a:ext>
              </a:extLst>
            </p:cNvPr>
            <p:cNvSpPr txBox="1"/>
            <p:nvPr/>
          </p:nvSpPr>
          <p:spPr>
            <a:xfrm>
              <a:off x="3071664" y="4135044"/>
              <a:ext cx="6991830" cy="369332"/>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900" i="0" dirty="0"/>
                <a:t>To use the quality standard tags selection, the Quality Standards Mapping extension should be installed on the central where the application resides.</a:t>
              </a:r>
              <a:endParaRPr lang="en-US" sz="500" i="0" dirty="0"/>
            </a:p>
          </p:txBody>
        </p:sp>
        <p:sp>
          <p:nvSpPr>
            <p:cNvPr id="17" name="TextBox 16">
              <a:extLst>
                <a:ext uri="{FF2B5EF4-FFF2-40B4-BE49-F238E27FC236}">
                  <a16:creationId xmlns:a16="http://schemas.microsoft.com/office/drawing/2014/main" id="{2255320D-AEAD-43CA-B5F8-55466354914A}"/>
                </a:ext>
              </a:extLst>
            </p:cNvPr>
            <p:cNvSpPr txBox="1"/>
            <p:nvPr/>
          </p:nvSpPr>
          <p:spPr>
            <a:xfrm>
              <a:off x="2514067" y="4100924"/>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RULES_LIST_STATISTICS_RATIO;METRICS=CISQ-Security,COMPLIANCE=true,LBL=violations">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3362322694"/>
              </p:ext>
            </p:extLst>
          </p:nvPr>
        </p:nvGraphicFramePr>
        <p:xfrm>
          <a:off x="2067660" y="4813683"/>
          <a:ext cx="7995834" cy="735631"/>
        </p:xfrm>
        <a:graphic>
          <a:graphicData uri="http://schemas.openxmlformats.org/drawingml/2006/table">
            <a:tbl>
              <a:tblPr firstRow="1" bandRow="1">
                <a:tableStyleId>{9DCAF9ED-07DC-4A11-8D7F-57B35C25682E}</a:tableStyleId>
              </a:tblPr>
              <a:tblGrid>
                <a:gridCol w="3600448">
                  <a:extLst>
                    <a:ext uri="{9D8B030D-6E8A-4147-A177-3AD203B41FA5}">
                      <a16:colId xmlns:a16="http://schemas.microsoft.com/office/drawing/2014/main" val="20000"/>
                    </a:ext>
                  </a:extLst>
                </a:gridCol>
                <a:gridCol w="1119554">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49215">
                  <a:extLst>
                    <a:ext uri="{9D8B030D-6E8A-4147-A177-3AD203B41FA5}">
                      <a16:colId xmlns:a16="http://schemas.microsoft.com/office/drawing/2014/main" val="20003"/>
                    </a:ext>
                  </a:extLst>
                </a:gridCol>
                <a:gridCol w="1312217">
                  <a:extLst>
                    <a:ext uri="{9D8B030D-6E8A-4147-A177-3AD203B41FA5}">
                      <a16:colId xmlns:a16="http://schemas.microsoft.com/office/drawing/2014/main" val="20004"/>
                    </a:ext>
                  </a:extLst>
                </a:gridCol>
              </a:tblGrid>
              <a:tr h="226695">
                <a:tc>
                  <a:txBody>
                    <a:bodyPr/>
                    <a:lstStyle/>
                    <a:p>
                      <a:pPr marL="0" marR="91440" algn="l">
                        <a:lnSpc>
                          <a:spcPct val="115000"/>
                        </a:lnSpc>
                        <a:spcBef>
                          <a:spcPts val="0"/>
                        </a:spcBef>
                        <a:spcAft>
                          <a:spcPts val="0"/>
                        </a:spcAft>
                      </a:pPr>
                      <a:r>
                        <a:rPr lang="en-GB" sz="1000" dirty="0">
                          <a:effectLst/>
                        </a:rPr>
                        <a:t>Rule Name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Total Violations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Added Violations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a:effectLst/>
                        </a:rPr>
                        <a:t>Removed Violations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Compliance Score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03342">
                <a:tc>
                  <a:txBody>
                    <a:bodyPr/>
                    <a:lstStyle/>
                    <a:p>
                      <a:pPr marL="0" marR="0" algn="l">
                        <a:lnSpc>
                          <a:spcPct val="115000"/>
                        </a:lnSpc>
                        <a:spcBef>
                          <a:spcPts val="0"/>
                        </a:spcBef>
                        <a:spcAft>
                          <a:spcPts val="0"/>
                        </a:spcAft>
                      </a:pPr>
                      <a:r>
                        <a:rPr lang="en-GB" sz="1000" dirty="0">
                          <a:effectLst/>
                        </a:rPr>
                        <a:t>Rule 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US" sz="11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0 %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92691">
                <a:tc>
                  <a:txBody>
                    <a:bodyPr/>
                    <a:lstStyle/>
                    <a:p>
                      <a:pPr marL="0" marR="0" algn="l">
                        <a:lnSpc>
                          <a:spcPct val="115000"/>
                        </a:lnSpc>
                        <a:spcBef>
                          <a:spcPts val="0"/>
                        </a:spcBef>
                        <a:spcAft>
                          <a:spcPts val="0"/>
                        </a:spcAft>
                      </a:pPr>
                      <a:r>
                        <a:rPr lang="en-GB" sz="1000" dirty="0">
                          <a:effectLst/>
                        </a:rPr>
                        <a:t>Rule 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0 %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867206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1955882" y="1109212"/>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Evolution of </a:t>
              </a:r>
              <a:r>
                <a:rPr lang="en-GB" sz="1600" dirty="0"/>
                <a:t>category or tag</a:t>
              </a:r>
              <a:r>
                <a:rPr lang="en-US" sz="1600" dirty="0"/>
                <a:t> for quality standard</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QUALITY_STANDARDS_EVOLUTION</a:t>
              </a:r>
              <a:endParaRPr lang="fr-FR" sz="11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2400657"/>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marL="171450" indent="-171450">
                <a:buFontTx/>
                <a:buChar char="-"/>
              </a:pPr>
              <a:r>
                <a:rPr lang="en-US" sz="1000" b="1" dirty="0"/>
                <a:t>STD </a:t>
              </a:r>
              <a:r>
                <a:rPr lang="en-US" sz="1000" dirty="0"/>
                <a:t>=  Name of the parent quality standard you want the details, for example, CWE-2011-Top25 will list total, added and removed violations for standards CWE-22, CWE-78, CWE-79, CWE-89, CWE-134, CWE-327, CWE-434 and CWE-798. It can also take the name, </a:t>
              </a:r>
              <a:r>
                <a:rPr lang="en-US" sz="1000" dirty="0" err="1"/>
                <a:t>shortName</a:t>
              </a:r>
              <a:r>
                <a:rPr lang="en-US" sz="1000" dirty="0"/>
                <a:t> or ID of a Business Criterion</a:t>
              </a:r>
            </a:p>
            <a:p>
              <a:pPr marL="171450" indent="-171450">
                <a:buFontTx/>
                <a:buChar char="-"/>
              </a:pPr>
              <a:r>
                <a:rPr lang="en-GB" sz="1000" b="1" dirty="0"/>
                <a:t>LBL= </a:t>
              </a:r>
              <a:r>
                <a:rPr lang="en-GB" sz="1000" dirty="0"/>
                <a:t>violations or vulnerabilities (vulnerabilities if not set), this change the headers from Vulnerabilities to Violations</a:t>
              </a:r>
            </a:p>
            <a:p>
              <a:pPr marL="171450" indent="-171450">
                <a:buFontTx/>
                <a:buChar char="-"/>
              </a:pPr>
              <a:r>
                <a:rPr lang="en-GB" sz="1000" b="1" dirty="0"/>
                <a:t>MORE</a:t>
              </a:r>
              <a:r>
                <a:rPr lang="en-GB" sz="1000" dirty="0"/>
                <a:t>=true : add this one if you have specified a category in STD and want the evolution of the tags associated to this category (not specified by default)</a:t>
              </a:r>
            </a:p>
            <a:p>
              <a:pPr marL="171450" indent="-171450">
                <a:buFontTx/>
                <a:buChar char="-"/>
              </a:pPr>
              <a:r>
                <a:rPr lang="en-US" sz="1000" b="1" i="0" dirty="0"/>
                <a:t>EVOLUTION</a:t>
              </a:r>
              <a:r>
                <a:rPr lang="en-US" sz="1000" i="0" dirty="0"/>
                <a:t>=</a:t>
              </a:r>
              <a:r>
                <a:rPr lang="en-US" sz="1000" i="0" dirty="0" err="1"/>
                <a:t>true|false</a:t>
              </a:r>
              <a:r>
                <a:rPr lang="en-US" sz="1000" i="0" dirty="0"/>
                <a:t> to display added and removed violations columns. By default or if not exists, is true if there is a previous snapshot.</a:t>
              </a:r>
              <a:endParaRPr lang="en-GB" sz="1000" dirty="0"/>
            </a:p>
            <a:p>
              <a:pPr marL="171450" indent="-171450">
                <a:buFontTx/>
                <a:buChar char="-"/>
              </a:pPr>
              <a:r>
                <a:rPr lang="en-US" sz="1000" dirty="0"/>
                <a:t> </a:t>
              </a:r>
              <a:r>
                <a:rPr lang="en-US" sz="1000" b="1" dirty="0"/>
                <a:t>HEADER</a:t>
              </a:r>
              <a:r>
                <a:rPr lang="en-US" sz="1000" dirty="0"/>
                <a:t>=NO to not display headers (useful for excel report when you want to define your own customized headers). By default if option is not present or different from NO, headers are displayed</a:t>
              </a:r>
            </a:p>
            <a:p>
              <a:pPr marL="171450" indent="-171450">
                <a:buFontTx/>
                <a:buChar char="-"/>
              </a:pPr>
              <a:r>
                <a:rPr lang="en-US" sz="1000" b="1" dirty="0"/>
                <a:t>NOVIOLATIONS</a:t>
              </a:r>
              <a:r>
                <a:rPr lang="en-US" sz="1000" dirty="0"/>
                <a:t>=</a:t>
              </a:r>
              <a:r>
                <a:rPr lang="en-US" sz="1000" dirty="0" err="1"/>
                <a:t>true|false</a:t>
              </a:r>
              <a:r>
                <a:rPr lang="en-US" sz="1000" dirty="0"/>
                <a:t> to not display rules that do not have violations. By default if option is not present or different from false, it will be true (we display everything)</a:t>
              </a:r>
            </a:p>
            <a:p>
              <a:pPr marL="171450" indent="-171450">
                <a:buFontTx/>
                <a:buChar char="-"/>
              </a:pPr>
              <a:r>
                <a:rPr lang="en-US" sz="1000" b="1" dirty="0"/>
                <a:t>COMPLIANCE</a:t>
              </a:r>
              <a:r>
                <a:rPr lang="en-US" sz="1000" dirty="0"/>
                <a:t>=</a:t>
              </a:r>
              <a:r>
                <a:rPr lang="en-US" sz="1000" dirty="0" err="1"/>
                <a:t>true|false</a:t>
              </a:r>
              <a:r>
                <a:rPr lang="en-US" sz="1000" dirty="0"/>
                <a:t> (false per default) to display the compliance score in percent for the current BC/TC. Not applicable for a quality standard</a:t>
              </a:r>
            </a:p>
            <a:p>
              <a:pPr marL="171450" indent="-171450">
                <a:buFontTx/>
                <a:buChar char="-"/>
              </a:pPr>
              <a:r>
                <a:rPr lang="en-US" sz="1000" b="1" dirty="0"/>
                <a:t>COUNT</a:t>
              </a:r>
              <a:r>
                <a:rPr lang="en-US" sz="1000" dirty="0"/>
                <a:t>= the number of rows to display (all by default, or -1 for all rows)</a:t>
              </a:r>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2" name="TextBox 11">
              <a:extLst>
                <a:ext uri="{FF2B5EF4-FFF2-40B4-BE49-F238E27FC236}">
                  <a16:creationId xmlns:a16="http://schemas.microsoft.com/office/drawing/2014/main" id="{B612763E-F360-4DC8-9971-93D9C02EB45D}"/>
                </a:ext>
              </a:extLst>
            </p:cNvPr>
            <p:cNvSpPr txBox="1"/>
            <p:nvPr/>
          </p:nvSpPr>
          <p:spPr>
            <a:xfrm>
              <a:off x="3071664" y="4280554"/>
              <a:ext cx="6991830"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800" i="0" dirty="0"/>
                <a:t>To use this component, the Quality Standards Mapping extension should be installed on the central where the application resides, with minimum version 20181030.</a:t>
              </a:r>
              <a:endParaRPr lang="en-US" sz="400" i="0" dirty="0"/>
            </a:p>
          </p:txBody>
        </p:sp>
        <p:sp>
          <p:nvSpPr>
            <p:cNvPr id="17" name="TextBox 16">
              <a:extLst>
                <a:ext uri="{FF2B5EF4-FFF2-40B4-BE49-F238E27FC236}">
                  <a16:creationId xmlns:a16="http://schemas.microsoft.com/office/drawing/2014/main" id="{2255320D-AEAD-43CA-B5F8-55466354914A}"/>
                </a:ext>
              </a:extLst>
            </p:cNvPr>
            <p:cNvSpPr txBox="1"/>
            <p:nvPr/>
          </p:nvSpPr>
          <p:spPr>
            <a:xfrm>
              <a:off x="2514067" y="4246434"/>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QUALITY_STANDARDS_EVOLUTION;STD=CWE-2011-Top25,COUNT=10">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2911941130"/>
              </p:ext>
            </p:extLst>
          </p:nvPr>
        </p:nvGraphicFramePr>
        <p:xfrm>
          <a:off x="2621191" y="4991336"/>
          <a:ext cx="6683617" cy="736266"/>
        </p:xfrm>
        <a:graphic>
          <a:graphicData uri="http://schemas.openxmlformats.org/drawingml/2006/table">
            <a:tbl>
              <a:tblPr firstRow="1" bandRow="1">
                <a:tableStyleId>{9DCAF9ED-07DC-4A11-8D7F-57B35C25682E}</a:tableStyleId>
              </a:tblPr>
              <a:tblGrid>
                <a:gridCol w="3600448">
                  <a:extLst>
                    <a:ext uri="{9D8B030D-6E8A-4147-A177-3AD203B41FA5}">
                      <a16:colId xmlns:a16="http://schemas.microsoft.com/office/drawing/2014/main" val="20000"/>
                    </a:ext>
                  </a:extLst>
                </a:gridCol>
                <a:gridCol w="1119554">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49215">
                  <a:extLst>
                    <a:ext uri="{9D8B030D-6E8A-4147-A177-3AD203B41FA5}">
                      <a16:colId xmlns:a16="http://schemas.microsoft.com/office/drawing/2014/main" val="20003"/>
                    </a:ext>
                  </a:extLst>
                </a:gridCol>
              </a:tblGrid>
              <a:tr h="226695">
                <a:tc>
                  <a:txBody>
                    <a:bodyPr/>
                    <a:lstStyle/>
                    <a:p>
                      <a:pPr marL="0" marR="91440" algn="l">
                        <a:lnSpc>
                          <a:spcPct val="115000"/>
                        </a:lnSpc>
                        <a:spcBef>
                          <a:spcPts val="0"/>
                        </a:spcBef>
                        <a:spcAft>
                          <a:spcPts val="0"/>
                        </a:spcAft>
                      </a:pPr>
                      <a:r>
                        <a:rPr lang="en-GB" sz="1000" dirty="0">
                          <a:effectLst/>
                        </a:rPr>
                        <a:t>CWE-2011-Top 25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Total Violations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Added Violations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a:effectLst/>
                        </a:rPr>
                        <a:t>Removed Violations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03342">
                <a:tc>
                  <a:txBody>
                    <a:bodyPr/>
                    <a:lstStyle/>
                    <a:p>
                      <a:pPr marL="0" marR="0" algn="l">
                        <a:lnSpc>
                          <a:spcPct val="115000"/>
                        </a:lnSpc>
                        <a:spcBef>
                          <a:spcPts val="0"/>
                        </a:spcBef>
                        <a:spcAft>
                          <a:spcPts val="0"/>
                        </a:spcAft>
                      </a:pPr>
                      <a:r>
                        <a:rPr lang="en-GB" sz="1000" dirty="0">
                          <a:effectLst/>
                        </a:rPr>
                        <a:t>CWE-22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US" sz="11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92691">
                <a:tc>
                  <a:txBody>
                    <a:bodyPr/>
                    <a:lstStyle/>
                    <a:p>
                      <a:pPr marL="0" marR="0" algn="l">
                        <a:lnSpc>
                          <a:spcPct val="115000"/>
                        </a:lnSpc>
                        <a:spcBef>
                          <a:spcPts val="0"/>
                        </a:spcBef>
                        <a:spcAft>
                          <a:spcPts val="0"/>
                        </a:spcAft>
                      </a:pPr>
                      <a:r>
                        <a:rPr lang="en-GB" sz="1000" dirty="0">
                          <a:effectLst/>
                        </a:rPr>
                        <a:t>CWE-78</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404930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1955882" y="1109212"/>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Top 50 components by properties</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TOP_COMPONENTS_BY_PROPERTIES</a:t>
              </a:r>
              <a:endParaRPr lang="fr-FR" sz="11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1708160"/>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marL="171450" indent="-171450">
                <a:buFont typeface="Arial" panose="020B0604020202020204" pitchFamily="34" charset="0"/>
                <a:buChar char="•"/>
              </a:pPr>
              <a:r>
                <a:rPr lang="en-US" sz="1050" b="1" i="0" dirty="0"/>
                <a:t>PROP1</a:t>
              </a:r>
              <a:r>
                <a:rPr lang="en-US" sz="1050" i="0" dirty="0"/>
                <a:t> : name of first property, </a:t>
              </a:r>
              <a:r>
                <a:rPr lang="en-US" sz="1050" i="0" dirty="0" err="1"/>
                <a:t>cyclomaticComplexity</a:t>
              </a:r>
              <a:r>
                <a:rPr lang="en-US" sz="1050" i="0" dirty="0"/>
                <a:t> if not exists</a:t>
              </a:r>
            </a:p>
            <a:p>
              <a:pPr marL="171450" indent="-171450">
                <a:buFont typeface="Arial" panose="020B0604020202020204" pitchFamily="34" charset="0"/>
                <a:buChar char="•"/>
              </a:pPr>
              <a:r>
                <a:rPr lang="en-US" sz="1050" b="1" i="0" dirty="0"/>
                <a:t>PROP2</a:t>
              </a:r>
              <a:r>
                <a:rPr lang="en-US" sz="1050" i="0" dirty="0"/>
                <a:t> : name of second property, </a:t>
              </a:r>
              <a:r>
                <a:rPr lang="en-US" sz="1050" i="0" dirty="0" err="1"/>
                <a:t>fanOut</a:t>
              </a:r>
              <a:r>
                <a:rPr lang="en-US" sz="1050" i="0" dirty="0"/>
                <a:t> if not exists</a:t>
              </a:r>
            </a:p>
            <a:p>
              <a:pPr marL="171450" indent="-171450">
                <a:buFont typeface="Arial" panose="020B0604020202020204" pitchFamily="34" charset="0"/>
                <a:buChar char="•"/>
              </a:pPr>
              <a:r>
                <a:rPr lang="en-US" sz="1050" b="1" i="0" dirty="0"/>
                <a:t>ORDER1</a:t>
              </a:r>
              <a:r>
                <a:rPr lang="en-US" sz="1050" i="0" dirty="0"/>
                <a:t> : ASC or DESC for PROP1, DESC by default</a:t>
              </a:r>
            </a:p>
            <a:p>
              <a:pPr marL="171450" indent="-171450">
                <a:buFont typeface="Arial" panose="020B0604020202020204" pitchFamily="34" charset="0"/>
                <a:buChar char="•"/>
              </a:pPr>
              <a:r>
                <a:rPr lang="en-US" sz="1050" b="1" i="0" dirty="0"/>
                <a:t>ORDER2</a:t>
              </a:r>
              <a:r>
                <a:rPr lang="en-US" sz="1050" i="0" dirty="0"/>
                <a:t> : ASC or DESC for PROP2, DESC by default</a:t>
              </a:r>
            </a:p>
            <a:p>
              <a:pPr marL="171450" indent="-171450">
                <a:buFont typeface="Arial" panose="020B0604020202020204" pitchFamily="34" charset="0"/>
                <a:buChar char="•"/>
              </a:pPr>
              <a:r>
                <a:rPr lang="en-US" sz="1050" i="0" dirty="0"/>
                <a:t>LOWER1 : components should have prop1 value lower than this value</a:t>
              </a:r>
            </a:p>
            <a:p>
              <a:pPr marL="171450" indent="-171450">
                <a:buFont typeface="Arial" panose="020B0604020202020204" pitchFamily="34" charset="0"/>
                <a:buChar char="•"/>
              </a:pPr>
              <a:r>
                <a:rPr lang="en-US" sz="1050" i="0" dirty="0"/>
                <a:t>GREATER1 : components should have prop1 value greater than this value</a:t>
              </a:r>
            </a:p>
            <a:p>
              <a:pPr marL="171450" indent="-171450">
                <a:buFont typeface="Arial" panose="020B0604020202020204" pitchFamily="34" charset="0"/>
                <a:buChar char="•"/>
              </a:pPr>
              <a:r>
                <a:rPr lang="en-US" sz="1050" i="0" dirty="0"/>
                <a:t>LOWER2 : components should have prop2 value lower than this value</a:t>
              </a:r>
            </a:p>
            <a:p>
              <a:pPr marL="171450" indent="-171450">
                <a:buFont typeface="Arial" panose="020B0604020202020204" pitchFamily="34" charset="0"/>
                <a:buChar char="•"/>
              </a:pPr>
              <a:r>
                <a:rPr lang="en-US" sz="1050" i="0" dirty="0"/>
                <a:t>GREATER2 : components should have prop2 value greater than this value</a:t>
              </a:r>
            </a:p>
            <a:p>
              <a:pPr marL="171450" indent="-171450">
                <a:buFont typeface="Arial" panose="020B0604020202020204" pitchFamily="34" charset="0"/>
                <a:buChar char="•"/>
              </a:pPr>
              <a:r>
                <a:rPr lang="en-US" sz="1050" b="1" i="0" dirty="0"/>
                <a:t>COUNT</a:t>
              </a:r>
              <a:r>
                <a:rPr lang="en-US" sz="1050" i="0" dirty="0"/>
                <a:t>: the number of lines to display, 50 by default (-1 or all is not allowed, it will take too much time and paper)</a:t>
              </a:r>
              <a:endParaRPr lang="en-US" sz="8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2" name="TextBox 11">
              <a:extLst>
                <a:ext uri="{FF2B5EF4-FFF2-40B4-BE49-F238E27FC236}">
                  <a16:creationId xmlns:a16="http://schemas.microsoft.com/office/drawing/2014/main" id="{B612763E-F360-4DC8-9971-93D9C02EB45D}"/>
                </a:ext>
              </a:extLst>
            </p:cNvPr>
            <p:cNvSpPr txBox="1"/>
            <p:nvPr/>
          </p:nvSpPr>
          <p:spPr>
            <a:xfrm>
              <a:off x="3071664" y="3512653"/>
              <a:ext cx="6991830" cy="1200329"/>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800" i="0" dirty="0"/>
                <a:t>- For PROP1 and PROP2, the available values are : </a:t>
              </a:r>
              <a:r>
                <a:rPr lang="en-US" sz="800" i="0" dirty="0" err="1"/>
                <a:t>codeLines</a:t>
              </a:r>
              <a:r>
                <a:rPr lang="en-US" sz="800" i="0" dirty="0"/>
                <a:t>, </a:t>
              </a:r>
              <a:r>
                <a:rPr lang="en-US" sz="800" i="0" dirty="0" err="1"/>
                <a:t>commentedCodeLines</a:t>
              </a:r>
              <a:r>
                <a:rPr lang="en-US" sz="800" i="0" dirty="0"/>
                <a:t>, </a:t>
              </a:r>
              <a:r>
                <a:rPr lang="en-US" sz="800" i="0" dirty="0" err="1"/>
                <a:t>commentLines</a:t>
              </a:r>
              <a:r>
                <a:rPr lang="en-US" sz="800" i="0" dirty="0"/>
                <a:t>, coupling, </a:t>
              </a:r>
              <a:r>
                <a:rPr lang="en-US" sz="800" i="0" dirty="0" err="1"/>
                <a:t>fanIn</a:t>
              </a:r>
              <a:r>
                <a:rPr lang="en-US" sz="800" i="0" dirty="0"/>
                <a:t>, </a:t>
              </a:r>
              <a:r>
                <a:rPr lang="en-US" sz="800" i="0" dirty="0" err="1"/>
                <a:t>fanOut</a:t>
              </a:r>
              <a:r>
                <a:rPr lang="en-US" sz="800" i="0" dirty="0"/>
                <a:t>, </a:t>
              </a:r>
              <a:r>
                <a:rPr lang="en-US" sz="800" i="0" dirty="0" err="1"/>
                <a:t>cyclomaticComplexity</a:t>
              </a:r>
              <a:r>
                <a:rPr lang="en-US" sz="800" i="0" dirty="0"/>
                <a:t>, </a:t>
              </a:r>
              <a:r>
                <a:rPr lang="en-US" sz="800" i="0" dirty="0" err="1"/>
                <a:t>ratioCommentLinesCodeLines</a:t>
              </a:r>
              <a:r>
                <a:rPr lang="en-US" sz="800" i="0" dirty="0"/>
                <a:t>, </a:t>
              </a:r>
              <a:r>
                <a:rPr lang="en-US" sz="800" i="0" dirty="0" err="1"/>
                <a:t>halsteadProgramLength</a:t>
              </a:r>
              <a:r>
                <a:rPr lang="en-US" sz="800" i="0" dirty="0"/>
                <a:t>, </a:t>
              </a:r>
              <a:r>
                <a:rPr lang="en-US" sz="800" i="0" dirty="0" err="1"/>
                <a:t>halsteadProgramVocabulary</a:t>
              </a:r>
              <a:r>
                <a:rPr lang="en-US" sz="800" i="0" dirty="0"/>
                <a:t>, </a:t>
              </a:r>
              <a:r>
                <a:rPr lang="en-US" sz="800" i="0" dirty="0" err="1"/>
                <a:t>halsteadVolume</a:t>
              </a:r>
              <a:r>
                <a:rPr lang="en-US" sz="800" i="0" dirty="0"/>
                <a:t>, </a:t>
              </a:r>
              <a:r>
                <a:rPr lang="en-US" sz="800" i="0" dirty="0" err="1"/>
                <a:t>distinctOperators</a:t>
              </a:r>
              <a:r>
                <a:rPr lang="en-US" sz="800" i="0" dirty="0"/>
                <a:t>, </a:t>
              </a:r>
              <a:r>
                <a:rPr lang="en-US" sz="800" i="0" dirty="0" err="1"/>
                <a:t>distinctOperands</a:t>
              </a:r>
              <a:r>
                <a:rPr lang="en-US" sz="800" i="0" dirty="0"/>
                <a:t>, </a:t>
              </a:r>
              <a:r>
                <a:rPr lang="en-US" sz="800" i="0" dirty="0" err="1"/>
                <a:t>integrationComplexity</a:t>
              </a:r>
              <a:r>
                <a:rPr lang="en-US" sz="800" i="0" dirty="0"/>
                <a:t>, </a:t>
              </a:r>
              <a:r>
                <a:rPr lang="en-US" sz="800" i="0" dirty="0" err="1"/>
                <a:t>essentialComplexity</a:t>
              </a:r>
              <a:r>
                <a:rPr lang="en-US" sz="800" i="0" dirty="0"/>
                <a:t>. If PROP1 and/or PROP2 is not correctly set, list of available values is displayed</a:t>
              </a:r>
              <a:endParaRPr lang="en-US" sz="1050" i="0" dirty="0"/>
            </a:p>
            <a:p>
              <a:r>
                <a:rPr lang="en-US" sz="800" i="0" dirty="0"/>
                <a:t>- When using LOWER and GREATER parameters, the ORDER parameter can be overridden to get the most accurate components corresponding to the request. As the filter can be done only after requesting data from the </a:t>
              </a:r>
              <a:r>
                <a:rPr lang="en-US" sz="800" i="0" dirty="0" err="1"/>
                <a:t>RestAPI</a:t>
              </a:r>
              <a:r>
                <a:rPr lang="en-US" sz="800" i="0" dirty="0"/>
                <a:t>, the list can be truncated. So the option NBSET define the number of objects returns from the rest </a:t>
              </a:r>
              <a:r>
                <a:rPr lang="en-US" sz="800" i="0" dirty="0" err="1"/>
                <a:t>api</a:t>
              </a:r>
              <a:r>
                <a:rPr lang="en-US" sz="800" i="0" dirty="0"/>
                <a:t> before the filtering and the limitation of display (COUNT), this option is set to 500 by default, to avoid too long server response time.</a:t>
              </a:r>
            </a:p>
            <a:p>
              <a:r>
                <a:rPr lang="en-US" sz="800" i="0" dirty="0"/>
                <a:t>- This component is only relevant on an engineering database. It is empty on an analytics database.</a:t>
              </a:r>
            </a:p>
          </p:txBody>
        </p:sp>
        <p:sp>
          <p:nvSpPr>
            <p:cNvPr id="17" name="TextBox 16">
              <a:extLst>
                <a:ext uri="{FF2B5EF4-FFF2-40B4-BE49-F238E27FC236}">
                  <a16:creationId xmlns:a16="http://schemas.microsoft.com/office/drawing/2014/main" id="{2255320D-AEAD-43CA-B5F8-55466354914A}"/>
                </a:ext>
              </a:extLst>
            </p:cNvPr>
            <p:cNvSpPr txBox="1"/>
            <p:nvPr/>
          </p:nvSpPr>
          <p:spPr>
            <a:xfrm>
              <a:off x="2437122" y="3478533"/>
              <a:ext cx="719364"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Notes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TOP_COMPONENTS_BY_PROPERTIES;PROP1=cyclomaticComplexity,PROP2=ratioCommentLinesCodeLines,ORDER1=desc,ORDER2=asc,LOWER2=0.10,COUNT=10">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2142145194"/>
              </p:ext>
            </p:extLst>
          </p:nvPr>
        </p:nvGraphicFramePr>
        <p:xfrm>
          <a:off x="2437376" y="5043991"/>
          <a:ext cx="7300515" cy="736266"/>
        </p:xfrm>
        <a:graphic>
          <a:graphicData uri="http://schemas.openxmlformats.org/drawingml/2006/table">
            <a:tbl>
              <a:tblPr firstRow="1" bandRow="1">
                <a:tableStyleId>{9DCAF9ED-07DC-4A11-8D7F-57B35C25682E}</a:tableStyleId>
              </a:tblPr>
              <a:tblGrid>
                <a:gridCol w="4724088">
                  <a:extLst>
                    <a:ext uri="{9D8B030D-6E8A-4147-A177-3AD203B41FA5}">
                      <a16:colId xmlns:a16="http://schemas.microsoft.com/office/drawing/2014/main" val="20000"/>
                    </a:ext>
                  </a:extLst>
                </a:gridCol>
                <a:gridCol w="1199769">
                  <a:extLst>
                    <a:ext uri="{9D8B030D-6E8A-4147-A177-3AD203B41FA5}">
                      <a16:colId xmlns:a16="http://schemas.microsoft.com/office/drawing/2014/main" val="20002"/>
                    </a:ext>
                  </a:extLst>
                </a:gridCol>
                <a:gridCol w="1376658">
                  <a:extLst>
                    <a:ext uri="{9D8B030D-6E8A-4147-A177-3AD203B41FA5}">
                      <a16:colId xmlns:a16="http://schemas.microsoft.com/office/drawing/2014/main" val="20003"/>
                    </a:ext>
                  </a:extLst>
                </a:gridCol>
              </a:tblGrid>
              <a:tr h="226695">
                <a:tc>
                  <a:txBody>
                    <a:bodyPr/>
                    <a:lstStyle/>
                    <a:p>
                      <a:pPr marL="0" marR="91440" algn="l">
                        <a:lnSpc>
                          <a:spcPct val="115000"/>
                        </a:lnSpc>
                        <a:spcBef>
                          <a:spcPts val="0"/>
                        </a:spcBef>
                        <a:spcAft>
                          <a:spcPts val="0"/>
                        </a:spcAft>
                      </a:pPr>
                      <a:r>
                        <a:rPr lang="en-GB" sz="1000" dirty="0">
                          <a:effectLst/>
                          <a:latin typeface="Calibri" panose="020F0502020204030204" pitchFamily="34" charset="0"/>
                          <a:ea typeface="Calibri" panose="020F0502020204030204" pitchFamily="34" charset="0"/>
                          <a:cs typeface="Times New Roman" panose="02020603050405020304" pitchFamily="18" charset="0"/>
                        </a:rPr>
                        <a:t>Object Name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Cyclomatic Complexity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a:effectLst/>
                          <a:latin typeface="Calibri" panose="020F0502020204030204" pitchFamily="34" charset="0"/>
                          <a:ea typeface="Calibri" panose="020F0502020204030204" pitchFamily="34" charset="0"/>
                          <a:cs typeface="Times New Roman" panose="02020603050405020304" pitchFamily="18" charset="0"/>
                        </a:rPr>
                        <a:t>Documentation Ratio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03342">
                <a:tc>
                  <a:txBody>
                    <a:bodyPr/>
                    <a:lstStyle/>
                    <a:p>
                      <a:pPr marL="0" marR="0" algn="l">
                        <a:lnSpc>
                          <a:spcPct val="115000"/>
                        </a:lnSpc>
                        <a:spcBef>
                          <a:spcPts val="0"/>
                        </a:spcBef>
                        <a:spcAft>
                          <a:spcPts val="0"/>
                        </a:spcAft>
                      </a:pPr>
                      <a:r>
                        <a:rPr lang="en-US" sz="900" kern="1200" dirty="0">
                          <a:solidFill>
                            <a:schemeClr val="dk1"/>
                          </a:solidFill>
                          <a:latin typeface="Calibri" panose="020F0502020204030204" pitchFamily="34" charset="0"/>
                          <a:ea typeface="+mn-ea"/>
                          <a:cs typeface="Calibri" panose="020F0502020204030204" pitchFamily="34" charset="0"/>
                        </a:rPr>
                        <a:t>Object 1</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cs typeface="Calibri" panose="020F0502020204030204" pitchFamily="34" charset="0"/>
                        </a:rPr>
                        <a:t>65</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ctr">
                        <a:lnSpc>
                          <a:spcPct val="115000"/>
                        </a:lnSpc>
                        <a:spcBef>
                          <a:spcPts val="0"/>
                        </a:spcBef>
                        <a:spcAft>
                          <a:spcPts val="0"/>
                        </a:spcAft>
                      </a:pPr>
                      <a:r>
                        <a:rPr lang="en-GB" sz="900" dirty="0">
                          <a:effectLst/>
                          <a:latin typeface="Calibri" panose="020F0502020204030204" pitchFamily="34" charset="0"/>
                          <a:cs typeface="Calibri" panose="020F0502020204030204" pitchFamily="34" charset="0"/>
                        </a:rPr>
                        <a:t>8</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1"/>
                  </a:ext>
                </a:extLst>
              </a:tr>
              <a:tr h="192691">
                <a:tc>
                  <a:txBody>
                    <a:bodyPr/>
                    <a:lstStyle/>
                    <a:p>
                      <a:pPr marL="0" marR="0" algn="l">
                        <a:lnSpc>
                          <a:spcPct val="115000"/>
                        </a:lnSpc>
                        <a:spcBef>
                          <a:spcPts val="0"/>
                        </a:spcBef>
                        <a:spcAft>
                          <a:spcPts val="0"/>
                        </a:spcAft>
                      </a:pPr>
                      <a:r>
                        <a:rPr lang="en-US" sz="900" kern="1200" dirty="0">
                          <a:solidFill>
                            <a:schemeClr val="dk1"/>
                          </a:solidFill>
                          <a:latin typeface="Calibri" panose="020F0502020204030204" pitchFamily="34" charset="0"/>
                          <a:ea typeface="+mn-ea"/>
                          <a:cs typeface="Calibri" panose="020F0502020204030204" pitchFamily="34" charset="0"/>
                        </a:rPr>
                        <a:t>Object 2</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ctr">
                        <a:lnSpc>
                          <a:spcPct val="115000"/>
                        </a:lnSpc>
                        <a:spcBef>
                          <a:spcPts val="0"/>
                        </a:spcBef>
                        <a:spcAft>
                          <a:spcPts val="0"/>
                        </a:spcAft>
                      </a:pPr>
                      <a:r>
                        <a:rPr lang="en-GB" sz="900" dirty="0">
                          <a:effectLst/>
                          <a:latin typeface="Calibri" panose="020F0502020204030204" pitchFamily="34" charset="0"/>
                          <a:ea typeface="Calibri" panose="020F0502020204030204" pitchFamily="34" charset="0"/>
                          <a:cs typeface="Calibri" panose="020F0502020204030204" pitchFamily="34" charset="0"/>
                        </a:rPr>
                        <a:t>59</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4</a:t>
                      </a: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741068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1955882" y="1109212"/>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rules with largest variation</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RULES_LIST_LARGEST_VARIATION</a:t>
              </a:r>
              <a:endParaRPr lang="fr-FR" sz="11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769441"/>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marL="171450" indent="-171450">
                <a:buFont typeface="Arial" panose="020B0604020202020204" pitchFamily="34" charset="0"/>
                <a:buChar char="•"/>
              </a:pPr>
              <a:r>
                <a:rPr lang="en-US" sz="1100" b="1" i="0" dirty="0"/>
                <a:t>BCID</a:t>
              </a:r>
              <a:r>
                <a:rPr lang="en-US" sz="1100" i="0" dirty="0"/>
                <a:t> : name of the BCID to get the rule’s compounded weight (60017 by default)</a:t>
              </a:r>
            </a:p>
            <a:p>
              <a:pPr marL="171450" indent="-171450">
                <a:buFont typeface="Arial" panose="020B0604020202020204" pitchFamily="34" charset="0"/>
                <a:buChar char="•"/>
              </a:pPr>
              <a:r>
                <a:rPr lang="en-US" sz="1100" b="1" i="0" dirty="0"/>
                <a:t>VARIATION</a:t>
              </a:r>
              <a:r>
                <a:rPr lang="en-US" sz="1100" i="0" dirty="0"/>
                <a:t> : increase or decrease (decrease by default)</a:t>
              </a:r>
            </a:p>
            <a:p>
              <a:pPr marL="171450" indent="-171450">
                <a:buFont typeface="Arial" panose="020B0604020202020204" pitchFamily="34" charset="0"/>
                <a:buChar char="•"/>
              </a:pPr>
              <a:r>
                <a:rPr lang="en-US" sz="1100" b="1" i="0" dirty="0"/>
                <a:t>DATA</a:t>
              </a:r>
              <a:r>
                <a:rPr lang="en-US" sz="1100" i="0" dirty="0"/>
                <a:t> : number or percent (number by default)</a:t>
              </a:r>
            </a:p>
            <a:p>
              <a:pPr marL="171450" indent="-171450">
                <a:buFont typeface="Arial" panose="020B0604020202020204" pitchFamily="34" charset="0"/>
                <a:buChar char="•"/>
              </a:pPr>
              <a:r>
                <a:rPr lang="en-US" sz="1100" b="1" i="0" dirty="0"/>
                <a:t>COUNT</a:t>
              </a:r>
              <a:r>
                <a:rPr lang="en-US" sz="1100" i="0" dirty="0"/>
                <a:t>: the number of lines to display, 50 by default (-1 for all rules)</a:t>
              </a:r>
              <a:endParaRPr lang="en-US" sz="9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RULES_LIST_LARGEST_VARIATION;BCID=60011,VARIATION=decrease,DATA=number,COUNT=10">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2401633654"/>
              </p:ext>
            </p:extLst>
          </p:nvPr>
        </p:nvGraphicFramePr>
        <p:xfrm>
          <a:off x="2437376" y="4614464"/>
          <a:ext cx="7300515" cy="622728"/>
        </p:xfrm>
        <a:graphic>
          <a:graphicData uri="http://schemas.openxmlformats.org/drawingml/2006/table">
            <a:tbl>
              <a:tblPr firstRow="1" bandRow="1">
                <a:tableStyleId>{9DCAF9ED-07DC-4A11-8D7F-57B35C25682E}</a:tableStyleId>
              </a:tblPr>
              <a:tblGrid>
                <a:gridCol w="740433">
                  <a:extLst>
                    <a:ext uri="{9D8B030D-6E8A-4147-A177-3AD203B41FA5}">
                      <a16:colId xmlns:a16="http://schemas.microsoft.com/office/drawing/2014/main" val="20000"/>
                    </a:ext>
                  </a:extLst>
                </a:gridCol>
                <a:gridCol w="914400">
                  <a:extLst>
                    <a:ext uri="{9D8B030D-6E8A-4147-A177-3AD203B41FA5}">
                      <a16:colId xmlns:a16="http://schemas.microsoft.com/office/drawing/2014/main" val="20002"/>
                    </a:ext>
                  </a:extLst>
                </a:gridCol>
                <a:gridCol w="5645682">
                  <a:extLst>
                    <a:ext uri="{9D8B030D-6E8A-4147-A177-3AD203B41FA5}">
                      <a16:colId xmlns:a16="http://schemas.microsoft.com/office/drawing/2014/main" val="20003"/>
                    </a:ext>
                  </a:extLst>
                </a:gridCol>
              </a:tblGrid>
              <a:tr h="226695">
                <a:tc>
                  <a:txBody>
                    <a:bodyPr/>
                    <a:lstStyle/>
                    <a:p>
                      <a:pPr marL="0" marR="91440" algn="l">
                        <a:lnSpc>
                          <a:spcPct val="115000"/>
                        </a:lnSpc>
                        <a:spcBef>
                          <a:spcPts val="0"/>
                        </a:spcBef>
                        <a:spcAft>
                          <a:spcPts val="0"/>
                        </a:spcAft>
                      </a:pPr>
                      <a:r>
                        <a:rPr lang="en-GB" sz="1000" dirty="0">
                          <a:effectLst/>
                          <a:latin typeface="Calibri" panose="020F0502020204030204" pitchFamily="34" charset="0"/>
                          <a:ea typeface="Calibri" panose="020F0502020204030204" pitchFamily="34" charset="0"/>
                          <a:cs typeface="Calibri" panose="020F0502020204030204" pitchFamily="34" charset="0"/>
                        </a:rPr>
                        <a:t>Weight</a:t>
                      </a:r>
                      <a:endParaRPr lang="en-US" sz="10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ctr">
                        <a:lnSpc>
                          <a:spcPct val="115000"/>
                        </a:lnSpc>
                        <a:spcBef>
                          <a:spcPts val="0"/>
                        </a:spcBef>
                        <a:spcAft>
                          <a:spcPts val="0"/>
                        </a:spcAft>
                      </a:pPr>
                      <a:r>
                        <a:rPr lang="en-GB" sz="1000" dirty="0">
                          <a:effectLst/>
                          <a:latin typeface="Calibri" panose="020F0502020204030204" pitchFamily="34" charset="0"/>
                          <a:cs typeface="Calibri" panose="020F0502020204030204" pitchFamily="34" charset="0"/>
                        </a:rPr>
                        <a:t>Variation</a:t>
                      </a:r>
                      <a:endParaRPr lang="en-US" sz="10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GB" sz="1000" dirty="0">
                          <a:effectLst/>
                          <a:latin typeface="Calibri" panose="020F0502020204030204" pitchFamily="34" charset="0"/>
                          <a:ea typeface="Calibri" panose="020F0502020204030204" pitchFamily="34" charset="0"/>
                          <a:cs typeface="Calibri" panose="020F0502020204030204" pitchFamily="34" charset="0"/>
                        </a:rPr>
                        <a:t>Rule Name</a:t>
                      </a:r>
                      <a:endParaRPr lang="en-US" sz="10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0"/>
                  </a:ext>
                </a:extLst>
              </a:tr>
              <a:tr h="203342">
                <a:tc>
                  <a:txBody>
                    <a:bodyPr/>
                    <a:lstStyle/>
                    <a:p>
                      <a:pPr marL="0" marR="0" algn="ct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96</a:t>
                      </a: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cs typeface="Calibri" panose="020F0502020204030204" pitchFamily="34" charset="0"/>
                        </a:rPr>
                        <a:t>123</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GB" sz="900" dirty="0">
                          <a:effectLst/>
                          <a:latin typeface="Calibri" panose="020F0502020204030204" pitchFamily="34" charset="0"/>
                          <a:cs typeface="Calibri" panose="020F0502020204030204" pitchFamily="34" charset="0"/>
                        </a:rPr>
                        <a:t>Rule 1</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1"/>
                  </a:ext>
                </a:extLst>
              </a:tr>
              <a:tr h="192691">
                <a:tc>
                  <a:txBody>
                    <a:bodyPr/>
                    <a:lstStyle/>
                    <a:p>
                      <a:pPr marL="0" marR="0" algn="ctr">
                        <a:lnSpc>
                          <a:spcPct val="115000"/>
                        </a:lnSpc>
                        <a:spcBef>
                          <a:spcPts val="0"/>
                        </a:spcBef>
                        <a:spcAft>
                          <a:spcPts val="0"/>
                        </a:spcAft>
                      </a:pPr>
                      <a:r>
                        <a:rPr lang="en-US" sz="900" kern="1200" dirty="0">
                          <a:solidFill>
                            <a:schemeClr val="dk1"/>
                          </a:solidFill>
                          <a:latin typeface="Calibri" panose="020F0502020204030204" pitchFamily="34" charset="0"/>
                          <a:ea typeface="+mn-ea"/>
                          <a:cs typeface="Calibri" panose="020F0502020204030204" pitchFamily="34" charset="0"/>
                        </a:rPr>
                        <a:t>72</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ctr">
                        <a:lnSpc>
                          <a:spcPct val="115000"/>
                        </a:lnSpc>
                        <a:spcBef>
                          <a:spcPts val="0"/>
                        </a:spcBef>
                        <a:spcAft>
                          <a:spcPts val="0"/>
                        </a:spcAft>
                      </a:pPr>
                      <a:r>
                        <a:rPr lang="en-GB" sz="900" dirty="0">
                          <a:effectLst/>
                          <a:latin typeface="Calibri" panose="020F0502020204030204" pitchFamily="34" charset="0"/>
                          <a:ea typeface="Calibri" panose="020F0502020204030204" pitchFamily="34" charset="0"/>
                          <a:cs typeface="Calibri" panose="020F0502020204030204" pitchFamily="34" charset="0"/>
                        </a:rPr>
                        <a:t>59</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Rule 2</a:t>
                      </a:r>
                    </a:p>
                  </a:txBody>
                  <a:tcPr marL="68580" marR="68580" marT="0" marB="0"/>
                </a:tc>
                <a:extLst>
                  <a:ext uri="{0D108BD9-81ED-4DB2-BD59-A6C34878D82A}">
                    <a16:rowId xmlns:a16="http://schemas.microsoft.com/office/drawing/2014/main" val="10002"/>
                  </a:ext>
                </a:extLst>
              </a:tr>
            </a:tbl>
          </a:graphicData>
        </a:graphic>
      </p:graphicFrame>
      <p:graphicFrame>
        <p:nvGraphicFramePr>
          <p:cNvPr id="5" name="Table 4">
            <a:extLst>
              <a:ext uri="{FF2B5EF4-FFF2-40B4-BE49-F238E27FC236}">
                <a16:creationId xmlns:a16="http://schemas.microsoft.com/office/drawing/2014/main" id="{E1275CE4-AA51-4DDA-82F9-50AD2A7C7458}"/>
              </a:ext>
            </a:extLst>
          </p:cNvPr>
          <p:cNvGraphicFramePr>
            <a:graphicFrameLocks noGrp="1"/>
          </p:cNvGraphicFramePr>
          <p:nvPr>
            <p:extLst>
              <p:ext uri="{D42A27DB-BD31-4B8C-83A1-F6EECF244321}">
                <p14:modId xmlns:p14="http://schemas.microsoft.com/office/powerpoint/2010/main" val="436748390"/>
              </p:ext>
            </p:extLst>
          </p:nvPr>
        </p:nvGraphicFramePr>
        <p:xfrm>
          <a:off x="3076330" y="3270367"/>
          <a:ext cx="6121244" cy="1139190"/>
        </p:xfrm>
        <a:graphic>
          <a:graphicData uri="http://schemas.openxmlformats.org/drawingml/2006/table">
            <a:tbl>
              <a:tblPr firstRow="1" firstCol="1" bandRow="1">
                <a:tableStyleId>{5202B0CA-FC54-4496-8BCA-5EF66A818D29}</a:tableStyleId>
              </a:tblPr>
              <a:tblGrid>
                <a:gridCol w="1286102">
                  <a:extLst>
                    <a:ext uri="{9D8B030D-6E8A-4147-A177-3AD203B41FA5}">
                      <a16:colId xmlns:a16="http://schemas.microsoft.com/office/drawing/2014/main" val="2040563802"/>
                    </a:ext>
                  </a:extLst>
                </a:gridCol>
                <a:gridCol w="4835142">
                  <a:extLst>
                    <a:ext uri="{9D8B030D-6E8A-4147-A177-3AD203B41FA5}">
                      <a16:colId xmlns:a16="http://schemas.microsoft.com/office/drawing/2014/main" val="2407256319"/>
                    </a:ext>
                  </a:extLst>
                </a:gridCol>
              </a:tblGrid>
              <a:tr h="0">
                <a:tc>
                  <a:txBody>
                    <a:bodyPr/>
                    <a:lstStyle/>
                    <a:p>
                      <a:pPr marL="63500" marR="0">
                        <a:spcBef>
                          <a:spcPts val="0"/>
                        </a:spcBef>
                        <a:spcAft>
                          <a:spcPts val="0"/>
                        </a:spcAft>
                      </a:pPr>
                      <a:r>
                        <a:rPr lang="en-US" sz="800">
                          <a:effectLst/>
                        </a:rPr>
                        <a:t>Configuration</a:t>
                      </a:r>
                      <a:endParaRPr lang="en-US" sz="110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tc>
                  <a:txBody>
                    <a:bodyPr/>
                    <a:lstStyle/>
                    <a:p>
                      <a:pPr marL="63500" marR="0">
                        <a:spcBef>
                          <a:spcPts val="0"/>
                        </a:spcBef>
                        <a:spcAft>
                          <a:spcPts val="0"/>
                        </a:spcAft>
                      </a:pPr>
                      <a:r>
                        <a:rPr lang="en-US" sz="800" dirty="0">
                          <a:effectLst/>
                        </a:rPr>
                        <a:t>Formula</a:t>
                      </a:r>
                      <a:endParaRPr lang="en-US" sz="1100" dirty="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extLst>
                  <a:ext uri="{0D108BD9-81ED-4DB2-BD59-A6C34878D82A}">
                    <a16:rowId xmlns:a16="http://schemas.microsoft.com/office/drawing/2014/main" val="3104017068"/>
                  </a:ext>
                </a:extLst>
              </a:tr>
              <a:tr h="0">
                <a:tc>
                  <a:txBody>
                    <a:bodyPr/>
                    <a:lstStyle/>
                    <a:p>
                      <a:pPr marL="63500" marR="0">
                        <a:spcBef>
                          <a:spcPts val="0"/>
                        </a:spcBef>
                        <a:spcAft>
                          <a:spcPts val="0"/>
                        </a:spcAft>
                      </a:pPr>
                      <a:r>
                        <a:rPr lang="en-US" sz="800" dirty="0">
                          <a:effectLst/>
                        </a:rPr>
                        <a:t>Decrease number</a:t>
                      </a:r>
                      <a:endParaRPr lang="en-US" sz="1100" dirty="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tc>
                  <a:txBody>
                    <a:bodyPr/>
                    <a:lstStyle/>
                    <a:p>
                      <a:pPr marL="63500" marR="0">
                        <a:spcBef>
                          <a:spcPts val="0"/>
                        </a:spcBef>
                        <a:spcAft>
                          <a:spcPts val="0"/>
                        </a:spcAft>
                      </a:pPr>
                      <a:r>
                        <a:rPr lang="en-US" sz="800">
                          <a:effectLst/>
                        </a:rPr>
                        <a:t>previous failed checks - current failed checks</a:t>
                      </a:r>
                      <a:endParaRPr lang="en-US" sz="110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extLst>
                  <a:ext uri="{0D108BD9-81ED-4DB2-BD59-A6C34878D82A}">
                    <a16:rowId xmlns:a16="http://schemas.microsoft.com/office/drawing/2014/main" val="1732143718"/>
                  </a:ext>
                </a:extLst>
              </a:tr>
              <a:tr h="0">
                <a:tc>
                  <a:txBody>
                    <a:bodyPr/>
                    <a:lstStyle/>
                    <a:p>
                      <a:pPr marL="63500" marR="0">
                        <a:spcBef>
                          <a:spcPts val="0"/>
                        </a:spcBef>
                        <a:spcAft>
                          <a:spcPts val="0"/>
                        </a:spcAft>
                      </a:pPr>
                      <a:r>
                        <a:rPr lang="en-US" sz="800">
                          <a:effectLst/>
                        </a:rPr>
                        <a:t>Decrease percent</a:t>
                      </a:r>
                      <a:endParaRPr lang="en-US" sz="110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tc>
                  <a:txBody>
                    <a:bodyPr/>
                    <a:lstStyle/>
                    <a:p>
                      <a:pPr marL="63500" marR="0">
                        <a:spcBef>
                          <a:spcPts val="0"/>
                        </a:spcBef>
                        <a:spcAft>
                          <a:spcPts val="0"/>
                        </a:spcAft>
                      </a:pPr>
                      <a:r>
                        <a:rPr lang="en-US" sz="800">
                          <a:effectLst/>
                        </a:rPr>
                        <a:t>current failed checks / current total checks - previous failed checks / previous total checks , display in percentage (*100)</a:t>
                      </a:r>
                      <a:endParaRPr lang="en-US" sz="110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extLst>
                  <a:ext uri="{0D108BD9-81ED-4DB2-BD59-A6C34878D82A}">
                    <a16:rowId xmlns:a16="http://schemas.microsoft.com/office/drawing/2014/main" val="346682809"/>
                  </a:ext>
                </a:extLst>
              </a:tr>
              <a:tr h="0">
                <a:tc>
                  <a:txBody>
                    <a:bodyPr/>
                    <a:lstStyle/>
                    <a:p>
                      <a:pPr marL="63500" marR="0">
                        <a:spcBef>
                          <a:spcPts val="0"/>
                        </a:spcBef>
                        <a:spcAft>
                          <a:spcPts val="0"/>
                        </a:spcAft>
                      </a:pPr>
                      <a:r>
                        <a:rPr lang="en-US" sz="800">
                          <a:effectLst/>
                        </a:rPr>
                        <a:t>Increase number</a:t>
                      </a:r>
                      <a:endParaRPr lang="en-US" sz="110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tc>
                  <a:txBody>
                    <a:bodyPr/>
                    <a:lstStyle/>
                    <a:p>
                      <a:pPr marL="63500" marR="0">
                        <a:spcBef>
                          <a:spcPts val="0"/>
                        </a:spcBef>
                        <a:spcAft>
                          <a:spcPts val="0"/>
                        </a:spcAft>
                      </a:pPr>
                      <a:r>
                        <a:rPr lang="en-US" sz="800">
                          <a:effectLst/>
                        </a:rPr>
                        <a:t>current failed checks - previous failed checks</a:t>
                      </a:r>
                      <a:endParaRPr lang="en-US" sz="110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extLst>
                  <a:ext uri="{0D108BD9-81ED-4DB2-BD59-A6C34878D82A}">
                    <a16:rowId xmlns:a16="http://schemas.microsoft.com/office/drawing/2014/main" val="1484910816"/>
                  </a:ext>
                </a:extLst>
              </a:tr>
              <a:tr h="0">
                <a:tc>
                  <a:txBody>
                    <a:bodyPr/>
                    <a:lstStyle/>
                    <a:p>
                      <a:pPr marL="63500" marR="0">
                        <a:spcBef>
                          <a:spcPts val="0"/>
                        </a:spcBef>
                        <a:spcAft>
                          <a:spcPts val="0"/>
                        </a:spcAft>
                      </a:pPr>
                      <a:r>
                        <a:rPr lang="en-US" sz="800">
                          <a:effectLst/>
                        </a:rPr>
                        <a:t>Increase percent</a:t>
                      </a:r>
                      <a:endParaRPr lang="en-US" sz="110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tc>
                  <a:txBody>
                    <a:bodyPr/>
                    <a:lstStyle/>
                    <a:p>
                      <a:pPr marL="63500" marR="0">
                        <a:spcBef>
                          <a:spcPts val="0"/>
                        </a:spcBef>
                        <a:spcAft>
                          <a:spcPts val="0"/>
                        </a:spcAft>
                      </a:pPr>
                      <a:r>
                        <a:rPr lang="en-US" sz="800" dirty="0">
                          <a:effectLst/>
                        </a:rPr>
                        <a:t>previous failed checks / previous total checks - current failed checks / current total checks , display in percentage (*100)</a:t>
                      </a:r>
                      <a:endParaRPr lang="en-US" sz="1100" dirty="0">
                        <a:solidFill>
                          <a:schemeClr val="bg1">
                            <a:lumMod val="50000"/>
                          </a:schemeClr>
                        </a:solidFill>
                        <a:effectLst/>
                        <a:latin typeface="+mn-lt"/>
                        <a:ea typeface="Corbel" panose="020B0503020204020204" pitchFamily="34" charset="0"/>
                        <a:cs typeface="Corbel" panose="020B0503020204020204" pitchFamily="34" charset="0"/>
                      </a:endParaRPr>
                    </a:p>
                  </a:txBody>
                  <a:tcPr marL="38100" marR="38100" marT="28575" marB="28575" anchor="ctr"/>
                </a:tc>
                <a:extLst>
                  <a:ext uri="{0D108BD9-81ED-4DB2-BD59-A6C34878D82A}">
                    <a16:rowId xmlns:a16="http://schemas.microsoft.com/office/drawing/2014/main" val="806659530"/>
                  </a:ext>
                </a:extLst>
              </a:tr>
            </a:tbl>
          </a:graphicData>
        </a:graphic>
      </p:graphicFrame>
      <p:sp>
        <p:nvSpPr>
          <p:cNvPr id="7" name="Rectangle 1">
            <a:extLst>
              <a:ext uri="{FF2B5EF4-FFF2-40B4-BE49-F238E27FC236}">
                <a16:creationId xmlns:a16="http://schemas.microsoft.com/office/drawing/2014/main" id="{8F3BB1B7-DE45-4429-BAC1-6F46C4033956}"/>
              </a:ext>
            </a:extLst>
          </p:cNvPr>
          <p:cNvSpPr>
            <a:spLocks noChangeArrowheads="1"/>
          </p:cNvSpPr>
          <p:nvPr/>
        </p:nvSpPr>
        <p:spPr bwMode="auto">
          <a:xfrm>
            <a:off x="2222062" y="3024146"/>
            <a:ext cx="341408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lumMod val="50000"/>
                  </a:schemeClr>
                </a:solidFill>
                <a:effectLst/>
                <a:ea typeface="Corbel" panose="020B0503020204020204" pitchFamily="34" charset="0"/>
                <a:cs typeface="Corbel" panose="020B0503020204020204" pitchFamily="34" charset="0"/>
              </a:rPr>
              <a:t>The formula are taken from the ones from CED :</a:t>
            </a:r>
            <a:endParaRPr kumimoji="0" lang="en-US" altLang="en-US" sz="1800" b="0" i="0" u="none" strike="noStrike" cap="none" normalizeH="0" baseline="0" dirty="0">
              <a:ln>
                <a:noFill/>
              </a:ln>
              <a:solidFill>
                <a:schemeClr val="bg1">
                  <a:lumMod val="50000"/>
                </a:schemeClr>
              </a:solidFill>
              <a:effectLst/>
            </a:endParaRPr>
          </a:p>
        </p:txBody>
      </p:sp>
      <p:sp>
        <p:nvSpPr>
          <p:cNvPr id="17" name="TextBox 16">
            <a:extLst>
              <a:ext uri="{FF2B5EF4-FFF2-40B4-BE49-F238E27FC236}">
                <a16:creationId xmlns:a16="http://schemas.microsoft.com/office/drawing/2014/main" id="{CD45E1A3-A7FF-41F0-9C78-9DF5B676D750}"/>
              </a:ext>
            </a:extLst>
          </p:cNvPr>
          <p:cNvSpPr txBox="1"/>
          <p:nvPr/>
        </p:nvSpPr>
        <p:spPr>
          <a:xfrm>
            <a:off x="2853550" y="2789062"/>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8" name="TextBox 17">
            <a:extLst>
              <a:ext uri="{FF2B5EF4-FFF2-40B4-BE49-F238E27FC236}">
                <a16:creationId xmlns:a16="http://schemas.microsoft.com/office/drawing/2014/main" id="{58B15BB5-401C-45AF-921F-A095F9F50612}"/>
              </a:ext>
            </a:extLst>
          </p:cNvPr>
          <p:cNvSpPr txBox="1"/>
          <p:nvPr/>
        </p:nvSpPr>
        <p:spPr>
          <a:xfrm>
            <a:off x="2295953" y="2754942"/>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spTree>
    <p:extLst>
      <p:ext uri="{BB962C8B-B14F-4D97-AF65-F5344CB8AC3E}">
        <p14:creationId xmlns:p14="http://schemas.microsoft.com/office/powerpoint/2010/main" val="30228787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1955882" y="1109212"/>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rules with largest variation</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REMOVED_VIOLATIONS_LIST</a:t>
              </a:r>
              <a:endParaRPr lang="fr-FR" sz="11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923330"/>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marL="171450" indent="-171450">
                <a:buFont typeface="Arial" panose="020B0604020202020204" pitchFamily="34" charset="0"/>
                <a:buChar char="•"/>
              </a:pPr>
              <a:r>
                <a:rPr lang="en-US" sz="1100" b="1" i="0" dirty="0"/>
                <a:t>BCID</a:t>
              </a:r>
              <a:r>
                <a:rPr lang="en-US" sz="1100" i="0" dirty="0"/>
                <a:t> : name of the BCID to get the rule’s compounded weight and to filter results (60017 by default)</a:t>
              </a:r>
            </a:p>
            <a:p>
              <a:pPr marL="171450" indent="-171450">
                <a:buFont typeface="Arial" panose="020B0604020202020204" pitchFamily="34" charset="0"/>
                <a:buChar char="•"/>
              </a:pPr>
              <a:r>
                <a:rPr lang="en-US" sz="1100" b="1" i="0" dirty="0"/>
                <a:t>COUNT</a:t>
              </a:r>
              <a:r>
                <a:rPr lang="en-US" sz="1100" i="0" dirty="0"/>
                <a:t>: the number of lines to display, 50 by default (-1 for all removed violations)</a:t>
              </a:r>
            </a:p>
            <a:p>
              <a:pPr marL="171450" indent="-171450">
                <a:buFont typeface="Arial" panose="020B0604020202020204" pitchFamily="34" charset="0"/>
                <a:buChar char="•"/>
              </a:pPr>
              <a:r>
                <a:rPr lang="en-US" sz="1050" b="1" i="0" dirty="0"/>
                <a:t>CRITICITY</a:t>
              </a:r>
              <a:r>
                <a:rPr lang="en-US" sz="1050" i="0" dirty="0"/>
                <a:t>: c for only critical violations, </a:t>
              </a:r>
              <a:r>
                <a:rPr lang="en-US" sz="1050" i="0" dirty="0" err="1"/>
                <a:t>nc</a:t>
              </a:r>
              <a:r>
                <a:rPr lang="en-US" sz="1050" i="0" dirty="0"/>
                <a:t> for only non critical violations, all for all violations (all by default if not configured)</a:t>
              </a:r>
              <a:endParaRPr lang="en-US" sz="10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REMOVED_VIOLATIONS_LIST;BCID=60017,CRITICITY=all">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2028792163"/>
              </p:ext>
            </p:extLst>
          </p:nvPr>
        </p:nvGraphicFramePr>
        <p:xfrm>
          <a:off x="2222062" y="3360865"/>
          <a:ext cx="7677055" cy="1007506"/>
        </p:xfrm>
        <a:graphic>
          <a:graphicData uri="http://schemas.openxmlformats.org/drawingml/2006/table">
            <a:tbl>
              <a:tblPr firstRow="1" bandRow="1">
                <a:tableStyleId>{9DCAF9ED-07DC-4A11-8D7F-57B35C25682E}</a:tableStyleId>
              </a:tblPr>
              <a:tblGrid>
                <a:gridCol w="877664">
                  <a:extLst>
                    <a:ext uri="{9D8B030D-6E8A-4147-A177-3AD203B41FA5}">
                      <a16:colId xmlns:a16="http://schemas.microsoft.com/office/drawing/2014/main" val="20002"/>
                    </a:ext>
                  </a:extLst>
                </a:gridCol>
                <a:gridCol w="801134">
                  <a:extLst>
                    <a:ext uri="{9D8B030D-6E8A-4147-A177-3AD203B41FA5}">
                      <a16:colId xmlns:a16="http://schemas.microsoft.com/office/drawing/2014/main" val="3833603804"/>
                    </a:ext>
                  </a:extLst>
                </a:gridCol>
                <a:gridCol w="642178">
                  <a:extLst>
                    <a:ext uri="{9D8B030D-6E8A-4147-A177-3AD203B41FA5}">
                      <a16:colId xmlns:a16="http://schemas.microsoft.com/office/drawing/2014/main" val="2236367987"/>
                    </a:ext>
                  </a:extLst>
                </a:gridCol>
                <a:gridCol w="1977399">
                  <a:extLst>
                    <a:ext uri="{9D8B030D-6E8A-4147-A177-3AD203B41FA5}">
                      <a16:colId xmlns:a16="http://schemas.microsoft.com/office/drawing/2014/main" val="797192982"/>
                    </a:ext>
                  </a:extLst>
                </a:gridCol>
                <a:gridCol w="699402">
                  <a:extLst>
                    <a:ext uri="{9D8B030D-6E8A-4147-A177-3AD203B41FA5}">
                      <a16:colId xmlns:a16="http://schemas.microsoft.com/office/drawing/2014/main" val="727183646"/>
                    </a:ext>
                  </a:extLst>
                </a:gridCol>
                <a:gridCol w="1933849">
                  <a:extLst>
                    <a:ext uri="{9D8B030D-6E8A-4147-A177-3AD203B41FA5}">
                      <a16:colId xmlns:a16="http://schemas.microsoft.com/office/drawing/2014/main" val="2731799653"/>
                    </a:ext>
                  </a:extLst>
                </a:gridCol>
                <a:gridCol w="745429">
                  <a:extLst>
                    <a:ext uri="{9D8B030D-6E8A-4147-A177-3AD203B41FA5}">
                      <a16:colId xmlns:a16="http://schemas.microsoft.com/office/drawing/2014/main" val="20003"/>
                    </a:ext>
                  </a:extLst>
                </a:gridCol>
              </a:tblGrid>
              <a:tr h="226695">
                <a:tc>
                  <a:txBody>
                    <a:bodyPr/>
                    <a:lstStyle/>
                    <a:p>
                      <a:pPr marL="0" marR="91440" algn="ctr">
                        <a:lnSpc>
                          <a:spcPct val="115000"/>
                        </a:lnSpc>
                        <a:spcBef>
                          <a:spcPts val="0"/>
                        </a:spcBef>
                        <a:spcAft>
                          <a:spcPts val="0"/>
                        </a:spcAft>
                      </a:pPr>
                      <a:r>
                        <a:rPr lang="en-GB" sz="1000" dirty="0">
                          <a:effectLst/>
                          <a:latin typeface="Calibri" panose="020F0502020204030204" pitchFamily="34" charset="0"/>
                          <a:cs typeface="Calibri" panose="020F0502020204030204" pitchFamily="34" charset="0"/>
                        </a:rPr>
                        <a:t>Violation status</a:t>
                      </a:r>
                      <a:endParaRPr lang="en-US" sz="10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Exclusion status</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Action status</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Rule Name</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Weight</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Object Name</a:t>
                      </a:r>
                    </a:p>
                  </a:txBody>
                  <a:tcPr marL="68580" marR="68580" marT="0" marB="0"/>
                </a:tc>
                <a:tc>
                  <a:txBody>
                    <a:bodyPr/>
                    <a:lstStyle/>
                    <a:p>
                      <a:pPr marL="0" marR="91440" algn="l">
                        <a:lnSpc>
                          <a:spcPct val="115000"/>
                        </a:lnSpc>
                        <a:spcBef>
                          <a:spcPts val="0"/>
                        </a:spcBef>
                        <a:spcAft>
                          <a:spcPts val="0"/>
                        </a:spcAft>
                      </a:pPr>
                      <a:r>
                        <a:rPr lang="en-GB" sz="1000" dirty="0">
                          <a:effectLst/>
                          <a:latin typeface="Calibri" panose="020F0502020204030204" pitchFamily="34" charset="0"/>
                          <a:ea typeface="Calibri" panose="020F0502020204030204" pitchFamily="34" charset="0"/>
                          <a:cs typeface="Calibri" panose="020F0502020204030204" pitchFamily="34" charset="0"/>
                        </a:rPr>
                        <a:t>Object status</a:t>
                      </a:r>
                      <a:endParaRPr lang="en-US" sz="10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0"/>
                  </a:ext>
                </a:extLst>
              </a:tr>
              <a:tr h="203342">
                <a:tc>
                  <a:txBody>
                    <a:bodyPr/>
                    <a:lstStyle/>
                    <a:p>
                      <a:pPr marL="0" marR="91440" algn="l">
                        <a:lnSpc>
                          <a:spcPct val="115000"/>
                        </a:lnSpc>
                        <a:spcBef>
                          <a:spcPts val="0"/>
                        </a:spcBef>
                        <a:spcAft>
                          <a:spcPts val="0"/>
                        </a:spcAft>
                      </a:pPr>
                      <a:r>
                        <a:rPr lang="en-US" sz="900" dirty="0">
                          <a:effectLst/>
                          <a:latin typeface="Calibri" panose="020F0502020204030204" pitchFamily="34" charset="0"/>
                          <a:cs typeface="Calibri" panose="020F0502020204030204" pitchFamily="34" charset="0"/>
                        </a:rPr>
                        <a:t>Corrected</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added</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n/a</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Rule 1</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100</a:t>
                      </a:r>
                    </a:p>
                  </a:txBody>
                  <a:tcPr marL="68580" marR="68580" marT="0" marB="0"/>
                </a:tc>
                <a:tc>
                  <a:txBody>
                    <a:bodyPr/>
                    <a:lstStyle/>
                    <a:p>
                      <a:pPr marL="0" marR="91440" algn="l">
                        <a:lnSpc>
                          <a:spcPct val="115000"/>
                        </a:lnSpc>
                        <a:spcBef>
                          <a:spcPts val="0"/>
                        </a:spcBef>
                        <a:spcAft>
                          <a:spcPts val="0"/>
                        </a:spcAft>
                      </a:pPr>
                      <a:r>
                        <a:rPr lang="en-US" sz="900" dirty="0" err="1">
                          <a:effectLst/>
                          <a:latin typeface="Calibri" panose="020F0502020204030204" pitchFamily="34" charset="0"/>
                          <a:ea typeface="Calibri" panose="020F0502020204030204" pitchFamily="34" charset="0"/>
                          <a:cs typeface="Calibri" panose="020F0502020204030204" pitchFamily="34" charset="0"/>
                        </a:rPr>
                        <a:t>Com.demo.server</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GB" sz="900" dirty="0">
                          <a:effectLst/>
                          <a:latin typeface="Calibri" panose="020F0502020204030204" pitchFamily="34" charset="0"/>
                          <a:cs typeface="Calibri" panose="020F0502020204030204" pitchFamily="34" charset="0"/>
                        </a:rPr>
                        <a:t>Updated</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1"/>
                  </a:ext>
                </a:extLst>
              </a:tr>
              <a:tr h="192691">
                <a:tc>
                  <a:txBody>
                    <a:bodyPr/>
                    <a:lstStyle/>
                    <a:p>
                      <a:pPr marL="0" marR="91440" algn="l">
                        <a:lnSpc>
                          <a:spcPct val="115000"/>
                        </a:lnSpc>
                        <a:spcBef>
                          <a:spcPts val="0"/>
                        </a:spcBef>
                        <a:spcAft>
                          <a:spcPts val="0"/>
                        </a:spcAft>
                      </a:pPr>
                      <a:r>
                        <a:rPr lang="en-GB" sz="900" dirty="0">
                          <a:effectLst/>
                          <a:latin typeface="Calibri" panose="020F0502020204030204" pitchFamily="34" charset="0"/>
                          <a:ea typeface="Calibri" panose="020F0502020204030204" pitchFamily="34" charset="0"/>
                          <a:cs typeface="Calibri" panose="020F0502020204030204" pitchFamily="34" charset="0"/>
                        </a:rPr>
                        <a:t>Disappeared</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n/a</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added</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Rule 2</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72</a:t>
                      </a:r>
                    </a:p>
                  </a:txBody>
                  <a:tcPr marL="68580" marR="68580" marT="0" marB="0"/>
                </a:tc>
                <a:tc>
                  <a:txBody>
                    <a:bodyPr/>
                    <a:lstStyle/>
                    <a:p>
                      <a:pPr marL="0" marR="91440" algn="l">
                        <a:lnSpc>
                          <a:spcPct val="115000"/>
                        </a:lnSpc>
                        <a:spcBef>
                          <a:spcPts val="0"/>
                        </a:spcBef>
                        <a:spcAft>
                          <a:spcPts val="0"/>
                        </a:spcAft>
                      </a:pPr>
                      <a:r>
                        <a:rPr lang="en-US" sz="900" kern="1200" dirty="0">
                          <a:solidFill>
                            <a:schemeClr val="dk1"/>
                          </a:solidFill>
                          <a:latin typeface="Calibri" panose="020F0502020204030204" pitchFamily="34" charset="0"/>
                          <a:ea typeface="+mn-ea"/>
                          <a:cs typeface="Calibri" panose="020F0502020204030204" pitchFamily="34" charset="0"/>
                        </a:rPr>
                        <a:t>&lt;Default Package&gt;.</a:t>
                      </a:r>
                      <a:r>
                        <a:rPr lang="en-US" sz="900" kern="1200" dirty="0" err="1">
                          <a:solidFill>
                            <a:schemeClr val="dk1"/>
                          </a:solidFill>
                          <a:latin typeface="Calibri" panose="020F0502020204030204" pitchFamily="34" charset="0"/>
                          <a:ea typeface="+mn-ea"/>
                          <a:cs typeface="Calibri" panose="020F0502020204030204" pitchFamily="34" charset="0"/>
                        </a:rPr>
                        <a:t>ConfigOptions.ConfigOptions</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Deleted</a:t>
                      </a:r>
                    </a:p>
                  </a:txBody>
                  <a:tcPr marL="68580" marR="68580" marT="0" marB="0"/>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A6C1AD1A-85E0-4B19-9E6C-56E0BA22135A}"/>
              </a:ext>
            </a:extLst>
          </p:cNvPr>
          <p:cNvSpPr txBox="1"/>
          <p:nvPr/>
        </p:nvSpPr>
        <p:spPr>
          <a:xfrm>
            <a:off x="2853550" y="2990398"/>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7" name="TextBox 16">
            <a:extLst>
              <a:ext uri="{FF2B5EF4-FFF2-40B4-BE49-F238E27FC236}">
                <a16:creationId xmlns:a16="http://schemas.microsoft.com/office/drawing/2014/main" id="{83A2BC3D-4A52-489F-A8E9-0F0C090EB7F8}"/>
              </a:ext>
            </a:extLst>
          </p:cNvPr>
          <p:cNvSpPr txBox="1"/>
          <p:nvPr/>
        </p:nvSpPr>
        <p:spPr>
          <a:xfrm>
            <a:off x="2295953" y="2956278"/>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spTree>
    <p:extLst>
      <p:ext uri="{BB962C8B-B14F-4D97-AF65-F5344CB8AC3E}">
        <p14:creationId xmlns:p14="http://schemas.microsoft.com/office/powerpoint/2010/main" val="32034625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721453" y="1109212"/>
            <a:ext cx="10687575"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added, deleted or updated components in application, module or technology</a:t>
              </a:r>
              <a:endParaRPr lang="fr-FR" sz="1600" dirty="0"/>
            </a:p>
          </p:txBody>
        </p:sp>
        <p:sp>
          <p:nvSpPr>
            <p:cNvPr id="14" name="TextBox 13"/>
            <p:cNvSpPr txBox="1"/>
            <p:nvPr/>
          </p:nvSpPr>
          <p:spPr>
            <a:xfrm>
              <a:off x="3669226" y="1471510"/>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en-US" sz="1400" dirty="0"/>
                <a:t>DELTA_COMPONENTS_LIST_BY_STATUS</a:t>
              </a:r>
              <a:endParaRPr lang="fr-FR" sz="9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1615827"/>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marL="171450" indent="-171450">
                <a:buFont typeface="Arial" panose="020B0604020202020204" pitchFamily="34" charset="0"/>
                <a:buChar char="•"/>
              </a:pPr>
              <a:r>
                <a:rPr lang="en-US" sz="1100" b="1" i="0" dirty="0"/>
                <a:t>STATUS</a:t>
              </a:r>
              <a:r>
                <a:rPr lang="en-US" sz="1100" i="0" dirty="0"/>
                <a:t> : status of the components to display, between “added”, “deleted” or “updated”, “added” by default</a:t>
              </a:r>
            </a:p>
            <a:p>
              <a:pPr marL="171450" indent="-171450">
                <a:buFont typeface="Arial" panose="020B0604020202020204" pitchFamily="34" charset="0"/>
                <a:buChar char="•"/>
              </a:pPr>
              <a:r>
                <a:rPr lang="en-US" sz="1100" b="1" i="0" dirty="0"/>
                <a:t>COUNT</a:t>
              </a:r>
              <a:r>
                <a:rPr lang="en-US" sz="1100" i="0" dirty="0"/>
                <a:t>: the number of lines to display, 10 by default (-1 to list all components)</a:t>
              </a:r>
            </a:p>
            <a:p>
              <a:pPr marL="171450" indent="-171450">
                <a:buFont typeface="Arial" panose="020B0604020202020204" pitchFamily="34" charset="0"/>
                <a:buChar char="•"/>
              </a:pPr>
              <a:r>
                <a:rPr lang="en-US" sz="1100" b="1" i="0" dirty="0"/>
                <a:t>MODULE</a:t>
              </a:r>
              <a:r>
                <a:rPr lang="en-US" sz="1100" i="0" dirty="0"/>
                <a:t> : &lt;</a:t>
              </a:r>
              <a:r>
                <a:rPr lang="en-US" sz="1100" i="0" dirty="0" err="1"/>
                <a:t>module_name</a:t>
              </a:r>
              <a:r>
                <a:rPr lang="en-US" sz="1100" i="0" dirty="0"/>
                <a:t>&gt; if you want to filter components by module</a:t>
              </a:r>
            </a:p>
            <a:p>
              <a:pPr marL="171450" indent="-171450">
                <a:buFont typeface="Arial" panose="020B0604020202020204" pitchFamily="34" charset="0"/>
                <a:buChar char="•"/>
              </a:pPr>
              <a:r>
                <a:rPr lang="en-US" sz="1100" b="1" i="0" dirty="0"/>
                <a:t>TECHNOLOGY</a:t>
              </a:r>
              <a:r>
                <a:rPr lang="en-US" sz="1100" i="0" dirty="0"/>
                <a:t> : &lt;</a:t>
              </a:r>
              <a:r>
                <a:rPr lang="en-US" sz="1100" i="0" dirty="0" err="1"/>
                <a:t>technology_name</a:t>
              </a:r>
              <a:r>
                <a:rPr lang="en-US" sz="1100" i="0" dirty="0"/>
                <a:t>&gt; if you want to filter components by technology</a:t>
              </a:r>
            </a:p>
            <a:p>
              <a:pPr marL="171450" indent="-171450">
                <a:buFont typeface="Arial" panose="020B0604020202020204" pitchFamily="34" charset="0"/>
                <a:buChar char="•"/>
              </a:pPr>
              <a:r>
                <a:rPr lang="en-US" sz="1100" b="1" i="0" dirty="0"/>
                <a:t>COMPLEXITY</a:t>
              </a:r>
              <a:r>
                <a:rPr lang="en-US" sz="1100" i="0" dirty="0"/>
                <a:t> : to choose between “low”, “moderate”, “high” and “very high” if you want to filter by component complexity (all by default)</a:t>
              </a:r>
            </a:p>
            <a:p>
              <a:pPr marL="171450" indent="-171450">
                <a:buFont typeface="Arial" panose="020B0604020202020204" pitchFamily="34" charset="0"/>
                <a:buChar char="•"/>
              </a:pPr>
              <a:r>
                <a:rPr lang="en-US" sz="1100" i="0" dirty="0"/>
                <a:t>CURRENT : first snapshot name for the comparison if different from the current selected snapshot</a:t>
              </a:r>
            </a:p>
            <a:p>
              <a:pPr marL="171450" indent="-171450">
                <a:buFont typeface="Arial" panose="020B0604020202020204" pitchFamily="34" charset="0"/>
                <a:buChar char="•"/>
              </a:pPr>
              <a:r>
                <a:rPr lang="en-US" sz="1100" i="0" dirty="0"/>
                <a:t>PREVIOUS : second snapshot name for the comparison if different from the previous selected snapshot</a:t>
              </a:r>
            </a:p>
            <a:p>
              <a:pPr marL="171450" indent="-171450">
                <a:buFont typeface="Arial" panose="020B0604020202020204" pitchFamily="34" charset="0"/>
                <a:buChar char="•"/>
              </a:pPr>
              <a:endParaRPr lang="en-US" sz="11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DELTA_COMPONENTS_LIST_BY_STATUS;STATUS=deleted">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3950757884"/>
              </p:ext>
            </p:extLst>
          </p:nvPr>
        </p:nvGraphicFramePr>
        <p:xfrm>
          <a:off x="879006" y="4618314"/>
          <a:ext cx="10122081" cy="840722"/>
        </p:xfrm>
        <a:graphic>
          <a:graphicData uri="http://schemas.openxmlformats.org/drawingml/2006/table">
            <a:tbl>
              <a:tblPr firstRow="1" bandRow="1">
                <a:tableStyleId>{9DCAF9ED-07DC-4A11-8D7F-57B35C25682E}</a:tableStyleId>
              </a:tblPr>
              <a:tblGrid>
                <a:gridCol w="928687">
                  <a:extLst>
                    <a:ext uri="{9D8B030D-6E8A-4147-A177-3AD203B41FA5}">
                      <a16:colId xmlns:a16="http://schemas.microsoft.com/office/drawing/2014/main" val="20002"/>
                    </a:ext>
                  </a:extLst>
                </a:gridCol>
                <a:gridCol w="1055984">
                  <a:extLst>
                    <a:ext uri="{9D8B030D-6E8A-4147-A177-3AD203B41FA5}">
                      <a16:colId xmlns:a16="http://schemas.microsoft.com/office/drawing/2014/main" val="3833603804"/>
                    </a:ext>
                  </a:extLst>
                </a:gridCol>
                <a:gridCol w="1209368">
                  <a:extLst>
                    <a:ext uri="{9D8B030D-6E8A-4147-A177-3AD203B41FA5}">
                      <a16:colId xmlns:a16="http://schemas.microsoft.com/office/drawing/2014/main" val="2236367987"/>
                    </a:ext>
                  </a:extLst>
                </a:gridCol>
                <a:gridCol w="884903">
                  <a:extLst>
                    <a:ext uri="{9D8B030D-6E8A-4147-A177-3AD203B41FA5}">
                      <a16:colId xmlns:a16="http://schemas.microsoft.com/office/drawing/2014/main" val="797192982"/>
                    </a:ext>
                  </a:extLst>
                </a:gridCol>
                <a:gridCol w="914400">
                  <a:extLst>
                    <a:ext uri="{9D8B030D-6E8A-4147-A177-3AD203B41FA5}">
                      <a16:colId xmlns:a16="http://schemas.microsoft.com/office/drawing/2014/main" val="1749928563"/>
                    </a:ext>
                  </a:extLst>
                </a:gridCol>
                <a:gridCol w="943897">
                  <a:extLst>
                    <a:ext uri="{9D8B030D-6E8A-4147-A177-3AD203B41FA5}">
                      <a16:colId xmlns:a16="http://schemas.microsoft.com/office/drawing/2014/main" val="1772272350"/>
                    </a:ext>
                  </a:extLst>
                </a:gridCol>
                <a:gridCol w="1020588">
                  <a:extLst>
                    <a:ext uri="{9D8B030D-6E8A-4147-A177-3AD203B41FA5}">
                      <a16:colId xmlns:a16="http://schemas.microsoft.com/office/drawing/2014/main" val="727183646"/>
                    </a:ext>
                  </a:extLst>
                </a:gridCol>
                <a:gridCol w="3164254">
                  <a:extLst>
                    <a:ext uri="{9D8B030D-6E8A-4147-A177-3AD203B41FA5}">
                      <a16:colId xmlns:a16="http://schemas.microsoft.com/office/drawing/2014/main" val="2731799653"/>
                    </a:ext>
                  </a:extLst>
                </a:gridCol>
              </a:tblGrid>
              <a:tr h="442596">
                <a:tc>
                  <a:txBody>
                    <a:bodyPr/>
                    <a:lstStyle/>
                    <a:p>
                      <a:pPr marL="0" marR="91440" algn="ctr">
                        <a:lnSpc>
                          <a:spcPct val="115000"/>
                        </a:lnSpc>
                        <a:spcBef>
                          <a:spcPts val="0"/>
                        </a:spcBef>
                        <a:spcAft>
                          <a:spcPts val="0"/>
                        </a:spcAft>
                      </a:pPr>
                      <a:r>
                        <a:rPr lang="en-GB" sz="1000" dirty="0">
                          <a:effectLst/>
                          <a:latin typeface="Calibri" panose="020F0502020204030204" pitchFamily="34" charset="0"/>
                          <a:cs typeface="Calibri" panose="020F0502020204030204" pitchFamily="34" charset="0"/>
                        </a:rPr>
                        <a:t>Object name</a:t>
                      </a:r>
                      <a:endParaRPr lang="en-US" sz="10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ctr">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Complexity</a:t>
                      </a:r>
                    </a:p>
                  </a:txBody>
                  <a:tcPr marL="68580" marR="68580" marT="0" marB="0"/>
                </a:tc>
                <a:tc>
                  <a:txBody>
                    <a:bodyPr/>
                    <a:lstStyle/>
                    <a:p>
                      <a:pPr marL="0" marR="91440" algn="ctr">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SQL Complexity</a:t>
                      </a:r>
                    </a:p>
                  </a:txBody>
                  <a:tcPr marL="68580" marR="68580" marT="0" marB="0"/>
                </a:tc>
                <a:tc>
                  <a:txBody>
                    <a:bodyPr/>
                    <a:lstStyle/>
                    <a:p>
                      <a:pPr marL="0" marR="91440" algn="ctr">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Granularity</a:t>
                      </a:r>
                    </a:p>
                  </a:txBody>
                  <a:tcPr marL="68580" marR="68580" marT="0" marB="0"/>
                </a:tc>
                <a:tc>
                  <a:txBody>
                    <a:bodyPr/>
                    <a:lstStyle/>
                    <a:p>
                      <a:pPr marL="0" marR="91440" algn="ctr">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Lack of comments</a:t>
                      </a:r>
                    </a:p>
                  </a:txBody>
                  <a:tcPr marL="68580" marR="68580" marT="0" marB="0"/>
                </a:tc>
                <a:tc>
                  <a:txBody>
                    <a:bodyPr/>
                    <a:lstStyle/>
                    <a:p>
                      <a:pPr marL="0" marR="91440" algn="ctr">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Coupling</a:t>
                      </a:r>
                    </a:p>
                  </a:txBody>
                  <a:tcPr marL="68580" marR="68580" marT="0" marB="0"/>
                </a:tc>
                <a:tc>
                  <a:txBody>
                    <a:bodyPr/>
                    <a:lstStyle/>
                    <a:p>
                      <a:pPr marL="0" marR="91440" algn="ctr">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Number of object updates</a:t>
                      </a:r>
                    </a:p>
                  </a:txBody>
                  <a:tcPr marL="68580" marR="68580" marT="0" marB="0"/>
                </a:tc>
                <a:tc>
                  <a:txBody>
                    <a:bodyPr/>
                    <a:lstStyle/>
                    <a:p>
                      <a:pPr marL="0" marR="91440" algn="ctr">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Object full name</a:t>
                      </a:r>
                    </a:p>
                  </a:txBody>
                  <a:tcPr marL="68580" marR="68580" marT="0" marB="0"/>
                </a:tc>
                <a:extLst>
                  <a:ext uri="{0D108BD9-81ED-4DB2-BD59-A6C34878D82A}">
                    <a16:rowId xmlns:a16="http://schemas.microsoft.com/office/drawing/2014/main" val="10000"/>
                  </a:ext>
                </a:extLst>
              </a:tr>
              <a:tr h="204996">
                <a:tc>
                  <a:txBody>
                    <a:bodyPr/>
                    <a:lstStyle/>
                    <a:p>
                      <a:pPr marL="0" marR="91440" algn="ctr">
                        <a:lnSpc>
                          <a:spcPct val="115000"/>
                        </a:lnSpc>
                        <a:spcBef>
                          <a:spcPts val="0"/>
                        </a:spcBef>
                        <a:spcAft>
                          <a:spcPts val="0"/>
                        </a:spcAft>
                      </a:pPr>
                      <a:r>
                        <a:rPr lang="en-US" sz="900" dirty="0">
                          <a:effectLst/>
                          <a:latin typeface="Calibri" panose="020F0502020204030204" pitchFamily="34" charset="0"/>
                          <a:cs typeface="Calibri" panose="020F0502020204030204" pitchFamily="34" charset="0"/>
                        </a:rPr>
                        <a:t>Object 1</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Low risk</a:t>
                      </a: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Low risk</a:t>
                      </a: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High risk</a:t>
                      </a: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Moderate risk</a:t>
                      </a: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Low risk</a:t>
                      </a: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0</a:t>
                      </a:r>
                    </a:p>
                  </a:txBody>
                  <a:tcPr marL="68580" marR="68580" marT="0" marB="0"/>
                </a:tc>
                <a:tc>
                  <a:txBody>
                    <a:bodyPr/>
                    <a:lstStyle/>
                    <a:p>
                      <a:pPr marL="0" marR="91440" algn="ct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Object 1 full name</a:t>
                      </a:r>
                    </a:p>
                  </a:txBody>
                  <a:tcPr marL="68580" marR="68580" marT="0" marB="0"/>
                </a:tc>
                <a:extLst>
                  <a:ext uri="{0D108BD9-81ED-4DB2-BD59-A6C34878D82A}">
                    <a16:rowId xmlns:a16="http://schemas.microsoft.com/office/drawing/2014/main" val="10001"/>
                  </a:ext>
                </a:extLst>
              </a:tr>
              <a:tr h="193130">
                <a:tc>
                  <a:txBody>
                    <a:bodyPr/>
                    <a:lstStyle/>
                    <a:p>
                      <a:pPr marL="0" marR="91440" algn="ctr" defTabSz="914400" rtl="0" eaLnBrk="1" latinLnBrk="0" hangingPunct="1">
                        <a:lnSpc>
                          <a:spcPct val="115000"/>
                        </a:lnSpc>
                        <a:spcBef>
                          <a:spcPts val="0"/>
                        </a:spcBef>
                        <a:spcAft>
                          <a:spcPts val="0"/>
                        </a:spcAft>
                      </a:pPr>
                      <a:r>
                        <a:rPr lang="en-US" sz="900" kern="1200" dirty="0">
                          <a:solidFill>
                            <a:schemeClr val="dk1"/>
                          </a:solidFill>
                          <a:effectLst/>
                          <a:latin typeface="Calibri" panose="020F0502020204030204" pitchFamily="34" charset="0"/>
                          <a:ea typeface="+mn-ea"/>
                          <a:cs typeface="Calibri" panose="020F0502020204030204" pitchFamily="34" charset="0"/>
                        </a:rPr>
                        <a:t>Object 2</a:t>
                      </a:r>
                    </a:p>
                  </a:txBody>
                  <a:tcPr marL="68580" marR="68580" marT="0" marB="0"/>
                </a:tc>
                <a:tc>
                  <a:txBody>
                    <a:bodyPr/>
                    <a:lstStyle/>
                    <a:p>
                      <a:pPr marL="0" marR="91440" algn="ctr" defTabSz="914400" rtl="0" eaLnBrk="1" latinLnBrk="0" hangingPunct="1">
                        <a:lnSpc>
                          <a:spcPct val="115000"/>
                        </a:lnSpc>
                        <a:spcBef>
                          <a:spcPts val="0"/>
                        </a:spcBef>
                        <a:spcAft>
                          <a:spcPts val="0"/>
                        </a:spcAft>
                      </a:pPr>
                      <a:r>
                        <a:rPr lang="en-US" sz="900" kern="1200" dirty="0">
                          <a:solidFill>
                            <a:schemeClr val="dk1"/>
                          </a:solidFill>
                          <a:effectLst/>
                          <a:latin typeface="Calibri" panose="020F0502020204030204" pitchFamily="34" charset="0"/>
                          <a:ea typeface="+mn-ea"/>
                          <a:cs typeface="Calibri" panose="020F0502020204030204" pitchFamily="34" charset="0"/>
                        </a:rPr>
                        <a:t>Very high risk</a:t>
                      </a:r>
                    </a:p>
                  </a:txBody>
                  <a:tcPr marL="68580" marR="68580" marT="0" marB="0"/>
                </a:tc>
                <a:tc>
                  <a:txBody>
                    <a:bodyPr/>
                    <a:lstStyle/>
                    <a:p>
                      <a:pPr marL="0" marR="91440" algn="ctr" defTabSz="914400" rtl="0" eaLnBrk="1" latinLnBrk="0" hangingPunct="1">
                        <a:lnSpc>
                          <a:spcPct val="115000"/>
                        </a:lnSpc>
                        <a:spcBef>
                          <a:spcPts val="0"/>
                        </a:spcBef>
                        <a:spcAft>
                          <a:spcPts val="0"/>
                        </a:spcAft>
                      </a:pPr>
                      <a:r>
                        <a:rPr lang="en-US" sz="900" kern="1200" dirty="0">
                          <a:solidFill>
                            <a:schemeClr val="dk1"/>
                          </a:solidFill>
                          <a:effectLst/>
                          <a:latin typeface="Calibri" panose="020F0502020204030204" pitchFamily="34" charset="0"/>
                          <a:ea typeface="+mn-ea"/>
                          <a:cs typeface="Calibri" panose="020F0502020204030204" pitchFamily="34" charset="0"/>
                        </a:rPr>
                        <a:t>Very high risk</a:t>
                      </a:r>
                    </a:p>
                  </a:txBody>
                  <a:tcPr marL="68580" marR="68580" marT="0" marB="0"/>
                </a:tc>
                <a:tc>
                  <a:txBody>
                    <a:bodyPr/>
                    <a:lstStyle/>
                    <a:p>
                      <a:pPr marL="0" marR="91440" algn="ctr" defTabSz="914400" rtl="0" eaLnBrk="1" latinLnBrk="0" hangingPunct="1">
                        <a:lnSpc>
                          <a:spcPct val="115000"/>
                        </a:lnSpc>
                        <a:spcBef>
                          <a:spcPts val="0"/>
                        </a:spcBef>
                        <a:spcAft>
                          <a:spcPts val="0"/>
                        </a:spcAft>
                      </a:pPr>
                      <a:r>
                        <a:rPr lang="en-US" sz="900" kern="1200" dirty="0">
                          <a:solidFill>
                            <a:schemeClr val="dk1"/>
                          </a:solidFill>
                          <a:effectLst/>
                          <a:latin typeface="Calibri" panose="020F0502020204030204" pitchFamily="34" charset="0"/>
                          <a:ea typeface="+mn-ea"/>
                          <a:cs typeface="Calibri" panose="020F0502020204030204" pitchFamily="34" charset="0"/>
                        </a:rPr>
                        <a:t>Low risk</a:t>
                      </a:r>
                    </a:p>
                  </a:txBody>
                  <a:tcPr marL="68580" marR="68580" marT="0" marB="0"/>
                </a:tc>
                <a:tc>
                  <a:txBody>
                    <a:bodyPr/>
                    <a:lstStyle/>
                    <a:p>
                      <a:pPr marL="0" marR="91440" algn="ctr" defTabSz="914400" rtl="0" eaLnBrk="1" latinLnBrk="0" hangingPunct="1">
                        <a:lnSpc>
                          <a:spcPct val="115000"/>
                        </a:lnSpc>
                        <a:spcBef>
                          <a:spcPts val="0"/>
                        </a:spcBef>
                        <a:spcAft>
                          <a:spcPts val="0"/>
                        </a:spcAft>
                      </a:pPr>
                      <a:r>
                        <a:rPr lang="en-US" sz="900" kern="1200" dirty="0">
                          <a:solidFill>
                            <a:schemeClr val="dk1"/>
                          </a:solidFill>
                          <a:effectLst/>
                          <a:latin typeface="Calibri" panose="020F0502020204030204" pitchFamily="34" charset="0"/>
                          <a:ea typeface="+mn-ea"/>
                          <a:cs typeface="Calibri" panose="020F0502020204030204" pitchFamily="34" charset="0"/>
                        </a:rPr>
                        <a:t>Low risk</a:t>
                      </a:r>
                    </a:p>
                  </a:txBody>
                  <a:tcPr marL="68580" marR="68580" marT="0" marB="0"/>
                </a:tc>
                <a:tc>
                  <a:txBody>
                    <a:bodyPr/>
                    <a:lstStyle/>
                    <a:p>
                      <a:pPr marL="0" marR="91440" algn="ctr" defTabSz="914400" rtl="0" eaLnBrk="1" latinLnBrk="0" hangingPunct="1">
                        <a:lnSpc>
                          <a:spcPct val="115000"/>
                        </a:lnSpc>
                        <a:spcBef>
                          <a:spcPts val="0"/>
                        </a:spcBef>
                        <a:spcAft>
                          <a:spcPts val="0"/>
                        </a:spcAft>
                      </a:pPr>
                      <a:r>
                        <a:rPr lang="en-US" sz="900" kern="1200" dirty="0">
                          <a:solidFill>
                            <a:schemeClr val="dk1"/>
                          </a:solidFill>
                          <a:effectLst/>
                          <a:latin typeface="Calibri" panose="020F0502020204030204" pitchFamily="34" charset="0"/>
                          <a:ea typeface="+mn-ea"/>
                          <a:cs typeface="Calibri" panose="020F0502020204030204" pitchFamily="34" charset="0"/>
                        </a:rPr>
                        <a:t>Low risk</a:t>
                      </a:r>
                    </a:p>
                  </a:txBody>
                  <a:tcPr marL="68580" marR="68580" marT="0" marB="0"/>
                </a:tc>
                <a:tc>
                  <a:txBody>
                    <a:bodyPr/>
                    <a:lstStyle/>
                    <a:p>
                      <a:pPr marL="0" marR="91440" algn="ctr" defTabSz="914400" rtl="0" eaLnBrk="1" latinLnBrk="0" hangingPunct="1">
                        <a:lnSpc>
                          <a:spcPct val="115000"/>
                        </a:lnSpc>
                        <a:spcBef>
                          <a:spcPts val="0"/>
                        </a:spcBef>
                        <a:spcAft>
                          <a:spcPts val="0"/>
                        </a:spcAft>
                      </a:pPr>
                      <a:r>
                        <a:rPr lang="en-US" sz="900" kern="1200" dirty="0">
                          <a:solidFill>
                            <a:schemeClr val="dk1"/>
                          </a:solidFill>
                          <a:effectLst/>
                          <a:latin typeface="Calibri" panose="020F0502020204030204" pitchFamily="34" charset="0"/>
                          <a:ea typeface="+mn-ea"/>
                          <a:cs typeface="Calibri" panose="020F0502020204030204" pitchFamily="34" charset="0"/>
                        </a:rPr>
                        <a:t>0</a:t>
                      </a:r>
                    </a:p>
                  </a:txBody>
                  <a:tcPr marL="68580" marR="68580" marT="0" marB="0"/>
                </a:tc>
                <a:tc>
                  <a:txBody>
                    <a:bodyPr/>
                    <a:lstStyle/>
                    <a:p>
                      <a:pPr marL="0" marR="91440" algn="ctr" defTabSz="914400" rtl="0" eaLnBrk="1" latinLnBrk="0" hangingPunct="1">
                        <a:lnSpc>
                          <a:spcPct val="115000"/>
                        </a:lnSpc>
                        <a:spcBef>
                          <a:spcPts val="0"/>
                        </a:spcBef>
                        <a:spcAft>
                          <a:spcPts val="0"/>
                        </a:spcAft>
                      </a:pPr>
                      <a:r>
                        <a:rPr lang="en-US" sz="900" kern="1200" dirty="0">
                          <a:solidFill>
                            <a:schemeClr val="dk1"/>
                          </a:solidFill>
                          <a:effectLst/>
                          <a:latin typeface="Calibri" panose="020F0502020204030204" pitchFamily="34" charset="0"/>
                          <a:ea typeface="+mn-ea"/>
                          <a:cs typeface="Calibri" panose="020F0502020204030204" pitchFamily="34" charset="0"/>
                        </a:rPr>
                        <a:t>Object 2 full name</a:t>
                      </a:r>
                    </a:p>
                  </a:txBody>
                  <a:tcPr marL="68580" marR="68580" marT="0" marB="0"/>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132118A7-1B70-404A-87CB-3950CC2A940B}"/>
              </a:ext>
            </a:extLst>
          </p:cNvPr>
          <p:cNvSpPr txBox="1"/>
          <p:nvPr/>
        </p:nvSpPr>
        <p:spPr>
          <a:xfrm>
            <a:off x="2517851" y="3548052"/>
            <a:ext cx="6991830" cy="900246"/>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br>
              <a:rPr lang="en-US" sz="1050" i="0" dirty="0"/>
            </a:br>
            <a:r>
              <a:rPr lang="en-US" sz="1050" i="0" dirty="0"/>
              <a:t>By default (without options), the list displayed the top ten added components for the application, between current and previous snapshots.</a:t>
            </a:r>
          </a:p>
          <a:p>
            <a:r>
              <a:rPr lang="en-US" sz="1050" i="0" dirty="0"/>
              <a:t>If module and technology are set in the same time, they will not be taken into account and list will be displayed for entire application</a:t>
            </a:r>
          </a:p>
        </p:txBody>
      </p:sp>
      <p:sp>
        <p:nvSpPr>
          <p:cNvPr id="17" name="TextBox 16">
            <a:extLst>
              <a:ext uri="{FF2B5EF4-FFF2-40B4-BE49-F238E27FC236}">
                <a16:creationId xmlns:a16="http://schemas.microsoft.com/office/drawing/2014/main" id="{B64A8D30-1E85-451E-AF12-D0C1B9E24332}"/>
              </a:ext>
            </a:extLst>
          </p:cNvPr>
          <p:cNvSpPr txBox="1"/>
          <p:nvPr/>
        </p:nvSpPr>
        <p:spPr>
          <a:xfrm>
            <a:off x="1839632" y="3548052"/>
            <a:ext cx="719364"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Notes :</a:t>
            </a:r>
          </a:p>
        </p:txBody>
      </p:sp>
    </p:spTree>
    <p:extLst>
      <p:ext uri="{BB962C8B-B14F-4D97-AF65-F5344CB8AC3E}">
        <p14:creationId xmlns:p14="http://schemas.microsoft.com/office/powerpoint/2010/main" val="22676401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721453" y="1109212"/>
            <a:ext cx="10687575"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AEFP</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AEFP_LIST</a:t>
              </a:r>
              <a:endParaRPr lang="fr-FR" sz="11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1246495"/>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marL="171450" indent="-171450">
                <a:buFont typeface="Arial" panose="020B0604020202020204" pitchFamily="34" charset="0"/>
                <a:buChar char="•"/>
              </a:pPr>
              <a:r>
                <a:rPr lang="en-US" sz="1100" b="1" i="0" dirty="0"/>
                <a:t>TYPE</a:t>
              </a:r>
              <a:r>
                <a:rPr lang="en-US" sz="1100" i="0" dirty="0"/>
                <a:t> : type of the function to display, DF for data function, TF for transactions, by default both are listed</a:t>
              </a:r>
            </a:p>
            <a:p>
              <a:pPr marL="171450" indent="-171450">
                <a:buFont typeface="Arial" panose="020B0604020202020204" pitchFamily="34" charset="0"/>
                <a:buChar char="•"/>
              </a:pPr>
              <a:r>
                <a:rPr lang="en-US" sz="1100" i="0" dirty="0"/>
                <a:t>STATUS : status of the function to display, ADDED, MODIFIED or DELETED, all statuses by default</a:t>
              </a:r>
            </a:p>
            <a:p>
              <a:pPr marL="171450" indent="-171450">
                <a:buFont typeface="Arial" panose="020B0604020202020204" pitchFamily="34" charset="0"/>
                <a:buChar char="•"/>
              </a:pPr>
              <a:r>
                <a:rPr lang="en-US" sz="1100" b="1" i="0" dirty="0"/>
                <a:t>COUNT</a:t>
              </a:r>
              <a:r>
                <a:rPr lang="en-US" sz="1100" i="0" dirty="0"/>
                <a:t>: the number of lines to display, 10 by default (-1 for all functions)</a:t>
              </a:r>
            </a:p>
            <a:p>
              <a:pPr marL="171450" indent="-171450">
                <a:buFont typeface="Arial" panose="020B0604020202020204" pitchFamily="34" charset="0"/>
                <a:buChar char="•"/>
              </a:pPr>
              <a:r>
                <a:rPr lang="fr-FR" sz="1100" b="1" i="0" dirty="0"/>
                <a:t>PREVIOUS=YES|NO </a:t>
              </a:r>
              <a:r>
                <a:rPr lang="fr-FR" sz="1100" i="0" dirty="0"/>
                <a:t>to display the AEP value for </a:t>
              </a:r>
              <a:r>
                <a:rPr lang="fr-FR" sz="1100" i="0" dirty="0" err="1"/>
                <a:t>previous</a:t>
              </a:r>
              <a:r>
                <a:rPr lang="fr-FR" sz="1100" i="0" dirty="0"/>
                <a:t> snapshot (no by default)</a:t>
              </a:r>
            </a:p>
            <a:p>
              <a:pPr marL="171450" indent="-171450">
                <a:buFont typeface="Arial" panose="020B0604020202020204" pitchFamily="34" charset="0"/>
                <a:buChar char="•"/>
              </a:pPr>
              <a:r>
                <a:rPr lang="fr-FR" sz="1100" i="0" dirty="0"/>
                <a:t>ZERO=YES|NO to display the </a:t>
              </a:r>
              <a:r>
                <a:rPr lang="fr-FR" sz="1100" i="0" dirty="0" err="1"/>
                <a:t>function</a:t>
              </a:r>
              <a:r>
                <a:rPr lang="fr-FR" sz="1100" i="0" dirty="0"/>
                <a:t> </a:t>
              </a:r>
              <a:r>
                <a:rPr lang="fr-FR" sz="1100" i="0" dirty="0" err="1"/>
                <a:t>with</a:t>
              </a:r>
              <a:r>
                <a:rPr lang="fr-FR" sz="1100" i="0" dirty="0"/>
                <a:t> 0 AFP (yes by default)</a:t>
              </a:r>
            </a:p>
            <a:p>
              <a:pPr marL="171450" indent="-171450">
                <a:buFont typeface="Arial" panose="020B0604020202020204" pitchFamily="34" charset="0"/>
                <a:buChar char="•"/>
              </a:pPr>
              <a:endParaRPr lang="fr-FR" sz="1100" i="0" dirty="0"/>
            </a:p>
            <a:p>
              <a:pPr marL="171450" indent="-171450">
                <a:buFont typeface="Arial" panose="020B0604020202020204" pitchFamily="34" charset="0"/>
                <a:buChar char="•"/>
              </a:pPr>
              <a:endParaRPr lang="en-US" sz="9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AEFP_LIST">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4242649696"/>
              </p:ext>
            </p:extLst>
          </p:nvPr>
        </p:nvGraphicFramePr>
        <p:xfrm>
          <a:off x="1062400" y="3396347"/>
          <a:ext cx="10089582" cy="952627"/>
        </p:xfrm>
        <a:graphic>
          <a:graphicData uri="http://schemas.openxmlformats.org/drawingml/2006/table">
            <a:tbl>
              <a:tblPr firstRow="1" bandRow="1">
                <a:tableStyleId>{9DCAF9ED-07DC-4A11-8D7F-57B35C25682E}</a:tableStyleId>
              </a:tblPr>
              <a:tblGrid>
                <a:gridCol w="1180454">
                  <a:extLst>
                    <a:ext uri="{9D8B030D-6E8A-4147-A177-3AD203B41FA5}">
                      <a16:colId xmlns:a16="http://schemas.microsoft.com/office/drawing/2014/main" val="20002"/>
                    </a:ext>
                  </a:extLst>
                </a:gridCol>
                <a:gridCol w="992271">
                  <a:extLst>
                    <a:ext uri="{9D8B030D-6E8A-4147-A177-3AD203B41FA5}">
                      <a16:colId xmlns:a16="http://schemas.microsoft.com/office/drawing/2014/main" val="3833603804"/>
                    </a:ext>
                  </a:extLst>
                </a:gridCol>
                <a:gridCol w="1957660">
                  <a:extLst>
                    <a:ext uri="{9D8B030D-6E8A-4147-A177-3AD203B41FA5}">
                      <a16:colId xmlns:a16="http://schemas.microsoft.com/office/drawing/2014/main" val="2236367987"/>
                    </a:ext>
                  </a:extLst>
                </a:gridCol>
                <a:gridCol w="796954">
                  <a:extLst>
                    <a:ext uri="{9D8B030D-6E8A-4147-A177-3AD203B41FA5}">
                      <a16:colId xmlns:a16="http://schemas.microsoft.com/office/drawing/2014/main" val="797192982"/>
                    </a:ext>
                  </a:extLst>
                </a:gridCol>
                <a:gridCol w="1107347">
                  <a:extLst>
                    <a:ext uri="{9D8B030D-6E8A-4147-A177-3AD203B41FA5}">
                      <a16:colId xmlns:a16="http://schemas.microsoft.com/office/drawing/2014/main" val="1749928563"/>
                    </a:ext>
                  </a:extLst>
                </a:gridCol>
                <a:gridCol w="920627">
                  <a:extLst>
                    <a:ext uri="{9D8B030D-6E8A-4147-A177-3AD203B41FA5}">
                      <a16:colId xmlns:a16="http://schemas.microsoft.com/office/drawing/2014/main" val="1772272350"/>
                    </a:ext>
                  </a:extLst>
                </a:gridCol>
                <a:gridCol w="1248224">
                  <a:extLst>
                    <a:ext uri="{9D8B030D-6E8A-4147-A177-3AD203B41FA5}">
                      <a16:colId xmlns:a16="http://schemas.microsoft.com/office/drawing/2014/main" val="727183646"/>
                    </a:ext>
                  </a:extLst>
                </a:gridCol>
                <a:gridCol w="1003297">
                  <a:extLst>
                    <a:ext uri="{9D8B030D-6E8A-4147-A177-3AD203B41FA5}">
                      <a16:colId xmlns:a16="http://schemas.microsoft.com/office/drawing/2014/main" val="2731799653"/>
                    </a:ext>
                  </a:extLst>
                </a:gridCol>
                <a:gridCol w="882748">
                  <a:extLst>
                    <a:ext uri="{9D8B030D-6E8A-4147-A177-3AD203B41FA5}">
                      <a16:colId xmlns:a16="http://schemas.microsoft.com/office/drawing/2014/main" val="20003"/>
                    </a:ext>
                  </a:extLst>
                </a:gridCol>
              </a:tblGrid>
              <a:tr h="226695">
                <a:tc>
                  <a:txBody>
                    <a:bodyPr/>
                    <a:lstStyle/>
                    <a:p>
                      <a:pPr marL="0" marR="91440" algn="ctr">
                        <a:lnSpc>
                          <a:spcPct val="115000"/>
                        </a:lnSpc>
                        <a:spcBef>
                          <a:spcPts val="0"/>
                        </a:spcBef>
                        <a:spcAft>
                          <a:spcPts val="0"/>
                        </a:spcAft>
                      </a:pPr>
                      <a:r>
                        <a:rPr lang="en-GB" sz="1000" dirty="0">
                          <a:effectLst/>
                          <a:latin typeface="Calibri" panose="020F0502020204030204" pitchFamily="34" charset="0"/>
                          <a:cs typeface="Calibri" panose="020F0502020204030204" pitchFamily="34" charset="0"/>
                        </a:rPr>
                        <a:t>Element Type</a:t>
                      </a:r>
                      <a:endParaRPr lang="en-US" sz="10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Function Name</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Object Name</a:t>
                      </a:r>
                    </a:p>
                  </a:txBody>
                  <a:tcPr marL="68580" marR="68580" marT="0" marB="0"/>
                </a:tc>
                <a:tc>
                  <a:txBody>
                    <a:bodyPr/>
                    <a:lstStyle/>
                    <a:p>
                      <a:pPr marL="0" marR="91440" algn="l">
                        <a:lnSpc>
                          <a:spcPct val="115000"/>
                        </a:lnSpc>
                        <a:spcBef>
                          <a:spcPts val="0"/>
                        </a:spcBef>
                        <a:spcAft>
                          <a:spcPts val="0"/>
                        </a:spcAft>
                      </a:pPr>
                      <a:r>
                        <a:rPr lang="en-US" sz="1000">
                          <a:effectLst/>
                          <a:latin typeface="Calibri" panose="020F0502020204030204" pitchFamily="34" charset="0"/>
                          <a:ea typeface="Calibri" panose="020F0502020204030204" pitchFamily="34" charset="0"/>
                          <a:cs typeface="Calibri" panose="020F0502020204030204" pitchFamily="34" charset="0"/>
                        </a:rPr>
                        <a:t>AE</a:t>
                      </a:r>
                      <a:r>
                        <a:rPr lang="en-US" sz="1000" dirty="0">
                          <a:effectLst/>
                          <a:latin typeface="Calibri" panose="020F0502020204030204" pitchFamily="34" charset="0"/>
                          <a:ea typeface="Calibri" panose="020F0502020204030204" pitchFamily="34" charset="0"/>
                          <a:cs typeface="Calibri" panose="020F0502020204030204" pitchFamily="34" charset="0"/>
                        </a:rPr>
                        <a:t>P</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Complexity Factor</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Updated Artifacts</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Object Type</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Module Name</a:t>
                      </a:r>
                    </a:p>
                  </a:txBody>
                  <a:tcPr marL="68580" marR="68580" marT="0" marB="0"/>
                </a:tc>
                <a:tc>
                  <a:txBody>
                    <a:bodyPr/>
                    <a:lstStyle/>
                    <a:p>
                      <a:pPr marL="0" marR="91440" algn="l">
                        <a:lnSpc>
                          <a:spcPct val="115000"/>
                        </a:lnSpc>
                        <a:spcBef>
                          <a:spcPts val="0"/>
                        </a:spcBef>
                        <a:spcAft>
                          <a:spcPts val="0"/>
                        </a:spcAft>
                      </a:pPr>
                      <a:r>
                        <a:rPr lang="en-GB" sz="1000" dirty="0">
                          <a:effectLst/>
                          <a:latin typeface="Calibri" panose="020F0502020204030204" pitchFamily="34" charset="0"/>
                          <a:ea typeface="Calibri" panose="020F0502020204030204" pitchFamily="34" charset="0"/>
                          <a:cs typeface="Calibri" panose="020F0502020204030204" pitchFamily="34" charset="0"/>
                        </a:rPr>
                        <a:t>Technology</a:t>
                      </a:r>
                      <a:endParaRPr lang="en-US" sz="10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0"/>
                  </a:ext>
                </a:extLst>
              </a:tr>
              <a:tr h="203342">
                <a:tc>
                  <a:txBody>
                    <a:bodyPr/>
                    <a:lstStyle/>
                    <a:p>
                      <a:pPr marL="0" marR="91440" algn="l">
                        <a:lnSpc>
                          <a:spcPct val="115000"/>
                        </a:lnSpc>
                        <a:spcBef>
                          <a:spcPts val="0"/>
                        </a:spcBef>
                        <a:spcAft>
                          <a:spcPts val="0"/>
                        </a:spcAft>
                      </a:pPr>
                      <a:r>
                        <a:rPr lang="en-US" sz="900" dirty="0">
                          <a:effectLst/>
                          <a:latin typeface="Calibri" panose="020F0502020204030204" pitchFamily="34" charset="0"/>
                          <a:cs typeface="Calibri" panose="020F0502020204030204" pitchFamily="34" charset="0"/>
                        </a:rPr>
                        <a:t>Added </a:t>
                      </a:r>
                      <a:r>
                        <a:rPr lang="en-US" sz="900" dirty="0" err="1">
                          <a:effectLst/>
                          <a:latin typeface="Calibri" panose="020F0502020204030204" pitchFamily="34" charset="0"/>
                          <a:cs typeface="Calibri" panose="020F0502020204030204" pitchFamily="34" charset="0"/>
                        </a:rPr>
                        <a:t>Dafa</a:t>
                      </a:r>
                      <a:r>
                        <a:rPr lang="en-US" sz="900" dirty="0">
                          <a:effectLst/>
                          <a:latin typeface="Calibri" panose="020F0502020204030204" pitchFamily="34" charset="0"/>
                          <a:cs typeface="Calibri" panose="020F0502020204030204" pitchFamily="34" charset="0"/>
                        </a:rPr>
                        <a:t> Function AEFP</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function 1</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object1</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1</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5</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1</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Type 1</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Module 1</a:t>
                      </a:r>
                    </a:p>
                  </a:txBody>
                  <a:tcPr marL="68580" marR="68580" marT="0" marB="0"/>
                </a:tc>
                <a:tc>
                  <a:txBody>
                    <a:bodyPr/>
                    <a:lstStyle/>
                    <a:p>
                      <a:pPr marL="0" marR="91440" algn="l">
                        <a:lnSpc>
                          <a:spcPct val="115000"/>
                        </a:lnSpc>
                        <a:spcBef>
                          <a:spcPts val="0"/>
                        </a:spcBef>
                        <a:spcAft>
                          <a:spcPts val="0"/>
                        </a:spcAft>
                      </a:pPr>
                      <a:r>
                        <a:rPr lang="en-GB" sz="900" dirty="0">
                          <a:effectLst/>
                          <a:latin typeface="Calibri" panose="020F0502020204030204" pitchFamily="34" charset="0"/>
                          <a:ea typeface="Calibri" panose="020F0502020204030204" pitchFamily="34" charset="0"/>
                          <a:cs typeface="Calibri" panose="020F0502020204030204" pitchFamily="34" charset="0"/>
                        </a:rPr>
                        <a:t>Techno1</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1"/>
                  </a:ext>
                </a:extLst>
              </a:tr>
              <a:tr h="110295">
                <a:tc>
                  <a:txBody>
                    <a:bodyPr/>
                    <a:lstStyle/>
                    <a:p>
                      <a:pPr marL="0" marR="91440" algn="l">
                        <a:lnSpc>
                          <a:spcPct val="115000"/>
                        </a:lnSpc>
                        <a:spcBef>
                          <a:spcPts val="0"/>
                        </a:spcBef>
                        <a:spcAft>
                          <a:spcPts val="0"/>
                        </a:spcAft>
                      </a:pPr>
                      <a:r>
                        <a:rPr lang="en-GB" sz="900" dirty="0">
                          <a:effectLst/>
                          <a:latin typeface="Calibri" panose="020F0502020204030204" pitchFamily="34" charset="0"/>
                          <a:ea typeface="Calibri" panose="020F0502020204030204" pitchFamily="34" charset="0"/>
                          <a:cs typeface="Calibri" panose="020F0502020204030204" pitchFamily="34" charset="0"/>
                        </a:rPr>
                        <a:t>Deleted Transactional AEFP</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Function 2</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object2</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1</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0</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0</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Type 2</a:t>
                      </a:r>
                    </a:p>
                  </a:txBody>
                  <a:tcPr marL="68580" marR="68580" marT="0" marB="0"/>
                </a:tc>
                <a:tc>
                  <a:txBody>
                    <a:bodyPr/>
                    <a:lstStyle/>
                    <a:p>
                      <a:pPr marL="0" marR="91440" algn="l">
                        <a:lnSpc>
                          <a:spcPct val="115000"/>
                        </a:lnSpc>
                        <a:spcBef>
                          <a:spcPts val="0"/>
                        </a:spcBef>
                        <a:spcAft>
                          <a:spcPts val="0"/>
                        </a:spcAft>
                      </a:pPr>
                      <a:r>
                        <a:rPr lang="en-US" sz="900" kern="1200" dirty="0">
                          <a:solidFill>
                            <a:schemeClr val="dk1"/>
                          </a:solidFill>
                          <a:latin typeface="Calibri" panose="020F0502020204030204" pitchFamily="34" charset="0"/>
                          <a:ea typeface="+mn-ea"/>
                          <a:cs typeface="Calibri" panose="020F0502020204030204" pitchFamily="34" charset="0"/>
                        </a:rPr>
                        <a:t>Module 2</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Techno2</a:t>
                      </a:r>
                    </a:p>
                  </a:txBody>
                  <a:tcPr marL="68580" marR="68580" marT="0" marB="0"/>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132118A7-1B70-404A-87CB-3950CC2A940B}"/>
              </a:ext>
            </a:extLst>
          </p:cNvPr>
          <p:cNvSpPr txBox="1"/>
          <p:nvPr/>
        </p:nvSpPr>
        <p:spPr>
          <a:xfrm>
            <a:off x="2853550" y="3015565"/>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7" name="TextBox 16">
            <a:extLst>
              <a:ext uri="{FF2B5EF4-FFF2-40B4-BE49-F238E27FC236}">
                <a16:creationId xmlns:a16="http://schemas.microsoft.com/office/drawing/2014/main" id="{B64A8D30-1E85-451E-AF12-D0C1B9E24332}"/>
              </a:ext>
            </a:extLst>
          </p:cNvPr>
          <p:cNvSpPr txBox="1"/>
          <p:nvPr/>
        </p:nvSpPr>
        <p:spPr>
          <a:xfrm>
            <a:off x="2295953" y="2981445"/>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spTree>
    <p:extLst>
      <p:ext uri="{BB962C8B-B14F-4D97-AF65-F5344CB8AC3E}">
        <p14:creationId xmlns:p14="http://schemas.microsoft.com/office/powerpoint/2010/main" val="40309152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721453" y="1109212"/>
            <a:ext cx="10687575"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AETP</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AETP_LIST</a:t>
              </a:r>
              <a:endParaRPr lang="fr-FR" sz="11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600164"/>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marL="171450" indent="-171450">
                <a:buFont typeface="Arial" panose="020B0604020202020204" pitchFamily="34" charset="0"/>
                <a:buChar char="•"/>
              </a:pPr>
              <a:r>
                <a:rPr lang="en-US" sz="1100" b="1" i="0" dirty="0"/>
                <a:t>COUNT</a:t>
              </a:r>
              <a:r>
                <a:rPr lang="en-US" sz="1100" i="0" dirty="0"/>
                <a:t>: the number of lines to display, 10 by default (-1 for all functions)</a:t>
              </a:r>
            </a:p>
            <a:p>
              <a:pPr marL="171450" indent="-171450">
                <a:buFont typeface="Arial" panose="020B0604020202020204" pitchFamily="34" charset="0"/>
                <a:buChar char="•"/>
              </a:pPr>
              <a:r>
                <a:rPr lang="en-US" sz="1100" b="1" i="0" dirty="0"/>
                <a:t>FORMAT</a:t>
              </a:r>
              <a:r>
                <a:rPr lang="en-US" sz="1100" i="0" dirty="0"/>
                <a:t>: The number of decimals for effort complexity, ratio and AETP count (N2 for 2 decimals, N5 for 5 decimals), by default N2.</a:t>
              </a:r>
              <a:endParaRPr lang="en-US" sz="9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AETP_LIST;COUNT=10,FORMAT=N2">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4003265293"/>
              </p:ext>
            </p:extLst>
          </p:nvPr>
        </p:nvGraphicFramePr>
        <p:xfrm>
          <a:off x="961708" y="3055139"/>
          <a:ext cx="10104115" cy="658268"/>
        </p:xfrm>
        <a:graphic>
          <a:graphicData uri="http://schemas.openxmlformats.org/drawingml/2006/table">
            <a:tbl>
              <a:tblPr firstRow="1" bandRow="1">
                <a:tableStyleId>{9DCAF9ED-07DC-4A11-8D7F-57B35C25682E}</a:tableStyleId>
              </a:tblPr>
              <a:tblGrid>
                <a:gridCol w="1084000">
                  <a:extLst>
                    <a:ext uri="{9D8B030D-6E8A-4147-A177-3AD203B41FA5}">
                      <a16:colId xmlns:a16="http://schemas.microsoft.com/office/drawing/2014/main" val="20002"/>
                    </a:ext>
                  </a:extLst>
                </a:gridCol>
                <a:gridCol w="2754999">
                  <a:extLst>
                    <a:ext uri="{9D8B030D-6E8A-4147-A177-3AD203B41FA5}">
                      <a16:colId xmlns:a16="http://schemas.microsoft.com/office/drawing/2014/main" val="3833603804"/>
                    </a:ext>
                  </a:extLst>
                </a:gridCol>
                <a:gridCol w="1248304">
                  <a:extLst>
                    <a:ext uri="{9D8B030D-6E8A-4147-A177-3AD203B41FA5}">
                      <a16:colId xmlns:a16="http://schemas.microsoft.com/office/drawing/2014/main" val="2236367987"/>
                    </a:ext>
                  </a:extLst>
                </a:gridCol>
                <a:gridCol w="981591">
                  <a:extLst>
                    <a:ext uri="{9D8B030D-6E8A-4147-A177-3AD203B41FA5}">
                      <a16:colId xmlns:a16="http://schemas.microsoft.com/office/drawing/2014/main" val="797192982"/>
                    </a:ext>
                  </a:extLst>
                </a:gridCol>
                <a:gridCol w="1363895">
                  <a:extLst>
                    <a:ext uri="{9D8B030D-6E8A-4147-A177-3AD203B41FA5}">
                      <a16:colId xmlns:a16="http://schemas.microsoft.com/office/drawing/2014/main" val="1749928563"/>
                    </a:ext>
                  </a:extLst>
                </a:gridCol>
                <a:gridCol w="1133916">
                  <a:extLst>
                    <a:ext uri="{9D8B030D-6E8A-4147-A177-3AD203B41FA5}">
                      <a16:colId xmlns:a16="http://schemas.microsoft.com/office/drawing/2014/main" val="1772272350"/>
                    </a:ext>
                  </a:extLst>
                </a:gridCol>
                <a:gridCol w="1537410">
                  <a:extLst>
                    <a:ext uri="{9D8B030D-6E8A-4147-A177-3AD203B41FA5}">
                      <a16:colId xmlns:a16="http://schemas.microsoft.com/office/drawing/2014/main" val="727183646"/>
                    </a:ext>
                  </a:extLst>
                </a:gridCol>
              </a:tblGrid>
              <a:tr h="226695">
                <a:tc>
                  <a:txBody>
                    <a:bodyPr/>
                    <a:lstStyle/>
                    <a:p>
                      <a:pPr marL="0" marR="91440" algn="ctr">
                        <a:lnSpc>
                          <a:spcPct val="115000"/>
                        </a:lnSpc>
                        <a:spcBef>
                          <a:spcPts val="0"/>
                        </a:spcBef>
                        <a:spcAft>
                          <a:spcPts val="0"/>
                        </a:spcAft>
                      </a:pPr>
                      <a:r>
                        <a:rPr lang="en-GB" sz="1000" dirty="0">
                          <a:effectLst/>
                          <a:latin typeface="Calibri" panose="020F0502020204030204" pitchFamily="34" charset="0"/>
                          <a:cs typeface="Calibri" panose="020F0502020204030204" pitchFamily="34" charset="0"/>
                        </a:rPr>
                        <a:t>Object Name</a:t>
                      </a:r>
                      <a:endParaRPr lang="en-US" sz="10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Object full name</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Object Type</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Status</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Effort Complexity</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Equivalence ratio</a:t>
                      </a:r>
                    </a:p>
                  </a:txBody>
                  <a:tcPr marL="68580" marR="68580" marT="0" marB="0"/>
                </a:tc>
                <a:tc>
                  <a:txBody>
                    <a:bodyPr/>
                    <a:lstStyle/>
                    <a:p>
                      <a:pPr marL="0" marR="91440" algn="l">
                        <a:lnSpc>
                          <a:spcPct val="115000"/>
                        </a:lnSpc>
                        <a:spcBef>
                          <a:spcPts val="0"/>
                        </a:spcBef>
                        <a:spcAft>
                          <a:spcPts val="0"/>
                        </a:spcAft>
                      </a:pPr>
                      <a:r>
                        <a:rPr lang="en-US" sz="1000" dirty="0">
                          <a:effectLst/>
                          <a:latin typeface="Calibri" panose="020F0502020204030204" pitchFamily="34" charset="0"/>
                          <a:ea typeface="Calibri" panose="020F0502020204030204" pitchFamily="34" charset="0"/>
                          <a:cs typeface="Calibri" panose="020F0502020204030204" pitchFamily="34" charset="0"/>
                        </a:rPr>
                        <a:t>AEP</a:t>
                      </a:r>
                    </a:p>
                  </a:txBody>
                  <a:tcPr marL="68580" marR="68580" marT="0" marB="0"/>
                </a:tc>
                <a:extLst>
                  <a:ext uri="{0D108BD9-81ED-4DB2-BD59-A6C34878D82A}">
                    <a16:rowId xmlns:a16="http://schemas.microsoft.com/office/drawing/2014/main" val="10000"/>
                  </a:ext>
                </a:extLst>
              </a:tr>
              <a:tr h="169572">
                <a:tc>
                  <a:txBody>
                    <a:bodyPr/>
                    <a:lstStyle/>
                    <a:p>
                      <a:pPr marL="0" marR="91440" algn="l">
                        <a:lnSpc>
                          <a:spcPct val="115000"/>
                        </a:lnSpc>
                        <a:spcBef>
                          <a:spcPts val="0"/>
                        </a:spcBef>
                        <a:spcAft>
                          <a:spcPts val="0"/>
                        </a:spcAft>
                      </a:pPr>
                      <a:r>
                        <a:rPr lang="en-US" sz="900" dirty="0">
                          <a:effectLst/>
                          <a:latin typeface="Calibri" panose="020F0502020204030204" pitchFamily="34" charset="0"/>
                          <a:cs typeface="Calibri" panose="020F0502020204030204" pitchFamily="34" charset="0"/>
                        </a:rPr>
                        <a:t>Object 1</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Object 1 full name</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Object 1 type</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Added</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0</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0</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0</a:t>
                      </a:r>
                    </a:p>
                  </a:txBody>
                  <a:tcPr marL="68580" marR="68580" marT="0" marB="0"/>
                </a:tc>
                <a:extLst>
                  <a:ext uri="{0D108BD9-81ED-4DB2-BD59-A6C34878D82A}">
                    <a16:rowId xmlns:a16="http://schemas.microsoft.com/office/drawing/2014/main" val="10001"/>
                  </a:ext>
                </a:extLst>
              </a:tr>
              <a:tr h="110295">
                <a:tc>
                  <a:txBody>
                    <a:bodyPr/>
                    <a:lstStyle/>
                    <a:p>
                      <a:pPr marL="0" marR="91440" algn="l">
                        <a:lnSpc>
                          <a:spcPct val="115000"/>
                        </a:lnSpc>
                        <a:spcBef>
                          <a:spcPts val="0"/>
                        </a:spcBef>
                        <a:spcAft>
                          <a:spcPts val="0"/>
                        </a:spcAft>
                      </a:pPr>
                      <a:r>
                        <a:rPr lang="en-GB" sz="900" dirty="0">
                          <a:effectLst/>
                          <a:latin typeface="Calibri" panose="020F0502020204030204" pitchFamily="34" charset="0"/>
                          <a:ea typeface="Calibri" panose="020F0502020204030204" pitchFamily="34" charset="0"/>
                          <a:cs typeface="Calibri" panose="020F0502020204030204" pitchFamily="34" charset="0"/>
                        </a:rPr>
                        <a:t>Object 2</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Object 2 full name</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Object 2 type</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Updated</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0</a:t>
                      </a:r>
                    </a:p>
                  </a:txBody>
                  <a:tcPr marL="68580" marR="68580" marT="0" marB="0"/>
                </a:tc>
                <a:tc>
                  <a:txBody>
                    <a:bodyPr/>
                    <a:lstStyle/>
                    <a:p>
                      <a:pPr marL="0" marR="91440" algn="r">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0</a:t>
                      </a:r>
                    </a:p>
                  </a:txBody>
                  <a:tcPr marL="68580" marR="68580" marT="0" marB="0"/>
                </a:tc>
                <a:tc>
                  <a:txBody>
                    <a:bodyPr/>
                    <a:lstStyle/>
                    <a:p>
                      <a:pPr marL="0" marR="91440" algn="l">
                        <a:lnSpc>
                          <a:spcPct val="115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0</a:t>
                      </a:r>
                    </a:p>
                  </a:txBody>
                  <a:tcPr marL="68580" marR="68580" marT="0" marB="0"/>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132118A7-1B70-404A-87CB-3950CC2A940B}"/>
              </a:ext>
            </a:extLst>
          </p:cNvPr>
          <p:cNvSpPr txBox="1"/>
          <p:nvPr/>
        </p:nvSpPr>
        <p:spPr>
          <a:xfrm>
            <a:off x="2853550" y="2617448"/>
            <a:ext cx="6991830" cy="261610"/>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050" i="0" dirty="0"/>
              <a:t>This component is only relevant on an engineering database. It is empty on an analytics database.</a:t>
            </a:r>
          </a:p>
        </p:txBody>
      </p:sp>
      <p:sp>
        <p:nvSpPr>
          <p:cNvPr id="17" name="TextBox 16">
            <a:extLst>
              <a:ext uri="{FF2B5EF4-FFF2-40B4-BE49-F238E27FC236}">
                <a16:creationId xmlns:a16="http://schemas.microsoft.com/office/drawing/2014/main" id="{B64A8D30-1E85-451E-AF12-D0C1B9E24332}"/>
              </a:ext>
            </a:extLst>
          </p:cNvPr>
          <p:cNvSpPr txBox="1"/>
          <p:nvPr/>
        </p:nvSpPr>
        <p:spPr>
          <a:xfrm>
            <a:off x="2295953" y="2583328"/>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spTree>
    <p:extLst>
      <p:ext uri="{BB962C8B-B14F-4D97-AF65-F5344CB8AC3E}">
        <p14:creationId xmlns:p14="http://schemas.microsoft.com/office/powerpoint/2010/main" val="13423508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1955882" y="1109212"/>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Evolution of CAST rules associated to a quality standard </a:t>
              </a:r>
              <a:r>
                <a:rPr lang="en-GB" sz="1600" dirty="0"/>
                <a:t>category</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QUALITY_TAGS_RULES_EVOLUTION</a:t>
              </a:r>
              <a:endParaRPr lang="fr-FR" sz="11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2200602"/>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marL="171450" indent="-171450">
                <a:buFontTx/>
                <a:buChar char="-"/>
              </a:pPr>
              <a:r>
                <a:rPr lang="en-US" sz="900" b="1" dirty="0"/>
                <a:t>STD =  Name of the quality standard category , or BC name or BC id for which you want the details per tag or TC, for example, STIG-V4R8-CAT1 will list total, added and removed violations for cast rules associated to all tags belonged to category STIG-V4R8-CAT1 </a:t>
              </a:r>
            </a:p>
            <a:p>
              <a:pPr marL="171450" indent="-171450">
                <a:buFontTx/>
                <a:buChar char="-"/>
              </a:pPr>
              <a:r>
                <a:rPr lang="en-GB" sz="900" b="1" dirty="0"/>
                <a:t>LBL= </a:t>
              </a:r>
              <a:r>
                <a:rPr lang="en-GB" sz="900" dirty="0"/>
                <a:t>violations or vulnerabilities (vulnerabilities if not set), this change the headers from Vulnerabilities to Violations</a:t>
              </a:r>
            </a:p>
            <a:p>
              <a:pPr marL="171450" indent="-171450">
                <a:buFontTx/>
                <a:buChar char="-"/>
              </a:pPr>
              <a:r>
                <a:rPr lang="en-GB" sz="900" b="1" dirty="0"/>
                <a:t>DESC</a:t>
              </a:r>
              <a:r>
                <a:rPr lang="en-GB" sz="900" dirty="0"/>
                <a:t>=</a:t>
              </a:r>
              <a:r>
                <a:rPr lang="en-GB" sz="900" dirty="0" err="1"/>
                <a:t>true|false</a:t>
              </a:r>
              <a:r>
                <a:rPr lang="en-GB" sz="900" dirty="0"/>
                <a:t>. For display rationale, description and remediation of the rule. By default if not present, it is false</a:t>
              </a:r>
            </a:p>
            <a:p>
              <a:pPr marL="171450" indent="-171450">
                <a:buFontTx/>
                <a:buChar char="-"/>
              </a:pPr>
              <a:r>
                <a:rPr lang="en-US" sz="900" b="1" dirty="0"/>
                <a:t>HEADER</a:t>
              </a:r>
              <a:r>
                <a:rPr lang="en-US" sz="900" dirty="0"/>
                <a:t>=NO to not display headers (useful for excel report when you want to define your own customized headers). By default if option is not present or different from NO, headers are displayed</a:t>
              </a:r>
            </a:p>
            <a:p>
              <a:pPr marL="171450" indent="-171450">
                <a:buFontTx/>
                <a:buChar char="-"/>
              </a:pPr>
              <a:r>
                <a:rPr lang="en-US" sz="900" b="1" dirty="0"/>
                <a:t>NOVIOLATIONS</a:t>
              </a:r>
              <a:r>
                <a:rPr lang="en-US" sz="900" dirty="0"/>
                <a:t>=</a:t>
              </a:r>
              <a:r>
                <a:rPr lang="en-US" sz="900" dirty="0" err="1"/>
                <a:t>true|false</a:t>
              </a:r>
              <a:r>
                <a:rPr lang="en-US" sz="900" dirty="0"/>
                <a:t> to not display rules and TC that do not have violations. By default if option is not present or different from false, it will be true (we display everything)</a:t>
              </a:r>
            </a:p>
            <a:p>
              <a:pPr marL="171450" indent="-171450">
                <a:buFontTx/>
                <a:buChar char="-"/>
              </a:pPr>
              <a:r>
                <a:rPr lang="en-US" sz="900" b="1" dirty="0"/>
                <a:t>COUNT</a:t>
              </a:r>
              <a:r>
                <a:rPr lang="en-US" sz="900" dirty="0"/>
                <a:t>= the number of rows to display (all by default, or -1 for all rows)</a:t>
              </a:r>
            </a:p>
            <a:p>
              <a:pPr marL="171450" indent="-171450">
                <a:buFontTx/>
                <a:buChar char="-"/>
              </a:pPr>
              <a:r>
                <a:rPr lang="en-US" sz="900" b="1" dirty="0"/>
                <a:t>COMPLIANCE</a:t>
              </a:r>
              <a:r>
                <a:rPr lang="en-US" sz="900" dirty="0"/>
                <a:t>=</a:t>
              </a:r>
              <a:r>
                <a:rPr lang="en-US" sz="900" dirty="0" err="1"/>
                <a:t>true|false</a:t>
              </a:r>
              <a:r>
                <a:rPr lang="en-US" sz="900" dirty="0"/>
                <a:t> (false per default) to display the compliance score in percent for the current BC/TC/QR. Not applicable for a quality standard</a:t>
              </a:r>
            </a:p>
            <a:p>
              <a:pPr marL="171450" indent="-171450">
                <a:buFontTx/>
                <a:buChar char="-"/>
              </a:pPr>
              <a:endParaRPr lang="en-US" sz="900" dirty="0"/>
            </a:p>
            <a:p>
              <a:pPr marL="171450" indent="-171450">
                <a:buFontTx/>
                <a:buChar char="-"/>
              </a:pPr>
              <a:endParaRPr lang="en-US" sz="900" dirty="0"/>
            </a:p>
            <a:p>
              <a:pPr marL="171450" indent="-171450">
                <a:buFontTx/>
                <a:buChar char="-"/>
              </a:pPr>
              <a:endParaRPr lang="en-GB" sz="90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2" name="TextBox 11">
              <a:extLst>
                <a:ext uri="{FF2B5EF4-FFF2-40B4-BE49-F238E27FC236}">
                  <a16:creationId xmlns:a16="http://schemas.microsoft.com/office/drawing/2014/main" id="{B612763E-F360-4DC8-9971-93D9C02EB45D}"/>
                </a:ext>
              </a:extLst>
            </p:cNvPr>
            <p:cNvSpPr txBox="1"/>
            <p:nvPr/>
          </p:nvSpPr>
          <p:spPr>
            <a:xfrm>
              <a:off x="3071664" y="3513124"/>
              <a:ext cx="6991830" cy="461665"/>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800" i="0" dirty="0"/>
                <a:t>To use this component, the following extensions should be installed : Quality standards mapping extension &gt;= 20240212.0.0-funcrel;CISQ index extension &gt;= 20240201.0.0-funcrel;ISO-5055 index extension &gt;= 20240202;Security Standards extension &gt;= 20240209.0.0-funcrel.</a:t>
              </a:r>
              <a:endParaRPr lang="en-US" sz="400" i="0" dirty="0"/>
            </a:p>
          </p:txBody>
        </p:sp>
        <p:sp>
          <p:nvSpPr>
            <p:cNvPr id="17" name="TextBox 16">
              <a:extLst>
                <a:ext uri="{FF2B5EF4-FFF2-40B4-BE49-F238E27FC236}">
                  <a16:creationId xmlns:a16="http://schemas.microsoft.com/office/drawing/2014/main" id="{2255320D-AEAD-43CA-B5F8-55466354914A}"/>
                </a:ext>
              </a:extLst>
            </p:cNvPr>
            <p:cNvSpPr txBox="1"/>
            <p:nvPr/>
          </p:nvSpPr>
          <p:spPr>
            <a:xfrm>
              <a:off x="2514067" y="3479004"/>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QUALITY_TAGS_RULES_EVOLUTION;STD=STIG-V4R8-CAT1,COUNT=10">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3862923428"/>
              </p:ext>
            </p:extLst>
          </p:nvPr>
        </p:nvGraphicFramePr>
        <p:xfrm>
          <a:off x="543009" y="4128420"/>
          <a:ext cx="10944063" cy="1956318"/>
        </p:xfrm>
        <a:graphic>
          <a:graphicData uri="http://schemas.openxmlformats.org/drawingml/2006/table">
            <a:tbl>
              <a:tblPr firstRow="1" bandRow="1">
                <a:tableStyleId>{9DCAF9ED-07DC-4A11-8D7F-57B35C25682E}</a:tableStyleId>
              </a:tblPr>
              <a:tblGrid>
                <a:gridCol w="7421931">
                  <a:extLst>
                    <a:ext uri="{9D8B030D-6E8A-4147-A177-3AD203B41FA5}">
                      <a16:colId xmlns:a16="http://schemas.microsoft.com/office/drawing/2014/main" val="20000"/>
                    </a:ext>
                  </a:extLst>
                </a:gridCol>
                <a:gridCol w="1106311">
                  <a:extLst>
                    <a:ext uri="{9D8B030D-6E8A-4147-A177-3AD203B41FA5}">
                      <a16:colId xmlns:a16="http://schemas.microsoft.com/office/drawing/2014/main" val="20001"/>
                    </a:ext>
                  </a:extLst>
                </a:gridCol>
                <a:gridCol w="1196622">
                  <a:extLst>
                    <a:ext uri="{9D8B030D-6E8A-4147-A177-3AD203B41FA5}">
                      <a16:colId xmlns:a16="http://schemas.microsoft.com/office/drawing/2014/main" val="20002"/>
                    </a:ext>
                  </a:extLst>
                </a:gridCol>
                <a:gridCol w="1219199">
                  <a:extLst>
                    <a:ext uri="{9D8B030D-6E8A-4147-A177-3AD203B41FA5}">
                      <a16:colId xmlns:a16="http://schemas.microsoft.com/office/drawing/2014/main" val="20003"/>
                    </a:ext>
                  </a:extLst>
                </a:gridCol>
              </a:tblGrid>
              <a:tr h="226695">
                <a:tc>
                  <a:txBody>
                    <a:bodyPr/>
                    <a:lstStyle/>
                    <a:p>
                      <a:pPr marL="0" marR="91440" algn="l">
                        <a:lnSpc>
                          <a:spcPct val="115000"/>
                        </a:lnSpc>
                        <a:spcBef>
                          <a:spcPts val="0"/>
                        </a:spcBef>
                        <a:spcAft>
                          <a:spcPts val="0"/>
                        </a:spcAft>
                      </a:pPr>
                      <a:r>
                        <a:rPr lang="en-GB" sz="1000" dirty="0">
                          <a:effectLst/>
                        </a:rPr>
                        <a:t>STIG-V4R8-CAT1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GB" sz="1000" dirty="0">
                          <a:effectLst/>
                        </a:rPr>
                        <a:t>Total Vulnerabilities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Added Vulnerabilities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Removed Vulnerabilities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03342">
                <a:tc>
                  <a:txBody>
                    <a:bodyPr/>
                    <a:lstStyle/>
                    <a:p>
                      <a:pPr marL="180340" marR="417195" algn="just">
                        <a:lnSpc>
                          <a:spcPts val="1200"/>
                        </a:lnSpc>
                        <a:spcBef>
                          <a:spcPts val="0"/>
                        </a:spcBef>
                        <a:spcAft>
                          <a:spcPts val="600"/>
                        </a:spcAft>
                      </a:pPr>
                      <a:r>
                        <a:rPr lang="en-US" sz="900" b="1" dirty="0">
                          <a:solidFill>
                            <a:srgbClr val="000000"/>
                          </a:solidFill>
                          <a:effectLst/>
                          <a:latin typeface="Open Sans"/>
                          <a:ea typeface="Times New Roman" panose="02020603050405020304" pitchFamily="18" charset="0"/>
                          <a:cs typeface="Times New Roman" panose="02020603050405020304" pitchFamily="18" charset="0"/>
                        </a:rPr>
                        <a:t>STIG-V-70205 The application must not expose session IDs.</a:t>
                      </a:r>
                      <a:endParaRPr lang="en-US" sz="9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03342">
                <a:tc>
                  <a:txBody>
                    <a:bodyPr/>
                    <a:lstStyle/>
                    <a:p>
                      <a:pPr marL="180340" marR="417195" algn="just">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    Avoid using HttpServletRequest.getRequestedSessionId()</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49875671"/>
                  </a:ext>
                </a:extLst>
              </a:tr>
              <a:tr h="203342">
                <a:tc>
                  <a:txBody>
                    <a:bodyPr/>
                    <a:lstStyle/>
                    <a:p>
                      <a:pPr marL="180340" marR="417195" algn="just">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STIG-V-70207 The application must destroy the session ID value and/or cookie on logoff or browser close.</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1</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42531720"/>
                  </a:ext>
                </a:extLst>
              </a:tr>
              <a:tr h="203342">
                <a:tc>
                  <a:txBody>
                    <a:bodyPr/>
                    <a:lstStyle/>
                    <a:p>
                      <a:pPr marL="180340" marR="417195" algn="just">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    Ensure that HTTP Session is invalidated during logout</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1</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33008175"/>
                  </a:ext>
                </a:extLst>
              </a:tr>
              <a:tr h="203342">
                <a:tc>
                  <a:txBody>
                    <a:bodyPr/>
                    <a:lstStyle/>
                    <a:p>
                      <a:pPr marL="180340" marR="417195" algn="just">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STIG-V-70245 The application must protect the confidentiality and integrity of transmitted information.</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4</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b="1">
                          <a:solidFill>
                            <a:srgbClr val="000000"/>
                          </a:solidFill>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54266632"/>
                  </a:ext>
                </a:extLst>
              </a:tr>
              <a:tr h="203342">
                <a:tc>
                  <a:txBody>
                    <a:bodyPr/>
                    <a:lstStyle/>
                    <a:p>
                      <a:pPr marL="180340" marR="417195" algn="just">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    Avoid mixing trusted and untrusted data in HTTP requests</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24593547"/>
                  </a:ext>
                </a:extLst>
              </a:tr>
              <a:tr h="203342">
                <a:tc>
                  <a:txBody>
                    <a:bodyPr/>
                    <a:lstStyle/>
                    <a:p>
                      <a:pPr marL="180340" marR="417195" algn="just">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    Avoid providing password in Web Service URL</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08857523"/>
                  </a:ext>
                </a:extLst>
              </a:tr>
              <a:tr h="192691">
                <a:tc>
                  <a:txBody>
                    <a:bodyPr/>
                    <a:lstStyle/>
                    <a:p>
                      <a:pPr marL="180340" marR="417195" algn="just">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    Avoid using RSA Cryptographic algorithms without OAEP (Optimal Asymmetric Encryption Padding)</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a:effectLst/>
                          <a:latin typeface="Open Sans"/>
                          <a:ea typeface="Times New Roman" panose="02020603050405020304" pitchFamily="18" charset="0"/>
                          <a:cs typeface="Times New Roman" panose="02020603050405020304" pitchFamily="18" charset="0"/>
                        </a:rPr>
                        <a:t>0</a:t>
                      </a:r>
                      <a:endParaRPr lang="en-US" sz="9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ts val="1200"/>
                        </a:lnSpc>
                        <a:spcBef>
                          <a:spcPts val="0"/>
                        </a:spcBef>
                        <a:spcAft>
                          <a:spcPts val="600"/>
                        </a:spcAft>
                      </a:pPr>
                      <a:r>
                        <a:rPr lang="en-US" sz="900" dirty="0">
                          <a:effectLst/>
                          <a:latin typeface="Open Sans"/>
                          <a:ea typeface="Times New Roman" panose="02020603050405020304" pitchFamily="18" charset="0"/>
                          <a:cs typeface="Times New Roman" panose="02020603050405020304" pitchFamily="18" charset="0"/>
                        </a:rPr>
                        <a:t>0</a:t>
                      </a:r>
                      <a:endParaRPr lang="en-US" sz="9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35108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5A61A88-E6FA-426F-A9D0-7D02EDAC30F2}"/>
              </a:ext>
            </a:extLst>
          </p:cNvPr>
          <p:cNvGrpSpPr/>
          <p:nvPr/>
        </p:nvGrpSpPr>
        <p:grpSpPr>
          <a:xfrm>
            <a:off x="1955882" y="1109212"/>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List of standard quality tag applicability by category</a:t>
              </a:r>
              <a:endParaRPr lang="fr-FR" sz="1600" dirty="0"/>
            </a:p>
          </p:txBody>
        </p:sp>
        <p:sp>
          <p:nvSpPr>
            <p:cNvPr id="14" name="TextBox 13"/>
            <p:cNvSpPr txBox="1"/>
            <p:nvPr/>
          </p:nvSpPr>
          <p:spPr>
            <a:xfrm>
              <a:off x="3669226" y="1471510"/>
              <a:ext cx="6630534" cy="338554"/>
            </a:xfrm>
            <a:prstGeom prst="rect">
              <a:avLst/>
            </a:prstGeom>
            <a:noFill/>
          </p:spPr>
          <p:txBody>
            <a:bodyPr wrap="square" rtlCol="0">
              <a:spAutoFit/>
            </a:bodyPr>
            <a:lstStyle>
              <a:defPPr>
                <a:defRPr lang="fr-FR"/>
              </a:defPPr>
              <a:lvl1pPr>
                <a:defRPr sz="2000" b="1">
                  <a:solidFill>
                    <a:srgbClr val="5E5E5E"/>
                  </a:solidFill>
                </a:defRPr>
              </a:lvl1pPr>
            </a:lstStyle>
            <a:p>
              <a:r>
                <a:rPr lang="en-US" sz="1600" dirty="0"/>
                <a:t>LIST_TAGS_DOC_BYCAT</a:t>
              </a:r>
              <a:endParaRPr lang="fr-FR" sz="1100" dirty="0"/>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9" name="TextBox 8"/>
            <p:cNvSpPr txBox="1"/>
            <p:nvPr/>
          </p:nvSpPr>
          <p:spPr>
            <a:xfrm>
              <a:off x="3667714" y="1818690"/>
              <a:ext cx="6524504" cy="415498"/>
            </a:xfrm>
            <a:prstGeom prst="rect">
              <a:avLst/>
            </a:prstGeom>
            <a:noFill/>
          </p:spPr>
          <p:txBody>
            <a:bodyPr wrap="square" rtlCol="0">
              <a:spAutoFit/>
            </a:bodyPr>
            <a:lstStyle>
              <a:defPPr>
                <a:defRPr lang="fr-FR"/>
              </a:defPPr>
              <a:lvl1pPr>
                <a:defRPr sz="2000" i="1">
                  <a:solidFill>
                    <a:schemeClr val="bg1">
                      <a:lumMod val="50000"/>
                    </a:schemeClr>
                  </a:solidFill>
                </a:defRPr>
              </a:lvl1pPr>
            </a:lstStyle>
            <a:p>
              <a:pPr marL="171450" indent="-171450">
                <a:buFontTx/>
                <a:buChar char="-"/>
              </a:pPr>
              <a:r>
                <a:rPr lang="en-US" sz="1050" b="1" dirty="0"/>
                <a:t>CAT = Id of the standard quality category, for example, STIG-V4R8-CAT1, or a list separated by ‘|’</a:t>
              </a:r>
              <a:endParaRPr lang="en-GB" sz="1050" dirty="0"/>
            </a:p>
          </p:txBody>
        </p:sp>
        <p:sp>
          <p:nvSpPr>
            <p:cNvPr id="11" name="TextBox 10"/>
            <p:cNvSpPr txBox="1"/>
            <p:nvPr/>
          </p:nvSpPr>
          <p:spPr>
            <a:xfrm>
              <a:off x="2637332" y="1788001"/>
              <a:ext cx="1109599"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Options :</a:t>
              </a:r>
            </a:p>
          </p:txBody>
        </p:sp>
        <p:sp>
          <p:nvSpPr>
            <p:cNvPr id="12" name="TextBox 11">
              <a:extLst>
                <a:ext uri="{FF2B5EF4-FFF2-40B4-BE49-F238E27FC236}">
                  <a16:creationId xmlns:a16="http://schemas.microsoft.com/office/drawing/2014/main" id="{B612763E-F360-4DC8-9971-93D9C02EB45D}"/>
                </a:ext>
              </a:extLst>
            </p:cNvPr>
            <p:cNvSpPr txBox="1"/>
            <p:nvPr/>
          </p:nvSpPr>
          <p:spPr>
            <a:xfrm>
              <a:off x="3071664" y="2835014"/>
              <a:ext cx="6991830" cy="338554"/>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800" i="0" dirty="0"/>
                <a:t>To use this component, the Quality Standards Mapping extension should be installed on the central where the application resides, with minimum version 20190909.</a:t>
              </a:r>
              <a:endParaRPr lang="en-US" sz="400" i="0" dirty="0"/>
            </a:p>
          </p:txBody>
        </p:sp>
        <p:sp>
          <p:nvSpPr>
            <p:cNvPr id="17" name="TextBox 16">
              <a:extLst>
                <a:ext uri="{FF2B5EF4-FFF2-40B4-BE49-F238E27FC236}">
                  <a16:creationId xmlns:a16="http://schemas.microsoft.com/office/drawing/2014/main" id="{2255320D-AEAD-43CA-B5F8-55466354914A}"/>
                </a:ext>
              </a:extLst>
            </p:cNvPr>
            <p:cNvSpPr txBox="1"/>
            <p:nvPr/>
          </p:nvSpPr>
          <p:spPr>
            <a:xfrm>
              <a:off x="2514067" y="2800894"/>
              <a:ext cx="642419" cy="276999"/>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en-US" sz="1200" dirty="0"/>
                <a:t>Note :</a:t>
              </a:r>
            </a:p>
          </p:txBody>
        </p:sp>
      </p:grpSp>
      <p:sp>
        <p:nvSpPr>
          <p:cNvPr id="3" name="Title 2"/>
          <p:cNvSpPr>
            <a:spLocks noGrp="1"/>
          </p:cNvSpPr>
          <p:nvPr>
            <p:ph type="title"/>
          </p:nvPr>
        </p:nvSpPr>
        <p:spPr/>
        <p:txBody>
          <a:bodyPr/>
          <a:lstStyle/>
          <a:p>
            <a:r>
              <a:rPr lang="en-US" dirty="0"/>
              <a:t>PowerPoint Templates – Tables</a:t>
            </a:r>
          </a:p>
        </p:txBody>
      </p:sp>
      <p:graphicFrame>
        <p:nvGraphicFramePr>
          <p:cNvPr id="16" name="Table 15" descr="TABLE;LIST_TAGS_DOC_BYCAT;CAT=STIG-V4R8-CAT1">
            <a:extLst>
              <a:ext uri="{FF2B5EF4-FFF2-40B4-BE49-F238E27FC236}">
                <a16:creationId xmlns:a16="http://schemas.microsoft.com/office/drawing/2014/main" id="{F307DDEF-9819-422A-9E49-4E5E749620CF}"/>
              </a:ext>
            </a:extLst>
          </p:cNvPr>
          <p:cNvGraphicFramePr>
            <a:graphicFrameLocks noGrp="1"/>
          </p:cNvGraphicFramePr>
          <p:nvPr>
            <p:extLst>
              <p:ext uri="{D42A27DB-BD31-4B8C-83A1-F6EECF244321}">
                <p14:modId xmlns:p14="http://schemas.microsoft.com/office/powerpoint/2010/main" val="1978095843"/>
              </p:ext>
            </p:extLst>
          </p:nvPr>
        </p:nvGraphicFramePr>
        <p:xfrm>
          <a:off x="2222061" y="3646636"/>
          <a:ext cx="7559069" cy="633379"/>
        </p:xfrm>
        <a:graphic>
          <a:graphicData uri="http://schemas.openxmlformats.org/drawingml/2006/table">
            <a:tbl>
              <a:tblPr firstRow="1" bandRow="1">
                <a:tableStyleId>{9DCAF9ED-07DC-4A11-8D7F-57B35C25682E}</a:tableStyleId>
              </a:tblPr>
              <a:tblGrid>
                <a:gridCol w="1851903">
                  <a:extLst>
                    <a:ext uri="{9D8B030D-6E8A-4147-A177-3AD203B41FA5}">
                      <a16:colId xmlns:a16="http://schemas.microsoft.com/office/drawing/2014/main" val="20000"/>
                    </a:ext>
                  </a:extLst>
                </a:gridCol>
                <a:gridCol w="4226428">
                  <a:extLst>
                    <a:ext uri="{9D8B030D-6E8A-4147-A177-3AD203B41FA5}">
                      <a16:colId xmlns:a16="http://schemas.microsoft.com/office/drawing/2014/main" val="20001"/>
                    </a:ext>
                  </a:extLst>
                </a:gridCol>
                <a:gridCol w="1480738">
                  <a:extLst>
                    <a:ext uri="{9D8B030D-6E8A-4147-A177-3AD203B41FA5}">
                      <a16:colId xmlns:a16="http://schemas.microsoft.com/office/drawing/2014/main" val="20002"/>
                    </a:ext>
                  </a:extLst>
                </a:gridCol>
              </a:tblGrid>
              <a:tr h="226695">
                <a:tc>
                  <a:txBody>
                    <a:bodyPr/>
                    <a:lstStyle/>
                    <a:p>
                      <a:pPr marL="0" marR="91440" algn="l">
                        <a:lnSpc>
                          <a:spcPct val="115000"/>
                        </a:lnSpc>
                        <a:spcBef>
                          <a:spcPts val="0"/>
                        </a:spcBef>
                        <a:spcAft>
                          <a:spcPts val="0"/>
                        </a:spcAft>
                      </a:pPr>
                      <a:r>
                        <a:rPr lang="en-GB" sz="1000" dirty="0">
                          <a:effectLst/>
                        </a:rPr>
                        <a:t>Standard quality tag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en-GB" sz="1000" dirty="0">
                          <a:effectLst/>
                        </a:rPr>
                        <a:t>Definition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91440" algn="ctr">
                        <a:lnSpc>
                          <a:spcPct val="115000"/>
                        </a:lnSpc>
                        <a:spcBef>
                          <a:spcPts val="0"/>
                        </a:spcBef>
                        <a:spcAft>
                          <a:spcPts val="0"/>
                        </a:spcAft>
                      </a:pPr>
                      <a:r>
                        <a:rPr lang="en-GB" sz="1000" dirty="0">
                          <a:effectLst/>
                        </a:rPr>
                        <a:t>Applicability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03342">
                <a:tc>
                  <a:txBody>
                    <a:bodyPr/>
                    <a:lstStyle/>
                    <a:p>
                      <a:pPr marL="180340" marR="417195" algn="just">
                        <a:lnSpc>
                          <a:spcPts val="1200"/>
                        </a:lnSpc>
                        <a:spcBef>
                          <a:spcPts val="0"/>
                        </a:spcBef>
                        <a:spcAft>
                          <a:spcPts val="600"/>
                        </a:spcAft>
                      </a:pPr>
                      <a:r>
                        <a:rPr lang="en-US" sz="900" b="0" dirty="0">
                          <a:effectLst/>
                          <a:latin typeface="Open Sans"/>
                          <a:ea typeface="Times New Roman" panose="02020603050405020304" pitchFamily="18" charset="0"/>
                          <a:cs typeface="Times New Roman" panose="02020603050405020304" pitchFamily="18" charset="0"/>
                        </a:rPr>
                        <a:t>    Tag1</a:t>
                      </a:r>
                      <a:endParaRPr lang="en-US" sz="900" b="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lnSpc>
                          <a:spcPts val="1200"/>
                        </a:lnSpc>
                        <a:spcBef>
                          <a:spcPts val="0"/>
                        </a:spcBef>
                        <a:spcAft>
                          <a:spcPts val="600"/>
                        </a:spcAft>
                      </a:pPr>
                      <a:r>
                        <a:rPr lang="en-US" sz="900" b="0" dirty="0">
                          <a:solidFill>
                            <a:srgbClr val="000000"/>
                          </a:solidFill>
                          <a:effectLst/>
                          <a:latin typeface="Open Sans"/>
                          <a:ea typeface="Times New Roman" panose="02020603050405020304" pitchFamily="18" charset="0"/>
                          <a:cs typeface="Times New Roman" panose="02020603050405020304" pitchFamily="18" charset="0"/>
                        </a:rPr>
                        <a:t>Definition of tag 1</a:t>
                      </a:r>
                      <a:endParaRPr lang="en-US" sz="900" b="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dirty="0">
                          <a:effectLst/>
                          <a:latin typeface="Open Sans"/>
                          <a:ea typeface="Times New Roman" panose="02020603050405020304" pitchFamily="18" charset="0"/>
                          <a:cs typeface="Times New Roman" panose="02020603050405020304" pitchFamily="18" charset="0"/>
                        </a:rPr>
                        <a:t>true</a:t>
                      </a:r>
                      <a:endParaRPr lang="en-US" sz="9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49875671"/>
                  </a:ext>
                </a:extLst>
              </a:tr>
              <a:tr h="203342">
                <a:tc>
                  <a:txBody>
                    <a:bodyPr/>
                    <a:lstStyle/>
                    <a:p>
                      <a:pPr marL="180340" marR="417195" algn="just">
                        <a:lnSpc>
                          <a:spcPts val="1200"/>
                        </a:lnSpc>
                        <a:spcBef>
                          <a:spcPts val="0"/>
                        </a:spcBef>
                        <a:spcAft>
                          <a:spcPts val="600"/>
                        </a:spcAft>
                      </a:pPr>
                      <a:r>
                        <a:rPr lang="en-US" sz="900" b="0" dirty="0">
                          <a:effectLst/>
                          <a:latin typeface="Open Sans"/>
                          <a:ea typeface="Times New Roman" panose="02020603050405020304" pitchFamily="18" charset="0"/>
                          <a:cs typeface="Times New Roman" panose="02020603050405020304" pitchFamily="18" charset="0"/>
                        </a:rPr>
                        <a:t>    Tag2</a:t>
                      </a:r>
                      <a:endParaRPr lang="en-US" sz="900" b="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lnSpc>
                          <a:spcPts val="1200"/>
                        </a:lnSpc>
                        <a:spcBef>
                          <a:spcPts val="0"/>
                        </a:spcBef>
                        <a:spcAft>
                          <a:spcPts val="600"/>
                        </a:spcAft>
                      </a:pPr>
                      <a:r>
                        <a:rPr lang="en-US" sz="900" dirty="0">
                          <a:effectLst/>
                          <a:latin typeface="Open Sans"/>
                          <a:ea typeface="Times New Roman" panose="02020603050405020304" pitchFamily="18" charset="0"/>
                          <a:cs typeface="Times New Roman" panose="02020603050405020304" pitchFamily="18" charset="0"/>
                        </a:rPr>
                        <a:t>Definition of tag2</a:t>
                      </a:r>
                      <a:endParaRPr lang="en-US" sz="9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1910" marR="45720" indent="-3810" algn="ctr">
                        <a:lnSpc>
                          <a:spcPts val="1200"/>
                        </a:lnSpc>
                        <a:spcBef>
                          <a:spcPts val="0"/>
                        </a:spcBef>
                        <a:spcAft>
                          <a:spcPts val="600"/>
                        </a:spcAft>
                      </a:pPr>
                      <a:r>
                        <a:rPr lang="en-US" sz="900" dirty="0">
                          <a:effectLst/>
                          <a:latin typeface="Open Sans"/>
                          <a:ea typeface="Times New Roman" panose="02020603050405020304" pitchFamily="18" charset="0"/>
                          <a:cs typeface="Times New Roman" panose="02020603050405020304" pitchFamily="18" charset="0"/>
                        </a:rPr>
                        <a:t>false</a:t>
                      </a:r>
                      <a:endParaRPr lang="en-US" sz="9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33008175"/>
                  </a:ext>
                </a:extLst>
              </a:tr>
            </a:tbl>
          </a:graphicData>
        </a:graphic>
      </p:graphicFrame>
    </p:spTree>
    <p:extLst>
      <p:ext uri="{BB962C8B-B14F-4D97-AF65-F5344CB8AC3E}">
        <p14:creationId xmlns:p14="http://schemas.microsoft.com/office/powerpoint/2010/main" val="38551110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819DEDB-ECB9-4E21-B5A1-852C4202A32B}"/>
              </a:ext>
            </a:extLst>
          </p:cNvPr>
          <p:cNvGrpSpPr/>
          <p:nvPr/>
        </p:nvGrpSpPr>
        <p:grpSpPr>
          <a:xfrm>
            <a:off x="1955882" y="1119736"/>
            <a:ext cx="8343878" cy="5112568"/>
            <a:chOff x="1955882" y="908720"/>
            <a:chExt cx="8343878" cy="5112568"/>
          </a:xfrm>
        </p:grpSpPr>
        <p:sp>
          <p:nvSpPr>
            <p:cNvPr id="6" name="Rounded Rectangle 5"/>
            <p:cNvSpPr/>
            <p:nvPr/>
          </p:nvSpPr>
          <p:spPr>
            <a:xfrm>
              <a:off x="2008834" y="908720"/>
              <a:ext cx="8157600" cy="5112568"/>
            </a:xfrm>
            <a:prstGeom prst="roundRect">
              <a:avLst>
                <a:gd name="adj" fmla="val 1522"/>
              </a:avLst>
            </a:prstGeom>
            <a:solidFill>
              <a:schemeClr val="bg1">
                <a:lumMod val="95000"/>
              </a:schemeClr>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sz="1400" dirty="0"/>
            </a:p>
          </p:txBody>
        </p:sp>
        <p:sp>
          <p:nvSpPr>
            <p:cNvPr id="13" name="TextBox 12"/>
            <p:cNvSpPr txBox="1"/>
            <p:nvPr/>
          </p:nvSpPr>
          <p:spPr>
            <a:xfrm>
              <a:off x="1955882" y="1025814"/>
              <a:ext cx="8143200" cy="338554"/>
            </a:xfrm>
            <a:prstGeom prst="rect">
              <a:avLst/>
            </a:prstGeom>
            <a:noFill/>
          </p:spPr>
          <p:txBody>
            <a:bodyPr wrap="square" lIns="180000" rIns="180000" rtlCol="0">
              <a:spAutoFit/>
            </a:bodyPr>
            <a:lstStyle>
              <a:defPPr>
                <a:defRPr lang="fr-FR"/>
              </a:defPPr>
              <a:lvl1pPr>
                <a:defRPr sz="2000" b="1">
                  <a:solidFill>
                    <a:schemeClr val="tx1">
                      <a:lumMod val="75000"/>
                      <a:lumOff val="25000"/>
                    </a:schemeClr>
                  </a:solidFill>
                </a:defRPr>
              </a:lvl1pPr>
            </a:lstStyle>
            <a:p>
              <a:r>
                <a:rPr lang="en-US" sz="1600" dirty="0"/>
                <a:t>Mapping Name: Id indicator</a:t>
              </a:r>
              <a:endParaRPr lang="fr-FR" sz="1600" dirty="0"/>
            </a:p>
          </p:txBody>
        </p:sp>
        <p:sp>
          <p:nvSpPr>
            <p:cNvPr id="14" name="TextBox 13"/>
            <p:cNvSpPr txBox="1"/>
            <p:nvPr/>
          </p:nvSpPr>
          <p:spPr>
            <a:xfrm>
              <a:off x="3669226" y="1471510"/>
              <a:ext cx="6630534" cy="307777"/>
            </a:xfrm>
            <a:prstGeom prst="rect">
              <a:avLst/>
            </a:prstGeom>
            <a:noFill/>
          </p:spPr>
          <p:txBody>
            <a:bodyPr wrap="square" rtlCol="0">
              <a:spAutoFit/>
            </a:bodyPr>
            <a:lstStyle>
              <a:defPPr>
                <a:defRPr lang="fr-FR"/>
              </a:defPPr>
              <a:lvl1pPr>
                <a:defRPr sz="2000" b="1">
                  <a:solidFill>
                    <a:srgbClr val="5E5E5E"/>
                  </a:solidFill>
                </a:defRPr>
              </a:lvl1pPr>
            </a:lstStyle>
            <a:p>
              <a:r>
                <a:rPr lang="fr-FR" sz="1400" dirty="0"/>
                <a:t>ID_NAME_INDICATOR_MAPPING</a:t>
              </a:r>
            </a:p>
          </p:txBody>
        </p:sp>
        <p:sp>
          <p:nvSpPr>
            <p:cNvPr id="15" name="TextBox 14"/>
            <p:cNvSpPr txBox="1"/>
            <p:nvPr/>
          </p:nvSpPr>
          <p:spPr>
            <a:xfrm>
              <a:off x="2222062" y="1457862"/>
              <a:ext cx="1526380" cy="338554"/>
            </a:xfrm>
            <a:prstGeom prst="rect">
              <a:avLst/>
            </a:prstGeom>
            <a:noFill/>
          </p:spPr>
          <p:txBody>
            <a:bodyPr wrap="none" rtlCol="0">
              <a:spAutoFit/>
            </a:bodyPr>
            <a:lstStyle>
              <a:defPPr>
                <a:defRPr lang="fr-FR"/>
              </a:defPPr>
              <a:lvl1pPr algn="r">
                <a:defRPr sz="2000">
                  <a:solidFill>
                    <a:schemeClr val="bg1">
                      <a:lumMod val="50000"/>
                    </a:schemeClr>
                  </a:solidFill>
                </a:defRPr>
              </a:lvl1pPr>
            </a:lstStyle>
            <a:p>
              <a:r>
                <a:rPr lang="fr-FR" sz="1600" dirty="0"/>
                <a:t>Block Name :</a:t>
              </a:r>
            </a:p>
          </p:txBody>
        </p:sp>
        <p:sp>
          <p:nvSpPr>
            <p:cNvPr id="10" name="TextBox 9"/>
            <p:cNvSpPr txBox="1"/>
            <p:nvPr/>
          </p:nvSpPr>
          <p:spPr>
            <a:xfrm>
              <a:off x="2351584" y="5013177"/>
              <a:ext cx="7200800" cy="646331"/>
            </a:xfrm>
            <a:prstGeom prst="rect">
              <a:avLst/>
            </a:prstGeom>
            <a:noFill/>
          </p:spPr>
          <p:txBody>
            <a:bodyPr wrap="square" rtlCol="0">
              <a:spAutoFit/>
            </a:bodyPr>
            <a:lstStyle>
              <a:defPPr>
                <a:defRPr lang="fr-FR"/>
              </a:defPPr>
              <a:lvl1pPr>
                <a:defRPr sz="1600" i="1">
                  <a:solidFill>
                    <a:schemeClr val="bg1">
                      <a:lumMod val="50000"/>
                    </a:schemeClr>
                  </a:solidFill>
                </a:defRPr>
              </a:lvl1pPr>
            </a:lstStyle>
            <a:p>
              <a:r>
                <a:rPr lang="en-US" sz="1200" dirty="0"/>
                <a:t>This component is used to get updated id for quality rules if you need to configure another component.</a:t>
              </a:r>
            </a:p>
            <a:p>
              <a:r>
                <a:rPr lang="en-US" sz="1200" dirty="0"/>
                <a:t>To get list of ids by default, see next slide</a:t>
              </a:r>
            </a:p>
          </p:txBody>
        </p:sp>
      </p:grpSp>
      <p:sp>
        <p:nvSpPr>
          <p:cNvPr id="3" name="Title 2"/>
          <p:cNvSpPr>
            <a:spLocks noGrp="1"/>
          </p:cNvSpPr>
          <p:nvPr>
            <p:ph type="title"/>
          </p:nvPr>
        </p:nvSpPr>
        <p:spPr/>
        <p:txBody>
          <a:bodyPr/>
          <a:lstStyle/>
          <a:p>
            <a:r>
              <a:rPr lang="en-US" dirty="0"/>
              <a:t>PowerPoint Templates – Tables </a:t>
            </a:r>
          </a:p>
        </p:txBody>
      </p:sp>
      <p:graphicFrame>
        <p:nvGraphicFramePr>
          <p:cNvPr id="2" name="Table 1" descr="TABLE;ID_NAME_INDICATOR_MAPPING;&#10;"/>
          <p:cNvGraphicFramePr>
            <a:graphicFrameLocks noGrp="1"/>
          </p:cNvGraphicFramePr>
          <p:nvPr>
            <p:extLst>
              <p:ext uri="{D42A27DB-BD31-4B8C-83A1-F6EECF244321}">
                <p14:modId xmlns:p14="http://schemas.microsoft.com/office/powerpoint/2010/main" val="3230433173"/>
              </p:ext>
            </p:extLst>
          </p:nvPr>
        </p:nvGraphicFramePr>
        <p:xfrm>
          <a:off x="3039634" y="2385744"/>
          <a:ext cx="6096000" cy="1310640"/>
        </p:xfrm>
        <a:graphic>
          <a:graphicData uri="http://schemas.openxmlformats.org/drawingml/2006/table">
            <a:tbl>
              <a:tblPr firstRow="1" bandRow="1">
                <a:tableStyleId>{9DCAF9ED-07DC-4A11-8D7F-57B35C25682E}</a:tableStyleId>
              </a:tblPr>
              <a:tblGrid>
                <a:gridCol w="5112568">
                  <a:extLst>
                    <a:ext uri="{9D8B030D-6E8A-4147-A177-3AD203B41FA5}">
                      <a16:colId xmlns:a16="http://schemas.microsoft.com/office/drawing/2014/main" val="20000"/>
                    </a:ext>
                  </a:extLst>
                </a:gridCol>
                <a:gridCol w="983432">
                  <a:extLst>
                    <a:ext uri="{9D8B030D-6E8A-4147-A177-3AD203B41FA5}">
                      <a16:colId xmlns:a16="http://schemas.microsoft.com/office/drawing/2014/main" val="20001"/>
                    </a:ext>
                  </a:extLst>
                </a:gridCol>
              </a:tblGrid>
              <a:tr h="226695">
                <a:tc>
                  <a:txBody>
                    <a:bodyPr/>
                    <a:lstStyle/>
                    <a:p>
                      <a:r>
                        <a:rPr lang="fr-FR" sz="1200" dirty="0"/>
                        <a:t>Name</a:t>
                      </a:r>
                    </a:p>
                  </a:txBody>
                  <a:tcPr/>
                </a:tc>
                <a:tc>
                  <a:txBody>
                    <a:bodyPr/>
                    <a:lstStyle/>
                    <a:p>
                      <a:r>
                        <a:rPr lang="fr-FR" sz="1200" dirty="0"/>
                        <a:t>Id</a:t>
                      </a:r>
                    </a:p>
                  </a:txBody>
                  <a:tcPr/>
                </a:tc>
                <a:extLst>
                  <a:ext uri="{0D108BD9-81ED-4DB2-BD59-A6C34878D82A}">
                    <a16:rowId xmlns:a16="http://schemas.microsoft.com/office/drawing/2014/main" val="10000"/>
                  </a:ext>
                </a:extLst>
              </a:tr>
              <a:tr h="203342">
                <a:tc>
                  <a:txBody>
                    <a:bodyPr/>
                    <a:lstStyle/>
                    <a:p>
                      <a:pPr marL="0" algn="l" defTabSz="914400" rtl="0" eaLnBrk="1" latinLnBrk="0" hangingPunct="1"/>
                      <a:r>
                        <a:rPr lang="fr-FR" sz="1100" kern="1200" dirty="0"/>
                        <a:t>Rule1</a:t>
                      </a:r>
                      <a:endParaRPr lang="fr-FR" sz="11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100" kern="1200" dirty="0"/>
                        <a:t>-</a:t>
                      </a:r>
                    </a:p>
                  </a:txBody>
                  <a:tcPr anchor="ctr"/>
                </a:tc>
                <a:extLst>
                  <a:ext uri="{0D108BD9-81ED-4DB2-BD59-A6C34878D82A}">
                    <a16:rowId xmlns:a16="http://schemas.microsoft.com/office/drawing/2014/main" val="10001"/>
                  </a:ext>
                </a:extLst>
              </a:tr>
              <a:tr h="192691">
                <a:tc>
                  <a:txBody>
                    <a:bodyPr/>
                    <a:lstStyle/>
                    <a:p>
                      <a:pPr marL="0" algn="l" defTabSz="914400" rtl="0" eaLnBrk="1" latinLnBrk="0" hangingPunct="1"/>
                      <a:r>
                        <a:rPr lang="fr-FR" sz="1100" kern="1200" dirty="0"/>
                        <a:t>Rule2</a:t>
                      </a:r>
                    </a:p>
                  </a:txBody>
                  <a:tcPr anchor="ctr"/>
                </a:tc>
                <a:tc>
                  <a:txBody>
                    <a:bodyPr/>
                    <a:lstStyle/>
                    <a:p>
                      <a:pPr marL="0" algn="l" defTabSz="914400" rtl="0" eaLnBrk="1" latinLnBrk="0" hangingPunct="1"/>
                      <a:r>
                        <a:rPr lang="fr-FR" sz="1100" kern="1200" dirty="0"/>
                        <a:t>-</a:t>
                      </a:r>
                      <a:endParaRPr lang="fr-FR" sz="1100" kern="1200" dirty="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192691">
                <a:tc>
                  <a:txBody>
                    <a:bodyPr/>
                    <a:lstStyle/>
                    <a:p>
                      <a:pPr marL="0" algn="l" defTabSz="914400" rtl="0" eaLnBrk="1" latinLnBrk="0" hangingPunct="1"/>
                      <a:r>
                        <a:rPr lang="fr-FR" sz="1100" kern="1200" dirty="0"/>
                        <a:t>Rule3</a:t>
                      </a:r>
                      <a:endParaRPr lang="fr-FR" sz="11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100" kern="1200" dirty="0"/>
                        <a:t>-</a:t>
                      </a:r>
                      <a:endParaRPr lang="fr-FR" sz="1100" kern="1200" dirty="0">
                        <a:solidFill>
                          <a:schemeClr val="dk1"/>
                        </a:solidFill>
                        <a:latin typeface="+mn-lt"/>
                        <a:ea typeface="+mn-ea"/>
                        <a:cs typeface="+mn-cs"/>
                      </a:endParaRPr>
                    </a:p>
                  </a:txBody>
                  <a:tcPr anchor="ctr"/>
                </a:tc>
                <a:extLst>
                  <a:ext uri="{0D108BD9-81ED-4DB2-BD59-A6C34878D82A}">
                    <a16:rowId xmlns:a16="http://schemas.microsoft.com/office/drawing/2014/main" val="10003"/>
                  </a:ext>
                </a:extLst>
              </a:tr>
              <a:tr h="192691">
                <a:tc>
                  <a:txBody>
                    <a:bodyPr/>
                    <a:lstStyle/>
                    <a:p>
                      <a:pPr marL="0" algn="l" defTabSz="914400" rtl="0" eaLnBrk="1" latinLnBrk="0" hangingPunct="1"/>
                      <a:r>
                        <a:rPr lang="fr-FR" sz="1100" kern="1200" dirty="0"/>
                        <a:t>Rule4</a:t>
                      </a:r>
                      <a:endParaRPr lang="fr-FR" sz="1100" kern="1200" dirty="0">
                        <a:solidFill>
                          <a:schemeClr val="dk1"/>
                        </a:solidFill>
                        <a:latin typeface="+mn-lt"/>
                        <a:ea typeface="+mn-ea"/>
                        <a:cs typeface="+mn-cs"/>
                      </a:endParaRPr>
                    </a:p>
                  </a:txBody>
                  <a:tcPr anchor="ctr"/>
                </a:tc>
                <a:tc>
                  <a:txBody>
                    <a:bodyPr/>
                    <a:lstStyle/>
                    <a:p>
                      <a:pPr marL="0" algn="l" defTabSz="914400" rtl="0" eaLnBrk="1" latinLnBrk="0" hangingPunct="1"/>
                      <a:r>
                        <a:rPr lang="fr-FR" sz="1100" kern="1200" dirty="0"/>
                        <a:t>-</a:t>
                      </a:r>
                      <a:endParaRPr lang="fr-FR" sz="1100" kern="1200" dirty="0">
                        <a:solidFill>
                          <a:schemeClr val="dk1"/>
                        </a:solidFill>
                        <a:latin typeface="+mn-lt"/>
                        <a:ea typeface="+mn-ea"/>
                        <a:cs typeface="+mn-cs"/>
                      </a:endParaRP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690380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AGENDAWIZARD" val="item_d4090107-e3bf-4289-8943-1534ccf8c402_Element"/>
</p:tagLst>
</file>

<file path=ppt/tags/tag2.xml><?xml version="1.0" encoding="utf-8"?>
<p:tagLst xmlns:a="http://schemas.openxmlformats.org/drawingml/2006/main" xmlns:r="http://schemas.openxmlformats.org/officeDocument/2006/relationships" xmlns:p="http://schemas.openxmlformats.org/presentationml/2006/main">
  <p:tag name="EE4P_AGENDAWIZARD" val="item_d4090107-e3bf-4289-8943-1534ccf8c402_Element"/>
</p:tagLst>
</file>

<file path=ppt/tags/tag3.xml><?xml version="1.0" encoding="utf-8"?>
<p:tagLst xmlns:a="http://schemas.openxmlformats.org/drawingml/2006/main" xmlns:r="http://schemas.openxmlformats.org/officeDocument/2006/relationships" xmlns:p="http://schemas.openxmlformats.org/presentationml/2006/main">
  <p:tag name="EE4P_AGENDAWIZARD" val="item_d4090107-e3bf-4289-8943-1534ccf8c402_Element"/>
</p:tagLst>
</file>

<file path=ppt/tags/tag4.xml><?xml version="1.0" encoding="utf-8"?>
<p:tagLst xmlns:a="http://schemas.openxmlformats.org/drawingml/2006/main" xmlns:r="http://schemas.openxmlformats.org/officeDocument/2006/relationships" xmlns:p="http://schemas.openxmlformats.org/presentationml/2006/main">
  <p:tag name="EE4P_AGENDAWIZARD" val="item_d4090107-e3bf-4289-8943-1534ccf8c402_Element"/>
</p:tagLst>
</file>

<file path=ppt/tags/tag5.xml><?xml version="1.0" encoding="utf-8"?>
<p:tagLst xmlns:a="http://schemas.openxmlformats.org/drawingml/2006/main" xmlns:r="http://schemas.openxmlformats.org/officeDocument/2006/relationships" xmlns:p="http://schemas.openxmlformats.org/presentationml/2006/main">
  <p:tag name="EE4P_AGENDAWIZARD" val="item_d4090107-e3bf-4289-8943-1534ccf8c402_Element"/>
</p:tagLst>
</file>

<file path=ppt/tags/tag6.xml><?xml version="1.0" encoding="utf-8"?>
<p:tagLst xmlns:a="http://schemas.openxmlformats.org/drawingml/2006/main" xmlns:r="http://schemas.openxmlformats.org/officeDocument/2006/relationships" xmlns:p="http://schemas.openxmlformats.org/presentationml/2006/main">
  <p:tag name="EE4P_AGENDAWIZARD" val="item_d4090107-e3bf-4289-8943-1534ccf8c402_Element"/>
</p:tagLst>
</file>

<file path=ppt/tags/tag7.xml><?xml version="1.0" encoding="utf-8"?>
<p:tagLst xmlns:a="http://schemas.openxmlformats.org/drawingml/2006/main" xmlns:r="http://schemas.openxmlformats.org/officeDocument/2006/relationships" xmlns:p="http://schemas.openxmlformats.org/presentationml/2006/main">
  <p:tag name="EE4P_AGENDAWIZARD" val="item_d4090107-e3bf-4289-8943-1534ccf8c402_Element"/>
</p:tagLst>
</file>

<file path=ppt/tags/tag8.xml><?xml version="1.0" encoding="utf-8"?>
<p:tagLst xmlns:a="http://schemas.openxmlformats.org/drawingml/2006/main" xmlns:r="http://schemas.openxmlformats.org/officeDocument/2006/relationships" xmlns:p="http://schemas.openxmlformats.org/presentationml/2006/main">
  <p:tag name="EE4P_AGENDAWIZARD" val="item_d4090107-e3bf-4289-8943-1534ccf8c402_Element"/>
</p:tagLst>
</file>

<file path=ppt/theme/theme1.xml><?xml version="1.0" encoding="utf-8"?>
<a:theme xmlns:a="http://schemas.openxmlformats.org/drawingml/2006/main" name="1_Office Theme">
  <a:themeElements>
    <a:clrScheme name="CAST BASE COLORS 1">
      <a:dk1>
        <a:srgbClr val="000000"/>
      </a:dk1>
      <a:lt1>
        <a:srgbClr val="FFFFFF"/>
      </a:lt1>
      <a:dk2>
        <a:srgbClr val="44546A"/>
      </a:dk2>
      <a:lt2>
        <a:srgbClr val="E7E6E6"/>
      </a:lt2>
      <a:accent1>
        <a:srgbClr val="FC4132"/>
      </a:accent1>
      <a:accent2>
        <a:srgbClr val="048EFD"/>
      </a:accent2>
      <a:accent3>
        <a:srgbClr val="FDA110"/>
      </a:accent3>
      <a:accent4>
        <a:srgbClr val="20BEB3"/>
      </a:accent4>
      <a:accent5>
        <a:srgbClr val="B8E21D"/>
      </a:accent5>
      <a:accent6>
        <a:srgbClr val="7859C9"/>
      </a:accent6>
      <a:hlink>
        <a:srgbClr val="0563C1"/>
      </a:hlink>
      <a:folHlink>
        <a:srgbClr val="C3A5AE"/>
      </a:folHlink>
    </a:clrScheme>
    <a:fontScheme name="Template">
      <a:majorFont>
        <a:latin typeface="Gotham Bold"/>
        <a:ea typeface=""/>
        <a:cs typeface=""/>
      </a:majorFont>
      <a:minorFont>
        <a:latin typeface="Gotham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t">
        <a:noAutofit/>
      </a:bodyPr>
      <a:lstStyle>
        <a:defPPr>
          <a:defRPr smtClean="0"/>
        </a:defPPr>
      </a:lstStyle>
    </a:txDef>
  </a:objectDefaults>
  <a:extraClrSchemeLst/>
  <a:extLst>
    <a:ext uri="{05A4C25C-085E-4340-85A3-A5531E510DB2}">
      <thm15:themeFamily xmlns:thm15="http://schemas.microsoft.com/office/thememl/2012/main" name="Presentation1" id="{DD35CA81-8914-1A49-B875-5F4F41E0CEDB}" vid="{8A9920CD-F84F-254A-BADD-2466061D0F0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10281</Words>
  <Application>Microsoft Office PowerPoint</Application>
  <PresentationFormat>Widescreen</PresentationFormat>
  <Paragraphs>2440</Paragraphs>
  <Slides>88</Slides>
  <Notes>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88</vt:i4>
      </vt:variant>
    </vt:vector>
  </HeadingPairs>
  <TitlesOfParts>
    <vt:vector size="102" baseType="lpstr">
      <vt:lpstr>Arial</vt:lpstr>
      <vt:lpstr>Bahnschrift Light</vt:lpstr>
      <vt:lpstr>Calibri</vt:lpstr>
      <vt:lpstr>Corbel</vt:lpstr>
      <vt:lpstr>Courier New</vt:lpstr>
      <vt:lpstr>Gotham Book</vt:lpstr>
      <vt:lpstr>Gotham Light</vt:lpstr>
      <vt:lpstr>Open Sans</vt:lpstr>
      <vt:lpstr>Times New Roman</vt:lpstr>
      <vt:lpstr>Trebuchet MS</vt:lpstr>
      <vt:lpstr>Verdana</vt:lpstr>
      <vt:lpstr>Webdings</vt:lpstr>
      <vt:lpstr>Wingdings</vt:lpstr>
      <vt:lpstr>1_Office Theme</vt:lpstr>
      <vt:lpstr>PowerPoint Presentation</vt:lpstr>
      <vt:lpstr>Agenda</vt:lpstr>
      <vt:lpstr>Powerpoint Templates</vt:lpstr>
      <vt:lpstr>Powerpoint Templates</vt:lpstr>
      <vt:lpstr>Powerpoint Templates</vt:lpstr>
      <vt:lpstr>Powerpoint Templates</vt:lpstr>
      <vt:lpstr>Powerpoint Templates</vt:lpstr>
      <vt:lpstr>Powerpoint Templates</vt:lpstr>
      <vt:lpstr>Agenda</vt:lpstr>
      <vt:lpstr>PowerPoint Templates – Text</vt:lpstr>
      <vt:lpstr>PowerPoint Templates – Text</vt:lpstr>
      <vt:lpstr>PowerPoint Templates – Text</vt:lpstr>
      <vt:lpstr>PowerPoint Templates – Text</vt:lpstr>
      <vt:lpstr>PowerPoint Templates – Text</vt:lpstr>
      <vt:lpstr>PowerPoint Templates – Text</vt:lpstr>
      <vt:lpstr>PowerPoint Templates – Text</vt:lpstr>
      <vt:lpstr>PowerPoint Templates – Text - Technical Debt (OMG)</vt:lpstr>
      <vt:lpstr>PowerPoint Templates – Text</vt:lpstr>
      <vt:lpstr>PowerPoint Templates – Text</vt:lpstr>
      <vt:lpstr>PowerPoint Templates – Text</vt:lpstr>
      <vt:lpstr>PowerPoint Templates – Text</vt:lpstr>
      <vt:lpstr>Agenda</vt:lpstr>
      <vt:lpstr>PowerPoint Templates – Graphics</vt:lpstr>
      <vt:lpstr>PowerPoint Templates – Graphics</vt:lpstr>
      <vt:lpstr>PowerPoint Templates – Graphics</vt:lpstr>
      <vt:lpstr>PowerPoint Templates – Graphics</vt:lpstr>
      <vt:lpstr>PowerPoint Templates – Graphics</vt:lpstr>
      <vt:lpstr>PowerPoint Templates – Graphics</vt:lpstr>
      <vt:lpstr>PowerPoint Templates – Graphics</vt:lpstr>
      <vt:lpstr>PowerPoint Templates – Graphics</vt:lpstr>
      <vt:lpstr>PowerPoint Templates – Graphics</vt:lpstr>
      <vt:lpstr>PowerPoint Templates – Graphics</vt:lpstr>
      <vt:lpstr>PowerPoint Templates - Graphics</vt:lpstr>
      <vt:lpstr>PowerPoint Templates – Graphics</vt:lpstr>
      <vt:lpstr>PowerPoint Templates – Graphics</vt:lpstr>
      <vt:lpstr>PowerPoint Templates – Graphics</vt:lpstr>
      <vt:lpstr>Agenda</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vt:lpstr>
      <vt:lpstr>PowerPoint Templates – Tables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Furet</dc:creator>
  <cp:lastModifiedBy>Aurore Eteve</cp:lastModifiedBy>
  <cp:revision>801</cp:revision>
  <dcterms:created xsi:type="dcterms:W3CDTF">2016-10-16T15:51:34Z</dcterms:created>
  <dcterms:modified xsi:type="dcterms:W3CDTF">2026-02-03T16:50:11Z</dcterms:modified>
</cp:coreProperties>
</file>